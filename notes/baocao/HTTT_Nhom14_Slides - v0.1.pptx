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70" r:id="rId3"/>
    <p:sldId id="257" r:id="rId4"/>
    <p:sldId id="258" r:id="rId5"/>
    <p:sldId id="266" r:id="rId6"/>
    <p:sldId id="267" r:id="rId7"/>
    <p:sldId id="259" r:id="rId8"/>
    <p:sldId id="269" r:id="rId9"/>
    <p:sldId id="260" r:id="rId10"/>
    <p:sldId id="261" r:id="rId11"/>
    <p:sldId id="262" r:id="rId12"/>
    <p:sldId id="263" r:id="rId13"/>
    <p:sldId id="264" r:id="rId14"/>
    <p:sldId id="265" r:id="rId15"/>
    <p:sldId id="271"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50" d="100"/>
          <a:sy n="150" d="100"/>
        </p:scale>
        <p:origin x="47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F1-Score</c:v>
                </c:pt>
              </c:strCache>
            </c:strRef>
          </c:tx>
          <c:spPr>
            <a:solidFill>
              <a:srgbClr val="2D6A4F"/>
            </a:solidFill>
            <a:effectLst/>
          </c:spPr>
          <c:invertIfNegative val="0"/>
          <c:cat>
            <c:strRef>
              <c:f>Sheet1!$A$2:$A$10</c:f>
              <c:strCache>
                <c:ptCount val="9"/>
                <c:pt idx="0">
                  <c:v>Healthy</c:v>
                </c:pt>
                <c:pt idx="1">
                  <c:v>Mild Blast</c:v>
                </c:pt>
                <c:pt idx="2">
                  <c:v>Severe Blast</c:v>
                </c:pt>
                <c:pt idx="3">
                  <c:v>Mild B.Blight</c:v>
                </c:pt>
                <c:pt idx="4">
                  <c:v>Severe B.Blight</c:v>
                </c:pt>
                <c:pt idx="5">
                  <c:v>Mild Brownspot</c:v>
                </c:pt>
                <c:pt idx="6">
                  <c:v>Severe Brownspot</c:v>
                </c:pt>
                <c:pt idx="7">
                  <c:v>Mild Tungro</c:v>
                </c:pt>
                <c:pt idx="8">
                  <c:v>Severe Tungro</c:v>
                </c:pt>
              </c:strCache>
            </c:strRef>
          </c:cat>
          <c:val>
            <c:numRef>
              <c:f>Sheet1!$B$2:$B$10</c:f>
              <c:numCache>
                <c:formatCode>General</c:formatCode>
                <c:ptCount val="9"/>
                <c:pt idx="0">
                  <c:v>1</c:v>
                </c:pt>
                <c:pt idx="1">
                  <c:v>0.92300000000000004</c:v>
                </c:pt>
                <c:pt idx="2">
                  <c:v>0.92100000000000004</c:v>
                </c:pt>
                <c:pt idx="3">
                  <c:v>0.92100000000000004</c:v>
                </c:pt>
                <c:pt idx="4">
                  <c:v>0.91</c:v>
                </c:pt>
                <c:pt idx="5">
                  <c:v>0.89100000000000001</c:v>
                </c:pt>
                <c:pt idx="6">
                  <c:v>0.87</c:v>
                </c:pt>
                <c:pt idx="7">
                  <c:v>0.97499999999999998</c:v>
                </c:pt>
                <c:pt idx="8">
                  <c:v>0.98499999999999999</c:v>
                </c:pt>
              </c:numCache>
            </c:numRef>
          </c:val>
          <c:extLst>
            <c:ext xmlns:c16="http://schemas.microsoft.com/office/drawing/2014/chart" uri="{C3380CC4-5D6E-409C-BE32-E72D297353CC}">
              <c16:uniqueId val="{00000000-ED62-4A56-B121-D288099B9B2A}"/>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444444"/>
                </a:solidFill>
                <a:latin typeface="Arial"/>
              </a:defRPr>
            </a:pPr>
            <a:endParaRPr lang="en-US"/>
          </a:p>
        </c:txPr>
        <c:crossAx val="2094734552"/>
        <c:crosses val="autoZero"/>
        <c:auto val="1"/>
        <c:lblAlgn val="ctr"/>
        <c:lblOffset val="100"/>
        <c:noMultiLvlLbl val="1"/>
      </c:catAx>
      <c:valAx>
        <c:axId val="2094734552"/>
        <c:scaling>
          <c:orientation val="minMax"/>
          <c:max val="1"/>
          <c:min val="0.8"/>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444444"/>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8F9FA"/>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24575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18DFB4-6880-9DCE-D040-C01069B710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8258A3-F516-56E2-63F7-904A322937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2C0978-87AC-17A1-B5CA-6E5BC7C2902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19BA0A7-2BEB-44B1-51C0-81E75C85F2DC}"/>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7767366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DAA5F-B547-3B1B-C26C-A0630936D7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B2F31A-548E-CEBA-B793-6A457F60F2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DB5326-E137-2695-9793-1E713A6B518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C6D2A39-11F0-09C5-4717-07064E806A49}"/>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4613801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43EE07-467B-7F9A-8B3C-32184605BD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8771AC-B5C0-96A6-3151-1F47B7A7B5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FE5766-33DF-B27E-77A7-548FD37E0F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F516BA5-63E9-72DB-BBFF-8494C9446B82}"/>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8448772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D0C93-E2A4-828A-6637-4AB8826280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9C5F75-17AD-5243-312B-F372A32BBD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88A430-127B-6D39-4847-CC7F548FB0C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06B2553-4E3F-1763-3CE1-19F38A79671F}"/>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5365863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F4EF10-F741-5BDE-EA4B-CF83EA6DF1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1041CE-1563-5CC9-4D41-BBCC2B5AC3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E546E2-0FB9-7065-802E-E77A2D74DB3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9CE7491-B129-C2D6-50BA-C046A88D396F}"/>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3349593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6.jpe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4332"/>
        </a:solidFill>
        <a:effectLst/>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74C69D"/>
          </a:solidFill>
          <a:ln w="12700">
            <a:solidFill>
              <a:srgbClr val="74C69D"/>
            </a:solidFill>
            <a:prstDash val="solid"/>
          </a:ln>
        </p:spPr>
      </p:sp>
      <p:sp>
        <p:nvSpPr>
          <p:cNvPr id="3" name="Shape 1"/>
          <p:cNvSpPr/>
          <p:nvPr/>
        </p:nvSpPr>
        <p:spPr>
          <a:xfrm>
            <a:off x="137160" y="0"/>
            <a:ext cx="73152" cy="5143500"/>
          </a:xfrm>
          <a:prstGeom prst="rect">
            <a:avLst/>
          </a:prstGeom>
          <a:solidFill>
            <a:srgbClr val="40916C"/>
          </a:solidFill>
          <a:ln w="12700">
            <a:solidFill>
              <a:srgbClr val="40916C"/>
            </a:solidFill>
            <a:prstDash val="solid"/>
          </a:ln>
        </p:spPr>
      </p:sp>
      <p:sp>
        <p:nvSpPr>
          <p:cNvPr id="4" name="Shape 2"/>
          <p:cNvSpPr/>
          <p:nvPr/>
        </p:nvSpPr>
        <p:spPr>
          <a:xfrm>
            <a:off x="6858000" y="-1371600"/>
            <a:ext cx="4114800" cy="4114800"/>
          </a:xfrm>
          <a:prstGeom prst="ellipse">
            <a:avLst/>
          </a:prstGeom>
          <a:solidFill>
            <a:srgbClr val="2D6A4F">
              <a:alpha val="40000"/>
            </a:srgbClr>
          </a:solidFill>
          <a:ln w="12700">
            <a:solidFill>
              <a:srgbClr val="2D6A4F">
                <a:alpha val="40000"/>
              </a:srgbClr>
            </a:solidFill>
            <a:prstDash val="solid"/>
          </a:ln>
        </p:spPr>
      </p:sp>
      <p:sp>
        <p:nvSpPr>
          <p:cNvPr id="5" name="Shape 3"/>
          <p:cNvSpPr/>
          <p:nvPr/>
        </p:nvSpPr>
        <p:spPr>
          <a:xfrm>
            <a:off x="6400800" y="2286000"/>
            <a:ext cx="3200400" cy="3200400"/>
          </a:xfrm>
          <a:prstGeom prst="ellipse">
            <a:avLst/>
          </a:prstGeom>
          <a:solidFill>
            <a:srgbClr val="40916C">
              <a:alpha val="30000"/>
            </a:srgbClr>
          </a:solidFill>
          <a:ln w="12700">
            <a:solidFill>
              <a:srgbClr val="40916C">
                <a:alpha val="30000"/>
              </a:srgbClr>
            </a:solidFill>
            <a:prstDash val="solid"/>
          </a:ln>
        </p:spPr>
      </p:sp>
      <p:sp>
        <p:nvSpPr>
          <p:cNvPr id="6" name="Text 4"/>
          <p:cNvSpPr/>
          <p:nvPr/>
        </p:nvSpPr>
        <p:spPr>
          <a:xfrm>
            <a:off x="457200" y="320040"/>
            <a:ext cx="7772400" cy="365760"/>
          </a:xfrm>
          <a:prstGeom prst="rect">
            <a:avLst/>
          </a:prstGeom>
          <a:noFill/>
          <a:ln/>
        </p:spPr>
        <p:txBody>
          <a:bodyPr wrap="square" rtlCol="0" anchor="ctr"/>
          <a:lstStyle/>
          <a:p>
            <a:pPr marL="0" indent="0" algn="l">
              <a:buNone/>
            </a:pPr>
            <a:r>
              <a:rPr lang="en-US" sz="1100" b="1" kern="0" spc="300" dirty="0">
                <a:solidFill>
                  <a:srgbClr val="74C69D"/>
                </a:solidFill>
                <a:latin typeface="Calibri" pitchFamily="34" charset="0"/>
                <a:ea typeface="Calibri" pitchFamily="34" charset="-122"/>
                <a:cs typeface="Calibri" pitchFamily="34" charset="-120"/>
              </a:rPr>
              <a:t>TRƯỜNG ĐẠI HỌC THỦY LỢI</a:t>
            </a:r>
            <a:endParaRPr lang="en-US" sz="1100" dirty="0"/>
          </a:p>
        </p:txBody>
      </p:sp>
      <p:sp>
        <p:nvSpPr>
          <p:cNvPr id="7" name="Text 5"/>
          <p:cNvSpPr/>
          <p:nvPr/>
        </p:nvSpPr>
        <p:spPr>
          <a:xfrm>
            <a:off x="457200" y="685800"/>
            <a:ext cx="7772400" cy="320040"/>
          </a:xfrm>
          <a:prstGeom prst="rect">
            <a:avLst/>
          </a:prstGeom>
          <a:noFill/>
          <a:ln/>
        </p:spPr>
        <p:txBody>
          <a:bodyPr wrap="square" rtlCol="0" anchor="ctr"/>
          <a:lstStyle/>
          <a:p>
            <a:pPr marL="0" indent="0" algn="l">
              <a:buNone/>
            </a:pPr>
            <a:r>
              <a:rPr lang="en-US" sz="1000" dirty="0">
                <a:solidFill>
                  <a:srgbClr val="74C69D"/>
                </a:solidFill>
                <a:latin typeface="Calibri" pitchFamily="34" charset="0"/>
                <a:ea typeface="Calibri" pitchFamily="34" charset="-122"/>
                <a:cs typeface="Calibri" pitchFamily="34" charset="-120"/>
              </a:rPr>
              <a:t>MÔN HỌC: HỆ THỐNG THÔNG MINH</a:t>
            </a:r>
            <a:endParaRPr lang="en-US" sz="1000" dirty="0"/>
          </a:p>
        </p:txBody>
      </p:sp>
      <p:sp>
        <p:nvSpPr>
          <p:cNvPr id="8" name="Text 6"/>
          <p:cNvSpPr/>
          <p:nvPr/>
        </p:nvSpPr>
        <p:spPr>
          <a:xfrm>
            <a:off x="457200" y="1143000"/>
            <a:ext cx="8229600" cy="64008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An Explainable Intelligent System</a:t>
            </a:r>
            <a:endParaRPr lang="en-US" sz="3200" dirty="0"/>
          </a:p>
        </p:txBody>
      </p:sp>
      <p:sp>
        <p:nvSpPr>
          <p:cNvPr id="9" name="Text 7"/>
          <p:cNvSpPr/>
          <p:nvPr/>
        </p:nvSpPr>
        <p:spPr>
          <a:xfrm>
            <a:off x="457200" y="1737360"/>
            <a:ext cx="8229600" cy="548640"/>
          </a:xfrm>
          <a:prstGeom prst="rect">
            <a:avLst/>
          </a:prstGeom>
          <a:noFill/>
          <a:ln/>
        </p:spPr>
        <p:txBody>
          <a:bodyPr wrap="square" rtlCol="0" anchor="ctr"/>
          <a:lstStyle/>
          <a:p>
            <a:pPr marL="0" indent="0" algn="l">
              <a:buNone/>
            </a:pPr>
            <a:r>
              <a:rPr lang="en-US" sz="2800" b="1" dirty="0">
                <a:solidFill>
                  <a:srgbClr val="74C69D"/>
                </a:solidFill>
                <a:latin typeface="Calibri" pitchFamily="34" charset="0"/>
                <a:ea typeface="Calibri" pitchFamily="34" charset="-122"/>
                <a:cs typeface="Calibri" pitchFamily="34" charset="-120"/>
              </a:rPr>
              <a:t>for Plant Disease Severity Assessment</a:t>
            </a:r>
            <a:endParaRPr lang="en-US" sz="2800" dirty="0"/>
          </a:p>
        </p:txBody>
      </p:sp>
      <p:sp>
        <p:nvSpPr>
          <p:cNvPr id="10" name="Text 8"/>
          <p:cNvSpPr/>
          <p:nvPr/>
        </p:nvSpPr>
        <p:spPr>
          <a:xfrm>
            <a:off x="457200" y="2240280"/>
            <a:ext cx="8229600" cy="502920"/>
          </a:xfrm>
          <a:prstGeom prst="rect">
            <a:avLst/>
          </a:prstGeom>
          <a:noFill/>
          <a:ln/>
        </p:spPr>
        <p:txBody>
          <a:bodyPr wrap="square" rtlCol="0" anchor="ctr"/>
          <a:lstStyle/>
          <a:p>
            <a:pPr marL="0" indent="0" algn="l">
              <a:buNone/>
            </a:pPr>
            <a:r>
              <a:rPr lang="en-US" sz="2800" b="1" dirty="0">
                <a:solidFill>
                  <a:srgbClr val="74C69D"/>
                </a:solidFill>
                <a:latin typeface="Calibri" pitchFamily="34" charset="0"/>
                <a:ea typeface="Calibri" pitchFamily="34" charset="-122"/>
                <a:cs typeface="Calibri" pitchFamily="34" charset="-120"/>
              </a:rPr>
              <a:t>using Fuzzy Inference</a:t>
            </a:r>
            <a:endParaRPr lang="en-US" sz="2800" dirty="0"/>
          </a:p>
        </p:txBody>
      </p:sp>
      <p:sp>
        <p:nvSpPr>
          <p:cNvPr id="11" name="Shape 9"/>
          <p:cNvSpPr/>
          <p:nvPr/>
        </p:nvSpPr>
        <p:spPr>
          <a:xfrm>
            <a:off x="457200" y="2834640"/>
            <a:ext cx="5029200" cy="36576"/>
          </a:xfrm>
          <a:prstGeom prst="rect">
            <a:avLst/>
          </a:prstGeom>
          <a:solidFill>
            <a:srgbClr val="74C69D"/>
          </a:solidFill>
          <a:ln w="12700">
            <a:solidFill>
              <a:srgbClr val="74C69D"/>
            </a:solidFill>
            <a:prstDash val="solid"/>
          </a:ln>
        </p:spPr>
      </p:sp>
      <p:sp>
        <p:nvSpPr>
          <p:cNvPr id="12" name="Shape 10"/>
          <p:cNvSpPr/>
          <p:nvPr/>
        </p:nvSpPr>
        <p:spPr>
          <a:xfrm>
            <a:off x="457200" y="2971800"/>
            <a:ext cx="5029200" cy="1554480"/>
          </a:xfrm>
          <a:prstGeom prst="rect">
            <a:avLst/>
          </a:prstGeom>
          <a:solidFill>
            <a:srgbClr val="2D6A4F">
              <a:alpha val="60000"/>
            </a:srgbClr>
          </a:solidFill>
          <a:ln w="12700">
            <a:solidFill>
              <a:srgbClr val="74C69D"/>
            </a:solidFill>
            <a:prstDash val="solid"/>
          </a:ln>
        </p:spPr>
      </p:sp>
      <p:sp>
        <p:nvSpPr>
          <p:cNvPr id="13" name="Text 11"/>
          <p:cNvSpPr/>
          <p:nvPr/>
        </p:nvSpPr>
        <p:spPr>
          <a:xfrm>
            <a:off x="640080" y="3017520"/>
            <a:ext cx="4663440" cy="1417320"/>
          </a:xfrm>
          <a:prstGeom prst="rect">
            <a:avLst/>
          </a:prstGeom>
          <a:noFill/>
          <a:ln/>
        </p:spPr>
        <p:txBody>
          <a:bodyPr wrap="square" rtlCol="0" anchor="ctr"/>
          <a:lstStyle/>
          <a:p>
            <a:pPr marL="0" indent="0">
              <a:buNone/>
            </a:pPr>
            <a:r>
              <a:rPr lang="en-US" sz="1300" b="1" dirty="0">
                <a:solidFill>
                  <a:srgbClr val="F4A261"/>
                </a:solidFill>
                <a:latin typeface="Calibri" pitchFamily="34" charset="0"/>
                <a:ea typeface="Calibri" pitchFamily="34" charset="-122"/>
                <a:cs typeface="Calibri" pitchFamily="34" charset="-120"/>
              </a:rPr>
              <a:t>Nhóm 14
</a:t>
            </a:r>
            <a:r>
              <a:rPr lang="en-US" sz="1100" dirty="0">
                <a:solidFill>
                  <a:srgbClr val="FFFFFF"/>
                </a:solidFill>
                <a:latin typeface="Calibri" pitchFamily="34" charset="0"/>
                <a:ea typeface="Calibri" pitchFamily="34" charset="-122"/>
                <a:cs typeface="Calibri" pitchFamily="34" charset="-120"/>
              </a:rPr>
              <a:t>Trần Đình Thuận   –   C2251262648
Trần Khánh Trang  –   248218749
Hoàng Quốc Việt   –   2582019033</a:t>
            </a:r>
            <a:endParaRPr lang="en-US" sz="1300" dirty="0"/>
          </a:p>
        </p:txBody>
      </p:sp>
      <p:sp>
        <p:nvSpPr>
          <p:cNvPr id="14" name="Text 12"/>
          <p:cNvSpPr/>
          <p:nvPr/>
        </p:nvSpPr>
        <p:spPr>
          <a:xfrm>
            <a:off x="5669280" y="2971800"/>
            <a:ext cx="3291840" cy="1005840"/>
          </a:xfrm>
          <a:prstGeom prst="rect">
            <a:avLst/>
          </a:prstGeom>
          <a:noFill/>
          <a:ln/>
        </p:spPr>
        <p:txBody>
          <a:bodyPr wrap="square" rtlCol="0" anchor="ctr"/>
          <a:lstStyle/>
          <a:p>
            <a:pPr marL="0" indent="0" algn="l">
              <a:buNone/>
            </a:pPr>
            <a:r>
              <a:rPr lang="en-US" sz="1200" b="1" dirty="0">
                <a:solidFill>
                  <a:srgbClr val="F4A261"/>
                </a:solidFill>
                <a:latin typeface="Calibri" pitchFamily="34" charset="0"/>
                <a:ea typeface="Calibri" pitchFamily="34" charset="-122"/>
                <a:cs typeface="Calibri" pitchFamily="34" charset="-120"/>
              </a:rPr>
              <a:t>Giảng viên hướng dẫn:
</a:t>
            </a:r>
            <a:r>
              <a:rPr lang="en-US" sz="1300" b="1" dirty="0">
                <a:solidFill>
                  <a:srgbClr val="FFFFFF"/>
                </a:solidFill>
                <a:latin typeface="Calibri" pitchFamily="34" charset="0"/>
                <a:ea typeface="Calibri" pitchFamily="34" charset="-122"/>
                <a:cs typeface="Calibri" pitchFamily="34" charset="-120"/>
              </a:rPr>
              <a:t>TS. Trần Mạnh Tuấn</a:t>
            </a:r>
            <a:endParaRPr lang="en-US" sz="1200" dirty="0"/>
          </a:p>
        </p:txBody>
      </p:sp>
      <p:sp>
        <p:nvSpPr>
          <p:cNvPr id="15" name="Text 13"/>
          <p:cNvSpPr/>
          <p:nvPr/>
        </p:nvSpPr>
        <p:spPr>
          <a:xfrm>
            <a:off x="5669280" y="4114800"/>
            <a:ext cx="3291840" cy="365760"/>
          </a:xfrm>
          <a:prstGeom prst="rect">
            <a:avLst/>
          </a:prstGeom>
          <a:noFill/>
          <a:ln/>
        </p:spPr>
        <p:txBody>
          <a:bodyPr wrap="square" rtlCol="0" anchor="ctr"/>
          <a:lstStyle/>
          <a:p>
            <a:pPr marL="0" indent="0" algn="l">
              <a:buNone/>
            </a:pPr>
            <a:r>
              <a:rPr lang="en-US" sz="1000" dirty="0">
                <a:solidFill>
                  <a:srgbClr val="74C69D"/>
                </a:solidFill>
                <a:latin typeface="Calibri" pitchFamily="34" charset="0"/>
                <a:ea typeface="Calibri" pitchFamily="34" charset="-122"/>
                <a:cs typeface="Calibri" pitchFamily="34" charset="-120"/>
              </a:rPr>
              <a:t>Hà Nội, 5/2026</a:t>
            </a:r>
            <a:endParaRPr lang="en-US" sz="1000" dirty="0"/>
          </a:p>
        </p:txBody>
      </p:sp>
      <p:pic>
        <p:nvPicPr>
          <p:cNvPr id="18" name="Picture 17">
            <a:extLst>
              <a:ext uri="{FF2B5EF4-FFF2-40B4-BE49-F238E27FC236}">
                <a16:creationId xmlns:a16="http://schemas.microsoft.com/office/drawing/2014/main" id="{BA5B753A-28C1-0C18-DB31-597A21B95588}"/>
              </a:ext>
            </a:extLst>
          </p:cNvPr>
          <p:cNvPicPr>
            <a:picLocks noChangeAspect="1"/>
          </p:cNvPicPr>
          <p:nvPr/>
        </p:nvPicPr>
        <p:blipFill>
          <a:blip r:embed="rId3"/>
          <a:stretch>
            <a:fillRect/>
          </a:stretch>
        </p:blipFill>
        <p:spPr>
          <a:xfrm>
            <a:off x="6931152" y="35431"/>
            <a:ext cx="2075688" cy="1722379"/>
          </a:xfrm>
          <a:prstGeom prst="ellipse">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B4332"/>
        </a:solidFill>
        <a:effectLst/>
      </p:bgPr>
    </p:bg>
    <p:spTree>
      <p:nvGrpSpPr>
        <p:cNvPr id="1" name="">
          <a:extLst>
            <a:ext uri="{FF2B5EF4-FFF2-40B4-BE49-F238E27FC236}">
              <a16:creationId xmlns:a16="http://schemas.microsoft.com/office/drawing/2014/main" id="{B4E03EC8-BD2E-FF72-3093-21831BA390C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C06B4DE-2182-0358-0BC2-6B07374BD402}"/>
              </a:ext>
            </a:extLst>
          </p:cNvPr>
          <p:cNvSpPr/>
          <p:nvPr/>
        </p:nvSpPr>
        <p:spPr>
          <a:xfrm>
            <a:off x="0" y="0"/>
            <a:ext cx="137160" cy="5143500"/>
          </a:xfrm>
          <a:prstGeom prst="rect">
            <a:avLst/>
          </a:prstGeom>
          <a:solidFill>
            <a:srgbClr val="74C69D"/>
          </a:solidFill>
          <a:ln w="12700">
            <a:solidFill>
              <a:srgbClr val="74C69D"/>
            </a:solidFill>
            <a:prstDash val="solid"/>
          </a:ln>
        </p:spPr>
      </p:sp>
      <p:sp>
        <p:nvSpPr>
          <p:cNvPr id="3" name="Shape 1">
            <a:extLst>
              <a:ext uri="{FF2B5EF4-FFF2-40B4-BE49-F238E27FC236}">
                <a16:creationId xmlns:a16="http://schemas.microsoft.com/office/drawing/2014/main" id="{8AB19E1D-3E00-62DE-A0DF-F07DCD66126A}"/>
              </a:ext>
            </a:extLst>
          </p:cNvPr>
          <p:cNvSpPr/>
          <p:nvPr/>
        </p:nvSpPr>
        <p:spPr>
          <a:xfrm>
            <a:off x="137160" y="0"/>
            <a:ext cx="73152" cy="5143500"/>
          </a:xfrm>
          <a:prstGeom prst="rect">
            <a:avLst/>
          </a:prstGeom>
          <a:solidFill>
            <a:srgbClr val="40916C"/>
          </a:solidFill>
          <a:ln w="12700">
            <a:solidFill>
              <a:srgbClr val="40916C"/>
            </a:solidFill>
            <a:prstDash val="solid"/>
          </a:ln>
        </p:spPr>
      </p:sp>
      <p:sp>
        <p:nvSpPr>
          <p:cNvPr id="4" name="Shape 2">
            <a:extLst>
              <a:ext uri="{FF2B5EF4-FFF2-40B4-BE49-F238E27FC236}">
                <a16:creationId xmlns:a16="http://schemas.microsoft.com/office/drawing/2014/main" id="{F956BFBF-D002-2911-F014-B7FBCC29A564}"/>
              </a:ext>
            </a:extLst>
          </p:cNvPr>
          <p:cNvSpPr/>
          <p:nvPr/>
        </p:nvSpPr>
        <p:spPr>
          <a:xfrm>
            <a:off x="6858000" y="-1371600"/>
            <a:ext cx="4114800" cy="4114800"/>
          </a:xfrm>
          <a:prstGeom prst="ellipse">
            <a:avLst/>
          </a:prstGeom>
          <a:solidFill>
            <a:srgbClr val="2D6A4F">
              <a:alpha val="40000"/>
            </a:srgbClr>
          </a:solidFill>
          <a:ln w="12700">
            <a:solidFill>
              <a:srgbClr val="2D6A4F">
                <a:alpha val="40000"/>
              </a:srgbClr>
            </a:solidFill>
            <a:prstDash val="solid"/>
          </a:ln>
        </p:spPr>
      </p:sp>
      <p:sp>
        <p:nvSpPr>
          <p:cNvPr id="5" name="Shape 3">
            <a:extLst>
              <a:ext uri="{FF2B5EF4-FFF2-40B4-BE49-F238E27FC236}">
                <a16:creationId xmlns:a16="http://schemas.microsoft.com/office/drawing/2014/main" id="{D0390F19-ACB4-FB87-E76B-08F0A22D51E2}"/>
              </a:ext>
            </a:extLst>
          </p:cNvPr>
          <p:cNvSpPr/>
          <p:nvPr/>
        </p:nvSpPr>
        <p:spPr>
          <a:xfrm>
            <a:off x="6400800" y="2286000"/>
            <a:ext cx="3200400" cy="3200400"/>
          </a:xfrm>
          <a:prstGeom prst="ellipse">
            <a:avLst/>
          </a:prstGeom>
          <a:solidFill>
            <a:srgbClr val="40916C">
              <a:alpha val="30000"/>
            </a:srgbClr>
          </a:solidFill>
          <a:ln w="12700">
            <a:solidFill>
              <a:srgbClr val="40916C">
                <a:alpha val="30000"/>
              </a:srgbClr>
            </a:solidFill>
            <a:prstDash val="solid"/>
          </a:ln>
        </p:spPr>
      </p:sp>
      <p:sp>
        <p:nvSpPr>
          <p:cNvPr id="6" name="Text 4">
            <a:extLst>
              <a:ext uri="{FF2B5EF4-FFF2-40B4-BE49-F238E27FC236}">
                <a16:creationId xmlns:a16="http://schemas.microsoft.com/office/drawing/2014/main" id="{69EAED09-AB43-2B23-714F-47061775B8D8}"/>
              </a:ext>
            </a:extLst>
          </p:cNvPr>
          <p:cNvSpPr/>
          <p:nvPr/>
        </p:nvSpPr>
        <p:spPr>
          <a:xfrm>
            <a:off x="457200" y="320040"/>
            <a:ext cx="7772400" cy="365760"/>
          </a:xfrm>
          <a:prstGeom prst="rect">
            <a:avLst/>
          </a:prstGeom>
          <a:noFill/>
          <a:ln/>
        </p:spPr>
        <p:txBody>
          <a:bodyPr wrap="square" rtlCol="0" anchor="ctr"/>
          <a:lstStyle/>
          <a:p>
            <a:pPr marL="0" indent="0" algn="l">
              <a:buNone/>
            </a:pPr>
            <a:r>
              <a:rPr lang="en-US" sz="1100" b="1" kern="0" spc="300" dirty="0">
                <a:solidFill>
                  <a:srgbClr val="74C69D"/>
                </a:solidFill>
                <a:latin typeface="Calibri" pitchFamily="34" charset="0"/>
                <a:ea typeface="Calibri" pitchFamily="34" charset="-122"/>
                <a:cs typeface="Calibri" pitchFamily="34" charset="-120"/>
              </a:rPr>
              <a:t>TRƯỜNG ĐẠI HỌC THỦY LỢI</a:t>
            </a:r>
            <a:endParaRPr lang="en-US" sz="1100" dirty="0"/>
          </a:p>
        </p:txBody>
      </p:sp>
      <p:sp>
        <p:nvSpPr>
          <p:cNvPr id="7" name="Text 5">
            <a:extLst>
              <a:ext uri="{FF2B5EF4-FFF2-40B4-BE49-F238E27FC236}">
                <a16:creationId xmlns:a16="http://schemas.microsoft.com/office/drawing/2014/main" id="{B53B3EC1-465D-19A6-87F3-96779B00288D}"/>
              </a:ext>
            </a:extLst>
          </p:cNvPr>
          <p:cNvSpPr/>
          <p:nvPr/>
        </p:nvSpPr>
        <p:spPr>
          <a:xfrm>
            <a:off x="457200" y="685800"/>
            <a:ext cx="7772400" cy="320040"/>
          </a:xfrm>
          <a:prstGeom prst="rect">
            <a:avLst/>
          </a:prstGeom>
          <a:noFill/>
          <a:ln/>
        </p:spPr>
        <p:txBody>
          <a:bodyPr wrap="square" rtlCol="0" anchor="ctr"/>
          <a:lstStyle/>
          <a:p>
            <a:pPr marL="0" indent="0" algn="l">
              <a:buNone/>
            </a:pPr>
            <a:r>
              <a:rPr lang="en-US" sz="1000" dirty="0">
                <a:solidFill>
                  <a:srgbClr val="74C69D"/>
                </a:solidFill>
                <a:latin typeface="Calibri" pitchFamily="34" charset="0"/>
                <a:ea typeface="Calibri" pitchFamily="34" charset="-122"/>
                <a:cs typeface="Calibri" pitchFamily="34" charset="-120"/>
              </a:rPr>
              <a:t>MÔN HỌC: HỆ THỐNG THÔNG MINH</a:t>
            </a:r>
            <a:endParaRPr lang="en-US" sz="1000" dirty="0"/>
          </a:p>
        </p:txBody>
      </p:sp>
      <p:sp>
        <p:nvSpPr>
          <p:cNvPr id="17" name="TextBox 16">
            <a:extLst>
              <a:ext uri="{FF2B5EF4-FFF2-40B4-BE49-F238E27FC236}">
                <a16:creationId xmlns:a16="http://schemas.microsoft.com/office/drawing/2014/main" id="{85B72EF5-88F8-4A6C-A564-CCD062734D74}"/>
              </a:ext>
            </a:extLst>
          </p:cNvPr>
          <p:cNvSpPr txBox="1"/>
          <p:nvPr/>
        </p:nvSpPr>
        <p:spPr>
          <a:xfrm>
            <a:off x="470916" y="1109990"/>
            <a:ext cx="2771335" cy="523220"/>
          </a:xfrm>
          <a:prstGeom prst="rect">
            <a:avLst/>
          </a:prstGeom>
          <a:noFill/>
        </p:spPr>
        <p:txBody>
          <a:bodyPr wrap="square">
            <a:spAutoFit/>
          </a:bodyPr>
          <a:lstStyle/>
          <a:p>
            <a:r>
              <a:rPr lang="vi-VN" sz="2800" b="1" dirty="0">
                <a:solidFill>
                  <a:schemeClr val="bg1"/>
                </a:solidFill>
                <a:latin typeface="Calibri" panose="020F0502020204030204" pitchFamily="34" charset="0"/>
                <a:ea typeface="Calibri" panose="020F0502020204030204" pitchFamily="34" charset="0"/>
                <a:cs typeface="Calibri" panose="020F0502020204030204" pitchFamily="34" charset="0"/>
              </a:rPr>
              <a:t>LỜI CẢM ƠN</a:t>
            </a:r>
            <a:endParaRPr lang="en-US" sz="28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18" name="Shape 9">
            <a:extLst>
              <a:ext uri="{FF2B5EF4-FFF2-40B4-BE49-F238E27FC236}">
                <a16:creationId xmlns:a16="http://schemas.microsoft.com/office/drawing/2014/main" id="{5FD48D63-B631-A839-E564-ADE5DCCC22EE}"/>
              </a:ext>
            </a:extLst>
          </p:cNvPr>
          <p:cNvSpPr/>
          <p:nvPr/>
        </p:nvSpPr>
        <p:spPr>
          <a:xfrm>
            <a:off x="470916" y="1655064"/>
            <a:ext cx="5029200" cy="36576"/>
          </a:xfrm>
          <a:prstGeom prst="rect">
            <a:avLst/>
          </a:prstGeom>
          <a:solidFill>
            <a:srgbClr val="74C69D"/>
          </a:solidFill>
          <a:ln w="12700">
            <a:solidFill>
              <a:srgbClr val="74C69D"/>
            </a:solidFill>
            <a:prstDash val="solid"/>
          </a:ln>
        </p:spPr>
      </p:sp>
      <p:sp>
        <p:nvSpPr>
          <p:cNvPr id="19" name="Shape 10">
            <a:extLst>
              <a:ext uri="{FF2B5EF4-FFF2-40B4-BE49-F238E27FC236}">
                <a16:creationId xmlns:a16="http://schemas.microsoft.com/office/drawing/2014/main" id="{951C7286-8C91-6684-ECA9-3BF1CF320E2F}"/>
              </a:ext>
            </a:extLst>
          </p:cNvPr>
          <p:cNvSpPr/>
          <p:nvPr/>
        </p:nvSpPr>
        <p:spPr>
          <a:xfrm>
            <a:off x="470916" y="1865728"/>
            <a:ext cx="5065776" cy="2161852"/>
          </a:xfrm>
          <a:prstGeom prst="rect">
            <a:avLst/>
          </a:prstGeom>
          <a:solidFill>
            <a:srgbClr val="2D6A4F">
              <a:alpha val="60000"/>
            </a:srgbClr>
          </a:solidFill>
          <a:ln w="12700">
            <a:solidFill>
              <a:srgbClr val="74C69D"/>
            </a:solidFill>
            <a:prstDash val="solid"/>
          </a:ln>
        </p:spPr>
      </p:sp>
      <p:sp>
        <p:nvSpPr>
          <p:cNvPr id="20" name="Text 11">
            <a:extLst>
              <a:ext uri="{FF2B5EF4-FFF2-40B4-BE49-F238E27FC236}">
                <a16:creationId xmlns:a16="http://schemas.microsoft.com/office/drawing/2014/main" id="{EFF2AD7B-F706-7176-9953-74053144E14B}"/>
              </a:ext>
            </a:extLst>
          </p:cNvPr>
          <p:cNvSpPr/>
          <p:nvPr/>
        </p:nvSpPr>
        <p:spPr>
          <a:xfrm>
            <a:off x="470915" y="1807298"/>
            <a:ext cx="5029199" cy="2416126"/>
          </a:xfrm>
          <a:prstGeom prst="rect">
            <a:avLst/>
          </a:prstGeom>
          <a:noFill/>
          <a:ln/>
        </p:spPr>
        <p:txBody>
          <a:bodyPr wrap="square" rtlCol="0" anchor="ctr"/>
          <a:lstStyle/>
          <a:p>
            <a:r>
              <a:rPr lang="vi-VN" sz="1050" dirty="0">
                <a:solidFill>
                  <a:schemeClr val="bg1"/>
                </a:solidFill>
              </a:rPr>
              <a:t>Nhóm học viên xin chân thành cảm ơn TS. Trần Mạnh Tuấn đã tận tình giảng dạy, hướng dẫn và truyền đạt những kiến thức quý báu trong quá trình học tập và thực hiện bài tập lớn.</a:t>
            </a:r>
          </a:p>
          <a:p>
            <a:endParaRPr lang="vi-VN" sz="1050" dirty="0">
              <a:solidFill>
                <a:schemeClr val="bg1"/>
              </a:solidFill>
            </a:endParaRPr>
          </a:p>
          <a:p>
            <a:r>
              <a:rPr lang="vi-VN" sz="1050" dirty="0">
                <a:solidFill>
                  <a:schemeClr val="bg1"/>
                </a:solidFill>
              </a:rPr>
              <a:t>Những kiến thức và sự định hướng của Thầy là nền tảng quan trọng giúp nhóm học viên hiểu rõ hơn về các phương pháp xây dựng hệ thống thông minh và hoàn thành đề tài “An Explainable Intelligent System for Plant Disease Severity Assessment using Fuzzy Inference”.</a:t>
            </a:r>
          </a:p>
          <a:p>
            <a:endParaRPr lang="vi-VN" sz="1050" dirty="0">
              <a:solidFill>
                <a:schemeClr val="bg1"/>
              </a:solidFill>
            </a:endParaRPr>
          </a:p>
          <a:p>
            <a:r>
              <a:rPr lang="vi-VN" sz="1050" dirty="0">
                <a:solidFill>
                  <a:schemeClr val="bg1"/>
                </a:solidFill>
              </a:rPr>
              <a:t>Mặc dù đã nỗ lực nghiên cứu và thực hiện, báo cáo khó tránh khỏi hạn chế. Nhóm rất mong nhận được những ý kiến chỉ dẫn và góp ý từ Thầy để tiếp tục hoàn thiện, đồng thời nâng cao kiến thức và năng lực nghiên cứu của mình.</a:t>
            </a:r>
            <a:endParaRPr lang="en-US" sz="1050" dirty="0">
              <a:solidFill>
                <a:schemeClr val="bg1"/>
              </a:solidFill>
            </a:endParaRPr>
          </a:p>
        </p:txBody>
      </p:sp>
      <p:pic>
        <p:nvPicPr>
          <p:cNvPr id="31" name="Picture 30" descr="Bộ sưu tập hình ảnh cánh đồng lúa đẹp nhất với hơn 999+ ảnh chất lượng 4K.">
            <a:extLst>
              <a:ext uri="{FF2B5EF4-FFF2-40B4-BE49-F238E27FC236}">
                <a16:creationId xmlns:a16="http://schemas.microsoft.com/office/drawing/2014/main" id="{E355C2BF-2A9A-B149-CC00-BFEB619E5F45}"/>
              </a:ext>
            </a:extLst>
          </p:cNvPr>
          <p:cNvPicPr>
            <a:picLocks noChangeAspect="1"/>
          </p:cNvPicPr>
          <p:nvPr/>
        </p:nvPicPr>
        <p:blipFill>
          <a:blip r:embed="rId3"/>
          <a:stretch>
            <a:fillRect/>
          </a:stretch>
        </p:blipFill>
        <p:spPr>
          <a:xfrm>
            <a:off x="5641145" y="1321082"/>
            <a:ext cx="3432515" cy="3001216"/>
          </a:xfrm>
          <a:prstGeom prst="roundRect">
            <a:avLst>
              <a:gd name="adj" fmla="val 11111"/>
            </a:avLst>
          </a:prstGeom>
          <a:ln w="190500" cap="rnd">
            <a:solidFill>
              <a:schemeClr val="accent6">
                <a:lumMod val="40000"/>
                <a:lumOff val="60000"/>
              </a:schemeClr>
            </a:solidFill>
            <a:prstDash val="solid"/>
          </a:ln>
          <a:effectLst>
            <a:outerShdw blurRad="101600" dist="50800" dir="7200000" algn="tl" rotWithShape="0">
              <a:srgbClr val="000000">
                <a:alpha val="45000"/>
              </a:srgbClr>
            </a:outerShdw>
          </a:effectLst>
          <a:scene3d>
            <a:camera prst="perspectiveFront" fov="5400000"/>
            <a:lightRig rig="threePt" dir="t">
              <a:rot lat="0" lon="0" rev="19200000"/>
            </a:lightRig>
          </a:scene3d>
          <a:sp3d extrusionH="25400">
            <a:bevelT w="304800" h="152400" prst="hardEdge"/>
            <a:extrusionClr>
              <a:srgbClr val="FFFFFF"/>
            </a:extrusionClr>
          </a:sp3d>
        </p:spPr>
      </p:pic>
    </p:spTree>
    <p:extLst>
      <p:ext uri="{BB962C8B-B14F-4D97-AF65-F5344CB8AC3E}">
        <p14:creationId xmlns:p14="http://schemas.microsoft.com/office/powerpoint/2010/main" val="34286020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4332"/>
          </a:solidFill>
          <a:ln w="12700">
            <a:solidFill>
              <a:srgbClr val="1B4332"/>
            </a:solidFill>
            <a:prstDash val="solid"/>
          </a:ln>
        </p:spPr>
      </p:sp>
      <p:sp>
        <p:nvSpPr>
          <p:cNvPr id="3" name="Shape 1"/>
          <p:cNvSpPr/>
          <p:nvPr/>
        </p:nvSpPr>
        <p:spPr>
          <a:xfrm>
            <a:off x="0" y="685800"/>
            <a:ext cx="9144000" cy="45720"/>
          </a:xfrm>
          <a:prstGeom prst="rect">
            <a:avLst/>
          </a:prstGeom>
          <a:solidFill>
            <a:srgbClr val="74C69D"/>
          </a:solidFill>
          <a:ln w="12700">
            <a:solidFill>
              <a:srgbClr val="74C69D"/>
            </a:solidFill>
            <a:prstDash val="solid"/>
          </a:ln>
        </p:spPr>
      </p:sp>
      <p:sp>
        <p:nvSpPr>
          <p:cNvPr id="4" name="Text 2"/>
          <p:cNvSpPr/>
          <p:nvPr/>
        </p:nvSpPr>
        <p:spPr>
          <a:xfrm>
            <a:off x="274320" y="0"/>
            <a:ext cx="8595360" cy="68580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Phần Mở Đầu</a:t>
            </a:r>
            <a:endParaRPr lang="en-US" sz="2000" dirty="0"/>
          </a:p>
        </p:txBody>
      </p:sp>
      <p:sp>
        <p:nvSpPr>
          <p:cNvPr id="5" name="Shape 3"/>
          <p:cNvSpPr/>
          <p:nvPr/>
        </p:nvSpPr>
        <p:spPr>
          <a:xfrm>
            <a:off x="0" y="4869180"/>
            <a:ext cx="9144000" cy="274320"/>
          </a:xfrm>
          <a:prstGeom prst="rect">
            <a:avLst/>
          </a:prstGeom>
          <a:solidFill>
            <a:srgbClr val="D8F3DC"/>
          </a:solidFill>
          <a:ln w="12700">
            <a:solidFill>
              <a:srgbClr val="D8F3DC"/>
            </a:solidFill>
            <a:prstDash val="solid"/>
          </a:ln>
        </p:spPr>
      </p:sp>
      <p:sp>
        <p:nvSpPr>
          <p:cNvPr id="6" name="Text 4"/>
          <p:cNvSpPr/>
          <p:nvPr/>
        </p:nvSpPr>
        <p:spPr>
          <a:xfrm>
            <a:off x="274320" y="4869180"/>
            <a:ext cx="8595360" cy="274320"/>
          </a:xfrm>
          <a:prstGeom prst="rect">
            <a:avLst/>
          </a:prstGeom>
          <a:noFill/>
          <a:ln/>
        </p:spPr>
        <p:txBody>
          <a:bodyPr wrap="square" lIns="0" tIns="0" rIns="0" bIns="0" rtlCol="0" anchor="ctr"/>
          <a:lstStyle/>
          <a:p>
            <a:pPr marL="0" indent="0" algn="l">
              <a:buNone/>
            </a:pPr>
            <a:r>
              <a:rPr lang="en-US" sz="800" dirty="0">
                <a:solidFill>
                  <a:srgbClr val="6C757D"/>
                </a:solidFill>
                <a:latin typeface="Calibri" pitchFamily="34" charset="0"/>
                <a:ea typeface="Calibri" pitchFamily="34" charset="-122"/>
                <a:cs typeface="Calibri" pitchFamily="34" charset="-120"/>
              </a:rPr>
              <a:t>Nhóm 14 | Hệ Thống Thông Minh | ĐH Thủy Lợi</a:t>
            </a:r>
            <a:endParaRPr lang="en-US" sz="800" dirty="0"/>
          </a:p>
        </p:txBody>
      </p:sp>
      <p:sp>
        <p:nvSpPr>
          <p:cNvPr id="7" name="Shape 5"/>
          <p:cNvSpPr/>
          <p:nvPr/>
        </p:nvSpPr>
        <p:spPr>
          <a:xfrm>
            <a:off x="63306" y="868680"/>
            <a:ext cx="2096085" cy="3794760"/>
          </a:xfrm>
          <a:prstGeom prst="rect">
            <a:avLst/>
          </a:prstGeom>
          <a:solidFill>
            <a:srgbClr val="D8F3DC"/>
          </a:solidFill>
          <a:ln w="12700">
            <a:solidFill>
              <a:srgbClr val="40916C"/>
            </a:solidFill>
            <a:prstDash val="solid"/>
          </a:ln>
          <a:effectLst>
            <a:outerShdw blurRad="63500" dist="25400" dir="8100000" algn="bl" rotWithShape="0">
              <a:srgbClr val="AAAAAA">
                <a:alpha val="25000"/>
              </a:srgbClr>
            </a:outerShdw>
          </a:effectLst>
        </p:spPr>
      </p:sp>
      <p:sp>
        <p:nvSpPr>
          <p:cNvPr id="8" name="Text 6"/>
          <p:cNvSpPr/>
          <p:nvPr/>
        </p:nvSpPr>
        <p:spPr>
          <a:xfrm>
            <a:off x="166345" y="960120"/>
            <a:ext cx="1948991" cy="502920"/>
          </a:xfrm>
          <a:prstGeom prst="rect">
            <a:avLst/>
          </a:prstGeom>
          <a:noFill/>
          <a:ln/>
        </p:spPr>
        <p:txBody>
          <a:bodyPr wrap="square" rtlCol="0" anchor="ctr"/>
          <a:lstStyle/>
          <a:p>
            <a:pPr marL="0" indent="0">
              <a:buNone/>
            </a:pPr>
            <a:r>
              <a:rPr lang="en-US" sz="1300" b="1" dirty="0">
                <a:solidFill>
                  <a:srgbClr val="1B4332"/>
                </a:solidFill>
                <a:latin typeface="Calibri" pitchFamily="34" charset="0"/>
                <a:ea typeface="Calibri" pitchFamily="34" charset="-122"/>
                <a:cs typeface="Calibri" pitchFamily="34" charset="-120"/>
              </a:rPr>
              <a:t>🌱 Lý Do Chọn Đề Tài</a:t>
            </a:r>
            <a:endParaRPr lang="en-US" sz="1300" dirty="0"/>
          </a:p>
        </p:txBody>
      </p:sp>
      <p:sp>
        <p:nvSpPr>
          <p:cNvPr id="9" name="Shape 7"/>
          <p:cNvSpPr/>
          <p:nvPr/>
        </p:nvSpPr>
        <p:spPr>
          <a:xfrm>
            <a:off x="166345" y="1463040"/>
            <a:ext cx="1948991" cy="27432"/>
          </a:xfrm>
          <a:prstGeom prst="rect">
            <a:avLst/>
          </a:prstGeom>
          <a:solidFill>
            <a:srgbClr val="40916C"/>
          </a:solidFill>
          <a:ln w="12700">
            <a:solidFill>
              <a:srgbClr val="40916C"/>
            </a:solidFill>
            <a:prstDash val="solid"/>
          </a:ln>
        </p:spPr>
      </p:sp>
      <p:sp>
        <p:nvSpPr>
          <p:cNvPr id="10" name="Text 8"/>
          <p:cNvSpPr/>
          <p:nvPr/>
        </p:nvSpPr>
        <p:spPr>
          <a:xfrm>
            <a:off x="166345" y="1581912"/>
            <a:ext cx="1948991" cy="2880360"/>
          </a:xfrm>
          <a:prstGeom prst="rect">
            <a:avLst/>
          </a:prstGeom>
          <a:noFill/>
          <a:ln/>
        </p:spPr>
        <p:txBody>
          <a:bodyPr wrap="square" rtlCol="0" anchor="t"/>
          <a:lstStyle/>
          <a:p>
            <a:r>
              <a:rPr lang="vi-VN" sz="1050" dirty="0">
                <a:latin typeface="Calibri" panose="020F0502020204030204" pitchFamily="34" charset="0"/>
                <a:ea typeface="Calibri" panose="020F0502020204030204" pitchFamily="34" charset="0"/>
                <a:cs typeface="Times New Roman" panose="02020603050405020304" pitchFamily="18" charset="0"/>
              </a:rPr>
              <a:t>Dịch bệnh cây trồng gây ảnh hưởng lớn đến năng suất nông nghiệp. </a:t>
            </a:r>
            <a:endParaRPr lang="en-US" sz="1050" dirty="0">
              <a:latin typeface="Calibri" panose="020F0502020204030204" pitchFamily="34" charset="0"/>
              <a:ea typeface="Calibri" panose="020F0502020204030204" pitchFamily="34" charset="0"/>
              <a:cs typeface="Times New Roman" panose="02020603050405020304" pitchFamily="18" charset="0"/>
            </a:endParaRPr>
          </a:p>
          <a:p>
            <a:r>
              <a:rPr lang="vi-VN" sz="1050" dirty="0">
                <a:latin typeface="Calibri" panose="020F0502020204030204" pitchFamily="34" charset="0"/>
                <a:ea typeface="Calibri" panose="020F0502020204030204" pitchFamily="34" charset="0"/>
                <a:cs typeface="Times New Roman" panose="02020603050405020304" pitchFamily="18" charset="0"/>
              </a:rPr>
              <a:t>Các mô hình AI truyền thống thiếu khả năng giải thích, trong khi mức độ bệnh thường có ranh giới mờ và khó biểu diễn bằng logic nhị phân. </a:t>
            </a:r>
            <a:endParaRPr lang="en-US" sz="1050" dirty="0">
              <a:latin typeface="Calibri" panose="020F0502020204030204" pitchFamily="34" charset="0"/>
              <a:ea typeface="Calibri" panose="020F0502020204030204" pitchFamily="34" charset="0"/>
              <a:cs typeface="Times New Roman" panose="02020603050405020304" pitchFamily="18" charset="0"/>
            </a:endParaRPr>
          </a:p>
          <a:p>
            <a:r>
              <a:rPr lang="vi-VN" sz="1050" dirty="0">
                <a:latin typeface="Calibri" panose="020F0502020204030204" pitchFamily="34" charset="0"/>
                <a:ea typeface="Calibri" panose="020F0502020204030204" pitchFamily="34" charset="0"/>
                <a:cs typeface="Times New Roman" panose="02020603050405020304" pitchFamily="18" charset="0"/>
              </a:rPr>
              <a:t>Vì vậy, đề tài lựa chọn hướng tiếp cận kết hợp AI và Fuzzy Inference để xây dựng hệ thống đánh giá bệnh cây có khả năng giải thích</a:t>
            </a:r>
            <a:r>
              <a:rPr lang="en-US" sz="1050" dirty="0">
                <a:solidFill>
                  <a:srgbClr val="1A1A2E"/>
                </a:solidFill>
                <a:latin typeface="Calibri" pitchFamily="34" charset="0"/>
                <a:ea typeface="Calibri" pitchFamily="34" charset="-122"/>
                <a:cs typeface="Calibri" pitchFamily="34" charset="-120"/>
              </a:rPr>
              <a:t>.</a:t>
            </a:r>
            <a:endParaRPr lang="en-US" sz="1050" dirty="0"/>
          </a:p>
        </p:txBody>
      </p:sp>
      <p:sp>
        <p:nvSpPr>
          <p:cNvPr id="11" name="Shape 9"/>
          <p:cNvSpPr/>
          <p:nvPr/>
        </p:nvSpPr>
        <p:spPr>
          <a:xfrm>
            <a:off x="2262431" y="868680"/>
            <a:ext cx="3301342" cy="3794760"/>
          </a:xfrm>
          <a:prstGeom prst="rect">
            <a:avLst/>
          </a:prstGeom>
          <a:solidFill>
            <a:srgbClr val="E8F5E9"/>
          </a:solidFill>
          <a:ln w="12700">
            <a:solidFill>
              <a:srgbClr val="40916C"/>
            </a:solidFill>
            <a:prstDash val="solid"/>
          </a:ln>
          <a:effectLst>
            <a:outerShdw blurRad="63500" dist="25400" dir="8100000" algn="bl" rotWithShape="0">
              <a:srgbClr val="AAAAAA">
                <a:alpha val="25000"/>
              </a:srgbClr>
            </a:outerShdw>
          </a:effectLst>
        </p:spPr>
      </p:sp>
      <p:sp>
        <p:nvSpPr>
          <p:cNvPr id="12" name="Text 10"/>
          <p:cNvSpPr/>
          <p:nvPr/>
        </p:nvSpPr>
        <p:spPr>
          <a:xfrm>
            <a:off x="2403652" y="960120"/>
            <a:ext cx="3069668" cy="502920"/>
          </a:xfrm>
          <a:prstGeom prst="rect">
            <a:avLst/>
          </a:prstGeom>
          <a:noFill/>
          <a:ln/>
        </p:spPr>
        <p:txBody>
          <a:bodyPr wrap="square" rtlCol="0" anchor="ctr"/>
          <a:lstStyle/>
          <a:p>
            <a:pPr marL="0" indent="0">
              <a:buNone/>
            </a:pPr>
            <a:r>
              <a:rPr lang="en-US" sz="1300" b="1" dirty="0">
                <a:solidFill>
                  <a:srgbClr val="1B4332"/>
                </a:solidFill>
                <a:latin typeface="Calibri" pitchFamily="34" charset="0"/>
                <a:ea typeface="Calibri" pitchFamily="34" charset="-122"/>
                <a:cs typeface="Calibri" pitchFamily="34" charset="-120"/>
              </a:rPr>
              <a:t>🎯 Mục Tiêu Hệ Thống</a:t>
            </a:r>
            <a:endParaRPr lang="en-US" sz="1300" dirty="0"/>
          </a:p>
        </p:txBody>
      </p:sp>
      <p:sp>
        <p:nvSpPr>
          <p:cNvPr id="13" name="Shape 11"/>
          <p:cNvSpPr/>
          <p:nvPr/>
        </p:nvSpPr>
        <p:spPr>
          <a:xfrm>
            <a:off x="2403652" y="1463040"/>
            <a:ext cx="3069668" cy="27432"/>
          </a:xfrm>
          <a:prstGeom prst="rect">
            <a:avLst/>
          </a:prstGeom>
          <a:solidFill>
            <a:srgbClr val="40916C"/>
          </a:solidFill>
          <a:ln w="12700">
            <a:solidFill>
              <a:srgbClr val="40916C"/>
            </a:solidFill>
            <a:prstDash val="solid"/>
          </a:ln>
        </p:spPr>
      </p:sp>
      <p:sp>
        <p:nvSpPr>
          <p:cNvPr id="14" name="Text 12"/>
          <p:cNvSpPr/>
          <p:nvPr/>
        </p:nvSpPr>
        <p:spPr>
          <a:xfrm>
            <a:off x="2403652" y="1581912"/>
            <a:ext cx="3069668" cy="3004156"/>
          </a:xfrm>
          <a:prstGeom prst="rect">
            <a:avLst/>
          </a:prstGeom>
          <a:noFill/>
          <a:ln/>
        </p:spPr>
        <p:txBody>
          <a:bodyPr wrap="square" rtlCol="0" anchor="t"/>
          <a:lstStyle/>
          <a:p>
            <a:r>
              <a:rPr lang="en-US" sz="1050" b="1" dirty="0" err="1">
                <a:latin typeface="Calibri" panose="020F0502020204030204" pitchFamily="34" charset="0"/>
                <a:ea typeface="Calibri" panose="020F0502020204030204" pitchFamily="34" charset="0"/>
                <a:cs typeface="Calibri" panose="020F0502020204030204" pitchFamily="34" charset="0"/>
              </a:rPr>
              <a:t>Mục</a:t>
            </a:r>
            <a:r>
              <a:rPr lang="en-US" sz="1050" b="1" dirty="0">
                <a:latin typeface="Calibri" panose="020F0502020204030204" pitchFamily="34" charset="0"/>
                <a:ea typeface="Calibri" panose="020F0502020204030204" pitchFamily="34" charset="0"/>
                <a:cs typeface="Calibri" panose="020F0502020204030204" pitchFamily="34" charset="0"/>
              </a:rPr>
              <a:t> </a:t>
            </a:r>
            <a:r>
              <a:rPr lang="en-US" sz="1050" b="1" dirty="0" err="1">
                <a:latin typeface="Calibri" panose="020F0502020204030204" pitchFamily="34" charset="0"/>
                <a:ea typeface="Calibri" panose="020F0502020204030204" pitchFamily="34" charset="0"/>
                <a:cs typeface="Calibri" panose="020F0502020204030204" pitchFamily="34" charset="0"/>
              </a:rPr>
              <a:t>tiêu</a:t>
            </a:r>
            <a:r>
              <a:rPr lang="en-US" sz="1050" b="1" dirty="0">
                <a:latin typeface="Calibri" panose="020F0502020204030204" pitchFamily="34" charset="0"/>
                <a:ea typeface="Calibri" panose="020F0502020204030204" pitchFamily="34" charset="0"/>
                <a:cs typeface="Calibri" panose="020F0502020204030204" pitchFamily="34" charset="0"/>
              </a:rPr>
              <a:t> </a:t>
            </a:r>
            <a:r>
              <a:rPr lang="en-US" sz="1050" b="1" dirty="0" err="1">
                <a:latin typeface="Calibri" panose="020F0502020204030204" pitchFamily="34" charset="0"/>
                <a:ea typeface="Calibri" panose="020F0502020204030204" pitchFamily="34" charset="0"/>
                <a:cs typeface="Calibri" panose="020F0502020204030204" pitchFamily="34" charset="0"/>
              </a:rPr>
              <a:t>chung</a:t>
            </a:r>
            <a:r>
              <a:rPr lang="en-US" sz="1050" b="1" dirty="0">
                <a:latin typeface="Calibri" panose="020F0502020204030204" pitchFamily="34" charset="0"/>
                <a:ea typeface="Calibri" panose="020F0502020204030204" pitchFamily="34" charset="0"/>
                <a:cs typeface="Calibri" panose="020F0502020204030204" pitchFamily="34" charset="0"/>
              </a:rPr>
              <a:t>: </a:t>
            </a:r>
            <a:r>
              <a:rPr lang="vi-VN" sz="1050" dirty="0">
                <a:latin typeface="Calibri" panose="020F0502020204030204" pitchFamily="34" charset="0"/>
                <a:ea typeface="Calibri" panose="020F0502020204030204" pitchFamily="34" charset="0"/>
                <a:cs typeface="Calibri" panose="020F0502020204030204" pitchFamily="34" charset="0"/>
              </a:rPr>
              <a:t>Xây dựng hệ thống thông minh có khả năng giải thích để đánh giá mức độ nghiêm trọng của bệnh cây, kết hợp nhận dạng bằng AI và suy luận mờ (Fuzzy Inference).</a:t>
            </a:r>
          </a:p>
          <a:p>
            <a:r>
              <a:rPr lang="en-US" sz="1050" b="1" dirty="0" err="1">
                <a:latin typeface="Calibri" panose="020F0502020204030204" pitchFamily="34" charset="0"/>
                <a:ea typeface="Calibri" panose="020F0502020204030204" pitchFamily="34" charset="0"/>
                <a:cs typeface="Calibri" panose="020F0502020204030204" pitchFamily="34" charset="0"/>
              </a:rPr>
              <a:t>Mục</a:t>
            </a:r>
            <a:r>
              <a:rPr lang="en-US" sz="1050" b="1" dirty="0">
                <a:latin typeface="Calibri" panose="020F0502020204030204" pitchFamily="34" charset="0"/>
                <a:ea typeface="Calibri" panose="020F0502020204030204" pitchFamily="34" charset="0"/>
                <a:cs typeface="Calibri" panose="020F0502020204030204" pitchFamily="34" charset="0"/>
              </a:rPr>
              <a:t> </a:t>
            </a:r>
            <a:r>
              <a:rPr lang="en-US" sz="1050" b="1" dirty="0" err="1">
                <a:latin typeface="Calibri" panose="020F0502020204030204" pitchFamily="34" charset="0"/>
                <a:ea typeface="Calibri" panose="020F0502020204030204" pitchFamily="34" charset="0"/>
                <a:cs typeface="Calibri" panose="020F0502020204030204" pitchFamily="34" charset="0"/>
              </a:rPr>
              <a:t>tiêu</a:t>
            </a:r>
            <a:r>
              <a:rPr lang="en-US" sz="1050" b="1" dirty="0">
                <a:latin typeface="Calibri" panose="020F0502020204030204" pitchFamily="34" charset="0"/>
                <a:ea typeface="Calibri" panose="020F0502020204030204" pitchFamily="34" charset="0"/>
                <a:cs typeface="Calibri" panose="020F0502020204030204" pitchFamily="34" charset="0"/>
              </a:rPr>
              <a:t> </a:t>
            </a:r>
            <a:r>
              <a:rPr lang="en-US" sz="1050" b="1" dirty="0" err="1">
                <a:latin typeface="Calibri" panose="020F0502020204030204" pitchFamily="34" charset="0"/>
                <a:ea typeface="Calibri" panose="020F0502020204030204" pitchFamily="34" charset="0"/>
                <a:cs typeface="Calibri" panose="020F0502020204030204" pitchFamily="34" charset="0"/>
              </a:rPr>
              <a:t>cụ</a:t>
            </a:r>
            <a:r>
              <a:rPr lang="en-US" sz="1050" b="1" dirty="0">
                <a:latin typeface="Calibri" panose="020F0502020204030204" pitchFamily="34" charset="0"/>
                <a:ea typeface="Calibri" panose="020F0502020204030204" pitchFamily="34" charset="0"/>
                <a:cs typeface="Calibri" panose="020F0502020204030204" pitchFamily="34" charset="0"/>
              </a:rPr>
              <a:t> </a:t>
            </a:r>
            <a:r>
              <a:rPr lang="en-US" sz="1050" b="1" dirty="0" err="1">
                <a:latin typeface="Calibri" panose="020F0502020204030204" pitchFamily="34" charset="0"/>
                <a:ea typeface="Calibri" panose="020F0502020204030204" pitchFamily="34" charset="0"/>
                <a:cs typeface="Calibri" panose="020F0502020204030204" pitchFamily="34" charset="0"/>
              </a:rPr>
              <a:t>thể</a:t>
            </a:r>
            <a:r>
              <a:rPr lang="en-US" sz="1050" b="1" dirty="0">
                <a:latin typeface="Calibri" panose="020F0502020204030204" pitchFamily="34" charset="0"/>
                <a:ea typeface="Calibri" panose="020F0502020204030204" pitchFamily="34" charset="0"/>
                <a:cs typeface="Calibri" panose="020F0502020204030204" pitchFamily="34" charset="0"/>
              </a:rPr>
              <a:t>:</a:t>
            </a:r>
          </a:p>
          <a:p>
            <a:pPr algn="just"/>
            <a:r>
              <a:rPr lang="vi-VN" sz="1050" dirty="0">
                <a:latin typeface="Calibri" panose="020F0502020204030204" pitchFamily="34" charset="0"/>
                <a:ea typeface="Calibri" panose="020F0502020204030204" pitchFamily="34" charset="0"/>
                <a:cs typeface="Calibri" panose="020F0502020204030204" pitchFamily="34" charset="0"/>
              </a:rPr>
              <a:t>• Số hóa tri thức chuyên gia dưới dạng tập mờ và luật suy luận.</a:t>
            </a:r>
          </a:p>
          <a:p>
            <a:pPr algn="just"/>
            <a:r>
              <a:rPr lang="vi-VN" sz="1050" dirty="0">
                <a:latin typeface="Calibri" panose="020F0502020204030204" pitchFamily="34" charset="0"/>
                <a:ea typeface="Calibri" panose="020F0502020204030204" pitchFamily="34" charset="0"/>
                <a:cs typeface="Calibri" panose="020F0502020204030204" pitchFamily="34" charset="0"/>
              </a:rPr>
              <a:t>• Xây dựng bộ suy diễn mờ đánh giá mức độ bệnh từ dữ liệu đầu vào.</a:t>
            </a:r>
          </a:p>
          <a:p>
            <a:pPr algn="just"/>
            <a:r>
              <a:rPr lang="vi-VN" sz="1050" dirty="0">
                <a:latin typeface="Calibri" panose="020F0502020204030204" pitchFamily="34" charset="0"/>
                <a:ea typeface="Calibri" panose="020F0502020204030204" pitchFamily="34" charset="0"/>
                <a:cs typeface="Calibri" panose="020F0502020204030204" pitchFamily="34" charset="0"/>
              </a:rPr>
              <a:t>• Giải thích kết quả thông qua các luật được kích hoạt và ngôn ngữ tự nhiên.</a:t>
            </a:r>
          </a:p>
          <a:p>
            <a:pPr algn="just"/>
            <a:r>
              <a:rPr lang="vi-VN" sz="1050" dirty="0">
                <a:latin typeface="Calibri" panose="020F0502020204030204" pitchFamily="34" charset="0"/>
                <a:ea typeface="Calibri" panose="020F0502020204030204" pitchFamily="34" charset="0"/>
                <a:cs typeface="Calibri" panose="020F0502020204030204" pitchFamily="34" charset="0"/>
              </a:rPr>
              <a:t>• Phát triển giao diện trực quan, dễ sử dụng và có khả năng mở rộng..</a:t>
            </a:r>
            <a:endParaRPr lang="en-US" sz="1050"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1050" dirty="0">
              <a:latin typeface="Calibri" panose="020F0502020204030204" pitchFamily="34" charset="0"/>
              <a:ea typeface="Calibri" panose="020F0502020204030204" pitchFamily="34" charset="0"/>
              <a:cs typeface="Calibri" panose="020F0502020204030204" pitchFamily="34" charset="0"/>
            </a:endParaRPr>
          </a:p>
        </p:txBody>
      </p:sp>
      <p:sp>
        <p:nvSpPr>
          <p:cNvPr id="15" name="Shape 13"/>
          <p:cNvSpPr/>
          <p:nvPr/>
        </p:nvSpPr>
        <p:spPr>
          <a:xfrm>
            <a:off x="5666813" y="868680"/>
            <a:ext cx="3413881" cy="3794760"/>
          </a:xfrm>
          <a:prstGeom prst="rect">
            <a:avLst/>
          </a:prstGeom>
          <a:solidFill>
            <a:srgbClr val="FFF9C4"/>
          </a:solidFill>
          <a:ln w="12700">
            <a:solidFill>
              <a:srgbClr val="40916C"/>
            </a:solidFill>
            <a:prstDash val="solid"/>
          </a:ln>
          <a:effectLst>
            <a:outerShdw blurRad="63500" dist="25400" dir="8100000" algn="bl" rotWithShape="0">
              <a:srgbClr val="AAAAAA">
                <a:alpha val="25000"/>
              </a:srgbClr>
            </a:outerShdw>
          </a:effectLst>
        </p:spPr>
      </p:sp>
      <p:sp>
        <p:nvSpPr>
          <p:cNvPr id="16" name="Text 14"/>
          <p:cNvSpPr/>
          <p:nvPr/>
        </p:nvSpPr>
        <p:spPr>
          <a:xfrm>
            <a:off x="5761009" y="960120"/>
            <a:ext cx="3218802" cy="502920"/>
          </a:xfrm>
          <a:prstGeom prst="rect">
            <a:avLst/>
          </a:prstGeom>
          <a:noFill/>
          <a:ln/>
        </p:spPr>
        <p:txBody>
          <a:bodyPr wrap="square" rtlCol="0" anchor="ctr"/>
          <a:lstStyle/>
          <a:p>
            <a:pPr marL="0" indent="0">
              <a:buNone/>
            </a:pPr>
            <a:r>
              <a:rPr lang="en-US" sz="1300" b="1" dirty="0">
                <a:solidFill>
                  <a:srgbClr val="1B4332"/>
                </a:solidFill>
                <a:latin typeface="Calibri" pitchFamily="34" charset="0"/>
                <a:ea typeface="Calibri" pitchFamily="34" charset="-122"/>
                <a:cs typeface="Calibri" pitchFamily="34" charset="-120"/>
              </a:rPr>
              <a:t>🔬 Phạm Vi Nghiên Cứu</a:t>
            </a:r>
            <a:endParaRPr lang="en-US" sz="1300" dirty="0"/>
          </a:p>
        </p:txBody>
      </p:sp>
      <p:sp>
        <p:nvSpPr>
          <p:cNvPr id="17" name="Shape 15"/>
          <p:cNvSpPr/>
          <p:nvPr/>
        </p:nvSpPr>
        <p:spPr>
          <a:xfrm>
            <a:off x="5761009" y="1463040"/>
            <a:ext cx="3218802" cy="27432"/>
          </a:xfrm>
          <a:prstGeom prst="rect">
            <a:avLst/>
          </a:prstGeom>
          <a:solidFill>
            <a:srgbClr val="40916C"/>
          </a:solidFill>
          <a:ln w="12700">
            <a:solidFill>
              <a:srgbClr val="40916C"/>
            </a:solidFill>
            <a:prstDash val="solid"/>
          </a:ln>
        </p:spPr>
      </p:sp>
      <p:sp>
        <p:nvSpPr>
          <p:cNvPr id="18" name="Text 16"/>
          <p:cNvSpPr/>
          <p:nvPr/>
        </p:nvSpPr>
        <p:spPr>
          <a:xfrm>
            <a:off x="5761009" y="1581912"/>
            <a:ext cx="3218802" cy="2880360"/>
          </a:xfrm>
          <a:prstGeom prst="rect">
            <a:avLst/>
          </a:prstGeom>
          <a:noFill/>
          <a:ln/>
        </p:spPr>
        <p:txBody>
          <a:bodyPr wrap="square" rtlCol="0" anchor="t"/>
          <a:lstStyle/>
          <a:p>
            <a:r>
              <a:rPr lang="vi-VN" sz="1050" b="1" dirty="0">
                <a:latin typeface="Calibri" panose="020F0502020204030204" pitchFamily="34" charset="0"/>
                <a:ea typeface="Calibri" panose="020F0502020204030204" pitchFamily="34" charset="0"/>
                <a:cs typeface="Calibri" panose="020F0502020204030204" pitchFamily="34" charset="0"/>
              </a:rPr>
              <a:t>Đối tượng nghiên cứu:</a:t>
            </a:r>
            <a:r>
              <a:rPr lang="vi-VN" sz="1050" dirty="0">
                <a:latin typeface="Calibri" panose="020F0502020204030204" pitchFamily="34" charset="0"/>
                <a:ea typeface="Calibri" panose="020F0502020204030204" pitchFamily="34" charset="0"/>
                <a:cs typeface="Calibri" panose="020F0502020204030204" pitchFamily="34" charset="0"/>
              </a:rPr>
              <a:t> Bệnh trên lá lúa với các lớp: Healthy (Khỏe mạnh), Blast (Đạo ôn), Brownspot (Đốm nâu), Bacterial Blight (Bạc lá vi khuẩn) và Tungro (Bệnh vàng lùn Tungro).</a:t>
            </a:r>
            <a:endParaRPr lang="en-US" sz="1050" dirty="0">
              <a:latin typeface="Calibri" panose="020F0502020204030204" pitchFamily="34" charset="0"/>
              <a:ea typeface="Calibri" panose="020F0502020204030204" pitchFamily="34" charset="0"/>
              <a:cs typeface="Calibri" panose="020F0502020204030204" pitchFamily="34" charset="0"/>
            </a:endParaRPr>
          </a:p>
          <a:p>
            <a:r>
              <a:rPr lang="vi-VN" sz="1050" b="1" dirty="0">
                <a:latin typeface="Calibri" panose="020F0502020204030204" pitchFamily="34" charset="0"/>
                <a:ea typeface="Calibri" panose="020F0502020204030204" pitchFamily="34" charset="0"/>
                <a:cs typeface="Calibri" panose="020F0502020204030204" pitchFamily="34" charset="0"/>
              </a:rPr>
              <a:t>Dữ liệu đầu vào:</a:t>
            </a:r>
            <a:r>
              <a:rPr lang="en-US" sz="1050" b="1" dirty="0">
                <a:latin typeface="Calibri" panose="020F0502020204030204" pitchFamily="34" charset="0"/>
                <a:ea typeface="Calibri" panose="020F0502020204030204" pitchFamily="34" charset="0"/>
                <a:cs typeface="Calibri" panose="020F0502020204030204" pitchFamily="34" charset="0"/>
              </a:rPr>
              <a:t> </a:t>
            </a:r>
            <a:r>
              <a:rPr lang="vi-VN" sz="1050" dirty="0">
                <a:latin typeface="Calibri" panose="020F0502020204030204" pitchFamily="34" charset="0"/>
                <a:ea typeface="Calibri" panose="020F0502020204030204" pitchFamily="34" charset="0"/>
                <a:cs typeface="Calibri" panose="020F0502020204030204" pitchFamily="34" charset="0"/>
              </a:rPr>
              <a:t>Ảnh lá bệnh, độ tin cậy dự đoán từ CNN, nhiệt độ và độ ẩm môi trường.</a:t>
            </a:r>
          </a:p>
          <a:p>
            <a:r>
              <a:rPr lang="vi-VN" sz="1050" b="1" dirty="0">
                <a:latin typeface="Calibri" panose="020F0502020204030204" pitchFamily="34" charset="0"/>
                <a:ea typeface="Calibri" panose="020F0502020204030204" pitchFamily="34" charset="0"/>
                <a:cs typeface="Calibri" panose="020F0502020204030204" pitchFamily="34" charset="0"/>
              </a:rPr>
              <a:t>Dữ liệu đầu ra:</a:t>
            </a:r>
            <a:r>
              <a:rPr lang="en-US" sz="1050" b="1" dirty="0">
                <a:latin typeface="Calibri" panose="020F0502020204030204" pitchFamily="34" charset="0"/>
                <a:ea typeface="Calibri" panose="020F0502020204030204" pitchFamily="34" charset="0"/>
                <a:cs typeface="Calibri" panose="020F0502020204030204" pitchFamily="34" charset="0"/>
              </a:rPr>
              <a:t> </a:t>
            </a:r>
            <a:r>
              <a:rPr lang="vi-VN" sz="1050" dirty="0">
                <a:latin typeface="Calibri" panose="020F0502020204030204" pitchFamily="34" charset="0"/>
                <a:ea typeface="Calibri" panose="020F0502020204030204" pitchFamily="34" charset="0"/>
                <a:cs typeface="Calibri" panose="020F0502020204030204" pitchFamily="34" charset="0"/>
              </a:rPr>
              <a:t>Loại bệnh, mức độ nghiêm trọng (Severity Index), mức cảnh báo và báo cáo giải thích kết quả.</a:t>
            </a:r>
          </a:p>
          <a:p>
            <a:r>
              <a:rPr lang="vi-VN" sz="1050" b="1" dirty="0">
                <a:latin typeface="Calibri" panose="020F0502020204030204" pitchFamily="34" charset="0"/>
                <a:ea typeface="Calibri" panose="020F0502020204030204" pitchFamily="34" charset="0"/>
                <a:cs typeface="Calibri" panose="020F0502020204030204" pitchFamily="34" charset="0"/>
              </a:rPr>
              <a:t>Giới hạn công nghệ</a:t>
            </a:r>
            <a:r>
              <a:rPr lang="vi-VN" sz="1050" dirty="0">
                <a:latin typeface="Calibri" panose="020F0502020204030204" pitchFamily="34" charset="0"/>
                <a:ea typeface="Calibri" panose="020F0502020204030204" pitchFamily="34" charset="0"/>
                <a:cs typeface="Calibri" panose="020F0502020204030204" pitchFamily="34" charset="0"/>
              </a:rPr>
              <a:t>:</a:t>
            </a:r>
            <a:r>
              <a:rPr lang="en-US" sz="1050" dirty="0">
                <a:latin typeface="Calibri" panose="020F0502020204030204" pitchFamily="34" charset="0"/>
                <a:ea typeface="Calibri" panose="020F0502020204030204" pitchFamily="34" charset="0"/>
                <a:cs typeface="Calibri" panose="020F0502020204030204" pitchFamily="34" charset="0"/>
              </a:rPr>
              <a:t> </a:t>
            </a:r>
            <a:r>
              <a:rPr lang="vi-VN" sz="1050" dirty="0">
                <a:latin typeface="Calibri" panose="020F0502020204030204" pitchFamily="34" charset="0"/>
                <a:ea typeface="Calibri" panose="020F0502020204030204" pitchFamily="34" charset="0"/>
                <a:cs typeface="Calibri" panose="020F0502020204030204" pitchFamily="34" charset="0"/>
              </a:rPr>
              <a:t>Sử dụng CNN (EfficientNet-B0) kết hợp Fuzzy Logic Sugeno và giao diện Web Streamlit; chưa tích hợp cảm biến IoT và dữ liệu thời gian thực.</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4332"/>
          </a:solidFill>
          <a:ln w="12700">
            <a:solidFill>
              <a:srgbClr val="1B4332"/>
            </a:solidFill>
            <a:prstDash val="solid"/>
          </a:ln>
        </p:spPr>
      </p:sp>
      <p:sp>
        <p:nvSpPr>
          <p:cNvPr id="3" name="Shape 1"/>
          <p:cNvSpPr/>
          <p:nvPr/>
        </p:nvSpPr>
        <p:spPr>
          <a:xfrm>
            <a:off x="0" y="685800"/>
            <a:ext cx="9144000" cy="45720"/>
          </a:xfrm>
          <a:prstGeom prst="rect">
            <a:avLst/>
          </a:prstGeom>
          <a:solidFill>
            <a:srgbClr val="74C69D"/>
          </a:solidFill>
          <a:ln w="12700">
            <a:solidFill>
              <a:srgbClr val="74C69D"/>
            </a:solidFill>
            <a:prstDash val="solid"/>
          </a:ln>
        </p:spPr>
      </p:sp>
      <p:sp>
        <p:nvSpPr>
          <p:cNvPr id="4" name="Text 2"/>
          <p:cNvSpPr/>
          <p:nvPr/>
        </p:nvSpPr>
        <p:spPr>
          <a:xfrm>
            <a:off x="274320" y="0"/>
            <a:ext cx="8595360" cy="68580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Cơ Sở Lý Thuyết</a:t>
            </a:r>
            <a:endParaRPr lang="en-US" sz="2000" dirty="0"/>
          </a:p>
        </p:txBody>
      </p:sp>
      <p:sp>
        <p:nvSpPr>
          <p:cNvPr id="5" name="Shape 3"/>
          <p:cNvSpPr/>
          <p:nvPr/>
        </p:nvSpPr>
        <p:spPr>
          <a:xfrm>
            <a:off x="0" y="4869180"/>
            <a:ext cx="9144000" cy="274320"/>
          </a:xfrm>
          <a:prstGeom prst="rect">
            <a:avLst/>
          </a:prstGeom>
          <a:solidFill>
            <a:srgbClr val="D8F3DC"/>
          </a:solidFill>
          <a:ln w="12700">
            <a:solidFill>
              <a:srgbClr val="D8F3DC"/>
            </a:solidFill>
            <a:prstDash val="solid"/>
          </a:ln>
        </p:spPr>
      </p:sp>
      <p:sp>
        <p:nvSpPr>
          <p:cNvPr id="6" name="Text 4"/>
          <p:cNvSpPr/>
          <p:nvPr/>
        </p:nvSpPr>
        <p:spPr>
          <a:xfrm>
            <a:off x="274320" y="4869180"/>
            <a:ext cx="8595360" cy="274320"/>
          </a:xfrm>
          <a:prstGeom prst="rect">
            <a:avLst/>
          </a:prstGeom>
          <a:noFill/>
          <a:ln/>
        </p:spPr>
        <p:txBody>
          <a:bodyPr wrap="square" lIns="0" tIns="0" rIns="0" bIns="0" rtlCol="0" anchor="ctr"/>
          <a:lstStyle/>
          <a:p>
            <a:pPr marL="0" indent="0" algn="l">
              <a:buNone/>
            </a:pPr>
            <a:r>
              <a:rPr lang="en-US" sz="800" dirty="0">
                <a:solidFill>
                  <a:srgbClr val="6C757D"/>
                </a:solidFill>
                <a:latin typeface="Calibri" pitchFamily="34" charset="0"/>
                <a:ea typeface="Calibri" pitchFamily="34" charset="-122"/>
                <a:cs typeface="Calibri" pitchFamily="34" charset="-120"/>
              </a:rPr>
              <a:t>Nhóm 14 | Hệ Thống Thông Minh | ĐH Thủy Lợi</a:t>
            </a:r>
            <a:endParaRPr lang="en-US" sz="800" dirty="0"/>
          </a:p>
        </p:txBody>
      </p:sp>
      <p:sp>
        <p:nvSpPr>
          <p:cNvPr id="7" name="Shape 5"/>
          <p:cNvSpPr/>
          <p:nvPr/>
        </p:nvSpPr>
        <p:spPr>
          <a:xfrm>
            <a:off x="228600" y="868680"/>
            <a:ext cx="2651760" cy="1463040"/>
          </a:xfrm>
          <a:prstGeom prst="rect">
            <a:avLst/>
          </a:prstGeom>
          <a:solidFill>
            <a:srgbClr val="F8F9FA"/>
          </a:solidFill>
          <a:ln w="19050">
            <a:solidFill>
              <a:srgbClr val="74C69D"/>
            </a:solidFill>
            <a:prstDash val="solid"/>
          </a:ln>
          <a:effectLst>
            <a:outerShdw blurRad="50800" dist="25400" dir="8100000" algn="bl" rotWithShape="0">
              <a:srgbClr val="AAAAAA">
                <a:alpha val="20000"/>
              </a:srgbClr>
            </a:outerShdw>
          </a:effectLst>
        </p:spPr>
      </p:sp>
      <p:sp>
        <p:nvSpPr>
          <p:cNvPr id="8" name="Shape 6"/>
          <p:cNvSpPr/>
          <p:nvPr/>
        </p:nvSpPr>
        <p:spPr>
          <a:xfrm>
            <a:off x="365760" y="1005840"/>
            <a:ext cx="457200" cy="457200"/>
          </a:xfrm>
          <a:prstGeom prst="ellipse">
            <a:avLst/>
          </a:prstGeom>
          <a:solidFill>
            <a:srgbClr val="1B4332"/>
          </a:solidFill>
          <a:ln w="12700">
            <a:solidFill>
              <a:srgbClr val="1B4332"/>
            </a:solidFill>
            <a:prstDash val="solid"/>
          </a:ln>
        </p:spPr>
      </p:sp>
      <p:sp>
        <p:nvSpPr>
          <p:cNvPr id="9" name="Text 7"/>
          <p:cNvSpPr/>
          <p:nvPr/>
        </p:nvSpPr>
        <p:spPr>
          <a:xfrm>
            <a:off x="365760" y="1005840"/>
            <a:ext cx="4572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10" name="Text 8"/>
          <p:cNvSpPr/>
          <p:nvPr/>
        </p:nvSpPr>
        <p:spPr>
          <a:xfrm>
            <a:off x="914400" y="1005840"/>
            <a:ext cx="1828800" cy="502920"/>
          </a:xfrm>
          <a:prstGeom prst="rect">
            <a:avLst/>
          </a:prstGeom>
          <a:noFill/>
          <a:ln/>
        </p:spPr>
        <p:txBody>
          <a:bodyPr wrap="square" rtlCol="0" anchor="ctr"/>
          <a:lstStyle/>
          <a:p>
            <a:pPr marL="0" indent="0">
              <a:buNone/>
            </a:pPr>
            <a:r>
              <a:rPr lang="en-US" sz="1150" b="1" dirty="0">
                <a:solidFill>
                  <a:srgbClr val="1B4332"/>
                </a:solidFill>
                <a:latin typeface="Calibri" pitchFamily="34" charset="0"/>
                <a:ea typeface="Calibri" pitchFamily="34" charset="-122"/>
                <a:cs typeface="Calibri" pitchFamily="34" charset="-120"/>
              </a:rPr>
              <a:t>Hệ Thống Thông Tin Thông Minh (IIS)</a:t>
            </a:r>
            <a:endParaRPr lang="en-US" sz="1150" dirty="0"/>
          </a:p>
        </p:txBody>
      </p:sp>
      <p:sp>
        <p:nvSpPr>
          <p:cNvPr id="11" name="Text 9"/>
          <p:cNvSpPr/>
          <p:nvPr/>
        </p:nvSpPr>
        <p:spPr>
          <a:xfrm>
            <a:off x="365760" y="1554480"/>
            <a:ext cx="2377440" cy="68580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Tích hợp AI vào hệ thống thông tin truyền thống. Có khả năng suy diễn, học hỏi và thích nghi từ dữ liệu phi cấu trúc.</a:t>
            </a:r>
            <a:endParaRPr lang="en-US" sz="1050" dirty="0"/>
          </a:p>
        </p:txBody>
      </p:sp>
      <p:sp>
        <p:nvSpPr>
          <p:cNvPr id="12" name="Shape 10"/>
          <p:cNvSpPr/>
          <p:nvPr/>
        </p:nvSpPr>
        <p:spPr>
          <a:xfrm>
            <a:off x="3246120" y="868680"/>
            <a:ext cx="2651760" cy="1463040"/>
          </a:xfrm>
          <a:prstGeom prst="rect">
            <a:avLst/>
          </a:prstGeom>
          <a:solidFill>
            <a:srgbClr val="F8F9FA"/>
          </a:solidFill>
          <a:ln w="19050">
            <a:solidFill>
              <a:srgbClr val="74C69D"/>
            </a:solidFill>
            <a:prstDash val="solid"/>
          </a:ln>
          <a:effectLst>
            <a:outerShdw blurRad="50800" dist="25400" dir="8100000" algn="bl" rotWithShape="0">
              <a:srgbClr val="AAAAAA">
                <a:alpha val="20000"/>
              </a:srgbClr>
            </a:outerShdw>
          </a:effectLst>
        </p:spPr>
      </p:sp>
      <p:sp>
        <p:nvSpPr>
          <p:cNvPr id="13" name="Shape 11"/>
          <p:cNvSpPr/>
          <p:nvPr/>
        </p:nvSpPr>
        <p:spPr>
          <a:xfrm>
            <a:off x="3383280" y="1005840"/>
            <a:ext cx="457200" cy="457200"/>
          </a:xfrm>
          <a:prstGeom prst="ellipse">
            <a:avLst/>
          </a:prstGeom>
          <a:solidFill>
            <a:srgbClr val="40916C"/>
          </a:solidFill>
          <a:ln w="12700">
            <a:solidFill>
              <a:srgbClr val="40916C"/>
            </a:solidFill>
            <a:prstDash val="solid"/>
          </a:ln>
        </p:spPr>
      </p:sp>
      <p:sp>
        <p:nvSpPr>
          <p:cNvPr id="14" name="Text 12"/>
          <p:cNvSpPr/>
          <p:nvPr/>
        </p:nvSpPr>
        <p:spPr>
          <a:xfrm>
            <a:off x="3383280" y="1005840"/>
            <a:ext cx="4572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5" name="Text 13"/>
          <p:cNvSpPr/>
          <p:nvPr/>
        </p:nvSpPr>
        <p:spPr>
          <a:xfrm>
            <a:off x="3931920" y="1005840"/>
            <a:ext cx="1828800" cy="502920"/>
          </a:xfrm>
          <a:prstGeom prst="rect">
            <a:avLst/>
          </a:prstGeom>
          <a:noFill/>
          <a:ln/>
        </p:spPr>
        <p:txBody>
          <a:bodyPr wrap="square" rtlCol="0" anchor="ctr"/>
          <a:lstStyle/>
          <a:p>
            <a:pPr marL="0" indent="0">
              <a:buNone/>
            </a:pPr>
            <a:r>
              <a:rPr lang="en-US" sz="1150" b="1" dirty="0">
                <a:solidFill>
                  <a:srgbClr val="1B4332"/>
                </a:solidFill>
                <a:latin typeface="Calibri" pitchFamily="34" charset="0"/>
                <a:ea typeface="Calibri" pitchFamily="34" charset="-122"/>
                <a:cs typeface="Calibri" pitchFamily="34" charset="-120"/>
              </a:rPr>
              <a:t>Explainable AI (XAI) trong Nông Nghiệp</a:t>
            </a:r>
            <a:endParaRPr lang="en-US" sz="1150" dirty="0"/>
          </a:p>
        </p:txBody>
      </p:sp>
      <p:sp>
        <p:nvSpPr>
          <p:cNvPr id="16" name="Text 14"/>
          <p:cNvSpPr/>
          <p:nvPr/>
        </p:nvSpPr>
        <p:spPr>
          <a:xfrm>
            <a:off x="3383280" y="1554480"/>
            <a:ext cx="2377440" cy="68580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Giải quyết vấn đề hộp đen. Xây dựng niềm tin, hỗ trợ ra quyết định lâm sàng, trách nhiệm giải trình.</a:t>
            </a:r>
            <a:endParaRPr lang="en-US" sz="1050" dirty="0"/>
          </a:p>
        </p:txBody>
      </p:sp>
      <p:sp>
        <p:nvSpPr>
          <p:cNvPr id="17" name="Shape 15"/>
          <p:cNvSpPr/>
          <p:nvPr/>
        </p:nvSpPr>
        <p:spPr>
          <a:xfrm>
            <a:off x="6263640" y="868680"/>
            <a:ext cx="2651760" cy="1463040"/>
          </a:xfrm>
          <a:prstGeom prst="rect">
            <a:avLst/>
          </a:prstGeom>
          <a:solidFill>
            <a:srgbClr val="F8F9FA"/>
          </a:solidFill>
          <a:ln w="19050">
            <a:solidFill>
              <a:srgbClr val="74C69D"/>
            </a:solidFill>
            <a:prstDash val="solid"/>
          </a:ln>
          <a:effectLst>
            <a:outerShdw blurRad="50800" dist="25400" dir="8100000" algn="bl" rotWithShape="0">
              <a:srgbClr val="AAAAAA">
                <a:alpha val="20000"/>
              </a:srgbClr>
            </a:outerShdw>
          </a:effectLst>
        </p:spPr>
      </p:sp>
      <p:sp>
        <p:nvSpPr>
          <p:cNvPr id="18" name="Shape 16"/>
          <p:cNvSpPr/>
          <p:nvPr/>
        </p:nvSpPr>
        <p:spPr>
          <a:xfrm>
            <a:off x="6400800" y="1005840"/>
            <a:ext cx="457200" cy="457200"/>
          </a:xfrm>
          <a:prstGeom prst="ellipse">
            <a:avLst/>
          </a:prstGeom>
          <a:solidFill>
            <a:srgbClr val="F4A261"/>
          </a:solidFill>
          <a:ln w="12700">
            <a:solidFill>
              <a:srgbClr val="F4A261"/>
            </a:solidFill>
            <a:prstDash val="solid"/>
          </a:ln>
        </p:spPr>
      </p:sp>
      <p:sp>
        <p:nvSpPr>
          <p:cNvPr id="19" name="Text 17"/>
          <p:cNvSpPr/>
          <p:nvPr/>
        </p:nvSpPr>
        <p:spPr>
          <a:xfrm>
            <a:off x="6400800" y="1005840"/>
            <a:ext cx="4572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20" name="Text 18"/>
          <p:cNvSpPr/>
          <p:nvPr/>
        </p:nvSpPr>
        <p:spPr>
          <a:xfrm>
            <a:off x="6949440" y="1005840"/>
            <a:ext cx="1828800" cy="502920"/>
          </a:xfrm>
          <a:prstGeom prst="rect">
            <a:avLst/>
          </a:prstGeom>
          <a:noFill/>
          <a:ln/>
        </p:spPr>
        <p:txBody>
          <a:bodyPr wrap="square" rtlCol="0" anchor="ctr"/>
          <a:lstStyle/>
          <a:p>
            <a:pPr marL="0" indent="0">
              <a:buNone/>
            </a:pPr>
            <a:r>
              <a:rPr lang="en-US" sz="1150" b="1" dirty="0">
                <a:solidFill>
                  <a:srgbClr val="1B4332"/>
                </a:solidFill>
                <a:latin typeface="Calibri" pitchFamily="34" charset="0"/>
                <a:ea typeface="Calibri" pitchFamily="34" charset="-122"/>
                <a:cs typeface="Calibri" pitchFamily="34" charset="-120"/>
              </a:rPr>
              <a:t>Fuzzy Set &amp; Membership Function</a:t>
            </a:r>
            <a:endParaRPr lang="en-US" sz="1150" dirty="0"/>
          </a:p>
        </p:txBody>
      </p:sp>
      <p:sp>
        <p:nvSpPr>
          <p:cNvPr id="21" name="Text 19"/>
          <p:cNvSpPr/>
          <p:nvPr/>
        </p:nvSpPr>
        <p:spPr>
          <a:xfrm>
            <a:off x="6400800" y="1554480"/>
            <a:ext cx="2377440" cy="68580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Cho phép thuộc vào tập hợp với mức độ [0,1]. Hàm tam giác, hình thang dùng cho dữ liệu nông nghiệp.</a:t>
            </a:r>
            <a:endParaRPr lang="en-US" sz="1050" dirty="0"/>
          </a:p>
        </p:txBody>
      </p:sp>
      <p:sp>
        <p:nvSpPr>
          <p:cNvPr id="22" name="Text 20"/>
          <p:cNvSpPr/>
          <p:nvPr/>
        </p:nvSpPr>
        <p:spPr>
          <a:xfrm>
            <a:off x="228600" y="2468880"/>
            <a:ext cx="8686800" cy="365760"/>
          </a:xfrm>
          <a:prstGeom prst="rect">
            <a:avLst/>
          </a:prstGeom>
          <a:noFill/>
          <a:ln/>
        </p:spPr>
        <p:txBody>
          <a:bodyPr wrap="square" rtlCol="0" anchor="ctr"/>
          <a:lstStyle/>
          <a:p>
            <a:r>
              <a:rPr lang="en-US" sz="1300" b="1" dirty="0">
                <a:solidFill>
                  <a:srgbClr val="1B4332"/>
                </a:solidFill>
                <a:latin typeface="Calibri" pitchFamily="34" charset="0"/>
                <a:ea typeface="Calibri" pitchFamily="34" charset="-122"/>
                <a:cs typeface="Calibri" pitchFamily="34" charset="-120"/>
              </a:rPr>
              <a:t>Quy </a:t>
            </a:r>
            <a:r>
              <a:rPr lang="en-US" sz="1300" b="1" dirty="0" err="1">
                <a:solidFill>
                  <a:srgbClr val="1B4332"/>
                </a:solidFill>
                <a:latin typeface="Calibri" pitchFamily="34" charset="0"/>
                <a:ea typeface="Calibri" pitchFamily="34" charset="-122"/>
                <a:cs typeface="Calibri" pitchFamily="34" charset="-120"/>
              </a:rPr>
              <a:t>Trình</a:t>
            </a:r>
            <a:r>
              <a:rPr lang="en-US" sz="1300" b="1" dirty="0">
                <a:solidFill>
                  <a:srgbClr val="1B4332"/>
                </a:solidFill>
                <a:latin typeface="Calibri" pitchFamily="34" charset="0"/>
                <a:ea typeface="Calibri" pitchFamily="34" charset="-122"/>
                <a:cs typeface="Calibri" pitchFamily="34" charset="-120"/>
              </a:rPr>
              <a:t> Zero-order </a:t>
            </a:r>
            <a:r>
              <a:rPr lang="en-US" sz="1300" b="1" dirty="0" err="1">
                <a:solidFill>
                  <a:srgbClr val="1B4332"/>
                </a:solidFill>
                <a:latin typeface="Calibri" pitchFamily="34" charset="0"/>
                <a:ea typeface="Calibri" pitchFamily="34" charset="-122"/>
                <a:cs typeface="Calibri" pitchFamily="34" charset="-120"/>
              </a:rPr>
              <a:t>Sugeno</a:t>
            </a:r>
            <a:r>
              <a:rPr lang="en-US" sz="1300" b="1" dirty="0">
                <a:solidFill>
                  <a:srgbClr val="1B4332"/>
                </a:solidFill>
                <a:latin typeface="Calibri" pitchFamily="34" charset="0"/>
                <a:ea typeface="Calibri" pitchFamily="34" charset="-122"/>
                <a:cs typeface="Calibri" pitchFamily="34" charset="-120"/>
              </a:rPr>
              <a:t> Fuzzy Inference System: 4 </a:t>
            </a:r>
            <a:r>
              <a:rPr lang="en-US" sz="1300" b="1" dirty="0" err="1">
                <a:solidFill>
                  <a:srgbClr val="1B4332"/>
                </a:solidFill>
                <a:latin typeface="Calibri" pitchFamily="34" charset="0"/>
                <a:ea typeface="Calibri" pitchFamily="34" charset="-122"/>
                <a:cs typeface="Calibri" pitchFamily="34" charset="-120"/>
              </a:rPr>
              <a:t>Bước</a:t>
            </a:r>
            <a:r>
              <a:rPr lang="en-US" sz="1300" b="1" dirty="0">
                <a:solidFill>
                  <a:srgbClr val="1B4332"/>
                </a:solidFill>
                <a:latin typeface="Calibri" pitchFamily="34" charset="0"/>
                <a:ea typeface="Calibri" pitchFamily="34" charset="-122"/>
                <a:cs typeface="Calibri" pitchFamily="34" charset="-120"/>
              </a:rPr>
              <a:t> </a:t>
            </a:r>
            <a:r>
              <a:rPr lang="en-US" sz="1300" b="1" dirty="0" err="1">
                <a:solidFill>
                  <a:srgbClr val="1B4332"/>
                </a:solidFill>
                <a:latin typeface="Calibri" pitchFamily="34" charset="0"/>
                <a:ea typeface="Calibri" pitchFamily="34" charset="-122"/>
                <a:cs typeface="Calibri" pitchFamily="34" charset="-120"/>
              </a:rPr>
              <a:t>Cốt</a:t>
            </a:r>
            <a:r>
              <a:rPr lang="en-US" sz="1300" b="1" dirty="0">
                <a:solidFill>
                  <a:srgbClr val="1B4332"/>
                </a:solidFill>
                <a:latin typeface="Calibri" pitchFamily="34" charset="0"/>
                <a:ea typeface="Calibri" pitchFamily="34" charset="-122"/>
                <a:cs typeface="Calibri" pitchFamily="34" charset="-120"/>
              </a:rPr>
              <a:t> Lõi</a:t>
            </a:r>
            <a:endParaRPr lang="en-US" sz="1300" dirty="0"/>
          </a:p>
        </p:txBody>
      </p:sp>
      <p:sp>
        <p:nvSpPr>
          <p:cNvPr id="23" name="Shape 21"/>
          <p:cNvSpPr/>
          <p:nvPr/>
        </p:nvSpPr>
        <p:spPr>
          <a:xfrm>
            <a:off x="228600" y="2880360"/>
            <a:ext cx="1920240" cy="1280160"/>
          </a:xfrm>
          <a:prstGeom prst="rect">
            <a:avLst/>
          </a:prstGeom>
          <a:solidFill>
            <a:srgbClr val="D8F3DC"/>
          </a:solidFill>
          <a:ln w="12700">
            <a:solidFill>
              <a:srgbClr val="40916C"/>
            </a:solidFill>
            <a:prstDash val="solid"/>
          </a:ln>
          <a:effectLst>
            <a:outerShdw blurRad="38100" dist="25400" dir="8100000" algn="bl" rotWithShape="0">
              <a:srgbClr val="AAAAAA">
                <a:alpha val="20000"/>
              </a:srgbClr>
            </a:outerShdw>
          </a:effectLst>
        </p:spPr>
      </p:sp>
      <p:sp>
        <p:nvSpPr>
          <p:cNvPr id="24" name="Text 22"/>
          <p:cNvSpPr/>
          <p:nvPr/>
        </p:nvSpPr>
        <p:spPr>
          <a:xfrm>
            <a:off x="320040" y="2971800"/>
            <a:ext cx="1737360" cy="502920"/>
          </a:xfrm>
          <a:prstGeom prst="rect">
            <a:avLst/>
          </a:prstGeom>
          <a:noFill/>
          <a:ln/>
        </p:spPr>
        <p:txBody>
          <a:bodyPr wrap="square" rtlCol="0" anchor="ctr"/>
          <a:lstStyle/>
          <a:p>
            <a:pPr marL="0" indent="0">
              <a:buNone/>
            </a:pPr>
            <a:r>
              <a:rPr lang="en-US" sz="1200" b="1" dirty="0">
                <a:solidFill>
                  <a:srgbClr val="1B4332"/>
                </a:solidFill>
                <a:latin typeface="Calibri" pitchFamily="34" charset="0"/>
                <a:ea typeface="Calibri" pitchFamily="34" charset="-122"/>
                <a:cs typeface="Calibri" pitchFamily="34" charset="-120"/>
              </a:rPr>
              <a:t>① Fuzzification</a:t>
            </a:r>
            <a:endParaRPr lang="en-US" sz="1200" dirty="0"/>
          </a:p>
        </p:txBody>
      </p:sp>
      <p:sp>
        <p:nvSpPr>
          <p:cNvPr id="25" name="Text 23"/>
          <p:cNvSpPr/>
          <p:nvPr/>
        </p:nvSpPr>
        <p:spPr>
          <a:xfrm>
            <a:off x="320040" y="3474720"/>
            <a:ext cx="1737360" cy="59436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Chuyển giá trị rõ → độ thuộc μ</a:t>
            </a:r>
            <a:endParaRPr lang="en-US" sz="1050" dirty="0"/>
          </a:p>
        </p:txBody>
      </p:sp>
      <p:sp>
        <p:nvSpPr>
          <p:cNvPr id="26" name="Shape 24"/>
          <p:cNvSpPr/>
          <p:nvPr/>
        </p:nvSpPr>
        <p:spPr>
          <a:xfrm>
            <a:off x="2167128" y="3493008"/>
            <a:ext cx="192024" cy="54864"/>
          </a:xfrm>
          <a:prstGeom prst="rect">
            <a:avLst/>
          </a:prstGeom>
          <a:solidFill>
            <a:srgbClr val="2D6A4F"/>
          </a:solidFill>
          <a:ln w="12700">
            <a:solidFill>
              <a:srgbClr val="2D6A4F"/>
            </a:solidFill>
            <a:prstDash val="solid"/>
          </a:ln>
        </p:spPr>
      </p:sp>
      <p:sp>
        <p:nvSpPr>
          <p:cNvPr id="27" name="Shape 25"/>
          <p:cNvSpPr/>
          <p:nvPr/>
        </p:nvSpPr>
        <p:spPr>
          <a:xfrm>
            <a:off x="2377440" y="2880360"/>
            <a:ext cx="1920240" cy="1280160"/>
          </a:xfrm>
          <a:prstGeom prst="rect">
            <a:avLst/>
          </a:prstGeom>
          <a:solidFill>
            <a:srgbClr val="E3F2FD"/>
          </a:solidFill>
          <a:ln w="12700">
            <a:solidFill>
              <a:srgbClr val="40916C"/>
            </a:solidFill>
            <a:prstDash val="solid"/>
          </a:ln>
          <a:effectLst>
            <a:outerShdw blurRad="38100" dist="25400" dir="8100000" algn="bl" rotWithShape="0">
              <a:srgbClr val="AAAAAA">
                <a:alpha val="20000"/>
              </a:srgbClr>
            </a:outerShdw>
          </a:effectLst>
        </p:spPr>
      </p:sp>
      <p:sp>
        <p:nvSpPr>
          <p:cNvPr id="28" name="Text 26"/>
          <p:cNvSpPr/>
          <p:nvPr/>
        </p:nvSpPr>
        <p:spPr>
          <a:xfrm>
            <a:off x="2468880" y="2971800"/>
            <a:ext cx="1737360" cy="502920"/>
          </a:xfrm>
          <a:prstGeom prst="rect">
            <a:avLst/>
          </a:prstGeom>
          <a:noFill/>
          <a:ln/>
        </p:spPr>
        <p:txBody>
          <a:bodyPr wrap="square" rtlCol="0" anchor="ctr"/>
          <a:lstStyle/>
          <a:p>
            <a:pPr marL="0" indent="0">
              <a:buNone/>
            </a:pPr>
            <a:r>
              <a:rPr lang="en-US" sz="1200" b="1" dirty="0">
                <a:solidFill>
                  <a:srgbClr val="1B4332"/>
                </a:solidFill>
                <a:latin typeface="Calibri" pitchFamily="34" charset="0"/>
                <a:ea typeface="Calibri" pitchFamily="34" charset="-122"/>
                <a:cs typeface="Calibri" pitchFamily="34" charset="-120"/>
              </a:rPr>
              <a:t>② Rule Evaluation</a:t>
            </a:r>
            <a:endParaRPr lang="en-US" sz="1200" dirty="0"/>
          </a:p>
        </p:txBody>
      </p:sp>
      <p:sp>
        <p:nvSpPr>
          <p:cNvPr id="29" name="Text 27"/>
          <p:cNvSpPr/>
          <p:nvPr/>
        </p:nvSpPr>
        <p:spPr>
          <a:xfrm>
            <a:off x="2468880" y="3474720"/>
            <a:ext cx="1737360" cy="59436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Áp dụng luật IF-THEN, toán tử min/max</a:t>
            </a:r>
            <a:endParaRPr lang="en-US" sz="1050" dirty="0"/>
          </a:p>
        </p:txBody>
      </p:sp>
      <p:sp>
        <p:nvSpPr>
          <p:cNvPr id="30" name="Shape 28"/>
          <p:cNvSpPr/>
          <p:nvPr/>
        </p:nvSpPr>
        <p:spPr>
          <a:xfrm>
            <a:off x="4315968" y="3493008"/>
            <a:ext cx="192024" cy="54864"/>
          </a:xfrm>
          <a:prstGeom prst="rect">
            <a:avLst/>
          </a:prstGeom>
          <a:solidFill>
            <a:srgbClr val="2D6A4F"/>
          </a:solidFill>
          <a:ln w="12700">
            <a:solidFill>
              <a:srgbClr val="2D6A4F"/>
            </a:solidFill>
            <a:prstDash val="solid"/>
          </a:ln>
        </p:spPr>
      </p:sp>
      <p:sp>
        <p:nvSpPr>
          <p:cNvPr id="31" name="Shape 29"/>
          <p:cNvSpPr/>
          <p:nvPr/>
        </p:nvSpPr>
        <p:spPr>
          <a:xfrm>
            <a:off x="4526280" y="2880360"/>
            <a:ext cx="1920240" cy="1280160"/>
          </a:xfrm>
          <a:prstGeom prst="rect">
            <a:avLst/>
          </a:prstGeom>
          <a:solidFill>
            <a:srgbClr val="FFF9C4"/>
          </a:solidFill>
          <a:ln w="12700">
            <a:solidFill>
              <a:srgbClr val="40916C"/>
            </a:solidFill>
            <a:prstDash val="solid"/>
          </a:ln>
          <a:effectLst>
            <a:outerShdw blurRad="38100" dist="25400" dir="8100000" algn="bl" rotWithShape="0">
              <a:srgbClr val="AAAAAA">
                <a:alpha val="20000"/>
              </a:srgbClr>
            </a:outerShdw>
          </a:effectLst>
        </p:spPr>
      </p:sp>
      <p:sp>
        <p:nvSpPr>
          <p:cNvPr id="32" name="Text 30"/>
          <p:cNvSpPr/>
          <p:nvPr/>
        </p:nvSpPr>
        <p:spPr>
          <a:xfrm>
            <a:off x="4617720" y="2971800"/>
            <a:ext cx="1737360" cy="502920"/>
          </a:xfrm>
          <a:prstGeom prst="rect">
            <a:avLst/>
          </a:prstGeom>
          <a:noFill/>
          <a:ln/>
        </p:spPr>
        <p:txBody>
          <a:bodyPr wrap="square" rtlCol="0" anchor="ctr"/>
          <a:lstStyle/>
          <a:p>
            <a:pPr marL="0" indent="0">
              <a:buNone/>
            </a:pPr>
            <a:r>
              <a:rPr lang="en-US" sz="1200" b="1" dirty="0">
                <a:solidFill>
                  <a:srgbClr val="1B4332"/>
                </a:solidFill>
                <a:latin typeface="Calibri" pitchFamily="34" charset="0"/>
                <a:ea typeface="Calibri" pitchFamily="34" charset="-122"/>
                <a:cs typeface="Calibri" pitchFamily="34" charset="-120"/>
              </a:rPr>
              <a:t>③ Aggregation</a:t>
            </a:r>
            <a:endParaRPr lang="en-US" sz="1200" dirty="0"/>
          </a:p>
        </p:txBody>
      </p:sp>
      <p:sp>
        <p:nvSpPr>
          <p:cNvPr id="33" name="Text 31"/>
          <p:cNvSpPr/>
          <p:nvPr/>
        </p:nvSpPr>
        <p:spPr>
          <a:xfrm>
            <a:off x="4617720" y="3474720"/>
            <a:ext cx="1737360" cy="594360"/>
          </a:xfrm>
          <a:prstGeom prst="rect">
            <a:avLst/>
          </a:prstGeom>
          <a:noFill/>
          <a:ln/>
        </p:spPr>
        <p:txBody>
          <a:bodyPr wrap="square" rtlCol="0" anchor="ctr"/>
          <a:lstStyle/>
          <a:p>
            <a:r>
              <a:rPr lang="vi-VN" sz="1050" dirty="0"/>
              <a:t>Kết hợp mức kích hoạt luật và giá trị singleton</a:t>
            </a:r>
            <a:endParaRPr lang="en-US" sz="1050" dirty="0"/>
          </a:p>
        </p:txBody>
      </p:sp>
      <p:sp>
        <p:nvSpPr>
          <p:cNvPr id="34" name="Shape 32"/>
          <p:cNvSpPr/>
          <p:nvPr/>
        </p:nvSpPr>
        <p:spPr>
          <a:xfrm>
            <a:off x="6464808" y="3493008"/>
            <a:ext cx="192024" cy="54864"/>
          </a:xfrm>
          <a:prstGeom prst="rect">
            <a:avLst/>
          </a:prstGeom>
          <a:solidFill>
            <a:srgbClr val="2D6A4F"/>
          </a:solidFill>
          <a:ln w="12700">
            <a:solidFill>
              <a:srgbClr val="2D6A4F"/>
            </a:solidFill>
            <a:prstDash val="solid"/>
          </a:ln>
        </p:spPr>
      </p:sp>
      <p:sp>
        <p:nvSpPr>
          <p:cNvPr id="35" name="Shape 33"/>
          <p:cNvSpPr/>
          <p:nvPr/>
        </p:nvSpPr>
        <p:spPr>
          <a:xfrm>
            <a:off x="6675120" y="2880360"/>
            <a:ext cx="1920240" cy="1280160"/>
          </a:xfrm>
          <a:prstGeom prst="rect">
            <a:avLst/>
          </a:prstGeom>
          <a:solidFill>
            <a:srgbClr val="FCE4EC"/>
          </a:solidFill>
          <a:ln w="12700">
            <a:solidFill>
              <a:srgbClr val="40916C"/>
            </a:solidFill>
            <a:prstDash val="solid"/>
          </a:ln>
          <a:effectLst>
            <a:outerShdw blurRad="38100" dist="25400" dir="8100000" algn="bl" rotWithShape="0">
              <a:srgbClr val="AAAAAA">
                <a:alpha val="20000"/>
              </a:srgbClr>
            </a:outerShdw>
          </a:effectLst>
        </p:spPr>
      </p:sp>
      <p:sp>
        <p:nvSpPr>
          <p:cNvPr id="36" name="Text 34"/>
          <p:cNvSpPr/>
          <p:nvPr/>
        </p:nvSpPr>
        <p:spPr>
          <a:xfrm>
            <a:off x="6766560" y="2971800"/>
            <a:ext cx="1737360" cy="502920"/>
          </a:xfrm>
          <a:prstGeom prst="rect">
            <a:avLst/>
          </a:prstGeom>
          <a:noFill/>
          <a:ln/>
        </p:spPr>
        <p:txBody>
          <a:bodyPr wrap="square" rtlCol="0" anchor="ctr"/>
          <a:lstStyle/>
          <a:p>
            <a:pPr marL="0" indent="0">
              <a:buNone/>
            </a:pPr>
            <a:r>
              <a:rPr lang="en-US" sz="1200" b="1" dirty="0">
                <a:solidFill>
                  <a:srgbClr val="1B4332"/>
                </a:solidFill>
                <a:latin typeface="Calibri" pitchFamily="34" charset="0"/>
                <a:ea typeface="Calibri" pitchFamily="34" charset="-122"/>
                <a:cs typeface="Calibri" pitchFamily="34" charset="-120"/>
              </a:rPr>
              <a:t>④ Defuzzification</a:t>
            </a:r>
            <a:endParaRPr lang="en-US" sz="1200" dirty="0"/>
          </a:p>
        </p:txBody>
      </p:sp>
      <p:sp>
        <p:nvSpPr>
          <p:cNvPr id="37" name="Text 35"/>
          <p:cNvSpPr/>
          <p:nvPr/>
        </p:nvSpPr>
        <p:spPr>
          <a:xfrm>
            <a:off x="6766560" y="3474720"/>
            <a:ext cx="1737360" cy="594360"/>
          </a:xfrm>
          <a:prstGeom prst="rect">
            <a:avLst/>
          </a:prstGeom>
          <a:noFill/>
          <a:ln/>
        </p:spPr>
        <p:txBody>
          <a:bodyPr wrap="square" rtlCol="0" anchor="ctr"/>
          <a:lstStyle/>
          <a:p>
            <a:r>
              <a:rPr lang="en-US" sz="1050" dirty="0"/>
              <a:t>Weighted Average → </a:t>
            </a:r>
            <a:r>
              <a:rPr lang="en-US" sz="1050" dirty="0" err="1"/>
              <a:t>giá</a:t>
            </a:r>
            <a:r>
              <a:rPr lang="en-US" sz="1050" dirty="0"/>
              <a:t> </a:t>
            </a:r>
            <a:r>
              <a:rPr lang="en-US" sz="1050" dirty="0" err="1"/>
              <a:t>trị</a:t>
            </a:r>
            <a:r>
              <a:rPr lang="en-US" sz="1050" dirty="0"/>
              <a:t> </a:t>
            </a:r>
            <a:r>
              <a:rPr lang="en-US" sz="1050" dirty="0" err="1"/>
              <a:t>rõ</a:t>
            </a:r>
            <a:endParaRPr lang="en-US" sz="1050" dirty="0"/>
          </a:p>
        </p:txBody>
      </p:sp>
      <p:sp>
        <p:nvSpPr>
          <p:cNvPr id="38" name="Text 36"/>
          <p:cNvSpPr/>
          <p:nvPr/>
        </p:nvSpPr>
        <p:spPr>
          <a:xfrm>
            <a:off x="228600" y="4251960"/>
            <a:ext cx="8686800" cy="274320"/>
          </a:xfrm>
          <a:prstGeom prst="rect">
            <a:avLst/>
          </a:prstGeom>
          <a:noFill/>
          <a:ln/>
        </p:spPr>
        <p:txBody>
          <a:bodyPr wrap="square" rtlCol="0" anchor="ctr"/>
          <a:lstStyle/>
          <a:p>
            <a:r>
              <a:rPr lang="en-US" sz="1000" i="1" dirty="0" err="1">
                <a:latin typeface="Arial" panose="020B0604020202020204" pitchFamily="34" charset="0"/>
                <a:cs typeface="Arial" panose="020B0604020202020204" pitchFamily="34" charset="0"/>
              </a:rPr>
              <a:t>Nhóm</a:t>
            </a:r>
            <a:r>
              <a:rPr lang="vi-VN" sz="1000" i="1" dirty="0">
                <a:latin typeface="Arial" panose="020B0604020202020204" pitchFamily="34" charset="0"/>
                <a:cs typeface="Arial" panose="020B0604020202020204" pitchFamily="34" charset="0"/>
              </a:rPr>
              <a:t> </a:t>
            </a:r>
            <a:r>
              <a:rPr lang="vi-VN" sz="1000" i="1" dirty="0"/>
              <a:t>sử dụng Zero-order Sugeno FIS làm lõi fuzzy reasoning, kết hợp heuristic scoring và expert-guided decision logic nhằm hỗ trợ xử lý uncertainty và hỗ trợ quyết định trong môi trường thực tế.</a:t>
            </a:r>
            <a:endParaRPr lang="en-US" sz="1000" i="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03D644A-A0D3-EADF-9E06-B3660F0585C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8EF59A2-17A1-90E3-7512-A88FEBCCBA48}"/>
              </a:ext>
            </a:extLst>
          </p:cNvPr>
          <p:cNvSpPr/>
          <p:nvPr/>
        </p:nvSpPr>
        <p:spPr>
          <a:xfrm>
            <a:off x="0" y="0"/>
            <a:ext cx="9144000" cy="685800"/>
          </a:xfrm>
          <a:prstGeom prst="rect">
            <a:avLst/>
          </a:prstGeom>
          <a:solidFill>
            <a:srgbClr val="1B4332"/>
          </a:solidFill>
          <a:ln w="12700">
            <a:solidFill>
              <a:srgbClr val="1B4332"/>
            </a:solidFill>
            <a:prstDash val="solid"/>
          </a:ln>
        </p:spPr>
      </p:sp>
      <p:sp>
        <p:nvSpPr>
          <p:cNvPr id="3" name="Shape 1">
            <a:extLst>
              <a:ext uri="{FF2B5EF4-FFF2-40B4-BE49-F238E27FC236}">
                <a16:creationId xmlns:a16="http://schemas.microsoft.com/office/drawing/2014/main" id="{85179E4B-2DCA-6129-2D81-09615133A9DB}"/>
              </a:ext>
            </a:extLst>
          </p:cNvPr>
          <p:cNvSpPr/>
          <p:nvPr/>
        </p:nvSpPr>
        <p:spPr>
          <a:xfrm>
            <a:off x="0" y="685800"/>
            <a:ext cx="9144000" cy="45720"/>
          </a:xfrm>
          <a:prstGeom prst="rect">
            <a:avLst/>
          </a:prstGeom>
          <a:solidFill>
            <a:srgbClr val="74C69D"/>
          </a:solidFill>
          <a:ln w="12700">
            <a:solidFill>
              <a:srgbClr val="74C69D"/>
            </a:solidFill>
            <a:prstDash val="solid"/>
          </a:ln>
        </p:spPr>
      </p:sp>
      <p:sp>
        <p:nvSpPr>
          <p:cNvPr id="4" name="Text 2">
            <a:extLst>
              <a:ext uri="{FF2B5EF4-FFF2-40B4-BE49-F238E27FC236}">
                <a16:creationId xmlns:a16="http://schemas.microsoft.com/office/drawing/2014/main" id="{D3C53929-3A23-7DB1-4C7D-274CD158B85A}"/>
              </a:ext>
            </a:extLst>
          </p:cNvPr>
          <p:cNvSpPr/>
          <p:nvPr/>
        </p:nvSpPr>
        <p:spPr>
          <a:xfrm>
            <a:off x="274320" y="0"/>
            <a:ext cx="8595360" cy="685800"/>
          </a:xfrm>
          <a:prstGeom prst="rect">
            <a:avLst/>
          </a:prstGeom>
          <a:noFill/>
          <a:ln/>
        </p:spPr>
        <p:txBody>
          <a:bodyPr wrap="square" lIns="0" tIns="0" rIns="0" bIns="0" rtlCol="0" anchor="ctr"/>
          <a:lstStyle/>
          <a:p>
            <a:pPr marL="0" indent="0" algn="l">
              <a:buNone/>
            </a:pPr>
            <a:r>
              <a:rPr lang="en-US" sz="2000" b="1" dirty="0" err="1">
                <a:solidFill>
                  <a:srgbClr val="FFFFFF"/>
                </a:solidFill>
                <a:latin typeface="Calibri" pitchFamily="34" charset="0"/>
                <a:ea typeface="Calibri" pitchFamily="34" charset="-122"/>
                <a:cs typeface="Calibri" pitchFamily="34" charset="-120"/>
              </a:rPr>
              <a:t>Kiến</a:t>
            </a:r>
            <a:r>
              <a:rPr lang="en-US" sz="2000" b="1" dirty="0">
                <a:solidFill>
                  <a:srgbClr val="FFFFFF"/>
                </a:solidFill>
                <a:latin typeface="Calibri" pitchFamily="34" charset="0"/>
                <a:ea typeface="Calibri" pitchFamily="34" charset="-122"/>
                <a:cs typeface="Calibri" pitchFamily="34" charset="-120"/>
              </a:rPr>
              <a:t> Trúc </a:t>
            </a:r>
            <a:r>
              <a:rPr lang="en-US" sz="2000" b="1" dirty="0" err="1">
                <a:solidFill>
                  <a:srgbClr val="FFFFFF"/>
                </a:solidFill>
                <a:latin typeface="Calibri" pitchFamily="34" charset="0"/>
                <a:ea typeface="Calibri" pitchFamily="34" charset="-122"/>
                <a:cs typeface="Calibri" pitchFamily="34" charset="-120"/>
              </a:rPr>
              <a:t>Tổng</a:t>
            </a:r>
            <a:r>
              <a:rPr lang="en-US" sz="2000" b="1" dirty="0">
                <a:solidFill>
                  <a:srgbClr val="FFFFFF"/>
                </a:solidFill>
                <a:latin typeface="Calibri" pitchFamily="34" charset="0"/>
                <a:ea typeface="Calibri" pitchFamily="34" charset="-122"/>
                <a:cs typeface="Calibri" pitchFamily="34" charset="-120"/>
              </a:rPr>
              <a:t> </a:t>
            </a:r>
            <a:r>
              <a:rPr lang="en-US" sz="2000" b="1" dirty="0" err="1">
                <a:solidFill>
                  <a:srgbClr val="FFFFFF"/>
                </a:solidFill>
                <a:latin typeface="Calibri" pitchFamily="34" charset="0"/>
                <a:ea typeface="Calibri" pitchFamily="34" charset="-122"/>
                <a:cs typeface="Calibri" pitchFamily="34" charset="-120"/>
              </a:rPr>
              <a:t>Thể</a:t>
            </a:r>
            <a:r>
              <a:rPr lang="en-US" sz="2000" b="1" dirty="0">
                <a:solidFill>
                  <a:srgbClr val="FFFFFF"/>
                </a:solidFill>
                <a:latin typeface="Calibri" pitchFamily="34" charset="0"/>
                <a:ea typeface="Calibri" pitchFamily="34" charset="-122"/>
                <a:cs typeface="Calibri" pitchFamily="34" charset="-120"/>
              </a:rPr>
              <a:t> </a:t>
            </a:r>
            <a:r>
              <a:rPr lang="en-US" sz="2000" b="1" dirty="0" err="1">
                <a:solidFill>
                  <a:srgbClr val="FFFFFF"/>
                </a:solidFill>
                <a:latin typeface="Calibri" pitchFamily="34" charset="0"/>
                <a:ea typeface="Calibri" pitchFamily="34" charset="-122"/>
                <a:cs typeface="Calibri" pitchFamily="34" charset="-120"/>
              </a:rPr>
              <a:t>Bài</a:t>
            </a:r>
            <a:r>
              <a:rPr lang="en-US" sz="2000" b="1" dirty="0">
                <a:solidFill>
                  <a:srgbClr val="FFFFFF"/>
                </a:solidFill>
                <a:latin typeface="Calibri" pitchFamily="34" charset="0"/>
                <a:ea typeface="Calibri" pitchFamily="34" charset="-122"/>
                <a:cs typeface="Calibri" pitchFamily="34" charset="-120"/>
              </a:rPr>
              <a:t> </a:t>
            </a:r>
            <a:r>
              <a:rPr lang="en-US" sz="2000" b="1" dirty="0" err="1">
                <a:solidFill>
                  <a:srgbClr val="FFFFFF"/>
                </a:solidFill>
                <a:latin typeface="Calibri" pitchFamily="34" charset="0"/>
                <a:ea typeface="Calibri" pitchFamily="34" charset="-122"/>
                <a:cs typeface="Calibri" pitchFamily="34" charset="-120"/>
              </a:rPr>
              <a:t>Toán</a:t>
            </a:r>
            <a:endParaRPr lang="en-US" sz="2000" dirty="0"/>
          </a:p>
        </p:txBody>
      </p:sp>
      <p:sp>
        <p:nvSpPr>
          <p:cNvPr id="5" name="Shape 3">
            <a:extLst>
              <a:ext uri="{FF2B5EF4-FFF2-40B4-BE49-F238E27FC236}">
                <a16:creationId xmlns:a16="http://schemas.microsoft.com/office/drawing/2014/main" id="{39A67A20-C0DD-D204-B2D9-07E875C2D3DC}"/>
              </a:ext>
            </a:extLst>
          </p:cNvPr>
          <p:cNvSpPr/>
          <p:nvPr/>
        </p:nvSpPr>
        <p:spPr>
          <a:xfrm>
            <a:off x="0" y="4869180"/>
            <a:ext cx="9144000" cy="274320"/>
          </a:xfrm>
          <a:prstGeom prst="rect">
            <a:avLst/>
          </a:prstGeom>
          <a:solidFill>
            <a:srgbClr val="D8F3DC"/>
          </a:solidFill>
          <a:ln w="12700">
            <a:solidFill>
              <a:srgbClr val="D8F3DC"/>
            </a:solidFill>
            <a:prstDash val="solid"/>
          </a:ln>
        </p:spPr>
      </p:sp>
      <p:sp>
        <p:nvSpPr>
          <p:cNvPr id="6" name="Text 4">
            <a:extLst>
              <a:ext uri="{FF2B5EF4-FFF2-40B4-BE49-F238E27FC236}">
                <a16:creationId xmlns:a16="http://schemas.microsoft.com/office/drawing/2014/main" id="{B4DE1823-A85A-C379-6EF0-E1F99832C7B0}"/>
              </a:ext>
            </a:extLst>
          </p:cNvPr>
          <p:cNvSpPr/>
          <p:nvPr/>
        </p:nvSpPr>
        <p:spPr>
          <a:xfrm>
            <a:off x="274320" y="4869180"/>
            <a:ext cx="8595360" cy="274320"/>
          </a:xfrm>
          <a:prstGeom prst="rect">
            <a:avLst/>
          </a:prstGeom>
          <a:noFill/>
          <a:ln/>
        </p:spPr>
        <p:txBody>
          <a:bodyPr wrap="square" lIns="0" tIns="0" rIns="0" bIns="0" rtlCol="0" anchor="ctr"/>
          <a:lstStyle/>
          <a:p>
            <a:pPr marL="0" indent="0" algn="l">
              <a:buNone/>
            </a:pPr>
            <a:r>
              <a:rPr lang="en-US" sz="800" dirty="0">
                <a:solidFill>
                  <a:srgbClr val="6C757D"/>
                </a:solidFill>
                <a:latin typeface="Calibri" pitchFamily="34" charset="0"/>
                <a:ea typeface="Calibri" pitchFamily="34" charset="-122"/>
                <a:cs typeface="Calibri" pitchFamily="34" charset="-120"/>
              </a:rPr>
              <a:t>Nhóm 14 | Hệ Thống Thông Minh | ĐH Thủy Lợi</a:t>
            </a:r>
            <a:endParaRPr lang="en-US" sz="800" dirty="0"/>
          </a:p>
        </p:txBody>
      </p:sp>
      <p:pic>
        <p:nvPicPr>
          <p:cNvPr id="39" name="Picture 38">
            <a:extLst>
              <a:ext uri="{FF2B5EF4-FFF2-40B4-BE49-F238E27FC236}">
                <a16:creationId xmlns:a16="http://schemas.microsoft.com/office/drawing/2014/main" id="{5D68215F-4029-E286-D5B4-C97FBF1A37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42867" y="790851"/>
            <a:ext cx="6119446" cy="4078329"/>
          </a:xfrm>
          <a:prstGeom prst="rect">
            <a:avLst/>
          </a:prstGeom>
        </p:spPr>
      </p:pic>
    </p:spTree>
    <p:extLst>
      <p:ext uri="{BB962C8B-B14F-4D97-AF65-F5344CB8AC3E}">
        <p14:creationId xmlns:p14="http://schemas.microsoft.com/office/powerpoint/2010/main" val="2046642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33F9540-8DB9-4C71-D61D-36C850C3786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2861C74-D544-007C-1A60-55C69333CA34}"/>
              </a:ext>
            </a:extLst>
          </p:cNvPr>
          <p:cNvSpPr/>
          <p:nvPr/>
        </p:nvSpPr>
        <p:spPr>
          <a:xfrm>
            <a:off x="0" y="0"/>
            <a:ext cx="9144000" cy="685800"/>
          </a:xfrm>
          <a:prstGeom prst="rect">
            <a:avLst/>
          </a:prstGeom>
          <a:solidFill>
            <a:srgbClr val="1B4332"/>
          </a:solidFill>
          <a:ln w="12700">
            <a:solidFill>
              <a:srgbClr val="1B4332"/>
            </a:solidFill>
            <a:prstDash val="solid"/>
          </a:ln>
        </p:spPr>
      </p:sp>
      <p:sp>
        <p:nvSpPr>
          <p:cNvPr id="3" name="Shape 1">
            <a:extLst>
              <a:ext uri="{FF2B5EF4-FFF2-40B4-BE49-F238E27FC236}">
                <a16:creationId xmlns:a16="http://schemas.microsoft.com/office/drawing/2014/main" id="{0AD80817-F95F-F5A2-EFDD-75EC738D74B3}"/>
              </a:ext>
            </a:extLst>
          </p:cNvPr>
          <p:cNvSpPr/>
          <p:nvPr/>
        </p:nvSpPr>
        <p:spPr>
          <a:xfrm>
            <a:off x="0" y="685800"/>
            <a:ext cx="9144000" cy="45720"/>
          </a:xfrm>
          <a:prstGeom prst="rect">
            <a:avLst/>
          </a:prstGeom>
          <a:solidFill>
            <a:srgbClr val="74C69D"/>
          </a:solidFill>
          <a:ln w="12700">
            <a:solidFill>
              <a:srgbClr val="74C69D"/>
            </a:solidFill>
            <a:prstDash val="solid"/>
          </a:ln>
        </p:spPr>
      </p:sp>
      <p:sp>
        <p:nvSpPr>
          <p:cNvPr id="4" name="Text 2">
            <a:extLst>
              <a:ext uri="{FF2B5EF4-FFF2-40B4-BE49-F238E27FC236}">
                <a16:creationId xmlns:a16="http://schemas.microsoft.com/office/drawing/2014/main" id="{751E7A65-5FF8-CB0F-8D92-0637AFEA7DFC}"/>
              </a:ext>
            </a:extLst>
          </p:cNvPr>
          <p:cNvSpPr/>
          <p:nvPr/>
        </p:nvSpPr>
        <p:spPr>
          <a:xfrm>
            <a:off x="274320" y="0"/>
            <a:ext cx="8595360" cy="685800"/>
          </a:xfrm>
          <a:prstGeom prst="rect">
            <a:avLst/>
          </a:prstGeom>
          <a:noFill/>
          <a:ln/>
        </p:spPr>
        <p:txBody>
          <a:bodyPr wrap="square" lIns="0" tIns="0" rIns="0" bIns="0" rtlCol="0" anchor="ctr"/>
          <a:lstStyle/>
          <a:p>
            <a:pPr marL="0" indent="0" algn="l">
              <a:buNone/>
            </a:pPr>
            <a:r>
              <a:rPr lang="en-US" sz="2000" b="1" dirty="0" err="1">
                <a:solidFill>
                  <a:srgbClr val="FFFFFF"/>
                </a:solidFill>
                <a:latin typeface="Calibri" pitchFamily="34" charset="0"/>
                <a:ea typeface="Calibri" pitchFamily="34" charset="-122"/>
                <a:cs typeface="Calibri" pitchFamily="34" charset="-120"/>
              </a:rPr>
              <a:t>Kiến</a:t>
            </a:r>
            <a:r>
              <a:rPr lang="en-US" sz="2000" b="1" dirty="0">
                <a:solidFill>
                  <a:srgbClr val="FFFFFF"/>
                </a:solidFill>
                <a:latin typeface="Calibri" pitchFamily="34" charset="0"/>
                <a:ea typeface="Calibri" pitchFamily="34" charset="-122"/>
                <a:cs typeface="Calibri" pitchFamily="34" charset="-120"/>
              </a:rPr>
              <a:t> Trúc </a:t>
            </a:r>
            <a:r>
              <a:rPr lang="en-US" sz="2000" b="1" dirty="0" err="1">
                <a:solidFill>
                  <a:srgbClr val="FFFFFF"/>
                </a:solidFill>
                <a:latin typeface="Calibri" pitchFamily="34" charset="0"/>
                <a:ea typeface="Calibri" pitchFamily="34" charset="-122"/>
                <a:cs typeface="Calibri" pitchFamily="34" charset="-120"/>
              </a:rPr>
              <a:t>Tổng</a:t>
            </a:r>
            <a:r>
              <a:rPr lang="en-US" sz="2000" b="1" dirty="0">
                <a:solidFill>
                  <a:srgbClr val="FFFFFF"/>
                </a:solidFill>
                <a:latin typeface="Calibri" pitchFamily="34" charset="0"/>
                <a:ea typeface="Calibri" pitchFamily="34" charset="-122"/>
                <a:cs typeface="Calibri" pitchFamily="34" charset="-120"/>
              </a:rPr>
              <a:t> </a:t>
            </a:r>
            <a:r>
              <a:rPr lang="en-US" sz="2000" b="1" dirty="0" err="1">
                <a:solidFill>
                  <a:srgbClr val="FFFFFF"/>
                </a:solidFill>
                <a:latin typeface="Calibri" pitchFamily="34" charset="0"/>
                <a:ea typeface="Calibri" pitchFamily="34" charset="-122"/>
                <a:cs typeface="Calibri" pitchFamily="34" charset="-120"/>
              </a:rPr>
              <a:t>Thể</a:t>
            </a:r>
            <a:r>
              <a:rPr lang="en-US" sz="2000" b="1" dirty="0">
                <a:solidFill>
                  <a:srgbClr val="FFFFFF"/>
                </a:solidFill>
                <a:latin typeface="Calibri" pitchFamily="34" charset="0"/>
                <a:ea typeface="Calibri" pitchFamily="34" charset="-122"/>
                <a:cs typeface="Calibri" pitchFamily="34" charset="-120"/>
              </a:rPr>
              <a:t> </a:t>
            </a:r>
            <a:r>
              <a:rPr lang="en-US" sz="2000" b="1" dirty="0" err="1">
                <a:solidFill>
                  <a:srgbClr val="FFFFFF"/>
                </a:solidFill>
                <a:latin typeface="Calibri" pitchFamily="34" charset="0"/>
                <a:ea typeface="Calibri" pitchFamily="34" charset="-122"/>
                <a:cs typeface="Calibri" pitchFamily="34" charset="-120"/>
              </a:rPr>
              <a:t>Bài</a:t>
            </a:r>
            <a:r>
              <a:rPr lang="en-US" sz="2000" b="1" dirty="0">
                <a:solidFill>
                  <a:srgbClr val="FFFFFF"/>
                </a:solidFill>
                <a:latin typeface="Calibri" pitchFamily="34" charset="0"/>
                <a:ea typeface="Calibri" pitchFamily="34" charset="-122"/>
                <a:cs typeface="Calibri" pitchFamily="34" charset="-120"/>
              </a:rPr>
              <a:t> </a:t>
            </a:r>
            <a:r>
              <a:rPr lang="en-US" sz="2000" b="1" dirty="0" err="1">
                <a:solidFill>
                  <a:srgbClr val="FFFFFF"/>
                </a:solidFill>
                <a:latin typeface="Calibri" pitchFamily="34" charset="0"/>
                <a:ea typeface="Calibri" pitchFamily="34" charset="-122"/>
                <a:cs typeface="Calibri" pitchFamily="34" charset="-120"/>
              </a:rPr>
              <a:t>Toán</a:t>
            </a:r>
            <a:endParaRPr lang="en-US" sz="2000" dirty="0"/>
          </a:p>
        </p:txBody>
      </p:sp>
      <p:sp>
        <p:nvSpPr>
          <p:cNvPr id="5" name="Shape 3">
            <a:extLst>
              <a:ext uri="{FF2B5EF4-FFF2-40B4-BE49-F238E27FC236}">
                <a16:creationId xmlns:a16="http://schemas.microsoft.com/office/drawing/2014/main" id="{E26313C2-8A14-3C7A-B284-E8BCBD4DDD3B}"/>
              </a:ext>
            </a:extLst>
          </p:cNvPr>
          <p:cNvSpPr/>
          <p:nvPr/>
        </p:nvSpPr>
        <p:spPr>
          <a:xfrm>
            <a:off x="0" y="4869180"/>
            <a:ext cx="9144000" cy="274320"/>
          </a:xfrm>
          <a:prstGeom prst="rect">
            <a:avLst/>
          </a:prstGeom>
          <a:solidFill>
            <a:srgbClr val="D8F3DC"/>
          </a:solidFill>
          <a:ln w="12700">
            <a:solidFill>
              <a:srgbClr val="D8F3DC"/>
            </a:solidFill>
            <a:prstDash val="solid"/>
          </a:ln>
        </p:spPr>
      </p:sp>
      <p:sp>
        <p:nvSpPr>
          <p:cNvPr id="6" name="Text 4">
            <a:extLst>
              <a:ext uri="{FF2B5EF4-FFF2-40B4-BE49-F238E27FC236}">
                <a16:creationId xmlns:a16="http://schemas.microsoft.com/office/drawing/2014/main" id="{8085CE0C-2C36-1005-B165-06448EE41177}"/>
              </a:ext>
            </a:extLst>
          </p:cNvPr>
          <p:cNvSpPr/>
          <p:nvPr/>
        </p:nvSpPr>
        <p:spPr>
          <a:xfrm>
            <a:off x="274320" y="4869180"/>
            <a:ext cx="8595360" cy="274320"/>
          </a:xfrm>
          <a:prstGeom prst="rect">
            <a:avLst/>
          </a:prstGeom>
          <a:noFill/>
          <a:ln/>
        </p:spPr>
        <p:txBody>
          <a:bodyPr wrap="square" lIns="0" tIns="0" rIns="0" bIns="0" rtlCol="0" anchor="ctr"/>
          <a:lstStyle/>
          <a:p>
            <a:pPr marL="0" indent="0" algn="l">
              <a:buNone/>
            </a:pPr>
            <a:r>
              <a:rPr lang="en-US" sz="800" dirty="0">
                <a:solidFill>
                  <a:srgbClr val="6C757D"/>
                </a:solidFill>
                <a:latin typeface="Calibri" pitchFamily="34" charset="0"/>
                <a:ea typeface="Calibri" pitchFamily="34" charset="-122"/>
                <a:cs typeface="Calibri" pitchFamily="34" charset="-120"/>
              </a:rPr>
              <a:t>Nhóm 14 | Hệ Thống Thông Minh | ĐH Thủy Lợi</a:t>
            </a:r>
            <a:endParaRPr lang="en-US" sz="800" dirty="0"/>
          </a:p>
        </p:txBody>
      </p:sp>
      <p:pic>
        <p:nvPicPr>
          <p:cNvPr id="39" name="Picture 38">
            <a:extLst>
              <a:ext uri="{FF2B5EF4-FFF2-40B4-BE49-F238E27FC236}">
                <a16:creationId xmlns:a16="http://schemas.microsoft.com/office/drawing/2014/main" id="{8F34030E-BAB4-D72C-DED9-2A732DD147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73592" y="822959"/>
            <a:ext cx="2300069" cy="1532891"/>
          </a:xfrm>
          <a:prstGeom prst="rect">
            <a:avLst/>
          </a:prstGeom>
        </p:spPr>
      </p:pic>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01B52954-39A9-A698-D54D-DAAD1710F1B3}"/>
                  </a:ext>
                </a:extLst>
              </p:cNvPr>
              <p:cNvSpPr txBox="1"/>
              <p:nvPr/>
            </p:nvSpPr>
            <p:spPr>
              <a:xfrm>
                <a:off x="70339" y="768448"/>
                <a:ext cx="6703253" cy="4131644"/>
              </a:xfrm>
              <a:prstGeom prst="rect">
                <a:avLst/>
              </a:prstGeom>
              <a:noFill/>
            </p:spPr>
            <p:txBody>
              <a:bodyPr wrap="square">
                <a:spAutoFit/>
              </a:bodyPr>
              <a:lstStyle/>
              <a:p>
                <a:pPr marL="0" marR="0">
                  <a:lnSpc>
                    <a:spcPct val="107000"/>
                  </a:lnSpc>
                  <a:spcAft>
                    <a:spcPts val="800"/>
                  </a:spcAft>
                  <a:buNone/>
                </a:pPr>
                <a:r>
                  <a:rPr lang="en-US" sz="1000" dirty="0">
                    <a:effectLst/>
                    <a:latin typeface="+mj-lt"/>
                    <a:ea typeface="Calibri" panose="020F0502020204030204" pitchFamily="34" charset="0"/>
                    <a:cs typeface="Times New Roman" panose="02020603050405020304" pitchFamily="18" charset="0"/>
                  </a:rPr>
                  <a:t>Quy </a:t>
                </a:r>
                <a:r>
                  <a:rPr lang="en-US" sz="1000" dirty="0" err="1">
                    <a:effectLst/>
                    <a:latin typeface="+mj-lt"/>
                    <a:ea typeface="Calibri" panose="020F0502020204030204" pitchFamily="34" charset="0"/>
                    <a:cs typeface="Times New Roman" panose="02020603050405020304" pitchFamily="18" charset="0"/>
                  </a:rPr>
                  <a:t>trình</a:t>
                </a:r>
                <a:r>
                  <a:rPr lang="en-US" sz="1000" dirty="0">
                    <a:effectLst/>
                    <a:latin typeface="+mj-lt"/>
                    <a:ea typeface="Calibri" panose="020F0502020204030204" pitchFamily="34" charset="0"/>
                    <a:cs typeface="Times New Roman" panose="02020603050405020304" pitchFamily="18" charset="0"/>
                  </a:rPr>
                  <a:t> </a:t>
                </a:r>
                <a:r>
                  <a:rPr lang="en-US" sz="1000" dirty="0" err="1">
                    <a:effectLst/>
                    <a:latin typeface="+mj-lt"/>
                    <a:ea typeface="Calibri" panose="020F0502020204030204" pitchFamily="34" charset="0"/>
                    <a:cs typeface="Times New Roman" panose="02020603050405020304" pitchFamily="18" charset="0"/>
                  </a:rPr>
                  <a:t>luồng</a:t>
                </a:r>
                <a:r>
                  <a:rPr lang="en-US" sz="1000" dirty="0">
                    <a:effectLst/>
                    <a:latin typeface="+mj-lt"/>
                    <a:ea typeface="Calibri" panose="020F0502020204030204" pitchFamily="34" charset="0"/>
                    <a:cs typeface="Times New Roman" panose="02020603050405020304" pitchFamily="18" charset="0"/>
                  </a:rPr>
                  <a:t> </a:t>
                </a:r>
                <a:r>
                  <a:rPr lang="en-US" sz="1000" dirty="0" err="1">
                    <a:effectLst/>
                    <a:latin typeface="+mj-lt"/>
                    <a:ea typeface="Calibri" panose="020F0502020204030204" pitchFamily="34" charset="0"/>
                    <a:cs typeface="Times New Roman" panose="02020603050405020304" pitchFamily="18" charset="0"/>
                  </a:rPr>
                  <a:t>dữ</a:t>
                </a:r>
                <a:r>
                  <a:rPr lang="en-US" sz="1000" dirty="0">
                    <a:effectLst/>
                    <a:latin typeface="+mj-lt"/>
                    <a:ea typeface="Calibri" panose="020F0502020204030204" pitchFamily="34" charset="0"/>
                    <a:cs typeface="Times New Roman" panose="02020603050405020304" pitchFamily="18" charset="0"/>
                  </a:rPr>
                  <a:t> </a:t>
                </a:r>
                <a:r>
                  <a:rPr lang="en-US" sz="1000" dirty="0" err="1">
                    <a:effectLst/>
                    <a:latin typeface="+mj-lt"/>
                    <a:ea typeface="Calibri" panose="020F0502020204030204" pitchFamily="34" charset="0"/>
                    <a:cs typeface="Times New Roman" panose="02020603050405020304" pitchFamily="18" charset="0"/>
                  </a:rPr>
                  <a:t>liệu</a:t>
                </a:r>
                <a:r>
                  <a:rPr lang="en-US" sz="1000" dirty="0">
                    <a:effectLst/>
                    <a:latin typeface="+mj-lt"/>
                    <a:ea typeface="Calibri" panose="020F0502020204030204" pitchFamily="34" charset="0"/>
                    <a:cs typeface="Times New Roman" panose="02020603050405020304" pitchFamily="18" charset="0"/>
                  </a:rPr>
                  <a:t> 5 </a:t>
                </a:r>
                <a:r>
                  <a:rPr lang="en-US" sz="1000" dirty="0" err="1">
                    <a:effectLst/>
                    <a:latin typeface="+mj-lt"/>
                    <a:ea typeface="Calibri" panose="020F0502020204030204" pitchFamily="34" charset="0"/>
                    <a:cs typeface="Times New Roman" panose="02020603050405020304" pitchFamily="18" charset="0"/>
                  </a:rPr>
                  <a:t>bước</a:t>
                </a:r>
                <a:r>
                  <a:rPr lang="en-US" sz="1000" dirty="0">
                    <a:effectLst/>
                    <a:latin typeface="+mj-lt"/>
                    <a:ea typeface="Calibri" panose="020F0502020204030204" pitchFamily="34" charset="0"/>
                    <a:cs typeface="Times New Roman" panose="02020603050405020304" pitchFamily="18" charset="0"/>
                  </a:rPr>
                  <a:t> (Pipeline Execution):</a:t>
                </a:r>
              </a:p>
              <a:p>
                <a:pPr marL="342900" marR="0" lvl="0" indent="-342900">
                  <a:lnSpc>
                    <a:spcPct val="150000"/>
                  </a:lnSpc>
                  <a:buNone/>
                  <a:tabLst>
                    <a:tab pos="457200" algn="l"/>
                  </a:tabLst>
                </a:pPr>
                <a:r>
                  <a:rPr lang="en-US" sz="1000" b="1" dirty="0" err="1">
                    <a:effectLst/>
                    <a:latin typeface="+mj-lt"/>
                    <a:ea typeface="Times New Roman" panose="02020603050405020304" pitchFamily="18" charset="0"/>
                  </a:rPr>
                  <a:t>Bước</a:t>
                </a:r>
                <a:r>
                  <a:rPr lang="en-US" sz="1000" b="1" dirty="0">
                    <a:effectLst/>
                    <a:latin typeface="+mj-lt"/>
                    <a:ea typeface="Times New Roman" panose="02020603050405020304" pitchFamily="18" charset="0"/>
                  </a:rPr>
                  <a:t> 1: </a:t>
                </a:r>
                <a:r>
                  <a:rPr lang="en-US" sz="1000" b="1" dirty="0" err="1">
                    <a:effectLst/>
                    <a:latin typeface="+mj-lt"/>
                    <a:ea typeface="Times New Roman" panose="02020603050405020304" pitchFamily="18" charset="0"/>
                  </a:rPr>
                  <a:t>Tiếp</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nhận</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dữ</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liệu</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đầu</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vào</a:t>
                </a:r>
                <a:r>
                  <a:rPr lang="en-US" sz="1000" b="1" dirty="0">
                    <a:effectLst/>
                    <a:latin typeface="+mj-lt"/>
                    <a:ea typeface="Times New Roman" panose="02020603050405020304" pitchFamily="18" charset="0"/>
                  </a:rPr>
                  <a:t> (Input):</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Hệ</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thống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tiếp</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nhận</a:t>
                </a:r>
                <a:r>
                  <a:rPr lang="en-US" sz="1000" dirty="0">
                    <a:effectLst/>
                    <a:latin typeface="+mj-lt"/>
                    <a:ea typeface="Times New Roman" panose="02020603050405020304" pitchFamily="18" charset="0"/>
                  </a:rPr>
                  <a:t> 1 ca </a:t>
                </a:r>
                <a:r>
                  <a:rPr lang="en-US" sz="1000" dirty="0" err="1">
                    <a:effectLst/>
                    <a:latin typeface="+mj-lt"/>
                    <a:ea typeface="Times New Roman" panose="02020603050405020304" pitchFamily="18" charset="0"/>
                  </a:rPr>
                  <a:t>kiểm</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nghiệm</a:t>
                </a:r>
                <a:r>
                  <a:rPr lang="en-US" sz="1000" dirty="0">
                    <a:effectLst/>
                    <a:latin typeface="+mj-lt"/>
                    <a:ea typeface="Times New Roman" panose="02020603050405020304" pitchFamily="18" charset="0"/>
                  </a:rPr>
                  <a:t> (1 record) </a:t>
                </a:r>
                <a:r>
                  <a:rPr lang="en-US" sz="1000" dirty="0" err="1">
                    <a:effectLst/>
                    <a:latin typeface="+mj-lt"/>
                    <a:ea typeface="Times New Roman" panose="02020603050405020304" pitchFamily="18" charset="0"/>
                  </a:rPr>
                  <a:t>gồm</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hai</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nguồn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dữ</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liệu</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độc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lập</a:t>
                </a:r>
                <a:r>
                  <a:rPr lang="en-US" sz="1000" dirty="0">
                    <a:effectLst/>
                    <a:latin typeface="+mj-lt"/>
                    <a:ea typeface="Times New Roman" panose="02020603050405020304" pitchFamily="18" charset="0"/>
                  </a:rPr>
                  <a:t>:</a:t>
                </a:r>
              </a:p>
              <a:p>
                <a:pPr marL="742950" marR="0" lvl="1" indent="-285750">
                  <a:lnSpc>
                    <a:spcPct val="150000"/>
                  </a:lnSpc>
                  <a:buSzPts val="1000"/>
                  <a:buFont typeface="Courier New" panose="02070309020205020404" pitchFamily="49" charset="0"/>
                  <a:buChar char="o"/>
                  <a:tabLst>
                    <a:tab pos="914400" algn="l"/>
                  </a:tabLst>
                </a:pPr>
                <a:r>
                  <a:rPr lang="en-US" sz="1000" i="1" dirty="0" err="1">
                    <a:effectLst/>
                    <a:latin typeface="+mj-lt"/>
                    <a:ea typeface="Times New Roman" panose="02020603050405020304" pitchFamily="18" charset="0"/>
                    <a:cs typeface="Times New Roman" panose="02020603050405020304" pitchFamily="18" charset="0"/>
                  </a:rPr>
                  <a:t>Dữ</a:t>
                </a:r>
                <a:r>
                  <a:rPr lang="en-US" sz="1000" i="1" dirty="0">
                    <a:effectLst/>
                    <a:latin typeface="+mj-lt"/>
                    <a:ea typeface="Times New Roman" panose="02020603050405020304" pitchFamily="18" charset="0"/>
                    <a:cs typeface="Times New Roman" panose="02020603050405020304" pitchFamily="18" charset="0"/>
                  </a:rPr>
                  <a:t> </a:t>
                </a:r>
                <a:r>
                  <a:rPr lang="en-US" sz="1000" i="1" dirty="0" err="1">
                    <a:effectLst/>
                    <a:latin typeface="+mj-lt"/>
                    <a:ea typeface="Times New Roman" panose="02020603050405020304" pitchFamily="18" charset="0"/>
                    <a:cs typeface="Times New Roman" panose="02020603050405020304" pitchFamily="18" charset="0"/>
                  </a:rPr>
                  <a:t>liệu</a:t>
                </a:r>
                <a:r>
                  <a:rPr lang="en-US" sz="1000" i="1" dirty="0">
                    <a:effectLst/>
                    <a:latin typeface="+mj-lt"/>
                    <a:ea typeface="Times New Roman" panose="02020603050405020304" pitchFamily="18" charset="0"/>
                    <a:cs typeface="Times New Roman" panose="02020603050405020304" pitchFamily="18" charset="0"/>
                  </a:rPr>
                  <a:t> </a:t>
                </a:r>
                <a:r>
                  <a:rPr lang="en-US" sz="1000" i="1" dirty="0" err="1">
                    <a:effectLst/>
                    <a:latin typeface="+mj-lt"/>
                    <a:ea typeface="Times New Roman" panose="02020603050405020304" pitchFamily="18" charset="0"/>
                    <a:cs typeface="Times New Roman" panose="02020603050405020304" pitchFamily="18" charset="0"/>
                  </a:rPr>
                  <a:t>hình</a:t>
                </a:r>
                <a:r>
                  <a:rPr lang="en-US" sz="1000" i="1" dirty="0">
                    <a:effectLst/>
                    <a:latin typeface="+mj-lt"/>
                    <a:ea typeface="Times New Roman" panose="02020603050405020304" pitchFamily="18" charset="0"/>
                    <a:cs typeface="Times New Roman" panose="02020603050405020304" pitchFamily="18" charset="0"/>
                  </a:rPr>
                  <a:t> </a:t>
                </a:r>
                <a:r>
                  <a:rPr lang="en-US" sz="1000" i="1" dirty="0" err="1">
                    <a:effectLst/>
                    <a:latin typeface="+mj-lt"/>
                    <a:ea typeface="Times New Roman" panose="02020603050405020304" pitchFamily="18" charset="0"/>
                    <a:cs typeface="Times New Roman" panose="02020603050405020304" pitchFamily="18" charset="0"/>
                  </a:rPr>
                  <a:t>ảnh</a:t>
                </a:r>
                <a:r>
                  <a:rPr lang="en-US" sz="1000" i="1" dirty="0">
                    <a:effectLst/>
                    <a:latin typeface="+mj-lt"/>
                    <a:ea typeface="Times New Roman" panose="02020603050405020304" pitchFamily="18" charset="0"/>
                    <a:cs typeface="Times New Roman" panose="02020603050405020304" pitchFamily="18" charset="0"/>
                  </a:rPr>
                  <a:t>:</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Ảnh</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chụp</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bề</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mặt</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lá</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cây</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bị</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bệnh</a:t>
                </a:r>
                <a:r>
                  <a:rPr lang="en-US" sz="1000" dirty="0">
                    <a:effectLst/>
                    <a:latin typeface="+mj-lt"/>
                    <a:ea typeface="Times New Roman" panose="02020603050405020304" pitchFamily="18" charset="0"/>
                    <a:cs typeface="Times New Roman" panose="02020603050405020304" pitchFamily="18" charset="0"/>
                  </a:rPr>
                  <a:t> </a:t>
                </a:r>
              </a:p>
              <a:p>
                <a:pPr marL="742950" marR="0" lvl="1" indent="-285750">
                  <a:lnSpc>
                    <a:spcPct val="150000"/>
                  </a:lnSpc>
                  <a:buSzPts val="1000"/>
                  <a:buFont typeface="Courier New" panose="02070309020205020404" pitchFamily="49" charset="0"/>
                  <a:buChar char="o"/>
                  <a:tabLst>
                    <a:tab pos="914400" algn="l"/>
                  </a:tabLst>
                </a:pPr>
                <a:r>
                  <a:rPr lang="en-US" sz="1000" i="1" dirty="0">
                    <a:effectLst/>
                    <a:latin typeface="+mj-lt"/>
                    <a:ea typeface="Times New Roman" panose="02020603050405020304" pitchFamily="18" charset="0"/>
                    <a:cs typeface="Times New Roman" panose="02020603050405020304" pitchFamily="18" charset="0"/>
                  </a:rPr>
                  <a:t>Thông tin </a:t>
                </a:r>
                <a:r>
                  <a:rPr lang="en-US" sz="1000" i="1" dirty="0" err="1">
                    <a:effectLst/>
                    <a:latin typeface="+mj-lt"/>
                    <a:ea typeface="Times New Roman" panose="02020603050405020304" pitchFamily="18" charset="0"/>
                    <a:cs typeface="Times New Roman" panose="02020603050405020304" pitchFamily="18" charset="0"/>
                  </a:rPr>
                  <a:t>môi</a:t>
                </a:r>
                <a:r>
                  <a:rPr lang="en-US" sz="1000" i="1" dirty="0">
                    <a:effectLst/>
                    <a:latin typeface="+mj-lt"/>
                    <a:ea typeface="Times New Roman" panose="02020603050405020304" pitchFamily="18" charset="0"/>
                    <a:cs typeface="Times New Roman" panose="02020603050405020304" pitchFamily="18" charset="0"/>
                  </a:rPr>
                  <a:t> </a:t>
                </a:r>
                <a:r>
                  <a:rPr lang="en-US" sz="1000" i="1" dirty="0" err="1">
                    <a:effectLst/>
                    <a:latin typeface="+mj-lt"/>
                    <a:ea typeface="Times New Roman" panose="02020603050405020304" pitchFamily="18" charset="0"/>
                    <a:cs typeface="Times New Roman" panose="02020603050405020304" pitchFamily="18" charset="0"/>
                  </a:rPr>
                  <a:t>trường</a:t>
                </a:r>
                <a:r>
                  <a:rPr lang="en-US" sz="1000" i="1" dirty="0">
                    <a:effectLst/>
                    <a:latin typeface="+mj-lt"/>
                    <a:ea typeface="Times New Roman" panose="02020603050405020304" pitchFamily="18" charset="0"/>
                    <a:cs typeface="Times New Roman" panose="02020603050405020304" pitchFamily="18" charset="0"/>
                  </a:rPr>
                  <a:t> </a:t>
                </a:r>
                <a:r>
                  <a:rPr lang="en-US" sz="1000" i="1" dirty="0" err="1">
                    <a:effectLst/>
                    <a:latin typeface="+mj-lt"/>
                    <a:ea typeface="Times New Roman" panose="02020603050405020304" pitchFamily="18" charset="0"/>
                    <a:cs typeface="Times New Roman" panose="02020603050405020304" pitchFamily="18" charset="0"/>
                  </a:rPr>
                  <a:t>thực</a:t>
                </a:r>
                <a:r>
                  <a:rPr lang="en-US" sz="1000" i="1" dirty="0">
                    <a:effectLst/>
                    <a:latin typeface="+mj-lt"/>
                    <a:ea typeface="Times New Roman" panose="02020603050405020304" pitchFamily="18" charset="0"/>
                    <a:cs typeface="Times New Roman" panose="02020603050405020304" pitchFamily="18" charset="0"/>
                  </a:rPr>
                  <a:t> </a:t>
                </a:r>
                <a:r>
                  <a:rPr lang="en-US" sz="1000" i="1" dirty="0" err="1">
                    <a:effectLst/>
                    <a:latin typeface="+mj-lt"/>
                    <a:ea typeface="Times New Roman" panose="02020603050405020304" pitchFamily="18" charset="0"/>
                    <a:cs typeface="Times New Roman" panose="02020603050405020304" pitchFamily="18" charset="0"/>
                  </a:rPr>
                  <a:t>địa</a:t>
                </a:r>
                <a:r>
                  <a:rPr lang="en-US" sz="1000" i="1" dirty="0">
                    <a:effectLst/>
                    <a:latin typeface="+mj-lt"/>
                    <a:ea typeface="Times New Roman" panose="02020603050405020304" pitchFamily="18" charset="0"/>
                    <a:cs typeface="Times New Roman" panose="02020603050405020304" pitchFamily="18" charset="0"/>
                  </a:rPr>
                  <a:t>:</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Độ</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ẩm</a:t>
                </a:r>
                <a:r>
                  <a:rPr lang="en-US" sz="1000" dirty="0">
                    <a:effectLst/>
                    <a:latin typeface="+mj-lt"/>
                    <a:ea typeface="Times New Roman" panose="02020603050405020304" pitchFamily="18" charset="0"/>
                    <a:cs typeface="Times New Roman" panose="02020603050405020304" pitchFamily="18" charset="0"/>
                  </a:rPr>
                  <a:t> (Humidity), </a:t>
                </a:r>
                <a:r>
                  <a:rPr lang="en-US" sz="1000" dirty="0" err="1">
                    <a:effectLst/>
                    <a:latin typeface="+mj-lt"/>
                    <a:ea typeface="Times New Roman" panose="02020603050405020304" pitchFamily="18" charset="0"/>
                    <a:cs typeface="Times New Roman" panose="02020603050405020304" pitchFamily="18" charset="0"/>
                  </a:rPr>
                  <a:t>Nhiệt</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độ</a:t>
                </a:r>
                <a:r>
                  <a:rPr lang="en-US" sz="1000" dirty="0">
                    <a:effectLst/>
                    <a:latin typeface="+mj-lt"/>
                    <a:ea typeface="Times New Roman" panose="02020603050405020304" pitchFamily="18" charset="0"/>
                    <a:cs typeface="Times New Roman" panose="02020603050405020304" pitchFamily="18" charset="0"/>
                  </a:rPr>
                  <a:t> (Temperature), </a:t>
                </a:r>
                <a:r>
                  <a:rPr lang="en-US" sz="1000" dirty="0" err="1">
                    <a:effectLst/>
                    <a:latin typeface="+mj-lt"/>
                    <a:ea typeface="Times New Roman" panose="02020603050405020304" pitchFamily="18" charset="0"/>
                    <a:cs typeface="Times New Roman" panose="02020603050405020304" pitchFamily="18" charset="0"/>
                  </a:rPr>
                  <a:t>Lượng</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mưa</a:t>
                </a:r>
                <a:r>
                  <a:rPr lang="en-US" sz="1000" dirty="0">
                    <a:effectLst/>
                    <a:latin typeface="+mj-lt"/>
                    <a:ea typeface="Times New Roman" panose="02020603050405020304" pitchFamily="18" charset="0"/>
                    <a:cs typeface="Times New Roman" panose="02020603050405020304" pitchFamily="18" charset="0"/>
                  </a:rPr>
                  <a:t> 24h (Rainfall), </a:t>
                </a:r>
                <a:r>
                  <a:rPr lang="en-US" sz="1000" dirty="0" err="1">
                    <a:effectLst/>
                    <a:latin typeface="+mj-lt"/>
                    <a:ea typeface="Times New Roman" panose="02020603050405020304" pitchFamily="18" charset="0"/>
                    <a:cs typeface="Times New Roman" panose="02020603050405020304" pitchFamily="18" charset="0"/>
                  </a:rPr>
                  <a:t>Mùa</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vụ</a:t>
                </a:r>
                <a:r>
                  <a:rPr lang="en-US" sz="1000" dirty="0">
                    <a:effectLst/>
                    <a:latin typeface="+mj-lt"/>
                    <a:ea typeface="Times New Roman" panose="02020603050405020304" pitchFamily="18" charset="0"/>
                    <a:cs typeface="Times New Roman" panose="02020603050405020304" pitchFamily="18" charset="0"/>
                  </a:rPr>
                  <a:t> (Season), </a:t>
                </a:r>
                <a:r>
                  <a:rPr lang="en-US" sz="1000" dirty="0" err="1">
                    <a:effectLst/>
                    <a:latin typeface="+mj-lt"/>
                    <a:ea typeface="Times New Roman" panose="02020603050405020304" pitchFamily="18" charset="0"/>
                    <a:cs typeface="Times New Roman" panose="02020603050405020304" pitchFamily="18" charset="0"/>
                  </a:rPr>
                  <a:t>Vị</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trí</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và</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Thời</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gian</a:t>
                </a:r>
                <a:r>
                  <a:rPr lang="en-US" sz="1000" dirty="0">
                    <a:effectLst/>
                    <a:latin typeface="+mj-lt"/>
                    <a:ea typeface="Times New Roman" panose="02020603050405020304" pitchFamily="18" charset="0"/>
                    <a:cs typeface="Times New Roman" panose="02020603050405020304" pitchFamily="18" charset="0"/>
                  </a:rPr>
                  <a:t>.</a:t>
                </a:r>
              </a:p>
              <a:p>
                <a:pPr marL="342900" marR="0" lvl="0" indent="-342900">
                  <a:lnSpc>
                    <a:spcPct val="150000"/>
                  </a:lnSpc>
                  <a:buNone/>
                  <a:tabLst>
                    <a:tab pos="457200" algn="l"/>
                  </a:tabLst>
                </a:pPr>
                <a:r>
                  <a:rPr lang="en-US" sz="1000" b="1" dirty="0" err="1">
                    <a:effectLst/>
                    <a:latin typeface="+mj-lt"/>
                    <a:ea typeface="Times New Roman" panose="02020603050405020304" pitchFamily="18" charset="0"/>
                  </a:rPr>
                  <a:t>Bước</a:t>
                </a:r>
                <a:r>
                  <a:rPr lang="en-US" sz="1000" b="1" dirty="0">
                    <a:effectLst/>
                    <a:latin typeface="+mj-lt"/>
                    <a:ea typeface="Times New Roman" panose="02020603050405020304" pitchFamily="18" charset="0"/>
                  </a:rPr>
                  <a:t> 2: </a:t>
                </a:r>
                <a:r>
                  <a:rPr lang="en-US" sz="1000" b="1" dirty="0" err="1">
                    <a:effectLst/>
                    <a:latin typeface="+mj-lt"/>
                    <a:ea typeface="Times New Roman" panose="02020603050405020304" pitchFamily="18" charset="0"/>
                  </a:rPr>
                  <a:t>Dự</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đoán</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từ</a:t>
                </a:r>
                <a:r>
                  <a:rPr lang="en-US" sz="1000" b="1" dirty="0">
                    <a:effectLst/>
                    <a:latin typeface="+mj-lt"/>
                    <a:ea typeface="Times New Roman" panose="02020603050405020304" pitchFamily="18" charset="0"/>
                  </a:rPr>
                  <a:t> CNN (CNN Inference):</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Hình</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ảnh</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được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đưa</a:t>
                </a:r>
                <a:r>
                  <a:rPr lang="en-US" sz="1000" dirty="0">
                    <a:effectLst/>
                    <a:latin typeface="+mj-lt"/>
                    <a:ea typeface="Times New Roman" panose="02020603050405020304" pitchFamily="18" charset="0"/>
                  </a:rPr>
                  <a:t> qua </a:t>
                </a:r>
                <a:r>
                  <a:rPr lang="en-US" sz="1000" dirty="0" err="1">
                    <a:effectLst/>
                    <a:latin typeface="+mj-lt"/>
                    <a:ea typeface="Times New Roman" panose="02020603050405020304" pitchFamily="18" charset="0"/>
                  </a:rPr>
                  <a:t>mô</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hình</a:t>
                </a:r>
                <a:r>
                  <a:rPr lang="en-US" sz="1000" dirty="0">
                    <a:effectLst/>
                    <a:latin typeface="+mj-lt"/>
                    <a:ea typeface="Times New Roman" panose="02020603050405020304" pitchFamily="18" charset="0"/>
                  </a:rPr>
                  <a:t> CNN, </a:t>
                </a:r>
                <a:r>
                  <a:rPr lang="en-US" sz="1000" dirty="0" err="1">
                    <a:effectLst/>
                    <a:latin typeface="+mj-lt"/>
                    <a:ea typeface="Times New Roman" panose="02020603050405020304" pitchFamily="18" charset="0"/>
                  </a:rPr>
                  <a:t>Mô</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hình</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thực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hiện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trích</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xuất</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đặc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trưng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thị</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giác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và</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trả</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về</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điểm</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số</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xác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suất</a:t>
                </a:r>
                <a:r>
                  <a:rPr lang="en-US" sz="1000" dirty="0">
                    <a:effectLst/>
                    <a:latin typeface="+mj-lt"/>
                    <a:ea typeface="Times New Roman" panose="02020603050405020304" pitchFamily="18" charset="0"/>
                  </a:rPr>
                  <a:t> (Output </a:t>
                </a:r>
                <a:r>
                  <a:rPr lang="en-US" sz="1000" dirty="0" err="1">
                    <a:effectLst/>
                    <a:latin typeface="+mj-lt"/>
                    <a:ea typeface="Times New Roman" panose="02020603050405020304" pitchFamily="18" charset="0"/>
                  </a:rPr>
                  <a:t>từ</a:t>
                </a:r>
                <a:r>
                  <a:rPr lang="en-US" sz="1000" dirty="0">
                    <a:effectLst/>
                    <a:latin typeface="+mj-lt"/>
                    <a:ea typeface="Times New Roman" panose="02020603050405020304" pitchFamily="18" charset="0"/>
                  </a:rPr>
                  <a:t> CNN) </a:t>
                </a:r>
                <a:r>
                  <a:rPr lang="en-US" sz="1000" dirty="0" err="1">
                    <a:effectLst/>
                    <a:latin typeface="+mj-lt"/>
                    <a:ea typeface="Times New Roman" panose="02020603050405020304" pitchFamily="18" charset="0"/>
                  </a:rPr>
                  <a:t>của</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các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loại</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bệnh</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hoặc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triệu</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chứng</a:t>
                </a:r>
                <a:endParaRPr lang="en-US" sz="1000" dirty="0">
                  <a:latin typeface="+mj-lt"/>
                  <a:ea typeface="Times New Roman" panose="02020603050405020304" pitchFamily="18" charset="0"/>
                </a:endParaRPr>
              </a:p>
              <a:p>
                <a:pPr marL="342900" marR="0" lvl="0" indent="-342900">
                  <a:lnSpc>
                    <a:spcPct val="150000"/>
                  </a:lnSpc>
                  <a:buNone/>
                  <a:tabLst>
                    <a:tab pos="457200" algn="l"/>
                  </a:tabLst>
                </a:pPr>
                <a:r>
                  <a:rPr lang="en-US" sz="1000" b="1" dirty="0" err="1">
                    <a:effectLst/>
                    <a:latin typeface="+mj-lt"/>
                    <a:ea typeface="Times New Roman" panose="02020603050405020304" pitchFamily="18" charset="0"/>
                  </a:rPr>
                  <a:t>Bước</a:t>
                </a:r>
                <a:r>
                  <a:rPr lang="en-US" sz="1000" b="1" dirty="0">
                    <a:effectLst/>
                    <a:latin typeface="+mj-lt"/>
                    <a:ea typeface="Times New Roman" panose="02020603050405020304" pitchFamily="18" charset="0"/>
                  </a:rPr>
                  <a:t> 3: </a:t>
                </a:r>
                <a:r>
                  <a:rPr lang="en-US" sz="1000" b="1" dirty="0" err="1">
                    <a:effectLst/>
                    <a:latin typeface="+mj-lt"/>
                    <a:ea typeface="Times New Roman" panose="02020603050405020304" pitchFamily="18" charset="0"/>
                  </a:rPr>
                  <a:t>Tầng</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suy</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diễn</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mờ</a:t>
                </a:r>
                <a:r>
                  <a:rPr lang="en-US" sz="1000" b="1" dirty="0">
                    <a:effectLst/>
                    <a:latin typeface="+mj-lt"/>
                    <a:ea typeface="Times New Roman" panose="02020603050405020304" pitchFamily="18" charset="0"/>
                  </a:rPr>
                  <a:t> (Fuzzy Reasoning Layer):</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Đây</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là</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lõi</a:t>
                </a:r>
                <a:r>
                  <a:rPr lang="en-US" sz="1000" dirty="0">
                    <a:effectLst/>
                    <a:latin typeface="+mj-lt"/>
                    <a:ea typeface="Times New Roman" panose="02020603050405020304" pitchFamily="18" charset="0"/>
                  </a:rPr>
                  <a:t> tri </a:t>
                </a:r>
                <a:r>
                  <a:rPr lang="en-US" sz="1000" dirty="0" err="1">
                    <a:effectLst/>
                    <a:latin typeface="+mj-lt"/>
                    <a:ea typeface="Times New Roman" panose="02020603050405020304" pitchFamily="18" charset="0"/>
                  </a:rPr>
                  <a:t>thức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chuyên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gia</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của</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hệ</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thống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Tầng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này</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tiếp</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nhận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các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điểm</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số</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từ</a:t>
                </a:r>
                <a:r>
                  <a:rPr lang="en-US" sz="1000" dirty="0">
                    <a:effectLst/>
                    <a:latin typeface="+mj-lt"/>
                    <a:ea typeface="Times New Roman" panose="02020603050405020304" pitchFamily="18" charset="0"/>
                  </a:rPr>
                  <a:t> CNN (</a:t>
                </a:r>
                <a:r>
                  <a:rPr lang="en-US" sz="1000" dirty="0" err="1">
                    <a:effectLst/>
                    <a:latin typeface="+mj-lt"/>
                    <a:ea typeface="Times New Roman" panose="02020603050405020304" pitchFamily="18" charset="0"/>
                  </a:rPr>
                  <a:t>triệu</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chứng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thị</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giác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cùng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các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thông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số</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môi</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trường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để</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đưa</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vào</a:t>
                </a:r>
                <a:r>
                  <a:rPr lang="en-US" sz="1000"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Nền</a:t>
                </a:r>
                <a:r>
                  <a:rPr lang="en-US" sz="1000" b="1" dirty="0">
                    <a:effectLst/>
                    <a:latin typeface="+mj-lt"/>
                    <a:ea typeface="Times New Roman" panose="02020603050405020304" pitchFamily="18" charset="0"/>
                  </a:rPr>
                  <a:t> tri </a:t>
                </a:r>
                <a:r>
                  <a:rPr lang="en-US" sz="1000" b="1" dirty="0" err="1">
                    <a:effectLst/>
                    <a:latin typeface="+mj-lt"/>
                    <a:ea typeface="Times New Roman" panose="02020603050405020304" pitchFamily="18" charset="0"/>
                  </a:rPr>
                  <a:t>thức</a:t>
                </a:r>
                <a:r>
                  <a:rPr lang="en-US" sz="1000" b="1" dirty="0">
                    <a:effectLst/>
                    <a:latin typeface="+mj-lt"/>
                    <a:ea typeface="Times New Roman" panose="02020603050405020304" pitchFamily="18" charset="0"/>
                  </a:rPr>
                  <a:t> (Fuzzy Knowledge Base)</a:t>
                </a:r>
                <a:r>
                  <a:rPr lang="en-US" sz="1000" dirty="0">
                    <a:effectLst/>
                    <a:latin typeface="+mj-lt"/>
                    <a:ea typeface="Times New Roman" panose="02020603050405020304" pitchFamily="18" charset="0"/>
                  </a:rPr>
                  <a:t> bao </a:t>
                </a:r>
                <a:r>
                  <a:rPr lang="en-US" sz="1000" dirty="0" err="1">
                    <a:effectLst/>
                    <a:latin typeface="+mj-lt"/>
                    <a:ea typeface="Times New Roman" panose="02020603050405020304" pitchFamily="18" charset="0"/>
                  </a:rPr>
                  <a:t>gồm</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các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biến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ngôn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ngữ</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hàm</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thuộc</a:t>
                </a:r>
                <a:r>
                  <a:rPr lang="en-US" sz="1000" dirty="0">
                    <a:effectLst/>
                    <a:latin typeface="+mj-lt"/>
                    <a:ea typeface="Times New Roman" panose="02020603050405020304" pitchFamily="18" charset="0"/>
                  </a:rPr>
                  <a:t> (Membership Functions) </a:t>
                </a:r>
                <a:r>
                  <a:rPr lang="en-US" sz="1000" dirty="0" err="1">
                    <a:effectLst/>
                    <a:latin typeface="+mj-lt"/>
                    <a:ea typeface="Times New Roman" panose="02020603050405020304" pitchFamily="18" charset="0"/>
                  </a:rPr>
                  <a:t>và</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tập</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luật</a:t>
                </a:r>
                <a:r>
                  <a:rPr lang="en-US" sz="1000" dirty="0">
                    <a:effectLst/>
                    <a:latin typeface="+mj-lt"/>
                    <a:ea typeface="Times New Roman" panose="02020603050405020304" pitchFamily="18" charset="0"/>
                  </a:rPr>
                  <a:t> </a:t>
                </a:r>
                <a:r>
                  <a:rPr lang="en-US" sz="1000" dirty="0">
                    <a:effectLst/>
                    <a:latin typeface="+mj-lt"/>
                    <a:ea typeface="Times New Roman" panose="02020603050405020304" pitchFamily="18" charset="0"/>
                    <a:cs typeface="Courier New" panose="02070309020205020404" pitchFamily="49" charset="0"/>
                  </a:rPr>
                  <a:t>IF - THEN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Quá</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trình</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suy</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luận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mờ</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sử</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dụng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phép</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toán</a:t>
                </a:r>
                <a:r>
                  <a:rPr lang="en-US" sz="1000" dirty="0">
                    <a:effectLst/>
                    <a:latin typeface="+mj-lt"/>
                    <a:ea typeface="Times New Roman" panose="02020603050405020304" pitchFamily="18" charset="0"/>
                  </a:rPr>
                  <a:t> Max-Min </a:t>
                </a:r>
                <a:r>
                  <a:rPr lang="en-US" sz="1000" dirty="0" err="1">
                    <a:effectLst/>
                    <a:latin typeface="+mj-lt"/>
                    <a:ea typeface="Times New Roman" panose="02020603050405020304" pitchFamily="18" charset="0"/>
                  </a:rPr>
                  <a:t>và</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thực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hiện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giải</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mờ</a:t>
                </a:r>
                <a:r>
                  <a:rPr lang="en-US" sz="1000" dirty="0">
                    <a:effectLst/>
                    <a:latin typeface="+mj-lt"/>
                    <a:ea typeface="Times New Roman" panose="02020603050405020304" pitchFamily="18" charset="0"/>
                  </a:rPr>
                  <a:t> (Defuzzification).</a:t>
                </a:r>
              </a:p>
              <a:p>
                <a:pPr marL="342900" marR="0" lvl="0" indent="-342900">
                  <a:lnSpc>
                    <a:spcPct val="150000"/>
                  </a:lnSpc>
                  <a:buNone/>
                  <a:tabLst>
                    <a:tab pos="457200" algn="l"/>
                  </a:tabLst>
                </a:pPr>
                <a:r>
                  <a:rPr lang="en-US" sz="1000" b="1" dirty="0" err="1">
                    <a:effectLst/>
                    <a:latin typeface="+mj-lt"/>
                    <a:ea typeface="Times New Roman" panose="02020603050405020304" pitchFamily="18" charset="0"/>
                  </a:rPr>
                  <a:t>Bước</a:t>
                </a:r>
                <a:r>
                  <a:rPr lang="en-US" sz="1000" b="1" dirty="0">
                    <a:effectLst/>
                    <a:latin typeface="+mj-lt"/>
                    <a:ea typeface="Times New Roman" panose="02020603050405020304" pitchFamily="18" charset="0"/>
                  </a:rPr>
                  <a:t> 4: Ra </a:t>
                </a:r>
                <a:r>
                  <a:rPr lang="en-US" sz="1000" b="1" dirty="0" err="1">
                    <a:effectLst/>
                    <a:latin typeface="+mj-lt"/>
                    <a:ea typeface="Times New Roman" panose="02020603050405020304" pitchFamily="18" charset="0"/>
                  </a:rPr>
                  <a:t>quyết</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định</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kết</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hợp</a:t>
                </a:r>
                <a:r>
                  <a:rPr lang="en-US" sz="1000" b="1" dirty="0">
                    <a:effectLst/>
                    <a:latin typeface="+mj-lt"/>
                    <a:ea typeface="Times New Roman" panose="02020603050405020304" pitchFamily="18" charset="0"/>
                  </a:rPr>
                  <a:t> (Hybrid Decision):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Hệ</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thống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thực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hiện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kết</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hợp</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trọng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số</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giữa</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kết</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quả</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của</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mạng</a:t>
                </a:r>
                <a:r>
                  <a:rPr lang="en-US" sz="1000" dirty="0">
                    <a:effectLst/>
                    <a:latin typeface="+mj-lt"/>
                    <a:ea typeface="Times New Roman" panose="02020603050405020304" pitchFamily="18" charset="0"/>
                  </a:rPr>
                  <a:t> CNN </a:t>
                </a:r>
                <a:r>
                  <a:rPr lang="en-US" sz="1000" dirty="0" err="1">
                    <a:effectLst/>
                    <a:latin typeface="+mj-lt"/>
                    <a:ea typeface="Times New Roman" panose="02020603050405020304" pitchFamily="18" charset="0"/>
                  </a:rPr>
                  <a:t>và</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kết</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quả</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từ</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bộ</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suy</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diễn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mờ</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theo</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công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thức</a:t>
                </a:r>
                <a:r>
                  <a:rPr lang="en-US" sz="1000" dirty="0">
                    <a:effectLst/>
                    <a:latin typeface="+mj-lt"/>
                    <a:ea typeface="Times New Roman" panose="02020603050405020304" pitchFamily="18" charset="0"/>
                  </a:rPr>
                  <a:t>:</a:t>
                </a:r>
              </a:p>
              <a:p>
                <a:pPr marL="457200" marR="0">
                  <a:lnSpc>
                    <a:spcPct val="150000"/>
                  </a:lnSpc>
                  <a:spcAft>
                    <a:spcPts val="800"/>
                  </a:spcAft>
                  <a:buNone/>
                </a:pPr>
                <a14:m>
                  <m:oMathPara xmlns:m="http://schemas.openxmlformats.org/officeDocument/2006/math">
                    <m:oMathParaPr>
                      <m:jc m:val="centerGroup"/>
                    </m:oMathParaPr>
                    <m:oMath xmlns:m="http://schemas.openxmlformats.org/officeDocument/2006/math">
                      <m:r>
                        <a:rPr lang="en-US" sz="1000" i="1">
                          <a:effectLst/>
                          <a:latin typeface="Cambria Math" panose="02040503050406030204" pitchFamily="18" charset="0"/>
                          <a:ea typeface="Calibri" panose="020F0502020204030204" pitchFamily="34" charset="0"/>
                          <a:cs typeface="Times New Roman" panose="02020603050405020304" pitchFamily="18" charset="0"/>
                        </a:rPr>
                        <m:t>𝐹𝑖𝑛𝑎𝑙</m:t>
                      </m:r>
                      <m:r>
                        <a:rPr lang="en-US" sz="1000" i="1">
                          <a:effectLst/>
                          <a:latin typeface="Cambria Math" panose="02040503050406030204" pitchFamily="18" charset="0"/>
                          <a:ea typeface="Calibri" panose="020F0502020204030204" pitchFamily="34" charset="0"/>
                          <a:cs typeface="Times New Roman" panose="02020603050405020304" pitchFamily="18" charset="0"/>
                        </a:rPr>
                        <m:t> =</m:t>
                      </m:r>
                      <m:r>
                        <a:rPr lang="en-US" sz="1000" i="1">
                          <a:effectLst/>
                          <a:latin typeface="Cambria Math" panose="02040503050406030204" pitchFamily="18" charset="0"/>
                          <a:ea typeface="Calibri" panose="020F0502020204030204" pitchFamily="34" charset="0"/>
                          <a:cs typeface="Times New Roman" panose="02020603050405020304" pitchFamily="18" charset="0"/>
                        </a:rPr>
                        <m:t>𝛼</m:t>
                      </m:r>
                      <m:r>
                        <a:rPr lang="en-US" sz="1000" i="1">
                          <a:effectLst/>
                          <a:latin typeface="Cambria Math" panose="02040503050406030204" pitchFamily="18" charset="0"/>
                          <a:ea typeface="Calibri" panose="020F0502020204030204" pitchFamily="34" charset="0"/>
                          <a:cs typeface="Times New Roman" panose="02020603050405020304" pitchFamily="18" charset="0"/>
                        </a:rPr>
                        <m:t>⋅ </m:t>
                      </m:r>
                      <m:r>
                        <a:rPr lang="en-US" sz="1000" i="1">
                          <a:effectLst/>
                          <a:latin typeface="Cambria Math" panose="02040503050406030204" pitchFamily="18" charset="0"/>
                          <a:ea typeface="Calibri" panose="020F0502020204030204" pitchFamily="34" charset="0"/>
                          <a:cs typeface="Times New Roman" panose="02020603050405020304" pitchFamily="18" charset="0"/>
                        </a:rPr>
                        <m:t>𝐶𝑁𝑁</m:t>
                      </m:r>
                      <m:r>
                        <a:rPr lang="en-US" sz="1000" i="1">
                          <a:effectLst/>
                          <a:latin typeface="Cambria Math" panose="02040503050406030204" pitchFamily="18" charset="0"/>
                          <a:ea typeface="Calibri" panose="020F0502020204030204" pitchFamily="34" charset="0"/>
                          <a:cs typeface="Times New Roman" panose="02020603050405020304" pitchFamily="18" charset="0"/>
                        </a:rPr>
                        <m:t> +</m:t>
                      </m:r>
                      <m:r>
                        <a:rPr lang="en-US" sz="1000" i="1">
                          <a:effectLst/>
                          <a:latin typeface="Cambria Math" panose="02040503050406030204" pitchFamily="18" charset="0"/>
                          <a:ea typeface="Calibri" panose="020F0502020204030204" pitchFamily="34" charset="0"/>
                          <a:cs typeface="Times New Roman" panose="02020603050405020304" pitchFamily="18" charset="0"/>
                        </a:rPr>
                        <m:t>𝛽</m:t>
                      </m:r>
                      <m:r>
                        <a:rPr lang="en-US" sz="1000" i="1">
                          <a:effectLst/>
                          <a:latin typeface="Cambria Math" panose="02040503050406030204" pitchFamily="18" charset="0"/>
                          <a:ea typeface="Calibri" panose="020F0502020204030204" pitchFamily="34" charset="0"/>
                          <a:cs typeface="Times New Roman" panose="02020603050405020304" pitchFamily="18" charset="0"/>
                        </a:rPr>
                        <m:t>⋅ </m:t>
                      </m:r>
                      <m:r>
                        <a:rPr lang="en-US" sz="1000" i="1">
                          <a:effectLst/>
                          <a:latin typeface="Cambria Math" panose="02040503050406030204" pitchFamily="18" charset="0"/>
                          <a:ea typeface="Calibri" panose="020F0502020204030204" pitchFamily="34" charset="0"/>
                          <a:cs typeface="Times New Roman" panose="02020603050405020304" pitchFamily="18" charset="0"/>
                        </a:rPr>
                        <m:t>𝐹𝑢𝑧𝑧𝑦</m:t>
                      </m:r>
                    </m:oMath>
                  </m:oMathPara>
                </a14:m>
                <a:endParaRPr lang="en-US" sz="1000" dirty="0">
                  <a:effectLst/>
                  <a:latin typeface="+mj-lt"/>
                  <a:ea typeface="Calibri" panose="020F0502020204030204" pitchFamily="34" charset="0"/>
                  <a:cs typeface="Times New Roman" panose="02020603050405020304" pitchFamily="18" charset="0"/>
                </a:endParaRPr>
              </a:p>
              <a:p>
                <a:pPr marL="457200" marR="0">
                  <a:lnSpc>
                    <a:spcPct val="150000"/>
                  </a:lnSpc>
                  <a:buNone/>
                </a:pPr>
                <a:r>
                  <a:rPr lang="en-US" sz="1000" dirty="0" err="1">
                    <a:effectLst/>
                    <a:latin typeface="+mj-lt"/>
                    <a:ea typeface="Times New Roman" panose="02020603050405020304" pitchFamily="18" charset="0"/>
                  </a:rPr>
                  <a:t>Từ</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đó</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đưa</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ra</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điểm</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số</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hiệu</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chỉnh</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cuối</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cùng</a:t>
                </a:r>
                <a:r>
                  <a:rPr lang="en-US" sz="1000" dirty="0">
                    <a:effectLst/>
                    <a:latin typeface="+mj-lt"/>
                    <a:ea typeface="Times New Roman" panose="02020603050405020304" pitchFamily="18" charset="0"/>
                  </a:rPr>
                  <a:t> </a:t>
                </a:r>
              </a:p>
              <a:p>
                <a:pPr marL="342900" marR="0" lvl="0" indent="-342900">
                  <a:lnSpc>
                    <a:spcPct val="150000"/>
                  </a:lnSpc>
                  <a:buNone/>
                  <a:tabLst>
                    <a:tab pos="457200" algn="l"/>
                  </a:tabLst>
                </a:pPr>
                <a:r>
                  <a:rPr lang="en-US" sz="1000" b="1" dirty="0" err="1">
                    <a:effectLst/>
                    <a:latin typeface="+mj-lt"/>
                    <a:ea typeface="Times New Roman" panose="02020603050405020304" pitchFamily="18" charset="0"/>
                  </a:rPr>
                  <a:t>Bước</a:t>
                </a:r>
                <a:r>
                  <a:rPr lang="en-US" sz="1000" b="1" dirty="0">
                    <a:effectLst/>
                    <a:latin typeface="+mj-lt"/>
                    <a:ea typeface="Times New Roman" panose="02020603050405020304" pitchFamily="18" charset="0"/>
                  </a:rPr>
                  <a:t> 5: </a:t>
                </a:r>
                <a:r>
                  <a:rPr lang="en-US" sz="1000" b="1" dirty="0" err="1">
                    <a:effectLst/>
                    <a:latin typeface="+mj-lt"/>
                    <a:ea typeface="Times New Roman" panose="02020603050405020304" pitchFamily="18" charset="0"/>
                  </a:rPr>
                  <a:t>Kết</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luận</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và</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Giải</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thích</a:t>
                </a:r>
                <a:r>
                  <a:rPr lang="en-US" sz="1000" b="1" dirty="0">
                    <a:effectLst/>
                    <a:latin typeface="+mj-lt"/>
                    <a:ea typeface="Times New Roman" panose="02020603050405020304" pitchFamily="18" charset="0"/>
                  </a:rPr>
                  <a:t> (Output + XAI):</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Hệ</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thống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trả</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về</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kết</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luận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bệnh</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kèm</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độ</a:t>
                </a:r>
                <a:r>
                  <a:rPr lang="en-US" sz="1000" dirty="0">
                    <a:effectLst/>
                    <a:latin typeface="+mj-lt"/>
                    <a:ea typeface="Times New Roman" panose="02020603050405020304" pitchFamily="18" charset="0"/>
                  </a:rPr>
                  <a:t> tin </a:t>
                </a:r>
                <a:r>
                  <a:rPr lang="en-US" sz="1000" dirty="0" err="1">
                    <a:effectLst/>
                    <a:latin typeface="+mj-lt"/>
                    <a:ea typeface="Times New Roman" panose="02020603050405020304" pitchFamily="18" charset="0"/>
                  </a:rPr>
                  <a:t>cậy</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Đồng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thời</a:t>
                </a:r>
                <a:r>
                  <a:rPr lang="en-US" sz="1000" dirty="0">
                    <a:effectLst/>
                    <a:latin typeface="+mj-lt"/>
                    <a:ea typeface="Times New Roman" panose="02020603050405020304" pitchFamily="18" charset="0"/>
                  </a:rPr>
                  <a:t>, module XAI </a:t>
                </a:r>
                <a:r>
                  <a:rPr lang="en-US" sz="1000" dirty="0" err="1">
                    <a:effectLst/>
                    <a:latin typeface="+mj-lt"/>
                    <a:ea typeface="Times New Roman" panose="02020603050405020304" pitchFamily="18" charset="0"/>
                  </a:rPr>
                  <a:t>hiển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thị</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báo</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cáo</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giải</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thích</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bằng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ngôn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ngữ</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tự</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nhiên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dựa</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trên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các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luật</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mờ</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được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kích</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hoạt</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mạnh</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để</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người</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nông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dân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đối</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chiếu</a:t>
                </a:r>
                <a:r>
                  <a:rPr lang="en-US" sz="1000" dirty="0">
                    <a:effectLst/>
                    <a:latin typeface="+mj-lt"/>
                    <a:ea typeface="Times New Roman" panose="02020603050405020304" pitchFamily="18" charset="0"/>
                  </a:rPr>
                  <a:t>.</a:t>
                </a:r>
              </a:p>
            </p:txBody>
          </p:sp>
        </mc:Choice>
        <mc:Fallback xmlns="">
          <p:sp>
            <p:nvSpPr>
              <p:cNvPr id="42" name="TextBox 41">
                <a:extLst>
                  <a:ext uri="{FF2B5EF4-FFF2-40B4-BE49-F238E27FC236}">
                    <a16:creationId xmlns:a16="http://schemas.microsoft.com/office/drawing/2014/main" id="{01B52954-39A9-A698-D54D-DAAD1710F1B3}"/>
                  </a:ext>
                </a:extLst>
              </p:cNvPr>
              <p:cNvSpPr txBox="1">
                <a:spLocks noRot="1" noChangeAspect="1" noMove="1" noResize="1" noEditPoints="1" noAdjustHandles="1" noChangeArrowheads="1" noChangeShapeType="1" noTextEdit="1"/>
              </p:cNvSpPr>
              <p:nvPr/>
            </p:nvSpPr>
            <p:spPr>
              <a:xfrm>
                <a:off x="70339" y="768448"/>
                <a:ext cx="6703253" cy="4131644"/>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7532416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4332"/>
          </a:solidFill>
          <a:ln w="12700">
            <a:solidFill>
              <a:srgbClr val="1B4332"/>
            </a:solidFill>
            <a:prstDash val="solid"/>
          </a:ln>
        </p:spPr>
      </p:sp>
      <p:sp>
        <p:nvSpPr>
          <p:cNvPr id="3" name="Shape 1"/>
          <p:cNvSpPr/>
          <p:nvPr/>
        </p:nvSpPr>
        <p:spPr>
          <a:xfrm>
            <a:off x="0" y="685800"/>
            <a:ext cx="9144000" cy="45720"/>
          </a:xfrm>
          <a:prstGeom prst="rect">
            <a:avLst/>
          </a:prstGeom>
          <a:solidFill>
            <a:srgbClr val="74C69D"/>
          </a:solidFill>
          <a:ln w="12700">
            <a:solidFill>
              <a:srgbClr val="74C69D"/>
            </a:solidFill>
            <a:prstDash val="solid"/>
          </a:ln>
        </p:spPr>
      </p:sp>
      <p:sp>
        <p:nvSpPr>
          <p:cNvPr id="4" name="Text 2"/>
          <p:cNvSpPr/>
          <p:nvPr/>
        </p:nvSpPr>
        <p:spPr>
          <a:xfrm>
            <a:off x="274320" y="0"/>
            <a:ext cx="8595360" cy="68580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Nguồn Dữ Liệu &amp; Dataset</a:t>
            </a:r>
            <a:endParaRPr lang="en-US" sz="2000" dirty="0"/>
          </a:p>
        </p:txBody>
      </p:sp>
      <p:sp>
        <p:nvSpPr>
          <p:cNvPr id="5" name="Shape 3"/>
          <p:cNvSpPr/>
          <p:nvPr/>
        </p:nvSpPr>
        <p:spPr>
          <a:xfrm>
            <a:off x="0" y="4869180"/>
            <a:ext cx="9144000" cy="274320"/>
          </a:xfrm>
          <a:prstGeom prst="rect">
            <a:avLst/>
          </a:prstGeom>
          <a:solidFill>
            <a:srgbClr val="D8F3DC"/>
          </a:solidFill>
          <a:ln w="12700">
            <a:solidFill>
              <a:srgbClr val="D8F3DC"/>
            </a:solidFill>
            <a:prstDash val="solid"/>
          </a:ln>
        </p:spPr>
      </p:sp>
      <p:sp>
        <p:nvSpPr>
          <p:cNvPr id="6" name="Text 4"/>
          <p:cNvSpPr/>
          <p:nvPr/>
        </p:nvSpPr>
        <p:spPr>
          <a:xfrm>
            <a:off x="274320" y="4869180"/>
            <a:ext cx="8595360" cy="274320"/>
          </a:xfrm>
          <a:prstGeom prst="rect">
            <a:avLst/>
          </a:prstGeom>
          <a:noFill/>
          <a:ln/>
        </p:spPr>
        <p:txBody>
          <a:bodyPr wrap="square" lIns="0" tIns="0" rIns="0" bIns="0" rtlCol="0" anchor="ctr"/>
          <a:lstStyle/>
          <a:p>
            <a:pPr marL="0" indent="0" algn="l">
              <a:buNone/>
            </a:pPr>
            <a:r>
              <a:rPr lang="en-US" sz="800" dirty="0">
                <a:solidFill>
                  <a:srgbClr val="6C757D"/>
                </a:solidFill>
                <a:latin typeface="Calibri" pitchFamily="34" charset="0"/>
                <a:ea typeface="Calibri" pitchFamily="34" charset="-122"/>
                <a:cs typeface="Calibri" pitchFamily="34" charset="-120"/>
              </a:rPr>
              <a:t>Nhóm 14 | Hệ Thống Thông Minh | ĐH Thủy Lợi</a:t>
            </a:r>
            <a:endParaRPr lang="en-US" sz="800" dirty="0"/>
          </a:p>
        </p:txBody>
      </p:sp>
      <p:sp>
        <p:nvSpPr>
          <p:cNvPr id="7" name="Shape 5"/>
          <p:cNvSpPr/>
          <p:nvPr/>
        </p:nvSpPr>
        <p:spPr>
          <a:xfrm>
            <a:off x="228600" y="868680"/>
            <a:ext cx="4754880" cy="594360"/>
          </a:xfrm>
          <a:prstGeom prst="rect">
            <a:avLst/>
          </a:prstGeom>
          <a:solidFill>
            <a:srgbClr val="D8F3DC"/>
          </a:solidFill>
          <a:ln w="10160">
            <a:solidFill>
              <a:srgbClr val="74C69D"/>
            </a:solidFill>
            <a:prstDash val="solid"/>
          </a:ln>
        </p:spPr>
      </p:sp>
      <p:sp>
        <p:nvSpPr>
          <p:cNvPr id="8" name="Text 6"/>
          <p:cNvSpPr/>
          <p:nvPr/>
        </p:nvSpPr>
        <p:spPr>
          <a:xfrm>
            <a:off x="320040" y="932688"/>
            <a:ext cx="1463040" cy="457200"/>
          </a:xfrm>
          <a:prstGeom prst="rect">
            <a:avLst/>
          </a:prstGeom>
          <a:noFill/>
          <a:ln/>
        </p:spPr>
        <p:txBody>
          <a:bodyPr wrap="square" rtlCol="0" anchor="ctr"/>
          <a:lstStyle/>
          <a:p>
            <a:pPr marL="0" indent="0">
              <a:buNone/>
            </a:pPr>
            <a:r>
              <a:rPr lang="en-US" sz="1050" b="1" dirty="0">
                <a:solidFill>
                  <a:srgbClr val="1B4332"/>
                </a:solidFill>
                <a:latin typeface="Calibri" pitchFamily="34" charset="0"/>
                <a:ea typeface="Calibri" pitchFamily="34" charset="-122"/>
                <a:cs typeface="Calibri" pitchFamily="34" charset="-120"/>
              </a:rPr>
              <a:t>🗂  Tên Dataset:</a:t>
            </a:r>
            <a:endParaRPr lang="en-US" sz="1050" dirty="0"/>
          </a:p>
        </p:txBody>
      </p:sp>
      <p:sp>
        <p:nvSpPr>
          <p:cNvPr id="9" name="Text 7"/>
          <p:cNvSpPr/>
          <p:nvPr/>
        </p:nvSpPr>
        <p:spPr>
          <a:xfrm>
            <a:off x="1783080" y="932688"/>
            <a:ext cx="3108960" cy="45720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Severity-Based Rice Leaf Diseases</a:t>
            </a:r>
            <a:endParaRPr lang="en-US" sz="1050" dirty="0"/>
          </a:p>
        </p:txBody>
      </p:sp>
      <p:sp>
        <p:nvSpPr>
          <p:cNvPr id="10" name="Shape 8"/>
          <p:cNvSpPr/>
          <p:nvPr/>
        </p:nvSpPr>
        <p:spPr>
          <a:xfrm>
            <a:off x="228600" y="1581912"/>
            <a:ext cx="4754880" cy="594360"/>
          </a:xfrm>
          <a:prstGeom prst="rect">
            <a:avLst/>
          </a:prstGeom>
          <a:solidFill>
            <a:srgbClr val="F8F9FA"/>
          </a:solidFill>
          <a:ln w="10160">
            <a:solidFill>
              <a:srgbClr val="74C69D"/>
            </a:solidFill>
            <a:prstDash val="solid"/>
          </a:ln>
        </p:spPr>
      </p:sp>
      <p:sp>
        <p:nvSpPr>
          <p:cNvPr id="11" name="Text 9"/>
          <p:cNvSpPr/>
          <p:nvPr/>
        </p:nvSpPr>
        <p:spPr>
          <a:xfrm>
            <a:off x="320040" y="1645920"/>
            <a:ext cx="1463040" cy="457200"/>
          </a:xfrm>
          <a:prstGeom prst="rect">
            <a:avLst/>
          </a:prstGeom>
          <a:noFill/>
          <a:ln/>
        </p:spPr>
        <p:txBody>
          <a:bodyPr wrap="square" rtlCol="0" anchor="ctr"/>
          <a:lstStyle/>
          <a:p>
            <a:pPr marL="0" indent="0">
              <a:buNone/>
            </a:pPr>
            <a:r>
              <a:rPr lang="en-US" sz="1050" b="1" dirty="0">
                <a:solidFill>
                  <a:srgbClr val="1B4332"/>
                </a:solidFill>
                <a:latin typeface="Calibri" pitchFamily="34" charset="0"/>
                <a:ea typeface="Calibri" pitchFamily="34" charset="-122"/>
                <a:cs typeface="Calibri" pitchFamily="34" charset="-120"/>
              </a:rPr>
              <a:t>🌾  Đối tượng:</a:t>
            </a:r>
            <a:endParaRPr lang="en-US" sz="1050" dirty="0"/>
          </a:p>
        </p:txBody>
      </p:sp>
      <p:sp>
        <p:nvSpPr>
          <p:cNvPr id="12" name="Text 10"/>
          <p:cNvSpPr/>
          <p:nvPr/>
        </p:nvSpPr>
        <p:spPr>
          <a:xfrm>
            <a:off x="1783080" y="1645920"/>
            <a:ext cx="3108960" cy="45720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Lúa (Rice) — cây trồng chiến lược</a:t>
            </a:r>
            <a:endParaRPr lang="en-US" sz="1050" dirty="0"/>
          </a:p>
        </p:txBody>
      </p:sp>
      <p:sp>
        <p:nvSpPr>
          <p:cNvPr id="13" name="Shape 11"/>
          <p:cNvSpPr/>
          <p:nvPr/>
        </p:nvSpPr>
        <p:spPr>
          <a:xfrm>
            <a:off x="228600" y="2295144"/>
            <a:ext cx="4754880" cy="594360"/>
          </a:xfrm>
          <a:prstGeom prst="rect">
            <a:avLst/>
          </a:prstGeom>
          <a:solidFill>
            <a:srgbClr val="D8F3DC"/>
          </a:solidFill>
          <a:ln w="10160">
            <a:solidFill>
              <a:srgbClr val="74C69D"/>
            </a:solidFill>
            <a:prstDash val="solid"/>
          </a:ln>
        </p:spPr>
      </p:sp>
      <p:sp>
        <p:nvSpPr>
          <p:cNvPr id="14" name="Text 12"/>
          <p:cNvSpPr/>
          <p:nvPr/>
        </p:nvSpPr>
        <p:spPr>
          <a:xfrm>
            <a:off x="320040" y="2359152"/>
            <a:ext cx="1463040" cy="457200"/>
          </a:xfrm>
          <a:prstGeom prst="rect">
            <a:avLst/>
          </a:prstGeom>
          <a:noFill/>
          <a:ln/>
        </p:spPr>
        <p:txBody>
          <a:bodyPr wrap="square" rtlCol="0" anchor="ctr"/>
          <a:lstStyle/>
          <a:p>
            <a:pPr marL="0" indent="0">
              <a:buNone/>
            </a:pPr>
            <a:r>
              <a:rPr lang="en-US" sz="1050" b="1" dirty="0">
                <a:solidFill>
                  <a:srgbClr val="1B4332"/>
                </a:solidFill>
                <a:latin typeface="Calibri" pitchFamily="34" charset="0"/>
                <a:ea typeface="Calibri" pitchFamily="34" charset="-122"/>
                <a:cs typeface="Calibri" pitchFamily="34" charset="-120"/>
              </a:rPr>
              <a:t>📸  Số lượng lớp:</a:t>
            </a:r>
            <a:endParaRPr lang="en-US" sz="1050" dirty="0"/>
          </a:p>
        </p:txBody>
      </p:sp>
      <p:sp>
        <p:nvSpPr>
          <p:cNvPr id="15" name="Text 13"/>
          <p:cNvSpPr/>
          <p:nvPr/>
        </p:nvSpPr>
        <p:spPr>
          <a:xfrm>
            <a:off x="1783080" y="2359152"/>
            <a:ext cx="3108960" cy="45720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9 lớp bệnh (Severity-based)</a:t>
            </a:r>
            <a:endParaRPr lang="en-US" sz="1050" dirty="0"/>
          </a:p>
        </p:txBody>
      </p:sp>
      <p:sp>
        <p:nvSpPr>
          <p:cNvPr id="16" name="Shape 14"/>
          <p:cNvSpPr/>
          <p:nvPr/>
        </p:nvSpPr>
        <p:spPr>
          <a:xfrm>
            <a:off x="228600" y="3008376"/>
            <a:ext cx="4754880" cy="594360"/>
          </a:xfrm>
          <a:prstGeom prst="rect">
            <a:avLst/>
          </a:prstGeom>
          <a:solidFill>
            <a:srgbClr val="F8F9FA"/>
          </a:solidFill>
          <a:ln w="10160">
            <a:solidFill>
              <a:srgbClr val="74C69D"/>
            </a:solidFill>
            <a:prstDash val="solid"/>
          </a:ln>
        </p:spPr>
      </p:sp>
      <p:sp>
        <p:nvSpPr>
          <p:cNvPr id="17" name="Text 15"/>
          <p:cNvSpPr/>
          <p:nvPr/>
        </p:nvSpPr>
        <p:spPr>
          <a:xfrm>
            <a:off x="320040" y="3072384"/>
            <a:ext cx="1463040" cy="457200"/>
          </a:xfrm>
          <a:prstGeom prst="rect">
            <a:avLst/>
          </a:prstGeom>
          <a:noFill/>
          <a:ln/>
        </p:spPr>
        <p:txBody>
          <a:bodyPr wrap="square" rtlCol="0" anchor="ctr"/>
          <a:lstStyle/>
          <a:p>
            <a:pPr marL="0" indent="0">
              <a:buNone/>
            </a:pPr>
            <a:r>
              <a:rPr lang="en-US" sz="1050" b="1" dirty="0">
                <a:solidFill>
                  <a:srgbClr val="1B4332"/>
                </a:solidFill>
                <a:latin typeface="Calibri" pitchFamily="34" charset="0"/>
                <a:ea typeface="Calibri" pitchFamily="34" charset="-122"/>
                <a:cs typeface="Calibri" pitchFamily="34" charset="-120"/>
              </a:rPr>
              <a:t>🤖  Mô hình CNN:</a:t>
            </a:r>
            <a:endParaRPr lang="en-US" sz="1050" dirty="0"/>
          </a:p>
        </p:txBody>
      </p:sp>
      <p:sp>
        <p:nvSpPr>
          <p:cNvPr id="18" name="Text 16"/>
          <p:cNvSpPr/>
          <p:nvPr/>
        </p:nvSpPr>
        <p:spPr>
          <a:xfrm>
            <a:off x="1783080" y="3072384"/>
            <a:ext cx="3108960" cy="45720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EfficientNet-B0 (Transfer Learning)</a:t>
            </a:r>
            <a:endParaRPr lang="en-US" sz="1050" dirty="0"/>
          </a:p>
        </p:txBody>
      </p:sp>
      <p:sp>
        <p:nvSpPr>
          <p:cNvPr id="19" name="Shape 17"/>
          <p:cNvSpPr/>
          <p:nvPr/>
        </p:nvSpPr>
        <p:spPr>
          <a:xfrm>
            <a:off x="228600" y="3721608"/>
            <a:ext cx="4754880" cy="594360"/>
          </a:xfrm>
          <a:prstGeom prst="rect">
            <a:avLst/>
          </a:prstGeom>
          <a:solidFill>
            <a:srgbClr val="D8F3DC"/>
          </a:solidFill>
          <a:ln w="10160">
            <a:solidFill>
              <a:srgbClr val="74C69D"/>
            </a:solidFill>
            <a:prstDash val="solid"/>
          </a:ln>
        </p:spPr>
      </p:sp>
      <p:sp>
        <p:nvSpPr>
          <p:cNvPr id="20" name="Text 18"/>
          <p:cNvSpPr/>
          <p:nvPr/>
        </p:nvSpPr>
        <p:spPr>
          <a:xfrm>
            <a:off x="320040" y="3785616"/>
            <a:ext cx="1463040" cy="457200"/>
          </a:xfrm>
          <a:prstGeom prst="rect">
            <a:avLst/>
          </a:prstGeom>
          <a:noFill/>
          <a:ln/>
        </p:spPr>
        <p:txBody>
          <a:bodyPr wrap="square" rtlCol="0" anchor="ctr"/>
          <a:lstStyle/>
          <a:p>
            <a:pPr marL="0" indent="0">
              <a:buNone/>
            </a:pPr>
            <a:r>
              <a:rPr lang="en-US" sz="1050" b="1" dirty="0">
                <a:solidFill>
                  <a:srgbClr val="1B4332"/>
                </a:solidFill>
                <a:latin typeface="Calibri" pitchFamily="34" charset="0"/>
                <a:ea typeface="Calibri" pitchFamily="34" charset="-122"/>
                <a:cs typeface="Calibri" pitchFamily="34" charset="-120"/>
              </a:rPr>
              <a:t>📡  Dữ liệu môi trường:</a:t>
            </a:r>
            <a:endParaRPr lang="en-US" sz="1050" dirty="0"/>
          </a:p>
        </p:txBody>
      </p:sp>
      <p:sp>
        <p:nvSpPr>
          <p:cNvPr id="21" name="Text 19"/>
          <p:cNvSpPr/>
          <p:nvPr/>
        </p:nvSpPr>
        <p:spPr>
          <a:xfrm>
            <a:off x="1783080" y="3785616"/>
            <a:ext cx="3108960" cy="45720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Nhiệt độ (°C), Độ ẩm (%), Lượng mưa 24h, Mùa vụ</a:t>
            </a:r>
            <a:endParaRPr lang="en-US" sz="1050" dirty="0"/>
          </a:p>
        </p:txBody>
      </p:sp>
      <p:sp>
        <p:nvSpPr>
          <p:cNvPr id="22" name="Shape 20"/>
          <p:cNvSpPr/>
          <p:nvPr/>
        </p:nvSpPr>
        <p:spPr>
          <a:xfrm>
            <a:off x="5257800" y="868680"/>
            <a:ext cx="3611880" cy="411480"/>
          </a:xfrm>
          <a:prstGeom prst="rect">
            <a:avLst/>
          </a:prstGeom>
          <a:solidFill>
            <a:srgbClr val="1B4332"/>
          </a:solidFill>
          <a:ln w="12700">
            <a:solidFill>
              <a:srgbClr val="1B4332"/>
            </a:solidFill>
            <a:prstDash val="solid"/>
          </a:ln>
        </p:spPr>
      </p:sp>
      <p:sp>
        <p:nvSpPr>
          <p:cNvPr id="23" name="Text 21"/>
          <p:cNvSpPr/>
          <p:nvPr/>
        </p:nvSpPr>
        <p:spPr>
          <a:xfrm>
            <a:off x="5257800" y="868680"/>
            <a:ext cx="3611880" cy="41148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9 Lớp Bệnh Trong Dataset</a:t>
            </a:r>
            <a:endParaRPr lang="en-US" sz="1200" dirty="0"/>
          </a:p>
        </p:txBody>
      </p:sp>
      <p:sp>
        <p:nvSpPr>
          <p:cNvPr id="24" name="Shape 22"/>
          <p:cNvSpPr/>
          <p:nvPr/>
        </p:nvSpPr>
        <p:spPr>
          <a:xfrm>
            <a:off x="5257800" y="1280160"/>
            <a:ext cx="3611880" cy="347472"/>
          </a:xfrm>
          <a:prstGeom prst="rect">
            <a:avLst/>
          </a:prstGeom>
          <a:solidFill>
            <a:srgbClr val="F1F8F4"/>
          </a:solidFill>
          <a:ln w="6350">
            <a:solidFill>
              <a:srgbClr val="DDDDDD"/>
            </a:solidFill>
            <a:prstDash val="solid"/>
          </a:ln>
        </p:spPr>
      </p:sp>
      <p:sp>
        <p:nvSpPr>
          <p:cNvPr id="25" name="Text 23"/>
          <p:cNvSpPr/>
          <p:nvPr/>
        </p:nvSpPr>
        <p:spPr>
          <a:xfrm>
            <a:off x="5349240" y="131673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Healthy</a:t>
            </a:r>
            <a:endParaRPr lang="en-US" sz="1000" dirty="0"/>
          </a:p>
        </p:txBody>
      </p:sp>
      <p:sp>
        <p:nvSpPr>
          <p:cNvPr id="26" name="Shape 24"/>
          <p:cNvSpPr/>
          <p:nvPr/>
        </p:nvSpPr>
        <p:spPr>
          <a:xfrm>
            <a:off x="5257800" y="1645920"/>
            <a:ext cx="3611880" cy="347472"/>
          </a:xfrm>
          <a:prstGeom prst="rect">
            <a:avLst/>
          </a:prstGeom>
          <a:solidFill>
            <a:srgbClr val="FFFFFF"/>
          </a:solidFill>
          <a:ln w="6350">
            <a:solidFill>
              <a:srgbClr val="DDDDDD"/>
            </a:solidFill>
            <a:prstDash val="solid"/>
          </a:ln>
        </p:spPr>
      </p:sp>
      <p:sp>
        <p:nvSpPr>
          <p:cNvPr id="27" name="Text 25"/>
          <p:cNvSpPr/>
          <p:nvPr/>
        </p:nvSpPr>
        <p:spPr>
          <a:xfrm>
            <a:off x="5349240" y="168249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Mild Blast</a:t>
            </a:r>
            <a:endParaRPr lang="en-US" sz="1000" dirty="0"/>
          </a:p>
        </p:txBody>
      </p:sp>
      <p:sp>
        <p:nvSpPr>
          <p:cNvPr id="28" name="Shape 26"/>
          <p:cNvSpPr/>
          <p:nvPr/>
        </p:nvSpPr>
        <p:spPr>
          <a:xfrm>
            <a:off x="5257800" y="2011680"/>
            <a:ext cx="3611880" cy="347472"/>
          </a:xfrm>
          <a:prstGeom prst="rect">
            <a:avLst/>
          </a:prstGeom>
          <a:solidFill>
            <a:srgbClr val="F1F8F4"/>
          </a:solidFill>
          <a:ln w="6350">
            <a:solidFill>
              <a:srgbClr val="DDDDDD"/>
            </a:solidFill>
            <a:prstDash val="solid"/>
          </a:ln>
        </p:spPr>
      </p:sp>
      <p:sp>
        <p:nvSpPr>
          <p:cNvPr id="29" name="Text 27"/>
          <p:cNvSpPr/>
          <p:nvPr/>
        </p:nvSpPr>
        <p:spPr>
          <a:xfrm>
            <a:off x="5349240" y="204825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Severe Blast</a:t>
            </a:r>
            <a:endParaRPr lang="en-US" sz="1000" dirty="0"/>
          </a:p>
        </p:txBody>
      </p:sp>
      <p:sp>
        <p:nvSpPr>
          <p:cNvPr id="30" name="Shape 28"/>
          <p:cNvSpPr/>
          <p:nvPr/>
        </p:nvSpPr>
        <p:spPr>
          <a:xfrm>
            <a:off x="5257800" y="2377440"/>
            <a:ext cx="3611880" cy="347472"/>
          </a:xfrm>
          <a:prstGeom prst="rect">
            <a:avLst/>
          </a:prstGeom>
          <a:solidFill>
            <a:srgbClr val="FFFFFF"/>
          </a:solidFill>
          <a:ln w="6350">
            <a:solidFill>
              <a:srgbClr val="DDDDDD"/>
            </a:solidFill>
            <a:prstDash val="solid"/>
          </a:ln>
        </p:spPr>
      </p:sp>
      <p:sp>
        <p:nvSpPr>
          <p:cNvPr id="31" name="Text 29"/>
          <p:cNvSpPr/>
          <p:nvPr/>
        </p:nvSpPr>
        <p:spPr>
          <a:xfrm>
            <a:off x="5349240" y="241401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Mild Bacterial Blight</a:t>
            </a:r>
            <a:endParaRPr lang="en-US" sz="1000" dirty="0"/>
          </a:p>
        </p:txBody>
      </p:sp>
      <p:sp>
        <p:nvSpPr>
          <p:cNvPr id="32" name="Shape 30"/>
          <p:cNvSpPr/>
          <p:nvPr/>
        </p:nvSpPr>
        <p:spPr>
          <a:xfrm>
            <a:off x="5257800" y="2743200"/>
            <a:ext cx="3611880" cy="347472"/>
          </a:xfrm>
          <a:prstGeom prst="rect">
            <a:avLst/>
          </a:prstGeom>
          <a:solidFill>
            <a:srgbClr val="F1F8F4"/>
          </a:solidFill>
          <a:ln w="6350">
            <a:solidFill>
              <a:srgbClr val="DDDDDD"/>
            </a:solidFill>
            <a:prstDash val="solid"/>
          </a:ln>
        </p:spPr>
      </p:sp>
      <p:sp>
        <p:nvSpPr>
          <p:cNvPr id="33" name="Text 31"/>
          <p:cNvSpPr/>
          <p:nvPr/>
        </p:nvSpPr>
        <p:spPr>
          <a:xfrm>
            <a:off x="5349240" y="277977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Severe Bacterial Blight</a:t>
            </a:r>
            <a:endParaRPr lang="en-US" sz="1000" dirty="0"/>
          </a:p>
        </p:txBody>
      </p:sp>
      <p:sp>
        <p:nvSpPr>
          <p:cNvPr id="34" name="Shape 32"/>
          <p:cNvSpPr/>
          <p:nvPr/>
        </p:nvSpPr>
        <p:spPr>
          <a:xfrm>
            <a:off x="5257800" y="3108960"/>
            <a:ext cx="3611880" cy="347472"/>
          </a:xfrm>
          <a:prstGeom prst="rect">
            <a:avLst/>
          </a:prstGeom>
          <a:solidFill>
            <a:srgbClr val="FFFFFF"/>
          </a:solidFill>
          <a:ln w="6350">
            <a:solidFill>
              <a:srgbClr val="DDDDDD"/>
            </a:solidFill>
            <a:prstDash val="solid"/>
          </a:ln>
        </p:spPr>
      </p:sp>
      <p:sp>
        <p:nvSpPr>
          <p:cNvPr id="35" name="Text 33"/>
          <p:cNvSpPr/>
          <p:nvPr/>
        </p:nvSpPr>
        <p:spPr>
          <a:xfrm>
            <a:off x="5349240" y="314553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Mild Brownspot</a:t>
            </a:r>
            <a:endParaRPr lang="en-US" sz="1000" dirty="0"/>
          </a:p>
        </p:txBody>
      </p:sp>
      <p:sp>
        <p:nvSpPr>
          <p:cNvPr id="36" name="Shape 34"/>
          <p:cNvSpPr/>
          <p:nvPr/>
        </p:nvSpPr>
        <p:spPr>
          <a:xfrm>
            <a:off x="5257800" y="3474720"/>
            <a:ext cx="3611880" cy="347472"/>
          </a:xfrm>
          <a:prstGeom prst="rect">
            <a:avLst/>
          </a:prstGeom>
          <a:solidFill>
            <a:srgbClr val="F1F8F4"/>
          </a:solidFill>
          <a:ln w="6350">
            <a:solidFill>
              <a:srgbClr val="DDDDDD"/>
            </a:solidFill>
            <a:prstDash val="solid"/>
          </a:ln>
        </p:spPr>
      </p:sp>
      <p:sp>
        <p:nvSpPr>
          <p:cNvPr id="37" name="Text 35"/>
          <p:cNvSpPr/>
          <p:nvPr/>
        </p:nvSpPr>
        <p:spPr>
          <a:xfrm>
            <a:off x="5349240" y="351129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Severe Brownspot</a:t>
            </a:r>
            <a:endParaRPr lang="en-US" sz="1000" dirty="0"/>
          </a:p>
        </p:txBody>
      </p:sp>
      <p:sp>
        <p:nvSpPr>
          <p:cNvPr id="38" name="Shape 36"/>
          <p:cNvSpPr/>
          <p:nvPr/>
        </p:nvSpPr>
        <p:spPr>
          <a:xfrm>
            <a:off x="5257800" y="3840480"/>
            <a:ext cx="3611880" cy="347472"/>
          </a:xfrm>
          <a:prstGeom prst="rect">
            <a:avLst/>
          </a:prstGeom>
          <a:solidFill>
            <a:srgbClr val="FFFFFF"/>
          </a:solidFill>
          <a:ln w="6350">
            <a:solidFill>
              <a:srgbClr val="DDDDDD"/>
            </a:solidFill>
            <a:prstDash val="solid"/>
          </a:ln>
        </p:spPr>
      </p:sp>
      <p:sp>
        <p:nvSpPr>
          <p:cNvPr id="39" name="Text 37"/>
          <p:cNvSpPr/>
          <p:nvPr/>
        </p:nvSpPr>
        <p:spPr>
          <a:xfrm>
            <a:off x="5349240" y="387705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Mild Tungro</a:t>
            </a:r>
            <a:endParaRPr lang="en-US" sz="1000" dirty="0"/>
          </a:p>
        </p:txBody>
      </p:sp>
      <p:sp>
        <p:nvSpPr>
          <p:cNvPr id="40" name="Shape 38"/>
          <p:cNvSpPr/>
          <p:nvPr/>
        </p:nvSpPr>
        <p:spPr>
          <a:xfrm>
            <a:off x="5257800" y="4206240"/>
            <a:ext cx="3611880" cy="347472"/>
          </a:xfrm>
          <a:prstGeom prst="rect">
            <a:avLst/>
          </a:prstGeom>
          <a:solidFill>
            <a:srgbClr val="F1F8F4"/>
          </a:solidFill>
          <a:ln w="6350">
            <a:solidFill>
              <a:srgbClr val="DDDDDD"/>
            </a:solidFill>
            <a:prstDash val="solid"/>
          </a:ln>
        </p:spPr>
      </p:sp>
      <p:sp>
        <p:nvSpPr>
          <p:cNvPr id="41" name="Text 39"/>
          <p:cNvSpPr/>
          <p:nvPr/>
        </p:nvSpPr>
        <p:spPr>
          <a:xfrm>
            <a:off x="5349240" y="424281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Severe Tungro</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A681021-65D0-7049-A4FC-774D7EE7834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872F1D5-25E9-EC06-34AD-1AB34187CAD7}"/>
              </a:ext>
            </a:extLst>
          </p:cNvPr>
          <p:cNvSpPr/>
          <p:nvPr/>
        </p:nvSpPr>
        <p:spPr>
          <a:xfrm>
            <a:off x="0" y="0"/>
            <a:ext cx="9144000" cy="685800"/>
          </a:xfrm>
          <a:prstGeom prst="rect">
            <a:avLst/>
          </a:prstGeom>
          <a:solidFill>
            <a:srgbClr val="1B4332"/>
          </a:solidFill>
          <a:ln w="12700">
            <a:solidFill>
              <a:srgbClr val="1B4332"/>
            </a:solidFill>
            <a:prstDash val="solid"/>
          </a:ln>
        </p:spPr>
      </p:sp>
      <p:sp>
        <p:nvSpPr>
          <p:cNvPr id="3" name="Shape 1">
            <a:extLst>
              <a:ext uri="{FF2B5EF4-FFF2-40B4-BE49-F238E27FC236}">
                <a16:creationId xmlns:a16="http://schemas.microsoft.com/office/drawing/2014/main" id="{6FA943BF-3DA0-C175-464E-D0BEFC30E6B4}"/>
              </a:ext>
            </a:extLst>
          </p:cNvPr>
          <p:cNvSpPr/>
          <p:nvPr/>
        </p:nvSpPr>
        <p:spPr>
          <a:xfrm>
            <a:off x="0" y="685800"/>
            <a:ext cx="9144000" cy="45720"/>
          </a:xfrm>
          <a:prstGeom prst="rect">
            <a:avLst/>
          </a:prstGeom>
          <a:solidFill>
            <a:srgbClr val="74C69D"/>
          </a:solidFill>
          <a:ln w="12700">
            <a:solidFill>
              <a:srgbClr val="74C69D"/>
            </a:solidFill>
            <a:prstDash val="solid"/>
          </a:ln>
        </p:spPr>
      </p:sp>
      <p:sp>
        <p:nvSpPr>
          <p:cNvPr id="4" name="Text 2">
            <a:extLst>
              <a:ext uri="{FF2B5EF4-FFF2-40B4-BE49-F238E27FC236}">
                <a16:creationId xmlns:a16="http://schemas.microsoft.com/office/drawing/2014/main" id="{24DA06F7-6309-5DA2-67E5-0877F4E4F91F}"/>
              </a:ext>
            </a:extLst>
          </p:cNvPr>
          <p:cNvSpPr/>
          <p:nvPr/>
        </p:nvSpPr>
        <p:spPr>
          <a:xfrm>
            <a:off x="274320" y="0"/>
            <a:ext cx="8595360" cy="68580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Nguồn Dữ Liệu &amp; Dataset</a:t>
            </a:r>
            <a:endParaRPr lang="en-US" sz="2000" dirty="0"/>
          </a:p>
        </p:txBody>
      </p:sp>
      <p:sp>
        <p:nvSpPr>
          <p:cNvPr id="5" name="Shape 3">
            <a:extLst>
              <a:ext uri="{FF2B5EF4-FFF2-40B4-BE49-F238E27FC236}">
                <a16:creationId xmlns:a16="http://schemas.microsoft.com/office/drawing/2014/main" id="{DDDAFC6E-B0CE-D2B0-9D8B-79AA0BD8E22C}"/>
              </a:ext>
            </a:extLst>
          </p:cNvPr>
          <p:cNvSpPr/>
          <p:nvPr/>
        </p:nvSpPr>
        <p:spPr>
          <a:xfrm>
            <a:off x="0" y="4869180"/>
            <a:ext cx="9144000" cy="274320"/>
          </a:xfrm>
          <a:prstGeom prst="rect">
            <a:avLst/>
          </a:prstGeom>
          <a:solidFill>
            <a:srgbClr val="D8F3DC"/>
          </a:solidFill>
          <a:ln w="12700">
            <a:solidFill>
              <a:srgbClr val="D8F3DC"/>
            </a:solidFill>
            <a:prstDash val="solid"/>
          </a:ln>
        </p:spPr>
      </p:sp>
      <p:sp>
        <p:nvSpPr>
          <p:cNvPr id="6" name="Text 4">
            <a:extLst>
              <a:ext uri="{FF2B5EF4-FFF2-40B4-BE49-F238E27FC236}">
                <a16:creationId xmlns:a16="http://schemas.microsoft.com/office/drawing/2014/main" id="{AEEDA270-95F1-DD5F-9B0D-0575137E8505}"/>
              </a:ext>
            </a:extLst>
          </p:cNvPr>
          <p:cNvSpPr/>
          <p:nvPr/>
        </p:nvSpPr>
        <p:spPr>
          <a:xfrm>
            <a:off x="274320" y="4869180"/>
            <a:ext cx="8595360" cy="274320"/>
          </a:xfrm>
          <a:prstGeom prst="rect">
            <a:avLst/>
          </a:prstGeom>
          <a:noFill/>
          <a:ln/>
        </p:spPr>
        <p:txBody>
          <a:bodyPr wrap="square" lIns="0" tIns="0" rIns="0" bIns="0" rtlCol="0" anchor="ctr"/>
          <a:lstStyle/>
          <a:p>
            <a:pPr marL="0" indent="0" algn="l">
              <a:buNone/>
            </a:pPr>
            <a:r>
              <a:rPr lang="en-US" sz="800" dirty="0">
                <a:solidFill>
                  <a:srgbClr val="6C757D"/>
                </a:solidFill>
                <a:latin typeface="Calibri" pitchFamily="34" charset="0"/>
                <a:ea typeface="Calibri" pitchFamily="34" charset="-122"/>
                <a:cs typeface="Calibri" pitchFamily="34" charset="-120"/>
              </a:rPr>
              <a:t>Nhóm 14 | Hệ Thống Thông Minh | ĐH Thủy Lợi</a:t>
            </a:r>
            <a:endParaRPr lang="en-US" sz="800" dirty="0"/>
          </a:p>
        </p:txBody>
      </p:sp>
      <p:sp>
        <p:nvSpPr>
          <p:cNvPr id="7" name="Shape 5">
            <a:extLst>
              <a:ext uri="{FF2B5EF4-FFF2-40B4-BE49-F238E27FC236}">
                <a16:creationId xmlns:a16="http://schemas.microsoft.com/office/drawing/2014/main" id="{64D25DCB-91C2-9C85-46BC-6CB8F186C88E}"/>
              </a:ext>
            </a:extLst>
          </p:cNvPr>
          <p:cNvSpPr/>
          <p:nvPr/>
        </p:nvSpPr>
        <p:spPr>
          <a:xfrm>
            <a:off x="228600" y="868680"/>
            <a:ext cx="4754880" cy="594360"/>
          </a:xfrm>
          <a:prstGeom prst="rect">
            <a:avLst/>
          </a:prstGeom>
          <a:solidFill>
            <a:srgbClr val="D8F3DC"/>
          </a:solidFill>
          <a:ln w="10160">
            <a:solidFill>
              <a:srgbClr val="74C69D"/>
            </a:solidFill>
            <a:prstDash val="solid"/>
          </a:ln>
        </p:spPr>
      </p:sp>
      <p:sp>
        <p:nvSpPr>
          <p:cNvPr id="8" name="Text 6">
            <a:extLst>
              <a:ext uri="{FF2B5EF4-FFF2-40B4-BE49-F238E27FC236}">
                <a16:creationId xmlns:a16="http://schemas.microsoft.com/office/drawing/2014/main" id="{2115D839-F024-D848-55FA-51B615FE7EE1}"/>
              </a:ext>
            </a:extLst>
          </p:cNvPr>
          <p:cNvSpPr/>
          <p:nvPr/>
        </p:nvSpPr>
        <p:spPr>
          <a:xfrm>
            <a:off x="320040" y="932688"/>
            <a:ext cx="1463040" cy="457200"/>
          </a:xfrm>
          <a:prstGeom prst="rect">
            <a:avLst/>
          </a:prstGeom>
          <a:noFill/>
          <a:ln/>
        </p:spPr>
        <p:txBody>
          <a:bodyPr wrap="square" rtlCol="0" anchor="ctr"/>
          <a:lstStyle/>
          <a:p>
            <a:pPr marL="0" indent="0">
              <a:buNone/>
            </a:pPr>
            <a:r>
              <a:rPr lang="en-US" sz="1050" b="1" dirty="0">
                <a:solidFill>
                  <a:srgbClr val="1B4332"/>
                </a:solidFill>
                <a:latin typeface="Calibri" pitchFamily="34" charset="0"/>
                <a:ea typeface="Calibri" pitchFamily="34" charset="-122"/>
                <a:cs typeface="Calibri" pitchFamily="34" charset="-120"/>
              </a:rPr>
              <a:t>🗂  Tên Dataset:</a:t>
            </a:r>
            <a:endParaRPr lang="en-US" sz="1050" dirty="0"/>
          </a:p>
        </p:txBody>
      </p:sp>
      <p:sp>
        <p:nvSpPr>
          <p:cNvPr id="9" name="Text 7">
            <a:extLst>
              <a:ext uri="{FF2B5EF4-FFF2-40B4-BE49-F238E27FC236}">
                <a16:creationId xmlns:a16="http://schemas.microsoft.com/office/drawing/2014/main" id="{5F3388AC-B202-5DCE-F8AA-9DE4A6969DA0}"/>
              </a:ext>
            </a:extLst>
          </p:cNvPr>
          <p:cNvSpPr/>
          <p:nvPr/>
        </p:nvSpPr>
        <p:spPr>
          <a:xfrm>
            <a:off x="1783080" y="932688"/>
            <a:ext cx="3108960" cy="45720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Severity-Based Rice Leaf Diseases</a:t>
            </a:r>
            <a:endParaRPr lang="en-US" sz="1050" dirty="0"/>
          </a:p>
        </p:txBody>
      </p:sp>
      <p:sp>
        <p:nvSpPr>
          <p:cNvPr id="10" name="Shape 8">
            <a:extLst>
              <a:ext uri="{FF2B5EF4-FFF2-40B4-BE49-F238E27FC236}">
                <a16:creationId xmlns:a16="http://schemas.microsoft.com/office/drawing/2014/main" id="{AA342631-1B22-AC88-D98E-71BE4D7E8280}"/>
              </a:ext>
            </a:extLst>
          </p:cNvPr>
          <p:cNvSpPr/>
          <p:nvPr/>
        </p:nvSpPr>
        <p:spPr>
          <a:xfrm>
            <a:off x="228600" y="1581912"/>
            <a:ext cx="4754880" cy="594360"/>
          </a:xfrm>
          <a:prstGeom prst="rect">
            <a:avLst/>
          </a:prstGeom>
          <a:solidFill>
            <a:srgbClr val="F8F9FA"/>
          </a:solidFill>
          <a:ln w="10160">
            <a:solidFill>
              <a:srgbClr val="74C69D"/>
            </a:solidFill>
            <a:prstDash val="solid"/>
          </a:ln>
        </p:spPr>
      </p:sp>
      <p:sp>
        <p:nvSpPr>
          <p:cNvPr id="11" name="Text 9">
            <a:extLst>
              <a:ext uri="{FF2B5EF4-FFF2-40B4-BE49-F238E27FC236}">
                <a16:creationId xmlns:a16="http://schemas.microsoft.com/office/drawing/2014/main" id="{4B374079-463D-85FF-F3E1-329B2CFBCAF4}"/>
              </a:ext>
            </a:extLst>
          </p:cNvPr>
          <p:cNvSpPr/>
          <p:nvPr/>
        </p:nvSpPr>
        <p:spPr>
          <a:xfrm>
            <a:off x="320040" y="1645920"/>
            <a:ext cx="1463040" cy="457200"/>
          </a:xfrm>
          <a:prstGeom prst="rect">
            <a:avLst/>
          </a:prstGeom>
          <a:noFill/>
          <a:ln/>
        </p:spPr>
        <p:txBody>
          <a:bodyPr wrap="square" rtlCol="0" anchor="ctr"/>
          <a:lstStyle/>
          <a:p>
            <a:pPr marL="0" indent="0">
              <a:buNone/>
            </a:pPr>
            <a:r>
              <a:rPr lang="en-US" sz="1050" b="1" dirty="0">
                <a:solidFill>
                  <a:srgbClr val="1B4332"/>
                </a:solidFill>
                <a:latin typeface="Calibri" pitchFamily="34" charset="0"/>
                <a:ea typeface="Calibri" pitchFamily="34" charset="-122"/>
                <a:cs typeface="Calibri" pitchFamily="34" charset="-120"/>
              </a:rPr>
              <a:t>🌾  Đối tượng:</a:t>
            </a:r>
            <a:endParaRPr lang="en-US" sz="1050" dirty="0"/>
          </a:p>
        </p:txBody>
      </p:sp>
      <p:sp>
        <p:nvSpPr>
          <p:cNvPr id="12" name="Text 10">
            <a:extLst>
              <a:ext uri="{FF2B5EF4-FFF2-40B4-BE49-F238E27FC236}">
                <a16:creationId xmlns:a16="http://schemas.microsoft.com/office/drawing/2014/main" id="{5CEF3270-CE56-3AF1-374C-288EFF5F1D8A}"/>
              </a:ext>
            </a:extLst>
          </p:cNvPr>
          <p:cNvSpPr/>
          <p:nvPr/>
        </p:nvSpPr>
        <p:spPr>
          <a:xfrm>
            <a:off x="1783080" y="1645920"/>
            <a:ext cx="3108960" cy="45720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Lúa (Rice) — cây trồng chiến lược</a:t>
            </a:r>
            <a:endParaRPr lang="en-US" sz="1050" dirty="0"/>
          </a:p>
        </p:txBody>
      </p:sp>
      <p:sp>
        <p:nvSpPr>
          <p:cNvPr id="13" name="Shape 11">
            <a:extLst>
              <a:ext uri="{FF2B5EF4-FFF2-40B4-BE49-F238E27FC236}">
                <a16:creationId xmlns:a16="http://schemas.microsoft.com/office/drawing/2014/main" id="{CEBCD4EB-A997-487A-C57E-DB1823DF4DF9}"/>
              </a:ext>
            </a:extLst>
          </p:cNvPr>
          <p:cNvSpPr/>
          <p:nvPr/>
        </p:nvSpPr>
        <p:spPr>
          <a:xfrm>
            <a:off x="228600" y="2295144"/>
            <a:ext cx="4754880" cy="594360"/>
          </a:xfrm>
          <a:prstGeom prst="rect">
            <a:avLst/>
          </a:prstGeom>
          <a:solidFill>
            <a:srgbClr val="D8F3DC"/>
          </a:solidFill>
          <a:ln w="10160">
            <a:solidFill>
              <a:srgbClr val="74C69D"/>
            </a:solidFill>
            <a:prstDash val="solid"/>
          </a:ln>
        </p:spPr>
      </p:sp>
      <p:sp>
        <p:nvSpPr>
          <p:cNvPr id="14" name="Text 12">
            <a:extLst>
              <a:ext uri="{FF2B5EF4-FFF2-40B4-BE49-F238E27FC236}">
                <a16:creationId xmlns:a16="http://schemas.microsoft.com/office/drawing/2014/main" id="{1AC9A285-0546-8AC6-7A41-455BACB2D63E}"/>
              </a:ext>
            </a:extLst>
          </p:cNvPr>
          <p:cNvSpPr/>
          <p:nvPr/>
        </p:nvSpPr>
        <p:spPr>
          <a:xfrm>
            <a:off x="320040" y="2359152"/>
            <a:ext cx="1463040" cy="457200"/>
          </a:xfrm>
          <a:prstGeom prst="rect">
            <a:avLst/>
          </a:prstGeom>
          <a:noFill/>
          <a:ln/>
        </p:spPr>
        <p:txBody>
          <a:bodyPr wrap="square" rtlCol="0" anchor="ctr"/>
          <a:lstStyle/>
          <a:p>
            <a:pPr marL="0" indent="0">
              <a:buNone/>
            </a:pPr>
            <a:r>
              <a:rPr lang="en-US" sz="1050" b="1" dirty="0">
                <a:solidFill>
                  <a:srgbClr val="1B4332"/>
                </a:solidFill>
                <a:latin typeface="Calibri" pitchFamily="34" charset="0"/>
                <a:ea typeface="Calibri" pitchFamily="34" charset="-122"/>
                <a:cs typeface="Calibri" pitchFamily="34" charset="-120"/>
              </a:rPr>
              <a:t>📸  Số lượng lớp:</a:t>
            </a:r>
            <a:endParaRPr lang="en-US" sz="1050" dirty="0"/>
          </a:p>
        </p:txBody>
      </p:sp>
      <p:sp>
        <p:nvSpPr>
          <p:cNvPr id="15" name="Text 13">
            <a:extLst>
              <a:ext uri="{FF2B5EF4-FFF2-40B4-BE49-F238E27FC236}">
                <a16:creationId xmlns:a16="http://schemas.microsoft.com/office/drawing/2014/main" id="{B47934E4-F3DD-5119-F233-FE28CD087C66}"/>
              </a:ext>
            </a:extLst>
          </p:cNvPr>
          <p:cNvSpPr/>
          <p:nvPr/>
        </p:nvSpPr>
        <p:spPr>
          <a:xfrm>
            <a:off x="1783080" y="2359152"/>
            <a:ext cx="3108960" cy="45720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9 lớp bệnh (Severity-based)</a:t>
            </a:r>
            <a:endParaRPr lang="en-US" sz="1050" dirty="0"/>
          </a:p>
        </p:txBody>
      </p:sp>
      <p:sp>
        <p:nvSpPr>
          <p:cNvPr id="16" name="Shape 14">
            <a:extLst>
              <a:ext uri="{FF2B5EF4-FFF2-40B4-BE49-F238E27FC236}">
                <a16:creationId xmlns:a16="http://schemas.microsoft.com/office/drawing/2014/main" id="{1ACC457E-02B5-CC3D-BB72-B0AEC63E5BF6}"/>
              </a:ext>
            </a:extLst>
          </p:cNvPr>
          <p:cNvSpPr/>
          <p:nvPr/>
        </p:nvSpPr>
        <p:spPr>
          <a:xfrm>
            <a:off x="228600" y="3008376"/>
            <a:ext cx="4754880" cy="594360"/>
          </a:xfrm>
          <a:prstGeom prst="rect">
            <a:avLst/>
          </a:prstGeom>
          <a:solidFill>
            <a:srgbClr val="F8F9FA"/>
          </a:solidFill>
          <a:ln w="10160">
            <a:solidFill>
              <a:srgbClr val="74C69D"/>
            </a:solidFill>
            <a:prstDash val="solid"/>
          </a:ln>
        </p:spPr>
      </p:sp>
      <p:sp>
        <p:nvSpPr>
          <p:cNvPr id="17" name="Text 15">
            <a:extLst>
              <a:ext uri="{FF2B5EF4-FFF2-40B4-BE49-F238E27FC236}">
                <a16:creationId xmlns:a16="http://schemas.microsoft.com/office/drawing/2014/main" id="{945905D0-918A-94DA-2D5C-7F0A9C627EB9}"/>
              </a:ext>
            </a:extLst>
          </p:cNvPr>
          <p:cNvSpPr/>
          <p:nvPr/>
        </p:nvSpPr>
        <p:spPr>
          <a:xfrm>
            <a:off x="320040" y="3072384"/>
            <a:ext cx="1463040" cy="457200"/>
          </a:xfrm>
          <a:prstGeom prst="rect">
            <a:avLst/>
          </a:prstGeom>
          <a:noFill/>
          <a:ln/>
        </p:spPr>
        <p:txBody>
          <a:bodyPr wrap="square" rtlCol="0" anchor="ctr"/>
          <a:lstStyle/>
          <a:p>
            <a:pPr marL="0" indent="0">
              <a:buNone/>
            </a:pPr>
            <a:r>
              <a:rPr lang="en-US" sz="1050" b="1" dirty="0">
                <a:solidFill>
                  <a:srgbClr val="1B4332"/>
                </a:solidFill>
                <a:latin typeface="Calibri" pitchFamily="34" charset="0"/>
                <a:ea typeface="Calibri" pitchFamily="34" charset="-122"/>
                <a:cs typeface="Calibri" pitchFamily="34" charset="-120"/>
              </a:rPr>
              <a:t>🤖  Mô hình CNN:</a:t>
            </a:r>
            <a:endParaRPr lang="en-US" sz="1050" dirty="0"/>
          </a:p>
        </p:txBody>
      </p:sp>
      <p:sp>
        <p:nvSpPr>
          <p:cNvPr id="18" name="Text 16">
            <a:extLst>
              <a:ext uri="{FF2B5EF4-FFF2-40B4-BE49-F238E27FC236}">
                <a16:creationId xmlns:a16="http://schemas.microsoft.com/office/drawing/2014/main" id="{DEB8DFC4-518C-BB6C-B918-531C283B45A1}"/>
              </a:ext>
            </a:extLst>
          </p:cNvPr>
          <p:cNvSpPr/>
          <p:nvPr/>
        </p:nvSpPr>
        <p:spPr>
          <a:xfrm>
            <a:off x="1783080" y="3072384"/>
            <a:ext cx="3108960" cy="45720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EfficientNet-B0 (Transfer Learning)</a:t>
            </a:r>
            <a:endParaRPr lang="en-US" sz="1050" dirty="0"/>
          </a:p>
        </p:txBody>
      </p:sp>
      <p:sp>
        <p:nvSpPr>
          <p:cNvPr id="19" name="Shape 17">
            <a:extLst>
              <a:ext uri="{FF2B5EF4-FFF2-40B4-BE49-F238E27FC236}">
                <a16:creationId xmlns:a16="http://schemas.microsoft.com/office/drawing/2014/main" id="{0B9F94B3-3B33-D33C-0480-2C600D5C663F}"/>
              </a:ext>
            </a:extLst>
          </p:cNvPr>
          <p:cNvSpPr/>
          <p:nvPr/>
        </p:nvSpPr>
        <p:spPr>
          <a:xfrm>
            <a:off x="228600" y="3721608"/>
            <a:ext cx="4754880" cy="594360"/>
          </a:xfrm>
          <a:prstGeom prst="rect">
            <a:avLst/>
          </a:prstGeom>
          <a:solidFill>
            <a:srgbClr val="D8F3DC"/>
          </a:solidFill>
          <a:ln w="10160">
            <a:solidFill>
              <a:srgbClr val="74C69D"/>
            </a:solidFill>
            <a:prstDash val="solid"/>
          </a:ln>
        </p:spPr>
      </p:sp>
      <p:sp>
        <p:nvSpPr>
          <p:cNvPr id="20" name="Text 18">
            <a:extLst>
              <a:ext uri="{FF2B5EF4-FFF2-40B4-BE49-F238E27FC236}">
                <a16:creationId xmlns:a16="http://schemas.microsoft.com/office/drawing/2014/main" id="{F3D66B12-BCE3-8392-D3F6-6082E985D8C6}"/>
              </a:ext>
            </a:extLst>
          </p:cNvPr>
          <p:cNvSpPr/>
          <p:nvPr/>
        </p:nvSpPr>
        <p:spPr>
          <a:xfrm>
            <a:off x="320040" y="3785616"/>
            <a:ext cx="1463040" cy="457200"/>
          </a:xfrm>
          <a:prstGeom prst="rect">
            <a:avLst/>
          </a:prstGeom>
          <a:noFill/>
          <a:ln/>
        </p:spPr>
        <p:txBody>
          <a:bodyPr wrap="square" rtlCol="0" anchor="ctr"/>
          <a:lstStyle/>
          <a:p>
            <a:pPr marL="0" indent="0">
              <a:buNone/>
            </a:pPr>
            <a:r>
              <a:rPr lang="en-US" sz="1050" b="1" dirty="0">
                <a:solidFill>
                  <a:srgbClr val="1B4332"/>
                </a:solidFill>
                <a:latin typeface="Calibri" pitchFamily="34" charset="0"/>
                <a:ea typeface="Calibri" pitchFamily="34" charset="-122"/>
                <a:cs typeface="Calibri" pitchFamily="34" charset="-120"/>
              </a:rPr>
              <a:t>📡  Dữ liệu môi trường:</a:t>
            </a:r>
            <a:endParaRPr lang="en-US" sz="1050" dirty="0"/>
          </a:p>
        </p:txBody>
      </p:sp>
      <p:sp>
        <p:nvSpPr>
          <p:cNvPr id="21" name="Text 19">
            <a:extLst>
              <a:ext uri="{FF2B5EF4-FFF2-40B4-BE49-F238E27FC236}">
                <a16:creationId xmlns:a16="http://schemas.microsoft.com/office/drawing/2014/main" id="{510FF79D-4803-90B7-100F-BDC53BC13C5B}"/>
              </a:ext>
            </a:extLst>
          </p:cNvPr>
          <p:cNvSpPr/>
          <p:nvPr/>
        </p:nvSpPr>
        <p:spPr>
          <a:xfrm>
            <a:off x="1783080" y="3785616"/>
            <a:ext cx="3108960" cy="45720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Nhiệt độ (°C), Độ ẩm (%), Lượng mưa 24h, Mùa vụ</a:t>
            </a:r>
            <a:endParaRPr lang="en-US" sz="1050" dirty="0"/>
          </a:p>
        </p:txBody>
      </p:sp>
      <p:sp>
        <p:nvSpPr>
          <p:cNvPr id="22" name="Shape 20">
            <a:extLst>
              <a:ext uri="{FF2B5EF4-FFF2-40B4-BE49-F238E27FC236}">
                <a16:creationId xmlns:a16="http://schemas.microsoft.com/office/drawing/2014/main" id="{8D129F53-A169-19F3-953E-E28BDFF1B5AC}"/>
              </a:ext>
            </a:extLst>
          </p:cNvPr>
          <p:cNvSpPr/>
          <p:nvPr/>
        </p:nvSpPr>
        <p:spPr>
          <a:xfrm>
            <a:off x="5257800" y="868680"/>
            <a:ext cx="3611880" cy="411480"/>
          </a:xfrm>
          <a:prstGeom prst="rect">
            <a:avLst/>
          </a:prstGeom>
          <a:solidFill>
            <a:srgbClr val="1B4332"/>
          </a:solidFill>
          <a:ln w="12700">
            <a:solidFill>
              <a:srgbClr val="1B4332"/>
            </a:solidFill>
            <a:prstDash val="solid"/>
          </a:ln>
        </p:spPr>
      </p:sp>
      <p:sp>
        <p:nvSpPr>
          <p:cNvPr id="23" name="Text 21">
            <a:extLst>
              <a:ext uri="{FF2B5EF4-FFF2-40B4-BE49-F238E27FC236}">
                <a16:creationId xmlns:a16="http://schemas.microsoft.com/office/drawing/2014/main" id="{073FCBE8-95E9-E276-360A-41491B85F1D3}"/>
              </a:ext>
            </a:extLst>
          </p:cNvPr>
          <p:cNvSpPr/>
          <p:nvPr/>
        </p:nvSpPr>
        <p:spPr>
          <a:xfrm>
            <a:off x="5257800" y="868680"/>
            <a:ext cx="3611880" cy="41148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9 Lớp Bệnh Trong Dataset</a:t>
            </a:r>
            <a:endParaRPr lang="en-US" sz="1200" dirty="0"/>
          </a:p>
        </p:txBody>
      </p:sp>
      <p:sp>
        <p:nvSpPr>
          <p:cNvPr id="24" name="Shape 22">
            <a:extLst>
              <a:ext uri="{FF2B5EF4-FFF2-40B4-BE49-F238E27FC236}">
                <a16:creationId xmlns:a16="http://schemas.microsoft.com/office/drawing/2014/main" id="{658C1D1E-0361-762E-DD0A-12BA768DBE62}"/>
              </a:ext>
            </a:extLst>
          </p:cNvPr>
          <p:cNvSpPr/>
          <p:nvPr/>
        </p:nvSpPr>
        <p:spPr>
          <a:xfrm>
            <a:off x="5257800" y="1280160"/>
            <a:ext cx="3611880" cy="347472"/>
          </a:xfrm>
          <a:prstGeom prst="rect">
            <a:avLst/>
          </a:prstGeom>
          <a:solidFill>
            <a:srgbClr val="F1F8F4"/>
          </a:solidFill>
          <a:ln w="6350">
            <a:solidFill>
              <a:srgbClr val="DDDDDD"/>
            </a:solidFill>
            <a:prstDash val="solid"/>
          </a:ln>
        </p:spPr>
      </p:sp>
      <p:sp>
        <p:nvSpPr>
          <p:cNvPr id="25" name="Text 23">
            <a:extLst>
              <a:ext uri="{FF2B5EF4-FFF2-40B4-BE49-F238E27FC236}">
                <a16:creationId xmlns:a16="http://schemas.microsoft.com/office/drawing/2014/main" id="{96AFF45B-EFF1-6B0D-EC40-358FB51D1488}"/>
              </a:ext>
            </a:extLst>
          </p:cNvPr>
          <p:cNvSpPr/>
          <p:nvPr/>
        </p:nvSpPr>
        <p:spPr>
          <a:xfrm>
            <a:off x="5349240" y="131673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Healthy</a:t>
            </a:r>
            <a:endParaRPr lang="en-US" sz="1000" dirty="0"/>
          </a:p>
        </p:txBody>
      </p:sp>
      <p:sp>
        <p:nvSpPr>
          <p:cNvPr id="26" name="Shape 24">
            <a:extLst>
              <a:ext uri="{FF2B5EF4-FFF2-40B4-BE49-F238E27FC236}">
                <a16:creationId xmlns:a16="http://schemas.microsoft.com/office/drawing/2014/main" id="{20488583-4786-185F-1524-D92923666809}"/>
              </a:ext>
            </a:extLst>
          </p:cNvPr>
          <p:cNvSpPr/>
          <p:nvPr/>
        </p:nvSpPr>
        <p:spPr>
          <a:xfrm>
            <a:off x="5257800" y="1645920"/>
            <a:ext cx="3611880" cy="347472"/>
          </a:xfrm>
          <a:prstGeom prst="rect">
            <a:avLst/>
          </a:prstGeom>
          <a:solidFill>
            <a:srgbClr val="FFFFFF"/>
          </a:solidFill>
          <a:ln w="6350">
            <a:solidFill>
              <a:srgbClr val="DDDDDD"/>
            </a:solidFill>
            <a:prstDash val="solid"/>
          </a:ln>
        </p:spPr>
      </p:sp>
      <p:sp>
        <p:nvSpPr>
          <p:cNvPr id="27" name="Text 25">
            <a:extLst>
              <a:ext uri="{FF2B5EF4-FFF2-40B4-BE49-F238E27FC236}">
                <a16:creationId xmlns:a16="http://schemas.microsoft.com/office/drawing/2014/main" id="{FE232594-F679-2E61-E95D-FCCB3FC36CD2}"/>
              </a:ext>
            </a:extLst>
          </p:cNvPr>
          <p:cNvSpPr/>
          <p:nvPr/>
        </p:nvSpPr>
        <p:spPr>
          <a:xfrm>
            <a:off x="5349240" y="168249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Mild Blast</a:t>
            </a:r>
            <a:endParaRPr lang="en-US" sz="1000" dirty="0"/>
          </a:p>
        </p:txBody>
      </p:sp>
      <p:sp>
        <p:nvSpPr>
          <p:cNvPr id="28" name="Shape 26">
            <a:extLst>
              <a:ext uri="{FF2B5EF4-FFF2-40B4-BE49-F238E27FC236}">
                <a16:creationId xmlns:a16="http://schemas.microsoft.com/office/drawing/2014/main" id="{D11D5298-5057-B301-ECEF-350971B17BE5}"/>
              </a:ext>
            </a:extLst>
          </p:cNvPr>
          <p:cNvSpPr/>
          <p:nvPr/>
        </p:nvSpPr>
        <p:spPr>
          <a:xfrm>
            <a:off x="5257800" y="2011680"/>
            <a:ext cx="3611880" cy="347472"/>
          </a:xfrm>
          <a:prstGeom prst="rect">
            <a:avLst/>
          </a:prstGeom>
          <a:solidFill>
            <a:srgbClr val="F1F8F4"/>
          </a:solidFill>
          <a:ln w="6350">
            <a:solidFill>
              <a:srgbClr val="DDDDDD"/>
            </a:solidFill>
            <a:prstDash val="solid"/>
          </a:ln>
        </p:spPr>
      </p:sp>
      <p:sp>
        <p:nvSpPr>
          <p:cNvPr id="29" name="Text 27">
            <a:extLst>
              <a:ext uri="{FF2B5EF4-FFF2-40B4-BE49-F238E27FC236}">
                <a16:creationId xmlns:a16="http://schemas.microsoft.com/office/drawing/2014/main" id="{2527DA92-A3D0-8450-3400-7D08F0752352}"/>
              </a:ext>
            </a:extLst>
          </p:cNvPr>
          <p:cNvSpPr/>
          <p:nvPr/>
        </p:nvSpPr>
        <p:spPr>
          <a:xfrm>
            <a:off x="5349240" y="204825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Severe Blast</a:t>
            </a:r>
            <a:endParaRPr lang="en-US" sz="1000" dirty="0"/>
          </a:p>
        </p:txBody>
      </p:sp>
      <p:sp>
        <p:nvSpPr>
          <p:cNvPr id="30" name="Shape 28">
            <a:extLst>
              <a:ext uri="{FF2B5EF4-FFF2-40B4-BE49-F238E27FC236}">
                <a16:creationId xmlns:a16="http://schemas.microsoft.com/office/drawing/2014/main" id="{AF9C12AA-CCF3-A61E-F8BA-B3A7686B2F9F}"/>
              </a:ext>
            </a:extLst>
          </p:cNvPr>
          <p:cNvSpPr/>
          <p:nvPr/>
        </p:nvSpPr>
        <p:spPr>
          <a:xfrm>
            <a:off x="5257800" y="2377440"/>
            <a:ext cx="3611880" cy="347472"/>
          </a:xfrm>
          <a:prstGeom prst="rect">
            <a:avLst/>
          </a:prstGeom>
          <a:solidFill>
            <a:srgbClr val="FFFFFF"/>
          </a:solidFill>
          <a:ln w="6350">
            <a:solidFill>
              <a:srgbClr val="DDDDDD"/>
            </a:solidFill>
            <a:prstDash val="solid"/>
          </a:ln>
        </p:spPr>
      </p:sp>
      <p:sp>
        <p:nvSpPr>
          <p:cNvPr id="31" name="Text 29">
            <a:extLst>
              <a:ext uri="{FF2B5EF4-FFF2-40B4-BE49-F238E27FC236}">
                <a16:creationId xmlns:a16="http://schemas.microsoft.com/office/drawing/2014/main" id="{521EE8AD-CD1A-AF57-27BE-FE21A846AC4D}"/>
              </a:ext>
            </a:extLst>
          </p:cNvPr>
          <p:cNvSpPr/>
          <p:nvPr/>
        </p:nvSpPr>
        <p:spPr>
          <a:xfrm>
            <a:off x="5349240" y="241401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Mild Bacterial Blight</a:t>
            </a:r>
            <a:endParaRPr lang="en-US" sz="1000" dirty="0"/>
          </a:p>
        </p:txBody>
      </p:sp>
      <p:sp>
        <p:nvSpPr>
          <p:cNvPr id="32" name="Shape 30">
            <a:extLst>
              <a:ext uri="{FF2B5EF4-FFF2-40B4-BE49-F238E27FC236}">
                <a16:creationId xmlns:a16="http://schemas.microsoft.com/office/drawing/2014/main" id="{6BD3DEB2-CA0E-FCB8-379E-FD6CF9B6CBDD}"/>
              </a:ext>
            </a:extLst>
          </p:cNvPr>
          <p:cNvSpPr/>
          <p:nvPr/>
        </p:nvSpPr>
        <p:spPr>
          <a:xfrm>
            <a:off x="5257800" y="2743200"/>
            <a:ext cx="3611880" cy="347472"/>
          </a:xfrm>
          <a:prstGeom prst="rect">
            <a:avLst/>
          </a:prstGeom>
          <a:solidFill>
            <a:srgbClr val="F1F8F4"/>
          </a:solidFill>
          <a:ln w="6350">
            <a:solidFill>
              <a:srgbClr val="DDDDDD"/>
            </a:solidFill>
            <a:prstDash val="solid"/>
          </a:ln>
        </p:spPr>
      </p:sp>
      <p:sp>
        <p:nvSpPr>
          <p:cNvPr id="33" name="Text 31">
            <a:extLst>
              <a:ext uri="{FF2B5EF4-FFF2-40B4-BE49-F238E27FC236}">
                <a16:creationId xmlns:a16="http://schemas.microsoft.com/office/drawing/2014/main" id="{EA52ABE8-8E29-105C-372E-FB765635D523}"/>
              </a:ext>
            </a:extLst>
          </p:cNvPr>
          <p:cNvSpPr/>
          <p:nvPr/>
        </p:nvSpPr>
        <p:spPr>
          <a:xfrm>
            <a:off x="5349240" y="277977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Severe Bacterial Blight</a:t>
            </a:r>
            <a:endParaRPr lang="en-US" sz="1000" dirty="0"/>
          </a:p>
        </p:txBody>
      </p:sp>
      <p:sp>
        <p:nvSpPr>
          <p:cNvPr id="34" name="Shape 32">
            <a:extLst>
              <a:ext uri="{FF2B5EF4-FFF2-40B4-BE49-F238E27FC236}">
                <a16:creationId xmlns:a16="http://schemas.microsoft.com/office/drawing/2014/main" id="{EBA20228-442F-E625-8F6C-2AE547827D35}"/>
              </a:ext>
            </a:extLst>
          </p:cNvPr>
          <p:cNvSpPr/>
          <p:nvPr/>
        </p:nvSpPr>
        <p:spPr>
          <a:xfrm>
            <a:off x="5257800" y="3108960"/>
            <a:ext cx="3611880" cy="347472"/>
          </a:xfrm>
          <a:prstGeom prst="rect">
            <a:avLst/>
          </a:prstGeom>
          <a:solidFill>
            <a:srgbClr val="FFFFFF"/>
          </a:solidFill>
          <a:ln w="6350">
            <a:solidFill>
              <a:srgbClr val="DDDDDD"/>
            </a:solidFill>
            <a:prstDash val="solid"/>
          </a:ln>
        </p:spPr>
      </p:sp>
      <p:sp>
        <p:nvSpPr>
          <p:cNvPr id="35" name="Text 33">
            <a:extLst>
              <a:ext uri="{FF2B5EF4-FFF2-40B4-BE49-F238E27FC236}">
                <a16:creationId xmlns:a16="http://schemas.microsoft.com/office/drawing/2014/main" id="{878C0B08-36DF-491E-B5BE-D2CEC3C68A5D}"/>
              </a:ext>
            </a:extLst>
          </p:cNvPr>
          <p:cNvSpPr/>
          <p:nvPr/>
        </p:nvSpPr>
        <p:spPr>
          <a:xfrm>
            <a:off x="5349240" y="314553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Mild Brownspot</a:t>
            </a:r>
            <a:endParaRPr lang="en-US" sz="1000" dirty="0"/>
          </a:p>
        </p:txBody>
      </p:sp>
      <p:sp>
        <p:nvSpPr>
          <p:cNvPr id="36" name="Shape 34">
            <a:extLst>
              <a:ext uri="{FF2B5EF4-FFF2-40B4-BE49-F238E27FC236}">
                <a16:creationId xmlns:a16="http://schemas.microsoft.com/office/drawing/2014/main" id="{4CE1E0D1-7D8F-E0E2-8732-C0F847AD7D1A}"/>
              </a:ext>
            </a:extLst>
          </p:cNvPr>
          <p:cNvSpPr/>
          <p:nvPr/>
        </p:nvSpPr>
        <p:spPr>
          <a:xfrm>
            <a:off x="5257800" y="3474720"/>
            <a:ext cx="3611880" cy="347472"/>
          </a:xfrm>
          <a:prstGeom prst="rect">
            <a:avLst/>
          </a:prstGeom>
          <a:solidFill>
            <a:srgbClr val="F1F8F4"/>
          </a:solidFill>
          <a:ln w="6350">
            <a:solidFill>
              <a:srgbClr val="DDDDDD"/>
            </a:solidFill>
            <a:prstDash val="solid"/>
          </a:ln>
        </p:spPr>
      </p:sp>
      <p:sp>
        <p:nvSpPr>
          <p:cNvPr id="37" name="Text 35">
            <a:extLst>
              <a:ext uri="{FF2B5EF4-FFF2-40B4-BE49-F238E27FC236}">
                <a16:creationId xmlns:a16="http://schemas.microsoft.com/office/drawing/2014/main" id="{F646112B-35CB-66B9-7F99-8655671F1EAE}"/>
              </a:ext>
            </a:extLst>
          </p:cNvPr>
          <p:cNvSpPr/>
          <p:nvPr/>
        </p:nvSpPr>
        <p:spPr>
          <a:xfrm>
            <a:off x="5349240" y="351129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Severe Brownspot</a:t>
            </a:r>
            <a:endParaRPr lang="en-US" sz="1000" dirty="0"/>
          </a:p>
        </p:txBody>
      </p:sp>
      <p:sp>
        <p:nvSpPr>
          <p:cNvPr id="38" name="Shape 36">
            <a:extLst>
              <a:ext uri="{FF2B5EF4-FFF2-40B4-BE49-F238E27FC236}">
                <a16:creationId xmlns:a16="http://schemas.microsoft.com/office/drawing/2014/main" id="{EA32E629-6D40-D485-986F-7E6ED65A0DE8}"/>
              </a:ext>
            </a:extLst>
          </p:cNvPr>
          <p:cNvSpPr/>
          <p:nvPr/>
        </p:nvSpPr>
        <p:spPr>
          <a:xfrm>
            <a:off x="5257800" y="3840480"/>
            <a:ext cx="3611880" cy="347472"/>
          </a:xfrm>
          <a:prstGeom prst="rect">
            <a:avLst/>
          </a:prstGeom>
          <a:solidFill>
            <a:srgbClr val="FFFFFF"/>
          </a:solidFill>
          <a:ln w="6350">
            <a:solidFill>
              <a:srgbClr val="DDDDDD"/>
            </a:solidFill>
            <a:prstDash val="solid"/>
          </a:ln>
        </p:spPr>
      </p:sp>
      <p:sp>
        <p:nvSpPr>
          <p:cNvPr id="39" name="Text 37">
            <a:extLst>
              <a:ext uri="{FF2B5EF4-FFF2-40B4-BE49-F238E27FC236}">
                <a16:creationId xmlns:a16="http://schemas.microsoft.com/office/drawing/2014/main" id="{7253833C-C21E-85A7-A820-F3FF0ACF005D}"/>
              </a:ext>
            </a:extLst>
          </p:cNvPr>
          <p:cNvSpPr/>
          <p:nvPr/>
        </p:nvSpPr>
        <p:spPr>
          <a:xfrm>
            <a:off x="5349240" y="387705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Mild Tungro</a:t>
            </a:r>
            <a:endParaRPr lang="en-US" sz="1000" dirty="0"/>
          </a:p>
        </p:txBody>
      </p:sp>
      <p:sp>
        <p:nvSpPr>
          <p:cNvPr id="40" name="Shape 38">
            <a:extLst>
              <a:ext uri="{FF2B5EF4-FFF2-40B4-BE49-F238E27FC236}">
                <a16:creationId xmlns:a16="http://schemas.microsoft.com/office/drawing/2014/main" id="{0147E625-F0EB-8D58-0813-53C4DAC808F9}"/>
              </a:ext>
            </a:extLst>
          </p:cNvPr>
          <p:cNvSpPr/>
          <p:nvPr/>
        </p:nvSpPr>
        <p:spPr>
          <a:xfrm>
            <a:off x="5257800" y="4206240"/>
            <a:ext cx="3611880" cy="347472"/>
          </a:xfrm>
          <a:prstGeom prst="rect">
            <a:avLst/>
          </a:prstGeom>
          <a:solidFill>
            <a:srgbClr val="F1F8F4"/>
          </a:solidFill>
          <a:ln w="6350">
            <a:solidFill>
              <a:srgbClr val="DDDDDD"/>
            </a:solidFill>
            <a:prstDash val="solid"/>
          </a:ln>
        </p:spPr>
      </p:sp>
      <p:sp>
        <p:nvSpPr>
          <p:cNvPr id="41" name="Text 39">
            <a:extLst>
              <a:ext uri="{FF2B5EF4-FFF2-40B4-BE49-F238E27FC236}">
                <a16:creationId xmlns:a16="http://schemas.microsoft.com/office/drawing/2014/main" id="{B0C36AA6-4F96-61B8-F88F-06154B0A070E}"/>
              </a:ext>
            </a:extLst>
          </p:cNvPr>
          <p:cNvSpPr/>
          <p:nvPr/>
        </p:nvSpPr>
        <p:spPr>
          <a:xfrm>
            <a:off x="5349240" y="424281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Severe Tungro</a:t>
            </a:r>
            <a:endParaRPr lang="en-US" sz="1000" dirty="0"/>
          </a:p>
        </p:txBody>
      </p:sp>
      <p:pic>
        <p:nvPicPr>
          <p:cNvPr id="42" name="Picture 41">
            <a:extLst>
              <a:ext uri="{FF2B5EF4-FFF2-40B4-BE49-F238E27FC236}">
                <a16:creationId xmlns:a16="http://schemas.microsoft.com/office/drawing/2014/main" id="{C95FF840-395C-FA7D-12B3-5D80A5D3133C}"/>
              </a:ext>
            </a:extLst>
          </p:cNvPr>
          <p:cNvPicPr>
            <a:picLocks noChangeAspect="1"/>
          </p:cNvPicPr>
          <p:nvPr/>
        </p:nvPicPr>
        <p:blipFill>
          <a:blip r:embed="rId3"/>
          <a:stretch>
            <a:fillRect/>
          </a:stretch>
        </p:blipFill>
        <p:spPr>
          <a:xfrm>
            <a:off x="3131463" y="1653658"/>
            <a:ext cx="2857500" cy="2857500"/>
          </a:xfrm>
          <a:prstGeom prst="rect">
            <a:avLst/>
          </a:prstGeom>
        </p:spPr>
      </p:pic>
      <p:pic>
        <p:nvPicPr>
          <p:cNvPr id="43" name="Picture 42">
            <a:extLst>
              <a:ext uri="{FF2B5EF4-FFF2-40B4-BE49-F238E27FC236}">
                <a16:creationId xmlns:a16="http://schemas.microsoft.com/office/drawing/2014/main" id="{6B1A6141-7ACD-B48E-6718-BB776458EBA5}"/>
              </a:ext>
            </a:extLst>
          </p:cNvPr>
          <p:cNvPicPr>
            <a:picLocks noChangeAspect="1"/>
          </p:cNvPicPr>
          <p:nvPr/>
        </p:nvPicPr>
        <p:blipFill>
          <a:blip r:embed="rId4"/>
          <a:stretch>
            <a:fillRect/>
          </a:stretch>
        </p:blipFill>
        <p:spPr>
          <a:xfrm>
            <a:off x="5988963" y="1643107"/>
            <a:ext cx="2857143" cy="2857143"/>
          </a:xfrm>
          <a:prstGeom prst="rect">
            <a:avLst/>
          </a:prstGeom>
        </p:spPr>
      </p:pic>
      <p:pic>
        <p:nvPicPr>
          <p:cNvPr id="44" name="Picture 43">
            <a:extLst>
              <a:ext uri="{FF2B5EF4-FFF2-40B4-BE49-F238E27FC236}">
                <a16:creationId xmlns:a16="http://schemas.microsoft.com/office/drawing/2014/main" id="{91104609-0AE1-0AD8-AE0D-695072775D6E}"/>
              </a:ext>
            </a:extLst>
          </p:cNvPr>
          <p:cNvPicPr>
            <a:picLocks noChangeAspect="1"/>
          </p:cNvPicPr>
          <p:nvPr/>
        </p:nvPicPr>
        <p:blipFill>
          <a:blip r:embed="rId5"/>
          <a:stretch>
            <a:fillRect/>
          </a:stretch>
        </p:blipFill>
        <p:spPr>
          <a:xfrm>
            <a:off x="274320" y="1643106"/>
            <a:ext cx="2857143" cy="2857143"/>
          </a:xfrm>
          <a:prstGeom prst="rect">
            <a:avLst/>
          </a:prstGeom>
        </p:spPr>
      </p:pic>
    </p:spTree>
    <p:extLst>
      <p:ext uri="{BB962C8B-B14F-4D97-AF65-F5344CB8AC3E}">
        <p14:creationId xmlns:p14="http://schemas.microsoft.com/office/powerpoint/2010/main" val="25337825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4332"/>
          </a:solidFill>
          <a:ln w="12700">
            <a:solidFill>
              <a:srgbClr val="1B4332"/>
            </a:solidFill>
            <a:prstDash val="solid"/>
          </a:ln>
        </p:spPr>
      </p:sp>
      <p:sp>
        <p:nvSpPr>
          <p:cNvPr id="3" name="Shape 1"/>
          <p:cNvSpPr/>
          <p:nvPr/>
        </p:nvSpPr>
        <p:spPr>
          <a:xfrm>
            <a:off x="0" y="685800"/>
            <a:ext cx="9144000" cy="45720"/>
          </a:xfrm>
          <a:prstGeom prst="rect">
            <a:avLst/>
          </a:prstGeom>
          <a:solidFill>
            <a:srgbClr val="74C69D"/>
          </a:solidFill>
          <a:ln w="12700">
            <a:solidFill>
              <a:srgbClr val="74C69D"/>
            </a:solidFill>
            <a:prstDash val="solid"/>
          </a:ln>
        </p:spPr>
      </p:sp>
      <p:sp>
        <p:nvSpPr>
          <p:cNvPr id="4" name="Text 2"/>
          <p:cNvSpPr/>
          <p:nvPr/>
        </p:nvSpPr>
        <p:spPr>
          <a:xfrm>
            <a:off x="274320" y="0"/>
            <a:ext cx="8595360" cy="68580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Tiền Xử Lý Dữ Liệu</a:t>
            </a:r>
            <a:endParaRPr lang="en-US" sz="2000" dirty="0"/>
          </a:p>
        </p:txBody>
      </p:sp>
      <p:sp>
        <p:nvSpPr>
          <p:cNvPr id="5" name="Shape 3"/>
          <p:cNvSpPr/>
          <p:nvPr/>
        </p:nvSpPr>
        <p:spPr>
          <a:xfrm>
            <a:off x="0" y="4869180"/>
            <a:ext cx="9144000" cy="274320"/>
          </a:xfrm>
          <a:prstGeom prst="rect">
            <a:avLst/>
          </a:prstGeom>
          <a:solidFill>
            <a:srgbClr val="D8F3DC"/>
          </a:solidFill>
          <a:ln w="12700">
            <a:solidFill>
              <a:srgbClr val="D8F3DC"/>
            </a:solidFill>
            <a:prstDash val="solid"/>
          </a:ln>
        </p:spPr>
      </p:sp>
      <p:sp>
        <p:nvSpPr>
          <p:cNvPr id="6" name="Text 4"/>
          <p:cNvSpPr/>
          <p:nvPr/>
        </p:nvSpPr>
        <p:spPr>
          <a:xfrm>
            <a:off x="274320" y="4869180"/>
            <a:ext cx="8595360" cy="274320"/>
          </a:xfrm>
          <a:prstGeom prst="rect">
            <a:avLst/>
          </a:prstGeom>
          <a:noFill/>
          <a:ln/>
        </p:spPr>
        <p:txBody>
          <a:bodyPr wrap="square" lIns="0" tIns="0" rIns="0" bIns="0" rtlCol="0" anchor="ctr"/>
          <a:lstStyle/>
          <a:p>
            <a:pPr marL="0" indent="0" algn="l">
              <a:buNone/>
            </a:pPr>
            <a:r>
              <a:rPr lang="en-US" sz="800" dirty="0">
                <a:solidFill>
                  <a:srgbClr val="6C757D"/>
                </a:solidFill>
                <a:latin typeface="Calibri" pitchFamily="34" charset="0"/>
                <a:ea typeface="Calibri" pitchFamily="34" charset="-122"/>
                <a:cs typeface="Calibri" pitchFamily="34" charset="-120"/>
              </a:rPr>
              <a:t>Nhóm 14 | Hệ Thống Thông Minh | ĐH Thủy Lợi</a:t>
            </a:r>
            <a:endParaRPr lang="en-US" sz="800" dirty="0"/>
          </a:p>
        </p:txBody>
      </p:sp>
      <p:sp>
        <p:nvSpPr>
          <p:cNvPr id="7" name="Shape 5"/>
          <p:cNvSpPr/>
          <p:nvPr/>
        </p:nvSpPr>
        <p:spPr>
          <a:xfrm>
            <a:off x="228600" y="841248"/>
            <a:ext cx="4160520" cy="384048"/>
          </a:xfrm>
          <a:prstGeom prst="rect">
            <a:avLst/>
          </a:prstGeom>
          <a:solidFill>
            <a:srgbClr val="1B4332"/>
          </a:solidFill>
          <a:ln w="12700">
            <a:solidFill>
              <a:srgbClr val="1B4332"/>
            </a:solidFill>
            <a:prstDash val="solid"/>
          </a:ln>
        </p:spPr>
      </p:sp>
      <p:sp>
        <p:nvSpPr>
          <p:cNvPr id="8" name="Text 6"/>
          <p:cNvSpPr/>
          <p:nvPr/>
        </p:nvSpPr>
        <p:spPr>
          <a:xfrm>
            <a:off x="228600" y="841248"/>
            <a:ext cx="4160520"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  Xử Lý Ảnh (CNN Input)</a:t>
            </a:r>
            <a:endParaRPr lang="en-US" sz="1300" dirty="0"/>
          </a:p>
        </p:txBody>
      </p:sp>
      <p:sp>
        <p:nvSpPr>
          <p:cNvPr id="9" name="Shape 7"/>
          <p:cNvSpPr/>
          <p:nvPr/>
        </p:nvSpPr>
        <p:spPr>
          <a:xfrm>
            <a:off x="320040" y="1344168"/>
            <a:ext cx="384048" cy="384048"/>
          </a:xfrm>
          <a:prstGeom prst="ellipse">
            <a:avLst/>
          </a:prstGeom>
          <a:solidFill>
            <a:srgbClr val="40916C"/>
          </a:solidFill>
          <a:ln w="12700">
            <a:solidFill>
              <a:srgbClr val="40916C"/>
            </a:solidFill>
            <a:prstDash val="solid"/>
          </a:ln>
        </p:spPr>
      </p:sp>
      <p:sp>
        <p:nvSpPr>
          <p:cNvPr id="10" name="Text 8"/>
          <p:cNvSpPr/>
          <p:nvPr/>
        </p:nvSpPr>
        <p:spPr>
          <a:xfrm>
            <a:off x="320040" y="1344168"/>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p:nvPr/>
        </p:nvSpPr>
        <p:spPr>
          <a:xfrm>
            <a:off x="804672" y="1335024"/>
            <a:ext cx="3474720" cy="274320"/>
          </a:xfrm>
          <a:prstGeom prst="rect">
            <a:avLst/>
          </a:prstGeom>
          <a:noFill/>
          <a:ln/>
        </p:spPr>
        <p:txBody>
          <a:bodyPr wrap="square" rtlCol="0" anchor="ctr"/>
          <a:lstStyle/>
          <a:p>
            <a:pPr marL="0" indent="0">
              <a:buNone/>
            </a:pPr>
            <a:r>
              <a:rPr lang="en-US" sz="1150" b="1" dirty="0">
                <a:solidFill>
                  <a:srgbClr val="1B4332"/>
                </a:solidFill>
                <a:latin typeface="Calibri" pitchFamily="34" charset="0"/>
                <a:ea typeface="Calibri" pitchFamily="34" charset="-122"/>
                <a:cs typeface="Calibri" pitchFamily="34" charset="-120"/>
              </a:rPr>
              <a:t>Resize</a:t>
            </a:r>
            <a:endParaRPr lang="en-US" sz="1150" dirty="0"/>
          </a:p>
        </p:txBody>
      </p:sp>
      <p:sp>
        <p:nvSpPr>
          <p:cNvPr id="12" name="Text 10"/>
          <p:cNvSpPr/>
          <p:nvPr/>
        </p:nvSpPr>
        <p:spPr>
          <a:xfrm>
            <a:off x="804672" y="1618488"/>
            <a:ext cx="3474720" cy="320040"/>
          </a:xfrm>
          <a:prstGeom prst="rect">
            <a:avLst/>
          </a:prstGeom>
          <a:noFill/>
          <a:ln/>
        </p:spPr>
        <p:txBody>
          <a:bodyPr wrap="square" rtlCol="0" anchor="ctr"/>
          <a:lstStyle/>
          <a:p>
            <a:pPr marL="0" indent="0">
              <a:buNone/>
            </a:pPr>
            <a:r>
              <a:rPr lang="en-US" sz="1000" dirty="0">
                <a:solidFill>
                  <a:srgbClr val="6C757D"/>
                </a:solidFill>
                <a:latin typeface="Calibri" pitchFamily="34" charset="0"/>
                <a:ea typeface="Calibri" pitchFamily="34" charset="-122"/>
                <a:cs typeface="Calibri" pitchFamily="34" charset="-120"/>
              </a:rPr>
              <a:t>Resize ảnh về 224×224 px (EfficientNet-B0)</a:t>
            </a:r>
            <a:endParaRPr lang="en-US" sz="1000" dirty="0"/>
          </a:p>
        </p:txBody>
      </p:sp>
      <p:sp>
        <p:nvSpPr>
          <p:cNvPr id="13" name="Shape 11"/>
          <p:cNvSpPr/>
          <p:nvPr/>
        </p:nvSpPr>
        <p:spPr>
          <a:xfrm>
            <a:off x="320040" y="2057400"/>
            <a:ext cx="384048" cy="384048"/>
          </a:xfrm>
          <a:prstGeom prst="ellipse">
            <a:avLst/>
          </a:prstGeom>
          <a:solidFill>
            <a:srgbClr val="40916C"/>
          </a:solidFill>
          <a:ln w="12700">
            <a:solidFill>
              <a:srgbClr val="40916C"/>
            </a:solidFill>
            <a:prstDash val="solid"/>
          </a:ln>
        </p:spPr>
      </p:sp>
      <p:sp>
        <p:nvSpPr>
          <p:cNvPr id="14" name="Text 12"/>
          <p:cNvSpPr/>
          <p:nvPr/>
        </p:nvSpPr>
        <p:spPr>
          <a:xfrm>
            <a:off x="320040" y="2057400"/>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p:nvPr/>
        </p:nvSpPr>
        <p:spPr>
          <a:xfrm>
            <a:off x="804672" y="2048256"/>
            <a:ext cx="3474720" cy="274320"/>
          </a:xfrm>
          <a:prstGeom prst="rect">
            <a:avLst/>
          </a:prstGeom>
          <a:noFill/>
          <a:ln/>
        </p:spPr>
        <p:txBody>
          <a:bodyPr wrap="square" rtlCol="0" anchor="ctr"/>
          <a:lstStyle/>
          <a:p>
            <a:pPr marL="0" indent="0">
              <a:buNone/>
            </a:pPr>
            <a:r>
              <a:rPr lang="en-US" sz="1150" b="1" dirty="0">
                <a:solidFill>
                  <a:srgbClr val="1B4332"/>
                </a:solidFill>
                <a:latin typeface="Calibri" pitchFamily="34" charset="0"/>
                <a:ea typeface="Calibri" pitchFamily="34" charset="-122"/>
                <a:cs typeface="Calibri" pitchFamily="34" charset="-120"/>
              </a:rPr>
              <a:t>Normalize</a:t>
            </a:r>
            <a:endParaRPr lang="en-US" sz="1150" dirty="0"/>
          </a:p>
        </p:txBody>
      </p:sp>
      <p:sp>
        <p:nvSpPr>
          <p:cNvPr id="16" name="Text 14"/>
          <p:cNvSpPr/>
          <p:nvPr/>
        </p:nvSpPr>
        <p:spPr>
          <a:xfrm>
            <a:off x="804672" y="2331720"/>
            <a:ext cx="3474720" cy="320040"/>
          </a:xfrm>
          <a:prstGeom prst="rect">
            <a:avLst/>
          </a:prstGeom>
          <a:noFill/>
          <a:ln/>
        </p:spPr>
        <p:txBody>
          <a:bodyPr wrap="square" rtlCol="0" anchor="ctr"/>
          <a:lstStyle/>
          <a:p>
            <a:pPr marL="0" indent="0">
              <a:buNone/>
            </a:pPr>
            <a:r>
              <a:rPr lang="en-US" sz="1000" dirty="0">
                <a:solidFill>
                  <a:srgbClr val="6C757D"/>
                </a:solidFill>
                <a:latin typeface="Calibri" pitchFamily="34" charset="0"/>
                <a:ea typeface="Calibri" pitchFamily="34" charset="-122"/>
                <a:cs typeface="Calibri" pitchFamily="34" charset="-120"/>
              </a:rPr>
              <a:t>Chuẩn hóa pixel về [0,1] theo ImageNet mean/std</a:t>
            </a:r>
            <a:endParaRPr lang="en-US" sz="1000" dirty="0"/>
          </a:p>
        </p:txBody>
      </p:sp>
      <p:sp>
        <p:nvSpPr>
          <p:cNvPr id="17" name="Shape 15"/>
          <p:cNvSpPr/>
          <p:nvPr/>
        </p:nvSpPr>
        <p:spPr>
          <a:xfrm>
            <a:off x="320040" y="2770632"/>
            <a:ext cx="384048" cy="384048"/>
          </a:xfrm>
          <a:prstGeom prst="ellipse">
            <a:avLst/>
          </a:prstGeom>
          <a:solidFill>
            <a:srgbClr val="40916C"/>
          </a:solidFill>
          <a:ln w="12700">
            <a:solidFill>
              <a:srgbClr val="40916C"/>
            </a:solidFill>
            <a:prstDash val="solid"/>
          </a:ln>
        </p:spPr>
      </p:sp>
      <p:sp>
        <p:nvSpPr>
          <p:cNvPr id="18" name="Text 16"/>
          <p:cNvSpPr/>
          <p:nvPr/>
        </p:nvSpPr>
        <p:spPr>
          <a:xfrm>
            <a:off x="320040" y="2770632"/>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p:nvPr/>
        </p:nvSpPr>
        <p:spPr>
          <a:xfrm>
            <a:off x="804672" y="2761488"/>
            <a:ext cx="3474720" cy="274320"/>
          </a:xfrm>
          <a:prstGeom prst="rect">
            <a:avLst/>
          </a:prstGeom>
          <a:noFill/>
          <a:ln/>
        </p:spPr>
        <p:txBody>
          <a:bodyPr wrap="square" rtlCol="0" anchor="ctr"/>
          <a:lstStyle/>
          <a:p>
            <a:pPr marL="0" indent="0">
              <a:buNone/>
            </a:pPr>
            <a:r>
              <a:rPr lang="en-US" sz="1150" b="1" dirty="0">
                <a:solidFill>
                  <a:srgbClr val="1B4332"/>
                </a:solidFill>
                <a:latin typeface="Calibri" pitchFamily="34" charset="0"/>
                <a:ea typeface="Calibri" pitchFamily="34" charset="-122"/>
                <a:cs typeface="Calibri" pitchFamily="34" charset="-120"/>
              </a:rPr>
              <a:t>Data Augmentation</a:t>
            </a:r>
            <a:endParaRPr lang="en-US" sz="1150" dirty="0"/>
          </a:p>
        </p:txBody>
      </p:sp>
      <p:sp>
        <p:nvSpPr>
          <p:cNvPr id="20" name="Text 18"/>
          <p:cNvSpPr/>
          <p:nvPr/>
        </p:nvSpPr>
        <p:spPr>
          <a:xfrm>
            <a:off x="804672" y="3044952"/>
            <a:ext cx="3474720" cy="320040"/>
          </a:xfrm>
          <a:prstGeom prst="rect">
            <a:avLst/>
          </a:prstGeom>
          <a:noFill/>
          <a:ln/>
        </p:spPr>
        <p:txBody>
          <a:bodyPr wrap="square" rtlCol="0" anchor="ctr"/>
          <a:lstStyle/>
          <a:p>
            <a:pPr marL="0" indent="0">
              <a:buNone/>
            </a:pPr>
            <a:r>
              <a:rPr lang="en-US" sz="1000" dirty="0">
                <a:solidFill>
                  <a:srgbClr val="6C757D"/>
                </a:solidFill>
                <a:latin typeface="Calibri" pitchFamily="34" charset="0"/>
                <a:ea typeface="Calibri" pitchFamily="34" charset="-122"/>
                <a:cs typeface="Calibri" pitchFamily="34" charset="-120"/>
              </a:rPr>
              <a:t>Random flip, rotation, color jitter để tăng dữ liệu</a:t>
            </a:r>
            <a:endParaRPr lang="en-US" sz="1000" dirty="0"/>
          </a:p>
        </p:txBody>
      </p:sp>
      <p:sp>
        <p:nvSpPr>
          <p:cNvPr id="21" name="Shape 19"/>
          <p:cNvSpPr/>
          <p:nvPr/>
        </p:nvSpPr>
        <p:spPr>
          <a:xfrm>
            <a:off x="320040" y="3483864"/>
            <a:ext cx="384048" cy="384048"/>
          </a:xfrm>
          <a:prstGeom prst="ellipse">
            <a:avLst/>
          </a:prstGeom>
          <a:solidFill>
            <a:srgbClr val="40916C"/>
          </a:solidFill>
          <a:ln w="12700">
            <a:solidFill>
              <a:srgbClr val="40916C"/>
            </a:solidFill>
            <a:prstDash val="solid"/>
          </a:ln>
        </p:spPr>
      </p:sp>
      <p:sp>
        <p:nvSpPr>
          <p:cNvPr id="22" name="Text 20"/>
          <p:cNvSpPr/>
          <p:nvPr/>
        </p:nvSpPr>
        <p:spPr>
          <a:xfrm>
            <a:off x="320040" y="3483864"/>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3" name="Text 21"/>
          <p:cNvSpPr/>
          <p:nvPr/>
        </p:nvSpPr>
        <p:spPr>
          <a:xfrm>
            <a:off x="804672" y="3474720"/>
            <a:ext cx="3474720" cy="274320"/>
          </a:xfrm>
          <a:prstGeom prst="rect">
            <a:avLst/>
          </a:prstGeom>
          <a:noFill/>
          <a:ln/>
        </p:spPr>
        <p:txBody>
          <a:bodyPr wrap="square" rtlCol="0" anchor="ctr"/>
          <a:lstStyle/>
          <a:p>
            <a:pPr marL="0" indent="0">
              <a:buNone/>
            </a:pPr>
            <a:r>
              <a:rPr lang="en-US" sz="1150" b="1" dirty="0">
                <a:solidFill>
                  <a:srgbClr val="1B4332"/>
                </a:solidFill>
                <a:latin typeface="Calibri" pitchFamily="34" charset="0"/>
                <a:ea typeface="Calibri" pitchFamily="34" charset="-122"/>
                <a:cs typeface="Calibri" pitchFamily="34" charset="-120"/>
              </a:rPr>
              <a:t>ToTensor</a:t>
            </a:r>
            <a:endParaRPr lang="en-US" sz="1150" dirty="0"/>
          </a:p>
        </p:txBody>
      </p:sp>
      <p:sp>
        <p:nvSpPr>
          <p:cNvPr id="24" name="Text 22"/>
          <p:cNvSpPr/>
          <p:nvPr/>
        </p:nvSpPr>
        <p:spPr>
          <a:xfrm>
            <a:off x="804672" y="3758184"/>
            <a:ext cx="3474720" cy="320040"/>
          </a:xfrm>
          <a:prstGeom prst="rect">
            <a:avLst/>
          </a:prstGeom>
          <a:noFill/>
          <a:ln/>
        </p:spPr>
        <p:txBody>
          <a:bodyPr wrap="square" rtlCol="0" anchor="ctr"/>
          <a:lstStyle/>
          <a:p>
            <a:pPr marL="0" indent="0">
              <a:buNone/>
            </a:pPr>
            <a:r>
              <a:rPr lang="en-US" sz="1000" dirty="0">
                <a:solidFill>
                  <a:srgbClr val="6C757D"/>
                </a:solidFill>
                <a:latin typeface="Calibri" pitchFamily="34" charset="0"/>
                <a:ea typeface="Calibri" pitchFamily="34" charset="-122"/>
                <a:cs typeface="Calibri" pitchFamily="34" charset="-120"/>
              </a:rPr>
              <a:t>Chuyển ảnh PIL sang PyTorch Tensor</a:t>
            </a:r>
            <a:endParaRPr lang="en-US" sz="1000" dirty="0"/>
          </a:p>
        </p:txBody>
      </p:sp>
      <p:sp>
        <p:nvSpPr>
          <p:cNvPr id="25" name="Shape 23"/>
          <p:cNvSpPr/>
          <p:nvPr/>
        </p:nvSpPr>
        <p:spPr>
          <a:xfrm>
            <a:off x="4663440" y="841248"/>
            <a:ext cx="4206240" cy="384048"/>
          </a:xfrm>
          <a:prstGeom prst="rect">
            <a:avLst/>
          </a:prstGeom>
          <a:solidFill>
            <a:srgbClr val="2D6A4F"/>
          </a:solidFill>
          <a:ln w="12700">
            <a:solidFill>
              <a:srgbClr val="2D6A4F"/>
            </a:solidFill>
            <a:prstDash val="solid"/>
          </a:ln>
        </p:spPr>
      </p:sp>
      <p:sp>
        <p:nvSpPr>
          <p:cNvPr id="26" name="Text 24"/>
          <p:cNvSpPr/>
          <p:nvPr/>
        </p:nvSpPr>
        <p:spPr>
          <a:xfrm>
            <a:off x="4663440" y="841248"/>
            <a:ext cx="4206240"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  Xử Lý Dữ Liệu Mờ (Fuzzy Input)</a:t>
            </a:r>
            <a:endParaRPr lang="en-US" sz="1300" dirty="0"/>
          </a:p>
        </p:txBody>
      </p:sp>
      <p:sp>
        <p:nvSpPr>
          <p:cNvPr id="27" name="Shape 25"/>
          <p:cNvSpPr/>
          <p:nvPr/>
        </p:nvSpPr>
        <p:spPr>
          <a:xfrm>
            <a:off x="4754880" y="1335024"/>
            <a:ext cx="347472" cy="347472"/>
          </a:xfrm>
          <a:prstGeom prst="ellipse">
            <a:avLst/>
          </a:prstGeom>
          <a:solidFill>
            <a:srgbClr val="F4A261"/>
          </a:solidFill>
          <a:ln w="12700">
            <a:solidFill>
              <a:srgbClr val="F4A261"/>
            </a:solidFill>
            <a:prstDash val="solid"/>
          </a:ln>
        </p:spPr>
      </p:sp>
      <p:sp>
        <p:nvSpPr>
          <p:cNvPr id="28" name="Text 26"/>
          <p:cNvSpPr/>
          <p:nvPr/>
        </p:nvSpPr>
        <p:spPr>
          <a:xfrm>
            <a:off x="4754880" y="133502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9" name="Text 27"/>
          <p:cNvSpPr/>
          <p:nvPr/>
        </p:nvSpPr>
        <p:spPr>
          <a:xfrm>
            <a:off x="5193792" y="1325880"/>
            <a:ext cx="3566160" cy="256032"/>
          </a:xfrm>
          <a:prstGeom prst="rect">
            <a:avLst/>
          </a:prstGeom>
          <a:noFill/>
          <a:ln/>
        </p:spPr>
        <p:txBody>
          <a:bodyPr wrap="square" rtlCol="0" anchor="ctr"/>
          <a:lstStyle/>
          <a:p>
            <a:pPr marL="0" indent="0">
              <a:buNone/>
            </a:pPr>
            <a:r>
              <a:rPr lang="en-US" sz="1100" b="1" dirty="0">
                <a:solidFill>
                  <a:srgbClr val="1B4332"/>
                </a:solidFill>
                <a:latin typeface="Calibri" pitchFamily="34" charset="0"/>
                <a:ea typeface="Calibri" pitchFamily="34" charset="-122"/>
                <a:cs typeface="Calibri" pitchFamily="34" charset="-120"/>
              </a:rPr>
              <a:t>Thu thập thông số</a:t>
            </a:r>
            <a:endParaRPr lang="en-US" sz="1100" dirty="0"/>
          </a:p>
        </p:txBody>
      </p:sp>
      <p:sp>
        <p:nvSpPr>
          <p:cNvPr id="30" name="Text 28"/>
          <p:cNvSpPr/>
          <p:nvPr/>
        </p:nvSpPr>
        <p:spPr>
          <a:xfrm>
            <a:off x="5193792" y="1572768"/>
            <a:ext cx="3566160" cy="256032"/>
          </a:xfrm>
          <a:prstGeom prst="rect">
            <a:avLst/>
          </a:prstGeom>
          <a:noFill/>
          <a:ln/>
        </p:spPr>
        <p:txBody>
          <a:bodyPr wrap="square" rtlCol="0" anchor="ctr"/>
          <a:lstStyle/>
          <a:p>
            <a:pPr marL="0" indent="0">
              <a:buNone/>
            </a:pPr>
            <a:r>
              <a:rPr lang="en-US" sz="950" dirty="0">
                <a:solidFill>
                  <a:srgbClr val="6C757D"/>
                </a:solidFill>
                <a:latin typeface="Calibri" pitchFamily="34" charset="0"/>
                <a:ea typeface="Calibri" pitchFamily="34" charset="-122"/>
                <a:cs typeface="Calibri" pitchFamily="34" charset="-120"/>
              </a:rPr>
              <a:t>Nhiệt độ, Độ ẩm, Lượng mưa, Mùa vụ</a:t>
            </a:r>
            <a:endParaRPr lang="en-US" sz="950" dirty="0"/>
          </a:p>
        </p:txBody>
      </p:sp>
      <p:sp>
        <p:nvSpPr>
          <p:cNvPr id="31" name="Shape 29"/>
          <p:cNvSpPr/>
          <p:nvPr/>
        </p:nvSpPr>
        <p:spPr>
          <a:xfrm>
            <a:off x="4754880" y="1911096"/>
            <a:ext cx="347472" cy="347472"/>
          </a:xfrm>
          <a:prstGeom prst="ellipse">
            <a:avLst/>
          </a:prstGeom>
          <a:solidFill>
            <a:srgbClr val="F4A261"/>
          </a:solidFill>
          <a:ln w="12700">
            <a:solidFill>
              <a:srgbClr val="F4A261"/>
            </a:solidFill>
            <a:prstDash val="solid"/>
          </a:ln>
        </p:spPr>
      </p:sp>
      <p:sp>
        <p:nvSpPr>
          <p:cNvPr id="32" name="Text 30"/>
          <p:cNvSpPr/>
          <p:nvPr/>
        </p:nvSpPr>
        <p:spPr>
          <a:xfrm>
            <a:off x="4754880" y="1911096"/>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1"/>
          <p:cNvSpPr/>
          <p:nvPr/>
        </p:nvSpPr>
        <p:spPr>
          <a:xfrm>
            <a:off x="5193792" y="1901952"/>
            <a:ext cx="3566160" cy="256032"/>
          </a:xfrm>
          <a:prstGeom prst="rect">
            <a:avLst/>
          </a:prstGeom>
          <a:noFill/>
          <a:ln/>
        </p:spPr>
        <p:txBody>
          <a:bodyPr wrap="square" rtlCol="0" anchor="ctr"/>
          <a:lstStyle/>
          <a:p>
            <a:pPr marL="0" indent="0">
              <a:buNone/>
            </a:pPr>
            <a:r>
              <a:rPr lang="en-US" sz="1100" b="1" dirty="0">
                <a:solidFill>
                  <a:srgbClr val="1B4332"/>
                </a:solidFill>
                <a:latin typeface="Calibri" pitchFamily="34" charset="0"/>
                <a:ea typeface="Calibri" pitchFamily="34" charset="-122"/>
                <a:cs typeface="Calibri" pitchFamily="34" charset="-120"/>
              </a:rPr>
              <a:t>Kiểm tra &amp; Làm sạch</a:t>
            </a:r>
            <a:endParaRPr lang="en-US" sz="1100" dirty="0"/>
          </a:p>
        </p:txBody>
      </p:sp>
      <p:sp>
        <p:nvSpPr>
          <p:cNvPr id="34" name="Text 32"/>
          <p:cNvSpPr/>
          <p:nvPr/>
        </p:nvSpPr>
        <p:spPr>
          <a:xfrm>
            <a:off x="5193792" y="2148840"/>
            <a:ext cx="3566160" cy="256032"/>
          </a:xfrm>
          <a:prstGeom prst="rect">
            <a:avLst/>
          </a:prstGeom>
          <a:noFill/>
          <a:ln/>
        </p:spPr>
        <p:txBody>
          <a:bodyPr wrap="square" rtlCol="0" anchor="ctr"/>
          <a:lstStyle/>
          <a:p>
            <a:pPr marL="0" indent="0">
              <a:buNone/>
            </a:pPr>
            <a:r>
              <a:rPr lang="en-US" sz="950" dirty="0">
                <a:solidFill>
                  <a:srgbClr val="6C757D"/>
                </a:solidFill>
                <a:latin typeface="Calibri" pitchFamily="34" charset="0"/>
                <a:ea typeface="Calibri" pitchFamily="34" charset="-122"/>
                <a:cs typeface="Calibri" pitchFamily="34" charset="-120"/>
              </a:rPr>
              <a:t>Loại bỏ giá trị ngoại lệ (outlier), điền khuyết</a:t>
            </a:r>
            <a:endParaRPr lang="en-US" sz="950" dirty="0"/>
          </a:p>
        </p:txBody>
      </p:sp>
      <p:sp>
        <p:nvSpPr>
          <p:cNvPr id="35" name="Shape 33"/>
          <p:cNvSpPr/>
          <p:nvPr/>
        </p:nvSpPr>
        <p:spPr>
          <a:xfrm>
            <a:off x="4754880" y="2487168"/>
            <a:ext cx="347472" cy="347472"/>
          </a:xfrm>
          <a:prstGeom prst="ellipse">
            <a:avLst/>
          </a:prstGeom>
          <a:solidFill>
            <a:srgbClr val="F4A261"/>
          </a:solidFill>
          <a:ln w="12700">
            <a:solidFill>
              <a:srgbClr val="F4A261"/>
            </a:solidFill>
            <a:prstDash val="solid"/>
          </a:ln>
        </p:spPr>
      </p:sp>
      <p:sp>
        <p:nvSpPr>
          <p:cNvPr id="36" name="Text 34"/>
          <p:cNvSpPr/>
          <p:nvPr/>
        </p:nvSpPr>
        <p:spPr>
          <a:xfrm>
            <a:off x="4754880" y="2487168"/>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7" name="Text 35"/>
          <p:cNvSpPr/>
          <p:nvPr/>
        </p:nvSpPr>
        <p:spPr>
          <a:xfrm>
            <a:off x="5193792" y="2478024"/>
            <a:ext cx="3566160" cy="256032"/>
          </a:xfrm>
          <a:prstGeom prst="rect">
            <a:avLst/>
          </a:prstGeom>
          <a:noFill/>
          <a:ln/>
        </p:spPr>
        <p:txBody>
          <a:bodyPr wrap="square" rtlCol="0" anchor="ctr"/>
          <a:lstStyle/>
          <a:p>
            <a:pPr marL="0" indent="0">
              <a:buNone/>
            </a:pPr>
            <a:r>
              <a:rPr lang="en-US" sz="1100" b="1" dirty="0">
                <a:solidFill>
                  <a:srgbClr val="1B4332"/>
                </a:solidFill>
                <a:latin typeface="Calibri" pitchFamily="34" charset="0"/>
                <a:ea typeface="Calibri" pitchFamily="34" charset="-122"/>
                <a:cs typeface="Calibri" pitchFamily="34" charset="-120"/>
              </a:rPr>
              <a:t>Chuẩn hóa phạm vi</a:t>
            </a:r>
            <a:endParaRPr lang="en-US" sz="1100" dirty="0"/>
          </a:p>
        </p:txBody>
      </p:sp>
      <p:sp>
        <p:nvSpPr>
          <p:cNvPr id="38" name="Text 36"/>
          <p:cNvSpPr/>
          <p:nvPr/>
        </p:nvSpPr>
        <p:spPr>
          <a:xfrm>
            <a:off x="5193792" y="2724912"/>
            <a:ext cx="3566160" cy="256032"/>
          </a:xfrm>
          <a:prstGeom prst="rect">
            <a:avLst/>
          </a:prstGeom>
          <a:noFill/>
          <a:ln/>
        </p:spPr>
        <p:txBody>
          <a:bodyPr wrap="square" rtlCol="0" anchor="ctr"/>
          <a:lstStyle/>
          <a:p>
            <a:pPr marL="0" indent="0">
              <a:buNone/>
            </a:pPr>
            <a:r>
              <a:rPr lang="en-US" sz="950" dirty="0">
                <a:solidFill>
                  <a:srgbClr val="6C757D"/>
                </a:solidFill>
                <a:latin typeface="Calibri" pitchFamily="34" charset="0"/>
                <a:ea typeface="Calibri" pitchFamily="34" charset="-122"/>
                <a:cs typeface="Calibri" pitchFamily="34" charset="-120"/>
              </a:rPr>
              <a:t>Độ ẩm [0–100%], Nhiệt độ [0–45°C]…</a:t>
            </a:r>
            <a:endParaRPr lang="en-US" sz="950" dirty="0"/>
          </a:p>
        </p:txBody>
      </p:sp>
      <p:sp>
        <p:nvSpPr>
          <p:cNvPr id="39" name="Shape 37"/>
          <p:cNvSpPr/>
          <p:nvPr/>
        </p:nvSpPr>
        <p:spPr>
          <a:xfrm>
            <a:off x="4754880" y="3063240"/>
            <a:ext cx="347472" cy="347472"/>
          </a:xfrm>
          <a:prstGeom prst="ellipse">
            <a:avLst/>
          </a:prstGeom>
          <a:solidFill>
            <a:srgbClr val="F4A261"/>
          </a:solidFill>
          <a:ln w="12700">
            <a:solidFill>
              <a:srgbClr val="F4A261"/>
            </a:solidFill>
            <a:prstDash val="solid"/>
          </a:ln>
        </p:spPr>
      </p:sp>
      <p:sp>
        <p:nvSpPr>
          <p:cNvPr id="40" name="Text 38"/>
          <p:cNvSpPr/>
          <p:nvPr/>
        </p:nvSpPr>
        <p:spPr>
          <a:xfrm>
            <a:off x="4754880" y="3063240"/>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41" name="Text 39"/>
          <p:cNvSpPr/>
          <p:nvPr/>
        </p:nvSpPr>
        <p:spPr>
          <a:xfrm>
            <a:off x="5193792" y="3054096"/>
            <a:ext cx="3566160" cy="256032"/>
          </a:xfrm>
          <a:prstGeom prst="rect">
            <a:avLst/>
          </a:prstGeom>
          <a:noFill/>
          <a:ln/>
        </p:spPr>
        <p:txBody>
          <a:bodyPr wrap="square" rtlCol="0" anchor="ctr"/>
          <a:lstStyle/>
          <a:p>
            <a:pPr marL="0" indent="0">
              <a:buNone/>
            </a:pPr>
            <a:r>
              <a:rPr lang="en-US" sz="1100" b="1" dirty="0">
                <a:solidFill>
                  <a:srgbClr val="1B4332"/>
                </a:solidFill>
                <a:latin typeface="Calibri" pitchFamily="34" charset="0"/>
                <a:ea typeface="Calibri" pitchFamily="34" charset="-122"/>
                <a:cs typeface="Calibri" pitchFamily="34" charset="-120"/>
              </a:rPr>
              <a:t>Mờ hóa (Fuzzification)</a:t>
            </a:r>
            <a:endParaRPr lang="en-US" sz="1100" dirty="0"/>
          </a:p>
        </p:txBody>
      </p:sp>
      <p:sp>
        <p:nvSpPr>
          <p:cNvPr id="42" name="Text 40"/>
          <p:cNvSpPr/>
          <p:nvPr/>
        </p:nvSpPr>
        <p:spPr>
          <a:xfrm>
            <a:off x="5193792" y="3300984"/>
            <a:ext cx="3566160" cy="256032"/>
          </a:xfrm>
          <a:prstGeom prst="rect">
            <a:avLst/>
          </a:prstGeom>
          <a:noFill/>
          <a:ln/>
        </p:spPr>
        <p:txBody>
          <a:bodyPr wrap="square" rtlCol="0" anchor="ctr"/>
          <a:lstStyle/>
          <a:p>
            <a:pPr marL="0" indent="0">
              <a:buNone/>
            </a:pPr>
            <a:r>
              <a:rPr lang="en-US" sz="950" dirty="0">
                <a:solidFill>
                  <a:srgbClr val="6C757D"/>
                </a:solidFill>
                <a:latin typeface="Calibri" pitchFamily="34" charset="0"/>
                <a:ea typeface="Calibri" pitchFamily="34" charset="-122"/>
                <a:cs typeface="Calibri" pitchFamily="34" charset="-120"/>
              </a:rPr>
              <a:t>Ánh xạ giá trị rõ → mức độ thuộc tập mờ μ ∈ [0,1]</a:t>
            </a:r>
            <a:endParaRPr lang="en-US" sz="950" dirty="0"/>
          </a:p>
        </p:txBody>
      </p:sp>
      <p:sp>
        <p:nvSpPr>
          <p:cNvPr id="43" name="Shape 41"/>
          <p:cNvSpPr/>
          <p:nvPr/>
        </p:nvSpPr>
        <p:spPr>
          <a:xfrm>
            <a:off x="4754880" y="3639312"/>
            <a:ext cx="347472" cy="347472"/>
          </a:xfrm>
          <a:prstGeom prst="ellipse">
            <a:avLst/>
          </a:prstGeom>
          <a:solidFill>
            <a:srgbClr val="F4A261"/>
          </a:solidFill>
          <a:ln w="12700">
            <a:solidFill>
              <a:srgbClr val="F4A261"/>
            </a:solidFill>
            <a:prstDash val="solid"/>
          </a:ln>
        </p:spPr>
      </p:sp>
      <p:sp>
        <p:nvSpPr>
          <p:cNvPr id="44" name="Text 42"/>
          <p:cNvSpPr/>
          <p:nvPr/>
        </p:nvSpPr>
        <p:spPr>
          <a:xfrm>
            <a:off x="4754880" y="3639312"/>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45" name="Text 43"/>
          <p:cNvSpPr/>
          <p:nvPr/>
        </p:nvSpPr>
        <p:spPr>
          <a:xfrm>
            <a:off x="5193792" y="3630168"/>
            <a:ext cx="3566160" cy="256032"/>
          </a:xfrm>
          <a:prstGeom prst="rect">
            <a:avLst/>
          </a:prstGeom>
          <a:noFill/>
          <a:ln/>
        </p:spPr>
        <p:txBody>
          <a:bodyPr wrap="square" rtlCol="0" anchor="ctr"/>
          <a:lstStyle/>
          <a:p>
            <a:pPr marL="0" indent="0">
              <a:buNone/>
            </a:pPr>
            <a:r>
              <a:rPr lang="en-US" sz="1100" b="1" dirty="0">
                <a:solidFill>
                  <a:srgbClr val="1B4332"/>
                </a:solidFill>
                <a:latin typeface="Calibri" pitchFamily="34" charset="0"/>
                <a:ea typeface="Calibri" pitchFamily="34" charset="-122"/>
                <a:cs typeface="Calibri" pitchFamily="34" charset="-120"/>
              </a:rPr>
              <a:t>Linguistic Labels</a:t>
            </a:r>
            <a:endParaRPr lang="en-US" sz="1100" dirty="0"/>
          </a:p>
        </p:txBody>
      </p:sp>
      <p:sp>
        <p:nvSpPr>
          <p:cNvPr id="46" name="Text 44"/>
          <p:cNvSpPr/>
          <p:nvPr/>
        </p:nvSpPr>
        <p:spPr>
          <a:xfrm>
            <a:off x="5193792" y="3877056"/>
            <a:ext cx="3566160" cy="256032"/>
          </a:xfrm>
          <a:prstGeom prst="rect">
            <a:avLst/>
          </a:prstGeom>
          <a:noFill/>
          <a:ln/>
        </p:spPr>
        <p:txBody>
          <a:bodyPr wrap="square" rtlCol="0" anchor="ctr"/>
          <a:lstStyle/>
          <a:p>
            <a:pPr marL="0" indent="0">
              <a:buNone/>
            </a:pPr>
            <a:r>
              <a:rPr lang="en-US" sz="950" dirty="0">
                <a:solidFill>
                  <a:srgbClr val="6C757D"/>
                </a:solidFill>
                <a:latin typeface="Calibri" pitchFamily="34" charset="0"/>
                <a:ea typeface="Calibri" pitchFamily="34" charset="-122"/>
                <a:cs typeface="Calibri" pitchFamily="34" charset="-120"/>
              </a:rPr>
              <a:t>LOW / MEDIUM / HIGH dùng hàm tam giác, hình thang</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4332"/>
          </a:solidFill>
          <a:ln w="12700">
            <a:solidFill>
              <a:srgbClr val="1B4332"/>
            </a:solidFill>
            <a:prstDash val="solid"/>
          </a:ln>
        </p:spPr>
      </p:sp>
      <p:sp>
        <p:nvSpPr>
          <p:cNvPr id="3" name="Shape 1"/>
          <p:cNvSpPr/>
          <p:nvPr/>
        </p:nvSpPr>
        <p:spPr>
          <a:xfrm>
            <a:off x="0" y="685800"/>
            <a:ext cx="9144000" cy="45720"/>
          </a:xfrm>
          <a:prstGeom prst="rect">
            <a:avLst/>
          </a:prstGeom>
          <a:solidFill>
            <a:srgbClr val="74C69D"/>
          </a:solidFill>
          <a:ln w="12700">
            <a:solidFill>
              <a:srgbClr val="74C69D"/>
            </a:solidFill>
            <a:prstDash val="solid"/>
          </a:ln>
        </p:spPr>
      </p:sp>
      <p:sp>
        <p:nvSpPr>
          <p:cNvPr id="4" name="Text 2"/>
          <p:cNvSpPr/>
          <p:nvPr/>
        </p:nvSpPr>
        <p:spPr>
          <a:xfrm>
            <a:off x="274320" y="0"/>
            <a:ext cx="8595360" cy="68580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Xây Dựng Mô Hình – Pipeline Hybrid CNN + Fuzzy</a:t>
            </a:r>
            <a:endParaRPr lang="en-US" sz="2000" dirty="0"/>
          </a:p>
        </p:txBody>
      </p:sp>
      <p:sp>
        <p:nvSpPr>
          <p:cNvPr id="5" name="Shape 3"/>
          <p:cNvSpPr/>
          <p:nvPr/>
        </p:nvSpPr>
        <p:spPr>
          <a:xfrm>
            <a:off x="0" y="4869180"/>
            <a:ext cx="9144000" cy="274320"/>
          </a:xfrm>
          <a:prstGeom prst="rect">
            <a:avLst/>
          </a:prstGeom>
          <a:solidFill>
            <a:srgbClr val="D8F3DC"/>
          </a:solidFill>
          <a:ln w="12700">
            <a:solidFill>
              <a:srgbClr val="D8F3DC"/>
            </a:solidFill>
            <a:prstDash val="solid"/>
          </a:ln>
        </p:spPr>
      </p:sp>
      <p:sp>
        <p:nvSpPr>
          <p:cNvPr id="6" name="Text 4"/>
          <p:cNvSpPr/>
          <p:nvPr/>
        </p:nvSpPr>
        <p:spPr>
          <a:xfrm>
            <a:off x="274320" y="4869180"/>
            <a:ext cx="8595360" cy="274320"/>
          </a:xfrm>
          <a:prstGeom prst="rect">
            <a:avLst/>
          </a:prstGeom>
          <a:noFill/>
          <a:ln/>
        </p:spPr>
        <p:txBody>
          <a:bodyPr wrap="square" lIns="0" tIns="0" rIns="0" bIns="0" rtlCol="0" anchor="ctr"/>
          <a:lstStyle/>
          <a:p>
            <a:pPr marL="0" indent="0" algn="l">
              <a:buNone/>
            </a:pPr>
            <a:r>
              <a:rPr lang="en-US" sz="800" dirty="0">
                <a:solidFill>
                  <a:srgbClr val="6C757D"/>
                </a:solidFill>
                <a:latin typeface="Calibri" pitchFamily="34" charset="0"/>
                <a:ea typeface="Calibri" pitchFamily="34" charset="-122"/>
                <a:cs typeface="Calibri" pitchFamily="34" charset="-120"/>
              </a:rPr>
              <a:t>Nhóm 14 | Hệ Thống Thông Minh | ĐH Thủy Lợi</a:t>
            </a:r>
            <a:endParaRPr lang="en-US" sz="800" dirty="0"/>
          </a:p>
        </p:txBody>
      </p:sp>
      <p:sp>
        <p:nvSpPr>
          <p:cNvPr id="7" name="Shape 5"/>
          <p:cNvSpPr/>
          <p:nvPr/>
        </p:nvSpPr>
        <p:spPr>
          <a:xfrm>
            <a:off x="320040" y="841248"/>
            <a:ext cx="1463040" cy="777240"/>
          </a:xfrm>
          <a:prstGeom prst="rect">
            <a:avLst/>
          </a:prstGeom>
          <a:solidFill>
            <a:srgbClr val="1B4332"/>
          </a:solidFill>
          <a:ln w="12700">
            <a:solidFill>
              <a:srgbClr val="1B4332"/>
            </a:solidFill>
            <a:prstDash val="solid"/>
          </a:ln>
          <a:effectLst>
            <a:outerShdw blurRad="50800" dist="25400" dir="8100000" algn="bl" rotWithShape="0">
              <a:srgbClr val="666666">
                <a:alpha val="30000"/>
              </a:srgbClr>
            </a:outerShdw>
          </a:effectLst>
        </p:spPr>
      </p:sp>
      <p:sp>
        <p:nvSpPr>
          <p:cNvPr id="8" name="Text 6"/>
          <p:cNvSpPr/>
          <p:nvPr/>
        </p:nvSpPr>
        <p:spPr>
          <a:xfrm>
            <a:off x="320040" y="841248"/>
            <a:ext cx="1463040" cy="7772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Input</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(Ảnh + Môi trường)</a:t>
            </a:r>
            <a:endParaRPr lang="en-US" sz="1000" dirty="0"/>
          </a:p>
        </p:txBody>
      </p:sp>
      <p:sp>
        <p:nvSpPr>
          <p:cNvPr id="9" name="Shape 7"/>
          <p:cNvSpPr/>
          <p:nvPr/>
        </p:nvSpPr>
        <p:spPr>
          <a:xfrm>
            <a:off x="1783080" y="1202436"/>
            <a:ext cx="256032" cy="54864"/>
          </a:xfrm>
          <a:prstGeom prst="rect">
            <a:avLst/>
          </a:prstGeom>
          <a:solidFill>
            <a:srgbClr val="6C757D"/>
          </a:solidFill>
          <a:ln w="12700">
            <a:solidFill>
              <a:srgbClr val="6C757D"/>
            </a:solidFill>
            <a:prstDash val="solid"/>
          </a:ln>
        </p:spPr>
      </p:sp>
      <p:sp>
        <p:nvSpPr>
          <p:cNvPr id="10" name="Shape 8"/>
          <p:cNvSpPr/>
          <p:nvPr/>
        </p:nvSpPr>
        <p:spPr>
          <a:xfrm>
            <a:off x="2057400" y="841248"/>
            <a:ext cx="1463040" cy="777240"/>
          </a:xfrm>
          <a:prstGeom prst="rect">
            <a:avLst/>
          </a:prstGeom>
          <a:solidFill>
            <a:srgbClr val="2D6A4F"/>
          </a:solidFill>
          <a:ln w="12700">
            <a:solidFill>
              <a:srgbClr val="2D6A4F"/>
            </a:solidFill>
            <a:prstDash val="solid"/>
          </a:ln>
          <a:effectLst>
            <a:outerShdw blurRad="50800" dist="25400" dir="8100000" algn="bl" rotWithShape="0">
              <a:srgbClr val="666666">
                <a:alpha val="30000"/>
              </a:srgbClr>
            </a:outerShdw>
          </a:effectLst>
        </p:spPr>
      </p:sp>
      <p:sp>
        <p:nvSpPr>
          <p:cNvPr id="11" name="Text 9"/>
          <p:cNvSpPr/>
          <p:nvPr/>
        </p:nvSpPr>
        <p:spPr>
          <a:xfrm>
            <a:off x="2057400" y="841248"/>
            <a:ext cx="1463040" cy="7772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CNN</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EfficientNet-B0</a:t>
            </a:r>
            <a:endParaRPr lang="en-US" sz="1000" dirty="0"/>
          </a:p>
        </p:txBody>
      </p:sp>
      <p:sp>
        <p:nvSpPr>
          <p:cNvPr id="12" name="Shape 10"/>
          <p:cNvSpPr/>
          <p:nvPr/>
        </p:nvSpPr>
        <p:spPr>
          <a:xfrm>
            <a:off x="3520440" y="1202436"/>
            <a:ext cx="256032" cy="54864"/>
          </a:xfrm>
          <a:prstGeom prst="rect">
            <a:avLst/>
          </a:prstGeom>
          <a:solidFill>
            <a:srgbClr val="6C757D"/>
          </a:solidFill>
          <a:ln w="12700">
            <a:solidFill>
              <a:srgbClr val="6C757D"/>
            </a:solidFill>
            <a:prstDash val="solid"/>
          </a:ln>
        </p:spPr>
      </p:sp>
      <p:sp>
        <p:nvSpPr>
          <p:cNvPr id="13" name="Shape 11"/>
          <p:cNvSpPr/>
          <p:nvPr/>
        </p:nvSpPr>
        <p:spPr>
          <a:xfrm>
            <a:off x="3794760" y="841248"/>
            <a:ext cx="1463040" cy="777240"/>
          </a:xfrm>
          <a:prstGeom prst="rect">
            <a:avLst/>
          </a:prstGeom>
          <a:solidFill>
            <a:srgbClr val="40916C"/>
          </a:solidFill>
          <a:ln w="12700">
            <a:solidFill>
              <a:srgbClr val="40916C"/>
            </a:solidFill>
            <a:prstDash val="solid"/>
          </a:ln>
          <a:effectLst>
            <a:outerShdw blurRad="50800" dist="25400" dir="8100000" algn="bl" rotWithShape="0">
              <a:srgbClr val="666666">
                <a:alpha val="30000"/>
              </a:srgbClr>
            </a:outerShdw>
          </a:effectLst>
        </p:spPr>
      </p:sp>
      <p:sp>
        <p:nvSpPr>
          <p:cNvPr id="14" name="Text 12"/>
          <p:cNvSpPr/>
          <p:nvPr/>
        </p:nvSpPr>
        <p:spPr>
          <a:xfrm>
            <a:off x="3794760" y="841248"/>
            <a:ext cx="1463040" cy="7772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Fuzzy</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Inference</a:t>
            </a:r>
            <a:endParaRPr lang="en-US" sz="1000" dirty="0"/>
          </a:p>
        </p:txBody>
      </p:sp>
      <p:sp>
        <p:nvSpPr>
          <p:cNvPr id="15" name="Shape 13"/>
          <p:cNvSpPr/>
          <p:nvPr/>
        </p:nvSpPr>
        <p:spPr>
          <a:xfrm>
            <a:off x="5257800" y="1202436"/>
            <a:ext cx="256032" cy="54864"/>
          </a:xfrm>
          <a:prstGeom prst="rect">
            <a:avLst/>
          </a:prstGeom>
          <a:solidFill>
            <a:srgbClr val="6C757D"/>
          </a:solidFill>
          <a:ln w="12700">
            <a:solidFill>
              <a:srgbClr val="6C757D"/>
            </a:solidFill>
            <a:prstDash val="solid"/>
          </a:ln>
        </p:spPr>
      </p:sp>
      <p:sp>
        <p:nvSpPr>
          <p:cNvPr id="16" name="Shape 14"/>
          <p:cNvSpPr/>
          <p:nvPr/>
        </p:nvSpPr>
        <p:spPr>
          <a:xfrm>
            <a:off x="5532120" y="841248"/>
            <a:ext cx="1463040" cy="777240"/>
          </a:xfrm>
          <a:prstGeom prst="rect">
            <a:avLst/>
          </a:prstGeom>
          <a:solidFill>
            <a:srgbClr val="F4A261"/>
          </a:solidFill>
          <a:ln w="12700">
            <a:solidFill>
              <a:srgbClr val="F4A261"/>
            </a:solidFill>
            <a:prstDash val="solid"/>
          </a:ln>
          <a:effectLst>
            <a:outerShdw blurRad="50800" dist="25400" dir="8100000" algn="bl" rotWithShape="0">
              <a:srgbClr val="666666">
                <a:alpha val="30000"/>
              </a:srgbClr>
            </a:outerShdw>
          </a:effectLst>
        </p:spPr>
      </p:sp>
      <p:sp>
        <p:nvSpPr>
          <p:cNvPr id="17" name="Text 15"/>
          <p:cNvSpPr/>
          <p:nvPr/>
        </p:nvSpPr>
        <p:spPr>
          <a:xfrm>
            <a:off x="5532120" y="841248"/>
            <a:ext cx="1463040" cy="7772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Hybrid</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Decision</a:t>
            </a:r>
            <a:endParaRPr lang="en-US" sz="1000" dirty="0"/>
          </a:p>
        </p:txBody>
      </p:sp>
      <p:sp>
        <p:nvSpPr>
          <p:cNvPr id="18" name="Shape 16"/>
          <p:cNvSpPr/>
          <p:nvPr/>
        </p:nvSpPr>
        <p:spPr>
          <a:xfrm>
            <a:off x="6995160" y="1202436"/>
            <a:ext cx="256032" cy="54864"/>
          </a:xfrm>
          <a:prstGeom prst="rect">
            <a:avLst/>
          </a:prstGeom>
          <a:solidFill>
            <a:srgbClr val="6C757D"/>
          </a:solidFill>
          <a:ln w="12700">
            <a:solidFill>
              <a:srgbClr val="6C757D"/>
            </a:solidFill>
            <a:prstDash val="solid"/>
          </a:ln>
        </p:spPr>
      </p:sp>
      <p:sp>
        <p:nvSpPr>
          <p:cNvPr id="19" name="Shape 17"/>
          <p:cNvSpPr/>
          <p:nvPr/>
        </p:nvSpPr>
        <p:spPr>
          <a:xfrm>
            <a:off x="7269480" y="841248"/>
            <a:ext cx="1463040" cy="777240"/>
          </a:xfrm>
          <a:prstGeom prst="rect">
            <a:avLst/>
          </a:prstGeom>
          <a:solidFill>
            <a:srgbClr val="E76F51"/>
          </a:solidFill>
          <a:ln w="12700">
            <a:solidFill>
              <a:srgbClr val="E76F51"/>
            </a:solidFill>
            <a:prstDash val="solid"/>
          </a:ln>
          <a:effectLst>
            <a:outerShdw blurRad="50800" dist="25400" dir="8100000" algn="bl" rotWithShape="0">
              <a:srgbClr val="666666">
                <a:alpha val="30000"/>
              </a:srgbClr>
            </a:outerShdw>
          </a:effectLst>
        </p:spPr>
      </p:sp>
      <p:sp>
        <p:nvSpPr>
          <p:cNvPr id="20" name="Text 18"/>
          <p:cNvSpPr/>
          <p:nvPr/>
        </p:nvSpPr>
        <p:spPr>
          <a:xfrm>
            <a:off x="7269480" y="841248"/>
            <a:ext cx="1463040" cy="7772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Output</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 XAI</a:t>
            </a:r>
            <a:endParaRPr lang="en-US" sz="1000" dirty="0"/>
          </a:p>
        </p:txBody>
      </p:sp>
      <p:sp>
        <p:nvSpPr>
          <p:cNvPr id="21" name="Shape 19"/>
          <p:cNvSpPr/>
          <p:nvPr/>
        </p:nvSpPr>
        <p:spPr>
          <a:xfrm>
            <a:off x="320040" y="1737360"/>
            <a:ext cx="8503920" cy="411480"/>
          </a:xfrm>
          <a:prstGeom prst="rect">
            <a:avLst/>
          </a:prstGeom>
          <a:solidFill>
            <a:srgbClr val="EFF8F3"/>
          </a:solidFill>
          <a:ln w="12700">
            <a:solidFill>
              <a:srgbClr val="74C69D"/>
            </a:solidFill>
            <a:prstDash val="solid"/>
          </a:ln>
        </p:spPr>
      </p:sp>
      <p:sp>
        <p:nvSpPr>
          <p:cNvPr id="22" name="Text 20"/>
          <p:cNvSpPr/>
          <p:nvPr/>
        </p:nvSpPr>
        <p:spPr>
          <a:xfrm>
            <a:off x="320040" y="1737360"/>
            <a:ext cx="8503920" cy="411480"/>
          </a:xfrm>
          <a:prstGeom prst="rect">
            <a:avLst/>
          </a:prstGeom>
          <a:noFill/>
          <a:ln/>
        </p:spPr>
        <p:txBody>
          <a:bodyPr wrap="square" rtlCol="0" anchor="ctr"/>
          <a:lstStyle/>
          <a:p>
            <a:pPr marL="0" indent="0" algn="ctr">
              <a:buNone/>
            </a:pPr>
            <a:r>
              <a:rPr lang="en-US" sz="1400" b="1" dirty="0">
                <a:solidFill>
                  <a:srgbClr val="1B4332"/>
                </a:solidFill>
                <a:latin typeface="Calibri" pitchFamily="34" charset="0"/>
                <a:ea typeface="Calibri" pitchFamily="34" charset="-122"/>
                <a:cs typeface="Calibri" pitchFamily="34" charset="-120"/>
              </a:rPr>
              <a:t>Final Score  =  α × CNN_Score  +  β × Fuzzy_Score</a:t>
            </a:r>
            <a:endParaRPr lang="en-US" sz="1400" dirty="0"/>
          </a:p>
        </p:txBody>
      </p:sp>
      <p:sp>
        <p:nvSpPr>
          <p:cNvPr id="23" name="Shape 21"/>
          <p:cNvSpPr/>
          <p:nvPr/>
        </p:nvSpPr>
        <p:spPr>
          <a:xfrm>
            <a:off x="228600" y="2240280"/>
            <a:ext cx="4206240" cy="2423160"/>
          </a:xfrm>
          <a:prstGeom prst="rect">
            <a:avLst/>
          </a:prstGeom>
          <a:solidFill>
            <a:srgbClr val="D8F3DC"/>
          </a:solidFill>
          <a:ln w="12700">
            <a:solidFill>
              <a:srgbClr val="40916C"/>
            </a:solidFill>
            <a:prstDash val="solid"/>
          </a:ln>
          <a:effectLst>
            <a:outerShdw blurRad="63500" dist="25400" dir="8100000" algn="bl" rotWithShape="0">
              <a:srgbClr val="AAAAAA">
                <a:alpha val="20000"/>
              </a:srgbClr>
            </a:outerShdw>
          </a:effectLst>
        </p:spPr>
      </p:sp>
      <p:sp>
        <p:nvSpPr>
          <p:cNvPr id="24" name="Text 22"/>
          <p:cNvSpPr/>
          <p:nvPr/>
        </p:nvSpPr>
        <p:spPr>
          <a:xfrm>
            <a:off x="320040" y="2286000"/>
            <a:ext cx="4023360" cy="411480"/>
          </a:xfrm>
          <a:prstGeom prst="rect">
            <a:avLst/>
          </a:prstGeom>
          <a:noFill/>
          <a:ln/>
        </p:spPr>
        <p:txBody>
          <a:bodyPr wrap="square" rtlCol="0" anchor="ctr"/>
          <a:lstStyle/>
          <a:p>
            <a:pPr marL="0" indent="0">
              <a:buNone/>
            </a:pPr>
            <a:r>
              <a:rPr lang="en-US" sz="1200" b="1" dirty="0">
                <a:solidFill>
                  <a:srgbClr val="1B4332"/>
                </a:solidFill>
                <a:latin typeface="Calibri" pitchFamily="34" charset="0"/>
                <a:ea typeface="Calibri" pitchFamily="34" charset="-122"/>
                <a:cs typeface="Calibri" pitchFamily="34" charset="-120"/>
              </a:rPr>
              <a:t>🤖  Mô Hình 1: EfficientNet-B0 (CNN)</a:t>
            </a:r>
            <a:endParaRPr lang="en-US" sz="1200" dirty="0"/>
          </a:p>
        </p:txBody>
      </p:sp>
      <p:sp>
        <p:nvSpPr>
          <p:cNvPr id="25" name="Shape 23"/>
          <p:cNvSpPr/>
          <p:nvPr/>
        </p:nvSpPr>
        <p:spPr>
          <a:xfrm>
            <a:off x="320040" y="2679192"/>
            <a:ext cx="4023360" cy="27432"/>
          </a:xfrm>
          <a:prstGeom prst="rect">
            <a:avLst/>
          </a:prstGeom>
          <a:solidFill>
            <a:srgbClr val="40916C"/>
          </a:solidFill>
          <a:ln w="12700">
            <a:solidFill>
              <a:srgbClr val="40916C"/>
            </a:solidFill>
            <a:prstDash val="solid"/>
          </a:ln>
        </p:spPr>
      </p:sp>
      <p:sp>
        <p:nvSpPr>
          <p:cNvPr id="26" name="Text 24"/>
          <p:cNvSpPr/>
          <p:nvPr/>
        </p:nvSpPr>
        <p:spPr>
          <a:xfrm>
            <a:off x="320040" y="2743200"/>
            <a:ext cx="4023360" cy="1828800"/>
          </a:xfrm>
          <a:prstGeom prst="rect">
            <a:avLst/>
          </a:prstGeom>
          <a:noFill/>
          <a:ln/>
        </p:spPr>
        <p:txBody>
          <a:bodyPr wrap="square" rtlCol="0" anchor="ctr"/>
          <a:lstStyle/>
          <a:p>
            <a:pPr marL="342900" indent="-342900">
              <a:buSzPct val="100000"/>
              <a:buChar char="•"/>
            </a:pPr>
            <a:r>
              <a:rPr lang="en-US" sz="1050" dirty="0">
                <a:solidFill>
                  <a:srgbClr val="1A1A2E"/>
                </a:solidFill>
                <a:latin typeface="Calibri" pitchFamily="34" charset="0"/>
                <a:ea typeface="Calibri" pitchFamily="34" charset="-122"/>
                <a:cs typeface="Calibri" pitchFamily="34" charset="-120"/>
              </a:rPr>
              <a:t>Transfer Learning từ ImageNet</a:t>
            </a:r>
            <a:endParaRPr lang="en-US" sz="1050" dirty="0"/>
          </a:p>
          <a:p>
            <a:pPr marL="342900" indent="-342900">
              <a:buSzPct val="100000"/>
              <a:buChar char="•"/>
            </a:pPr>
            <a:r>
              <a:rPr lang="en-US" sz="1050" dirty="0">
                <a:solidFill>
                  <a:srgbClr val="1A1A2E"/>
                </a:solidFill>
                <a:latin typeface="Calibri" pitchFamily="34" charset="0"/>
                <a:ea typeface="Calibri" pitchFamily="34" charset="-122"/>
                <a:cs typeface="Calibri" pitchFamily="34" charset="-120"/>
              </a:rPr>
              <a:t>Phân loại 9 lớp bệnh lúa</a:t>
            </a:r>
            <a:endParaRPr lang="en-US" sz="1050" dirty="0"/>
          </a:p>
          <a:p>
            <a:pPr marL="342900" indent="-342900">
              <a:buSzPct val="100000"/>
              <a:buChar char="•"/>
            </a:pPr>
            <a:r>
              <a:rPr lang="en-US" sz="1050" dirty="0">
                <a:solidFill>
                  <a:srgbClr val="1A1A2E"/>
                </a:solidFill>
                <a:latin typeface="Calibri" pitchFamily="34" charset="0"/>
                <a:ea typeface="Calibri" pitchFamily="34" charset="-122"/>
                <a:cs typeface="Calibri" pitchFamily="34" charset="-120"/>
              </a:rPr>
              <a:t>Đầu ra: Softmax probability vector</a:t>
            </a:r>
            <a:endParaRPr lang="en-US" sz="1050" dirty="0"/>
          </a:p>
          <a:p>
            <a:pPr marL="342900" indent="-342900">
              <a:buSzPct val="100000"/>
              <a:buChar char="•"/>
            </a:pPr>
            <a:r>
              <a:rPr lang="en-US" sz="1050" dirty="0">
                <a:solidFill>
                  <a:srgbClr val="1A1A2E"/>
                </a:solidFill>
                <a:latin typeface="Calibri" pitchFamily="34" charset="0"/>
                <a:ea typeface="Calibri" pitchFamily="34" charset="-122"/>
                <a:cs typeface="Calibri" pitchFamily="34" charset="-120"/>
              </a:rPr>
              <a:t>Validation Accuracy: 92.04%</a:t>
            </a:r>
            <a:endParaRPr lang="en-US" sz="1050" dirty="0"/>
          </a:p>
          <a:p>
            <a:pPr marL="342900" indent="-342900">
              <a:buSzPct val="100000"/>
              <a:buChar char="•"/>
            </a:pPr>
            <a:r>
              <a:rPr lang="en-US" sz="1050" dirty="0">
                <a:solidFill>
                  <a:srgbClr val="1A1A2E"/>
                </a:solidFill>
                <a:latin typeface="Calibri" pitchFamily="34" charset="0"/>
                <a:ea typeface="Calibri" pitchFamily="34" charset="-122"/>
                <a:cs typeface="Calibri" pitchFamily="34" charset="-120"/>
              </a:rPr>
              <a:t>Macro F1-score: 0.9190</a:t>
            </a:r>
            <a:endParaRPr lang="en-US" sz="1050" dirty="0"/>
          </a:p>
        </p:txBody>
      </p:sp>
      <p:sp>
        <p:nvSpPr>
          <p:cNvPr id="27" name="Shape 25"/>
          <p:cNvSpPr/>
          <p:nvPr/>
        </p:nvSpPr>
        <p:spPr>
          <a:xfrm>
            <a:off x="4663440" y="2240280"/>
            <a:ext cx="4206240" cy="2423160"/>
          </a:xfrm>
          <a:prstGeom prst="rect">
            <a:avLst/>
          </a:prstGeom>
          <a:solidFill>
            <a:srgbClr val="E8F5E9"/>
          </a:solidFill>
          <a:ln w="12700">
            <a:solidFill>
              <a:srgbClr val="40916C"/>
            </a:solidFill>
            <a:prstDash val="solid"/>
          </a:ln>
          <a:effectLst>
            <a:outerShdw blurRad="63500" dist="25400" dir="8100000" algn="bl" rotWithShape="0">
              <a:srgbClr val="AAAAAA">
                <a:alpha val="20000"/>
              </a:srgbClr>
            </a:outerShdw>
          </a:effectLst>
        </p:spPr>
      </p:sp>
      <p:sp>
        <p:nvSpPr>
          <p:cNvPr id="28" name="Text 26"/>
          <p:cNvSpPr/>
          <p:nvPr/>
        </p:nvSpPr>
        <p:spPr>
          <a:xfrm>
            <a:off x="4754880" y="2286000"/>
            <a:ext cx="4023360" cy="411480"/>
          </a:xfrm>
          <a:prstGeom prst="rect">
            <a:avLst/>
          </a:prstGeom>
          <a:noFill/>
          <a:ln/>
        </p:spPr>
        <p:txBody>
          <a:bodyPr wrap="square" rtlCol="0" anchor="ctr"/>
          <a:lstStyle/>
          <a:p>
            <a:pPr marL="0" indent="0">
              <a:buNone/>
            </a:pPr>
            <a:r>
              <a:rPr lang="en-US" sz="1200" b="1" dirty="0">
                <a:solidFill>
                  <a:srgbClr val="1B4332"/>
                </a:solidFill>
                <a:latin typeface="Calibri" pitchFamily="34" charset="0"/>
                <a:ea typeface="Calibri" pitchFamily="34" charset="-122"/>
                <a:cs typeface="Calibri" pitchFamily="34" charset="-120"/>
              </a:rPr>
              <a:t>🧠  Mô Hình 2: Fuzzy Inference System (Mamdani)</a:t>
            </a:r>
            <a:endParaRPr lang="en-US" sz="1200" dirty="0"/>
          </a:p>
        </p:txBody>
      </p:sp>
      <p:sp>
        <p:nvSpPr>
          <p:cNvPr id="29" name="Shape 27"/>
          <p:cNvSpPr/>
          <p:nvPr/>
        </p:nvSpPr>
        <p:spPr>
          <a:xfrm>
            <a:off x="4754880" y="2679192"/>
            <a:ext cx="4023360" cy="27432"/>
          </a:xfrm>
          <a:prstGeom prst="rect">
            <a:avLst/>
          </a:prstGeom>
          <a:solidFill>
            <a:srgbClr val="40916C"/>
          </a:solidFill>
          <a:ln w="12700">
            <a:solidFill>
              <a:srgbClr val="40916C"/>
            </a:solidFill>
            <a:prstDash val="solid"/>
          </a:ln>
        </p:spPr>
      </p:sp>
      <p:sp>
        <p:nvSpPr>
          <p:cNvPr id="30" name="Text 28"/>
          <p:cNvSpPr/>
          <p:nvPr/>
        </p:nvSpPr>
        <p:spPr>
          <a:xfrm>
            <a:off x="4754880" y="2743200"/>
            <a:ext cx="4023360" cy="1828800"/>
          </a:xfrm>
          <a:prstGeom prst="rect">
            <a:avLst/>
          </a:prstGeom>
          <a:noFill/>
          <a:ln/>
        </p:spPr>
        <p:txBody>
          <a:bodyPr wrap="square" rtlCol="0" anchor="ctr"/>
          <a:lstStyle/>
          <a:p>
            <a:pPr marL="342900" indent="-342900">
              <a:buSzPct val="100000"/>
              <a:buChar char="•"/>
            </a:pPr>
            <a:r>
              <a:rPr lang="en-US" sz="1050" dirty="0">
                <a:solidFill>
                  <a:srgbClr val="1A1A2E"/>
                </a:solidFill>
                <a:latin typeface="Calibri" pitchFamily="34" charset="0"/>
                <a:ea typeface="Calibri" pitchFamily="34" charset="-122"/>
                <a:cs typeface="Calibri" pitchFamily="34" charset="-120"/>
              </a:rPr>
              <a:t>Biến đầu vào: CNN Score, Độ ẩm, Nhiệt độ</a:t>
            </a:r>
            <a:endParaRPr lang="en-US" sz="1050" dirty="0"/>
          </a:p>
          <a:p>
            <a:pPr marL="342900" indent="-342900">
              <a:buSzPct val="100000"/>
              <a:buChar char="•"/>
            </a:pPr>
            <a:r>
              <a:rPr lang="en-US" sz="1050" dirty="0">
                <a:solidFill>
                  <a:srgbClr val="1A1A2E"/>
                </a:solidFill>
                <a:latin typeface="Calibri" pitchFamily="34" charset="0"/>
                <a:ea typeface="Calibri" pitchFamily="34" charset="-122"/>
                <a:cs typeface="Calibri" pitchFamily="34" charset="-120"/>
              </a:rPr>
              <a:t>Biến đầu ra: Diagnostic Confidence, ERI, VSI</a:t>
            </a:r>
            <a:endParaRPr lang="en-US" sz="1050" dirty="0"/>
          </a:p>
          <a:p>
            <a:pPr marL="342900" indent="-342900">
              <a:buSzPct val="100000"/>
              <a:buChar char="•"/>
            </a:pPr>
            <a:r>
              <a:rPr lang="en-US" sz="1050" dirty="0">
                <a:solidFill>
                  <a:srgbClr val="1A1A2E"/>
                </a:solidFill>
                <a:latin typeface="Calibri" pitchFamily="34" charset="0"/>
                <a:ea typeface="Calibri" pitchFamily="34" charset="-122"/>
                <a:cs typeface="Calibri" pitchFamily="34" charset="-120"/>
              </a:rPr>
              <a:t>Cơ sở luật: IF-THEN (Luật R1, R2, R3…)</a:t>
            </a:r>
            <a:endParaRPr lang="en-US" sz="1050" dirty="0"/>
          </a:p>
          <a:p>
            <a:pPr marL="342900" indent="-342900">
              <a:buSzPct val="100000"/>
              <a:buChar char="•"/>
            </a:pPr>
            <a:r>
              <a:rPr lang="en-US" sz="1050" dirty="0">
                <a:solidFill>
                  <a:srgbClr val="1A1A2E"/>
                </a:solidFill>
                <a:latin typeface="Calibri" pitchFamily="34" charset="0"/>
                <a:ea typeface="Calibri" pitchFamily="34" charset="-122"/>
                <a:cs typeface="Calibri" pitchFamily="34" charset="-120"/>
              </a:rPr>
              <a:t>Defuzzification: Centroid Method</a:t>
            </a:r>
            <a:endParaRPr lang="en-US" sz="1050" dirty="0"/>
          </a:p>
          <a:p>
            <a:pPr marL="342900" indent="-342900">
              <a:buSzPct val="100000"/>
              <a:buChar char="•"/>
            </a:pPr>
            <a:r>
              <a:rPr lang="en-US" sz="1050" dirty="0">
                <a:solidFill>
                  <a:srgbClr val="1A1A2E"/>
                </a:solidFill>
                <a:latin typeface="Calibri" pitchFamily="34" charset="0"/>
                <a:ea typeface="Calibri" pitchFamily="34" charset="-122"/>
                <a:cs typeface="Calibri" pitchFamily="34" charset="-120"/>
              </a:rPr>
              <a:t>Giải thích bằng ngôn ngữ tự nhiên</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4332"/>
          </a:solidFill>
          <a:ln w="12700">
            <a:solidFill>
              <a:srgbClr val="1B4332"/>
            </a:solidFill>
            <a:prstDash val="solid"/>
          </a:ln>
        </p:spPr>
      </p:sp>
      <p:sp>
        <p:nvSpPr>
          <p:cNvPr id="3" name="Shape 1"/>
          <p:cNvSpPr/>
          <p:nvPr/>
        </p:nvSpPr>
        <p:spPr>
          <a:xfrm>
            <a:off x="0" y="685800"/>
            <a:ext cx="9144000" cy="45720"/>
          </a:xfrm>
          <a:prstGeom prst="rect">
            <a:avLst/>
          </a:prstGeom>
          <a:solidFill>
            <a:srgbClr val="74C69D"/>
          </a:solidFill>
          <a:ln w="12700">
            <a:solidFill>
              <a:srgbClr val="74C69D"/>
            </a:solidFill>
            <a:prstDash val="solid"/>
          </a:ln>
        </p:spPr>
      </p:sp>
      <p:sp>
        <p:nvSpPr>
          <p:cNvPr id="4" name="Text 2"/>
          <p:cNvSpPr/>
          <p:nvPr/>
        </p:nvSpPr>
        <p:spPr>
          <a:xfrm>
            <a:off x="274320" y="0"/>
            <a:ext cx="8595360" cy="68580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Fuzzy Inference System – Thiết Kế Chi Tiết</a:t>
            </a:r>
            <a:endParaRPr lang="en-US" sz="2000" dirty="0"/>
          </a:p>
        </p:txBody>
      </p:sp>
      <p:sp>
        <p:nvSpPr>
          <p:cNvPr id="5" name="Shape 3"/>
          <p:cNvSpPr/>
          <p:nvPr/>
        </p:nvSpPr>
        <p:spPr>
          <a:xfrm>
            <a:off x="0" y="4869180"/>
            <a:ext cx="9144000" cy="274320"/>
          </a:xfrm>
          <a:prstGeom prst="rect">
            <a:avLst/>
          </a:prstGeom>
          <a:solidFill>
            <a:srgbClr val="D8F3DC"/>
          </a:solidFill>
          <a:ln w="12700">
            <a:solidFill>
              <a:srgbClr val="D8F3DC"/>
            </a:solidFill>
            <a:prstDash val="solid"/>
          </a:ln>
        </p:spPr>
      </p:sp>
      <p:sp>
        <p:nvSpPr>
          <p:cNvPr id="6" name="Text 4"/>
          <p:cNvSpPr/>
          <p:nvPr/>
        </p:nvSpPr>
        <p:spPr>
          <a:xfrm>
            <a:off x="274320" y="4869180"/>
            <a:ext cx="8595360" cy="274320"/>
          </a:xfrm>
          <a:prstGeom prst="rect">
            <a:avLst/>
          </a:prstGeom>
          <a:noFill/>
          <a:ln/>
        </p:spPr>
        <p:txBody>
          <a:bodyPr wrap="square" lIns="0" tIns="0" rIns="0" bIns="0" rtlCol="0" anchor="ctr"/>
          <a:lstStyle/>
          <a:p>
            <a:pPr marL="0" indent="0" algn="l">
              <a:buNone/>
            </a:pPr>
            <a:r>
              <a:rPr lang="en-US" sz="800" dirty="0">
                <a:solidFill>
                  <a:srgbClr val="6C757D"/>
                </a:solidFill>
                <a:latin typeface="Calibri" pitchFamily="34" charset="0"/>
                <a:ea typeface="Calibri" pitchFamily="34" charset="-122"/>
                <a:cs typeface="Calibri" pitchFamily="34" charset="-120"/>
              </a:rPr>
              <a:t>Nhóm 14 | Hệ Thống Thông Minh | ĐH Thủy Lợi</a:t>
            </a:r>
            <a:endParaRPr lang="en-US" sz="800" dirty="0"/>
          </a:p>
        </p:txBody>
      </p:sp>
      <p:sp>
        <p:nvSpPr>
          <p:cNvPr id="7" name="Text 5"/>
          <p:cNvSpPr/>
          <p:nvPr/>
        </p:nvSpPr>
        <p:spPr>
          <a:xfrm>
            <a:off x="228600" y="804672"/>
            <a:ext cx="8686800" cy="347472"/>
          </a:xfrm>
          <a:prstGeom prst="rect">
            <a:avLst/>
          </a:prstGeom>
          <a:noFill/>
          <a:ln/>
        </p:spPr>
        <p:txBody>
          <a:bodyPr wrap="square" rtlCol="0" anchor="ctr"/>
          <a:lstStyle/>
          <a:p>
            <a:pPr marL="0" indent="0">
              <a:buNone/>
            </a:pPr>
            <a:r>
              <a:rPr lang="en-US" sz="1300" b="1" dirty="0">
                <a:solidFill>
                  <a:srgbClr val="1B4332"/>
                </a:solidFill>
                <a:latin typeface="Calibri" pitchFamily="34" charset="0"/>
                <a:ea typeface="Calibri" pitchFamily="34" charset="-122"/>
                <a:cs typeface="Calibri" pitchFamily="34" charset="-120"/>
              </a:rPr>
              <a:t>Biến Ngôn Ngữ (Linguistic Variables)</a:t>
            </a:r>
            <a:endParaRPr lang="en-US" sz="1300" dirty="0"/>
          </a:p>
        </p:txBody>
      </p:sp>
      <p:sp>
        <p:nvSpPr>
          <p:cNvPr id="8" name="Shape 6"/>
          <p:cNvSpPr/>
          <p:nvPr/>
        </p:nvSpPr>
        <p:spPr>
          <a:xfrm>
            <a:off x="228600" y="1170432"/>
            <a:ext cx="2423160" cy="347472"/>
          </a:xfrm>
          <a:prstGeom prst="rect">
            <a:avLst/>
          </a:prstGeom>
          <a:solidFill>
            <a:srgbClr val="1B4332"/>
          </a:solidFill>
          <a:ln w="12700">
            <a:solidFill>
              <a:srgbClr val="1B4332"/>
            </a:solidFill>
            <a:prstDash val="solid"/>
          </a:ln>
        </p:spPr>
      </p:sp>
      <p:sp>
        <p:nvSpPr>
          <p:cNvPr id="9" name="Text 7"/>
          <p:cNvSpPr/>
          <p:nvPr/>
        </p:nvSpPr>
        <p:spPr>
          <a:xfrm>
            <a:off x="228600" y="1170432"/>
            <a:ext cx="2423160"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Từ CNN (Triệu chứng thị giác)</a:t>
            </a:r>
            <a:endParaRPr lang="en-US" sz="1000" dirty="0"/>
          </a:p>
        </p:txBody>
      </p:sp>
      <p:sp>
        <p:nvSpPr>
          <p:cNvPr id="10" name="Shape 8"/>
          <p:cNvSpPr/>
          <p:nvPr/>
        </p:nvSpPr>
        <p:spPr>
          <a:xfrm>
            <a:off x="228600" y="1517904"/>
            <a:ext cx="2423160" cy="1737360"/>
          </a:xfrm>
          <a:prstGeom prst="rect">
            <a:avLst/>
          </a:prstGeom>
          <a:solidFill>
            <a:srgbClr val="D8F3DC"/>
          </a:solidFill>
          <a:ln w="10160">
            <a:solidFill>
              <a:srgbClr val="40916C"/>
            </a:solidFill>
            <a:prstDash val="solid"/>
          </a:ln>
        </p:spPr>
      </p:sp>
      <p:sp>
        <p:nvSpPr>
          <p:cNvPr id="11" name="Text 9"/>
          <p:cNvSpPr/>
          <p:nvPr/>
        </p:nvSpPr>
        <p:spPr>
          <a:xfrm>
            <a:off x="320040" y="1554480"/>
            <a:ext cx="2286000" cy="3200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 BrownSpot – Đốm nâu</a:t>
            </a:r>
            <a:endParaRPr lang="en-US" sz="1000" dirty="0"/>
          </a:p>
        </p:txBody>
      </p:sp>
      <p:sp>
        <p:nvSpPr>
          <p:cNvPr id="12" name="Text 10"/>
          <p:cNvSpPr/>
          <p:nvPr/>
        </p:nvSpPr>
        <p:spPr>
          <a:xfrm>
            <a:off x="320040" y="1901952"/>
            <a:ext cx="2286000" cy="3200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 MoldTexture – Kết cấu nấm mốc</a:t>
            </a:r>
            <a:endParaRPr lang="en-US" sz="1000" dirty="0"/>
          </a:p>
        </p:txBody>
      </p:sp>
      <p:sp>
        <p:nvSpPr>
          <p:cNvPr id="13" name="Text 11"/>
          <p:cNvSpPr/>
          <p:nvPr/>
        </p:nvSpPr>
        <p:spPr>
          <a:xfrm>
            <a:off x="320040" y="2249424"/>
            <a:ext cx="2286000" cy="3200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 YellowEdge – Rìa lá vàng</a:t>
            </a:r>
            <a:endParaRPr lang="en-US" sz="1000" dirty="0"/>
          </a:p>
        </p:txBody>
      </p:sp>
      <p:sp>
        <p:nvSpPr>
          <p:cNvPr id="14" name="Text 12"/>
          <p:cNvSpPr/>
          <p:nvPr/>
        </p:nvSpPr>
        <p:spPr>
          <a:xfrm>
            <a:off x="320040" y="2596896"/>
            <a:ext cx="2286000" cy="3200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 LeafYellowing – Vàng lá</a:t>
            </a:r>
            <a:endParaRPr lang="en-US" sz="1000" dirty="0"/>
          </a:p>
        </p:txBody>
      </p:sp>
      <p:sp>
        <p:nvSpPr>
          <p:cNvPr id="15" name="Text 13"/>
          <p:cNvSpPr/>
          <p:nvPr/>
        </p:nvSpPr>
        <p:spPr>
          <a:xfrm>
            <a:off x="320040" y="2944368"/>
            <a:ext cx="2286000" cy="3200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 HoleDamage – Lá bị thủng</a:t>
            </a:r>
            <a:endParaRPr lang="en-US" sz="1000" dirty="0"/>
          </a:p>
        </p:txBody>
      </p:sp>
      <p:sp>
        <p:nvSpPr>
          <p:cNvPr id="16" name="Shape 14"/>
          <p:cNvSpPr/>
          <p:nvPr/>
        </p:nvSpPr>
        <p:spPr>
          <a:xfrm>
            <a:off x="2834640" y="1170432"/>
            <a:ext cx="2423160" cy="347472"/>
          </a:xfrm>
          <a:prstGeom prst="rect">
            <a:avLst/>
          </a:prstGeom>
          <a:solidFill>
            <a:srgbClr val="1B4332"/>
          </a:solidFill>
          <a:ln w="12700">
            <a:solidFill>
              <a:srgbClr val="1B4332"/>
            </a:solidFill>
            <a:prstDash val="solid"/>
          </a:ln>
        </p:spPr>
      </p:sp>
      <p:sp>
        <p:nvSpPr>
          <p:cNvPr id="17" name="Text 15"/>
          <p:cNvSpPr/>
          <p:nvPr/>
        </p:nvSpPr>
        <p:spPr>
          <a:xfrm>
            <a:off x="2834640" y="1170432"/>
            <a:ext cx="2423160"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Từ Môi trường</a:t>
            </a:r>
            <a:endParaRPr lang="en-US" sz="1000" dirty="0"/>
          </a:p>
        </p:txBody>
      </p:sp>
      <p:sp>
        <p:nvSpPr>
          <p:cNvPr id="18" name="Shape 16"/>
          <p:cNvSpPr/>
          <p:nvPr/>
        </p:nvSpPr>
        <p:spPr>
          <a:xfrm>
            <a:off x="2834640" y="1517904"/>
            <a:ext cx="2423160" cy="1389888"/>
          </a:xfrm>
          <a:prstGeom prst="rect">
            <a:avLst/>
          </a:prstGeom>
          <a:solidFill>
            <a:srgbClr val="FFF9C4"/>
          </a:solidFill>
          <a:ln w="10160">
            <a:solidFill>
              <a:srgbClr val="40916C"/>
            </a:solidFill>
            <a:prstDash val="solid"/>
          </a:ln>
        </p:spPr>
      </p:sp>
      <p:sp>
        <p:nvSpPr>
          <p:cNvPr id="19" name="Text 17"/>
          <p:cNvSpPr/>
          <p:nvPr/>
        </p:nvSpPr>
        <p:spPr>
          <a:xfrm>
            <a:off x="2926080" y="1554480"/>
            <a:ext cx="2286000" cy="3200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 Humidity – Độ ẩm (%)</a:t>
            </a:r>
            <a:endParaRPr lang="en-US" sz="1000" dirty="0"/>
          </a:p>
        </p:txBody>
      </p:sp>
      <p:sp>
        <p:nvSpPr>
          <p:cNvPr id="20" name="Text 18"/>
          <p:cNvSpPr/>
          <p:nvPr/>
        </p:nvSpPr>
        <p:spPr>
          <a:xfrm>
            <a:off x="2926080" y="1901952"/>
            <a:ext cx="2286000" cy="3200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 Temperature – Nhiệt độ (°C)</a:t>
            </a:r>
            <a:endParaRPr lang="en-US" sz="1000" dirty="0"/>
          </a:p>
        </p:txBody>
      </p:sp>
      <p:sp>
        <p:nvSpPr>
          <p:cNvPr id="21" name="Text 19"/>
          <p:cNvSpPr/>
          <p:nvPr/>
        </p:nvSpPr>
        <p:spPr>
          <a:xfrm>
            <a:off x="2926080" y="2249424"/>
            <a:ext cx="2286000" cy="3200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 Rainfall_24h – Lượng mưa 24h</a:t>
            </a:r>
            <a:endParaRPr lang="en-US" sz="1000" dirty="0"/>
          </a:p>
        </p:txBody>
      </p:sp>
      <p:sp>
        <p:nvSpPr>
          <p:cNvPr id="22" name="Text 20"/>
          <p:cNvSpPr/>
          <p:nvPr/>
        </p:nvSpPr>
        <p:spPr>
          <a:xfrm>
            <a:off x="2926080" y="2596896"/>
            <a:ext cx="2286000" cy="3200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 Season – Mùa vụ</a:t>
            </a:r>
            <a:endParaRPr lang="en-US" sz="1000" dirty="0"/>
          </a:p>
        </p:txBody>
      </p:sp>
      <p:sp>
        <p:nvSpPr>
          <p:cNvPr id="23" name="Shape 21"/>
          <p:cNvSpPr/>
          <p:nvPr/>
        </p:nvSpPr>
        <p:spPr>
          <a:xfrm>
            <a:off x="5394960" y="1170432"/>
            <a:ext cx="2423160" cy="347472"/>
          </a:xfrm>
          <a:prstGeom prst="rect">
            <a:avLst/>
          </a:prstGeom>
          <a:solidFill>
            <a:srgbClr val="1B4332"/>
          </a:solidFill>
          <a:ln w="12700">
            <a:solidFill>
              <a:srgbClr val="1B4332"/>
            </a:solidFill>
            <a:prstDash val="solid"/>
          </a:ln>
        </p:spPr>
      </p:sp>
      <p:sp>
        <p:nvSpPr>
          <p:cNvPr id="24" name="Text 22"/>
          <p:cNvSpPr/>
          <p:nvPr/>
        </p:nvSpPr>
        <p:spPr>
          <a:xfrm>
            <a:off x="5394960" y="1170432"/>
            <a:ext cx="2423160"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Đầu ra (Output)</a:t>
            </a:r>
            <a:endParaRPr lang="en-US" sz="1000" dirty="0"/>
          </a:p>
        </p:txBody>
      </p:sp>
      <p:sp>
        <p:nvSpPr>
          <p:cNvPr id="25" name="Shape 23"/>
          <p:cNvSpPr/>
          <p:nvPr/>
        </p:nvSpPr>
        <p:spPr>
          <a:xfrm>
            <a:off x="5394960" y="1517904"/>
            <a:ext cx="2423160" cy="1389888"/>
          </a:xfrm>
          <a:prstGeom prst="rect">
            <a:avLst/>
          </a:prstGeom>
          <a:solidFill>
            <a:srgbClr val="E3F2FD"/>
          </a:solidFill>
          <a:ln w="10160">
            <a:solidFill>
              <a:srgbClr val="40916C"/>
            </a:solidFill>
            <a:prstDash val="solid"/>
          </a:ln>
        </p:spPr>
      </p:sp>
      <p:sp>
        <p:nvSpPr>
          <p:cNvPr id="26" name="Text 24"/>
          <p:cNvSpPr/>
          <p:nvPr/>
        </p:nvSpPr>
        <p:spPr>
          <a:xfrm>
            <a:off x="5486400" y="1554480"/>
            <a:ext cx="2286000" cy="3200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 Diagnostic Confidence – Độ tin cậy</a:t>
            </a:r>
            <a:endParaRPr lang="en-US" sz="1000" dirty="0"/>
          </a:p>
        </p:txBody>
      </p:sp>
      <p:sp>
        <p:nvSpPr>
          <p:cNvPr id="27" name="Text 25"/>
          <p:cNvSpPr/>
          <p:nvPr/>
        </p:nvSpPr>
        <p:spPr>
          <a:xfrm>
            <a:off x="5486400" y="1901952"/>
            <a:ext cx="2286000" cy="3200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 VSI – Visual Severity Index</a:t>
            </a:r>
            <a:endParaRPr lang="en-US" sz="1000" dirty="0"/>
          </a:p>
        </p:txBody>
      </p:sp>
      <p:sp>
        <p:nvSpPr>
          <p:cNvPr id="28" name="Text 26"/>
          <p:cNvSpPr/>
          <p:nvPr/>
        </p:nvSpPr>
        <p:spPr>
          <a:xfrm>
            <a:off x="5486400" y="2249424"/>
            <a:ext cx="2286000" cy="3200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 ERI – Environmental Risk Index</a:t>
            </a:r>
            <a:endParaRPr lang="en-US" sz="1000" dirty="0"/>
          </a:p>
        </p:txBody>
      </p:sp>
      <p:sp>
        <p:nvSpPr>
          <p:cNvPr id="29" name="Text 27"/>
          <p:cNvSpPr/>
          <p:nvPr/>
        </p:nvSpPr>
        <p:spPr>
          <a:xfrm>
            <a:off x="5486400" y="2596896"/>
            <a:ext cx="2286000" cy="3200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 FAI – Fuzzy Adjustment Index</a:t>
            </a:r>
            <a:endParaRPr lang="en-US" sz="1000" dirty="0"/>
          </a:p>
        </p:txBody>
      </p:sp>
      <p:sp>
        <p:nvSpPr>
          <p:cNvPr id="30" name="Text 28"/>
          <p:cNvSpPr/>
          <p:nvPr/>
        </p:nvSpPr>
        <p:spPr>
          <a:xfrm>
            <a:off x="274320" y="3221853"/>
            <a:ext cx="8686800" cy="347472"/>
          </a:xfrm>
          <a:prstGeom prst="rect">
            <a:avLst/>
          </a:prstGeom>
          <a:noFill/>
          <a:ln/>
        </p:spPr>
        <p:txBody>
          <a:bodyPr wrap="square" rtlCol="0" anchor="ctr"/>
          <a:lstStyle/>
          <a:p>
            <a:pPr marL="0" indent="0">
              <a:buNone/>
            </a:pPr>
            <a:r>
              <a:rPr lang="en-US" sz="1300" b="1" dirty="0">
                <a:solidFill>
                  <a:srgbClr val="1B4332"/>
                </a:solidFill>
                <a:latin typeface="Calibri" pitchFamily="34" charset="0"/>
                <a:ea typeface="Calibri" pitchFamily="34" charset="-122"/>
                <a:cs typeface="Calibri" pitchFamily="34" charset="-120"/>
              </a:rPr>
              <a:t>Cơ Sở Luật Mờ Chuyên Gia (Fuzzy Rule Base)</a:t>
            </a:r>
            <a:endParaRPr lang="en-US" sz="1300" dirty="0"/>
          </a:p>
        </p:txBody>
      </p:sp>
      <p:sp>
        <p:nvSpPr>
          <p:cNvPr id="31" name="Shape 29"/>
          <p:cNvSpPr/>
          <p:nvPr/>
        </p:nvSpPr>
        <p:spPr>
          <a:xfrm>
            <a:off x="228600" y="3547872"/>
            <a:ext cx="457200" cy="347472"/>
          </a:xfrm>
          <a:prstGeom prst="rect">
            <a:avLst/>
          </a:prstGeom>
          <a:solidFill>
            <a:srgbClr val="2D6A4F"/>
          </a:solidFill>
          <a:ln w="12700">
            <a:solidFill>
              <a:srgbClr val="2D6A4F"/>
            </a:solidFill>
            <a:prstDash val="solid"/>
          </a:ln>
        </p:spPr>
      </p:sp>
      <p:sp>
        <p:nvSpPr>
          <p:cNvPr id="32" name="Text 30"/>
          <p:cNvSpPr/>
          <p:nvPr/>
        </p:nvSpPr>
        <p:spPr>
          <a:xfrm>
            <a:off x="228600" y="3547872"/>
            <a:ext cx="45720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R1</a:t>
            </a:r>
            <a:endParaRPr lang="en-US" sz="1000" dirty="0"/>
          </a:p>
        </p:txBody>
      </p:sp>
      <p:sp>
        <p:nvSpPr>
          <p:cNvPr id="33" name="Shape 31"/>
          <p:cNvSpPr/>
          <p:nvPr/>
        </p:nvSpPr>
        <p:spPr>
          <a:xfrm>
            <a:off x="685800" y="3547872"/>
            <a:ext cx="8229600" cy="347472"/>
          </a:xfrm>
          <a:prstGeom prst="rect">
            <a:avLst/>
          </a:prstGeom>
          <a:solidFill>
            <a:srgbClr val="D8F3DC"/>
          </a:solidFill>
          <a:ln w="10160">
            <a:solidFill>
              <a:srgbClr val="74C69D"/>
            </a:solidFill>
            <a:prstDash val="solid"/>
          </a:ln>
        </p:spPr>
      </p:sp>
      <p:sp>
        <p:nvSpPr>
          <p:cNvPr id="34" name="Text 32"/>
          <p:cNvSpPr/>
          <p:nvPr/>
        </p:nvSpPr>
        <p:spPr>
          <a:xfrm>
            <a:off x="777240" y="3575304"/>
            <a:ext cx="8046720" cy="292608"/>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[Apple Scab (Ghẻ sẹo)]   IF BrownSpot = HIGH  AND  Humidity = HIGH  AND  Temperature = MEDIUM  →  THEN Scab = HIGH</a:t>
            </a:r>
            <a:endParaRPr lang="en-US" sz="1000" dirty="0"/>
          </a:p>
        </p:txBody>
      </p:sp>
      <p:sp>
        <p:nvSpPr>
          <p:cNvPr id="35" name="Shape 33"/>
          <p:cNvSpPr/>
          <p:nvPr/>
        </p:nvSpPr>
        <p:spPr>
          <a:xfrm>
            <a:off x="228600" y="3959352"/>
            <a:ext cx="457200" cy="347472"/>
          </a:xfrm>
          <a:prstGeom prst="rect">
            <a:avLst/>
          </a:prstGeom>
          <a:solidFill>
            <a:srgbClr val="2D6A4F"/>
          </a:solidFill>
          <a:ln w="12700">
            <a:solidFill>
              <a:srgbClr val="2D6A4F"/>
            </a:solidFill>
            <a:prstDash val="solid"/>
          </a:ln>
        </p:spPr>
      </p:sp>
      <p:sp>
        <p:nvSpPr>
          <p:cNvPr id="36" name="Text 34"/>
          <p:cNvSpPr/>
          <p:nvPr/>
        </p:nvSpPr>
        <p:spPr>
          <a:xfrm>
            <a:off x="228600" y="3959352"/>
            <a:ext cx="45720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R2</a:t>
            </a:r>
            <a:endParaRPr lang="en-US" sz="1000" dirty="0"/>
          </a:p>
        </p:txBody>
      </p:sp>
      <p:sp>
        <p:nvSpPr>
          <p:cNvPr id="37" name="Shape 35"/>
          <p:cNvSpPr/>
          <p:nvPr/>
        </p:nvSpPr>
        <p:spPr>
          <a:xfrm>
            <a:off x="685800" y="3959352"/>
            <a:ext cx="8229600" cy="347472"/>
          </a:xfrm>
          <a:prstGeom prst="rect">
            <a:avLst/>
          </a:prstGeom>
          <a:solidFill>
            <a:srgbClr val="FFF9C4"/>
          </a:solidFill>
          <a:ln w="10160">
            <a:solidFill>
              <a:srgbClr val="74C69D"/>
            </a:solidFill>
            <a:prstDash val="solid"/>
          </a:ln>
        </p:spPr>
      </p:sp>
      <p:sp>
        <p:nvSpPr>
          <p:cNvPr id="38" name="Text 36"/>
          <p:cNvSpPr/>
          <p:nvPr/>
        </p:nvSpPr>
        <p:spPr>
          <a:xfrm>
            <a:off x="777240" y="3986784"/>
            <a:ext cx="8046720" cy="292608"/>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[Rust (Gỉ sắt)]   IF MoldTexture = HIGH  AND  Humidity = HIGH  →  THEN Rust = HIGH</a:t>
            </a:r>
            <a:endParaRPr lang="en-US" sz="1000" dirty="0"/>
          </a:p>
        </p:txBody>
      </p:sp>
      <p:sp>
        <p:nvSpPr>
          <p:cNvPr id="39" name="Shape 37"/>
          <p:cNvSpPr/>
          <p:nvPr/>
        </p:nvSpPr>
        <p:spPr>
          <a:xfrm>
            <a:off x="228600" y="4370832"/>
            <a:ext cx="457200" cy="347472"/>
          </a:xfrm>
          <a:prstGeom prst="rect">
            <a:avLst/>
          </a:prstGeom>
          <a:solidFill>
            <a:srgbClr val="2D6A4F"/>
          </a:solidFill>
          <a:ln w="12700">
            <a:solidFill>
              <a:srgbClr val="2D6A4F"/>
            </a:solidFill>
            <a:prstDash val="solid"/>
          </a:ln>
        </p:spPr>
      </p:sp>
      <p:sp>
        <p:nvSpPr>
          <p:cNvPr id="40" name="Text 38"/>
          <p:cNvSpPr/>
          <p:nvPr/>
        </p:nvSpPr>
        <p:spPr>
          <a:xfrm>
            <a:off x="228600" y="4370832"/>
            <a:ext cx="45720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R3</a:t>
            </a:r>
            <a:endParaRPr lang="en-US" sz="1000" dirty="0"/>
          </a:p>
        </p:txBody>
      </p:sp>
      <p:sp>
        <p:nvSpPr>
          <p:cNvPr id="41" name="Shape 39"/>
          <p:cNvSpPr/>
          <p:nvPr/>
        </p:nvSpPr>
        <p:spPr>
          <a:xfrm>
            <a:off x="685800" y="4370832"/>
            <a:ext cx="8229600" cy="347472"/>
          </a:xfrm>
          <a:prstGeom prst="rect">
            <a:avLst/>
          </a:prstGeom>
          <a:solidFill>
            <a:srgbClr val="FCE4EC"/>
          </a:solidFill>
          <a:ln w="10160">
            <a:solidFill>
              <a:srgbClr val="74C69D"/>
            </a:solidFill>
            <a:prstDash val="solid"/>
          </a:ln>
        </p:spPr>
      </p:sp>
      <p:sp>
        <p:nvSpPr>
          <p:cNvPr id="42" name="Text 40"/>
          <p:cNvSpPr/>
          <p:nvPr/>
        </p:nvSpPr>
        <p:spPr>
          <a:xfrm>
            <a:off x="777240" y="4398264"/>
            <a:ext cx="8046720" cy="292608"/>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[Sunburn (Cháy nắng)]   IF YellowEdge = HIGH  AND  Temperature = HIGH  AND  Humidity = LOW  →  THEN Sunburn = HIGH</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4332"/>
          </a:solidFill>
          <a:ln w="12700">
            <a:solidFill>
              <a:srgbClr val="1B4332"/>
            </a:solidFill>
            <a:prstDash val="solid"/>
          </a:ln>
        </p:spPr>
      </p:sp>
      <p:sp>
        <p:nvSpPr>
          <p:cNvPr id="3" name="Shape 1"/>
          <p:cNvSpPr/>
          <p:nvPr/>
        </p:nvSpPr>
        <p:spPr>
          <a:xfrm>
            <a:off x="0" y="685800"/>
            <a:ext cx="9144000" cy="45720"/>
          </a:xfrm>
          <a:prstGeom prst="rect">
            <a:avLst/>
          </a:prstGeom>
          <a:solidFill>
            <a:srgbClr val="74C69D"/>
          </a:solidFill>
          <a:ln w="12700">
            <a:solidFill>
              <a:srgbClr val="74C69D"/>
            </a:solidFill>
            <a:prstDash val="solid"/>
          </a:ln>
        </p:spPr>
      </p:sp>
      <p:sp>
        <p:nvSpPr>
          <p:cNvPr id="4" name="Text 2"/>
          <p:cNvSpPr/>
          <p:nvPr/>
        </p:nvSpPr>
        <p:spPr>
          <a:xfrm>
            <a:off x="274320" y="0"/>
            <a:ext cx="8595360" cy="68580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Kết Quả – Đánh Giá Hệ Thống</a:t>
            </a:r>
            <a:endParaRPr lang="en-US" sz="2000" dirty="0"/>
          </a:p>
        </p:txBody>
      </p:sp>
      <p:sp>
        <p:nvSpPr>
          <p:cNvPr id="5" name="Shape 3"/>
          <p:cNvSpPr/>
          <p:nvPr/>
        </p:nvSpPr>
        <p:spPr>
          <a:xfrm>
            <a:off x="0" y="4869180"/>
            <a:ext cx="9144000" cy="274320"/>
          </a:xfrm>
          <a:prstGeom prst="rect">
            <a:avLst/>
          </a:prstGeom>
          <a:solidFill>
            <a:srgbClr val="D8F3DC"/>
          </a:solidFill>
          <a:ln w="12700">
            <a:solidFill>
              <a:srgbClr val="D8F3DC"/>
            </a:solidFill>
            <a:prstDash val="solid"/>
          </a:ln>
        </p:spPr>
      </p:sp>
      <p:sp>
        <p:nvSpPr>
          <p:cNvPr id="6" name="Text 4"/>
          <p:cNvSpPr/>
          <p:nvPr/>
        </p:nvSpPr>
        <p:spPr>
          <a:xfrm>
            <a:off x="274320" y="4869180"/>
            <a:ext cx="8595360" cy="274320"/>
          </a:xfrm>
          <a:prstGeom prst="rect">
            <a:avLst/>
          </a:prstGeom>
          <a:noFill/>
          <a:ln/>
        </p:spPr>
        <p:txBody>
          <a:bodyPr wrap="square" lIns="0" tIns="0" rIns="0" bIns="0" rtlCol="0" anchor="ctr"/>
          <a:lstStyle/>
          <a:p>
            <a:pPr marL="0" indent="0" algn="l">
              <a:buNone/>
            </a:pPr>
            <a:r>
              <a:rPr lang="en-US" sz="800" dirty="0">
                <a:solidFill>
                  <a:srgbClr val="6C757D"/>
                </a:solidFill>
                <a:latin typeface="Calibri" pitchFamily="34" charset="0"/>
                <a:ea typeface="Calibri" pitchFamily="34" charset="-122"/>
                <a:cs typeface="Calibri" pitchFamily="34" charset="-120"/>
              </a:rPr>
              <a:t>Nhóm 14 | Hệ Thống Thông Minh | ĐH Thủy Lợi</a:t>
            </a:r>
            <a:endParaRPr lang="en-US" sz="800" dirty="0"/>
          </a:p>
        </p:txBody>
      </p:sp>
      <p:sp>
        <p:nvSpPr>
          <p:cNvPr id="7" name="Text 5"/>
          <p:cNvSpPr/>
          <p:nvPr/>
        </p:nvSpPr>
        <p:spPr>
          <a:xfrm>
            <a:off x="228600" y="804672"/>
            <a:ext cx="4572000" cy="365760"/>
          </a:xfrm>
          <a:prstGeom prst="rect">
            <a:avLst/>
          </a:prstGeom>
          <a:noFill/>
          <a:ln/>
        </p:spPr>
        <p:txBody>
          <a:bodyPr wrap="square" rtlCol="0" anchor="ctr"/>
          <a:lstStyle/>
          <a:p>
            <a:pPr marL="0" indent="0">
              <a:buNone/>
            </a:pPr>
            <a:r>
              <a:rPr lang="en-US" sz="1300" b="1" dirty="0">
                <a:solidFill>
                  <a:srgbClr val="1B4332"/>
                </a:solidFill>
                <a:latin typeface="Calibri" pitchFamily="34" charset="0"/>
                <a:ea typeface="Calibri" pitchFamily="34" charset="-122"/>
                <a:cs typeface="Calibri" pitchFamily="34" charset="-120"/>
              </a:rPr>
              <a:t>📊 Hiệu Năng Mô Hình EfficientNet-B0</a:t>
            </a:r>
            <a:endParaRPr lang="en-US" sz="1300" dirty="0"/>
          </a:p>
        </p:txBody>
      </p:sp>
      <p:sp>
        <p:nvSpPr>
          <p:cNvPr id="8" name="Shape 6"/>
          <p:cNvSpPr/>
          <p:nvPr/>
        </p:nvSpPr>
        <p:spPr>
          <a:xfrm>
            <a:off x="228600" y="1207008"/>
            <a:ext cx="1417320" cy="1097280"/>
          </a:xfrm>
          <a:prstGeom prst="rect">
            <a:avLst/>
          </a:prstGeom>
          <a:solidFill>
            <a:srgbClr val="1B4332"/>
          </a:solidFill>
          <a:ln w="12700">
            <a:solidFill>
              <a:srgbClr val="1B4332"/>
            </a:solidFill>
            <a:prstDash val="solid"/>
          </a:ln>
          <a:effectLst>
            <a:outerShdw blurRad="76200" dist="25400" dir="8100000" algn="bl" rotWithShape="0">
              <a:srgbClr val="666666">
                <a:alpha val="30000"/>
              </a:srgbClr>
            </a:outerShdw>
          </a:effectLst>
        </p:spPr>
      </p:sp>
      <p:sp>
        <p:nvSpPr>
          <p:cNvPr id="9" name="Text 7"/>
          <p:cNvSpPr/>
          <p:nvPr/>
        </p:nvSpPr>
        <p:spPr>
          <a:xfrm>
            <a:off x="228600" y="1234440"/>
            <a:ext cx="1417320" cy="594360"/>
          </a:xfrm>
          <a:prstGeom prst="rect">
            <a:avLst/>
          </a:prstGeom>
          <a:noFill/>
          <a:ln/>
        </p:spPr>
        <p:txBody>
          <a:bodyPr wrap="square" rtlCol="0" anchor="ctr"/>
          <a:lstStyle/>
          <a:p>
            <a:pPr marL="0" indent="0" algn="ctr">
              <a:buNone/>
            </a:pPr>
            <a:r>
              <a:rPr lang="en-US" sz="2200" b="1" dirty="0">
                <a:solidFill>
                  <a:srgbClr val="F4A261"/>
                </a:solidFill>
                <a:latin typeface="Calibri" pitchFamily="34" charset="0"/>
                <a:ea typeface="Calibri" pitchFamily="34" charset="-122"/>
                <a:cs typeface="Calibri" pitchFamily="34" charset="-120"/>
              </a:rPr>
              <a:t>92.04%</a:t>
            </a:r>
            <a:endParaRPr lang="en-US" sz="2200" dirty="0"/>
          </a:p>
        </p:txBody>
      </p:sp>
      <p:sp>
        <p:nvSpPr>
          <p:cNvPr id="10" name="Text 8"/>
          <p:cNvSpPr/>
          <p:nvPr/>
        </p:nvSpPr>
        <p:spPr>
          <a:xfrm>
            <a:off x="228600" y="1783080"/>
            <a:ext cx="1417320" cy="475488"/>
          </a:xfrm>
          <a:prstGeom prst="rect">
            <a:avLst/>
          </a:prstGeom>
          <a:noFill/>
          <a:ln/>
        </p:spPr>
        <p:txBody>
          <a:bodyPr wrap="square" rtlCol="0" anchor="ctr"/>
          <a:lstStyle/>
          <a:p>
            <a:pPr marL="0" indent="0" algn="ctr">
              <a:buNone/>
            </a:pPr>
            <a:r>
              <a:rPr lang="en-US" sz="1000" dirty="0">
                <a:solidFill>
                  <a:srgbClr val="D8F3DC"/>
                </a:solidFill>
                <a:latin typeface="Calibri" pitchFamily="34" charset="0"/>
                <a:ea typeface="Calibri" pitchFamily="34" charset="-122"/>
                <a:cs typeface="Calibri" pitchFamily="34" charset="-120"/>
              </a:rPr>
              <a:t>Validation</a:t>
            </a:r>
            <a:endParaRPr lang="en-US" sz="1000" dirty="0"/>
          </a:p>
          <a:p>
            <a:pPr marL="0" indent="0" algn="ctr">
              <a:buNone/>
            </a:pPr>
            <a:r>
              <a:rPr lang="en-US" sz="1000" dirty="0">
                <a:solidFill>
                  <a:srgbClr val="D8F3DC"/>
                </a:solidFill>
                <a:latin typeface="Calibri" pitchFamily="34" charset="0"/>
                <a:ea typeface="Calibri" pitchFamily="34" charset="-122"/>
                <a:cs typeface="Calibri" pitchFamily="34" charset="-120"/>
              </a:rPr>
              <a:t>Accuracy</a:t>
            </a:r>
            <a:endParaRPr lang="en-US" sz="1000" dirty="0"/>
          </a:p>
        </p:txBody>
      </p:sp>
      <p:sp>
        <p:nvSpPr>
          <p:cNvPr id="11" name="Shape 9"/>
          <p:cNvSpPr/>
          <p:nvPr/>
        </p:nvSpPr>
        <p:spPr>
          <a:xfrm>
            <a:off x="1801368" y="1207008"/>
            <a:ext cx="1417320" cy="1097280"/>
          </a:xfrm>
          <a:prstGeom prst="rect">
            <a:avLst/>
          </a:prstGeom>
          <a:solidFill>
            <a:srgbClr val="1B4332"/>
          </a:solidFill>
          <a:ln w="12700">
            <a:solidFill>
              <a:srgbClr val="1B4332"/>
            </a:solidFill>
            <a:prstDash val="solid"/>
          </a:ln>
          <a:effectLst>
            <a:outerShdw blurRad="76200" dist="25400" dir="8100000" algn="bl" rotWithShape="0">
              <a:srgbClr val="666666">
                <a:alpha val="30000"/>
              </a:srgbClr>
            </a:outerShdw>
          </a:effectLst>
        </p:spPr>
      </p:sp>
      <p:sp>
        <p:nvSpPr>
          <p:cNvPr id="12" name="Text 10"/>
          <p:cNvSpPr/>
          <p:nvPr/>
        </p:nvSpPr>
        <p:spPr>
          <a:xfrm>
            <a:off x="1801368" y="1234440"/>
            <a:ext cx="1417320" cy="594360"/>
          </a:xfrm>
          <a:prstGeom prst="rect">
            <a:avLst/>
          </a:prstGeom>
          <a:noFill/>
          <a:ln/>
        </p:spPr>
        <p:txBody>
          <a:bodyPr wrap="square" rtlCol="0" anchor="ctr"/>
          <a:lstStyle/>
          <a:p>
            <a:pPr marL="0" indent="0" algn="ctr">
              <a:buNone/>
            </a:pPr>
            <a:r>
              <a:rPr lang="en-US" sz="2200" b="1" dirty="0">
                <a:solidFill>
                  <a:srgbClr val="F4A261"/>
                </a:solidFill>
                <a:latin typeface="Calibri" pitchFamily="34" charset="0"/>
                <a:ea typeface="Calibri" pitchFamily="34" charset="-122"/>
                <a:cs typeface="Calibri" pitchFamily="34" charset="-120"/>
              </a:rPr>
              <a:t>0.9190</a:t>
            </a:r>
            <a:endParaRPr lang="en-US" sz="2200" dirty="0"/>
          </a:p>
        </p:txBody>
      </p:sp>
      <p:sp>
        <p:nvSpPr>
          <p:cNvPr id="13" name="Text 11"/>
          <p:cNvSpPr/>
          <p:nvPr/>
        </p:nvSpPr>
        <p:spPr>
          <a:xfrm>
            <a:off x="1801368" y="1783080"/>
            <a:ext cx="1417320" cy="475488"/>
          </a:xfrm>
          <a:prstGeom prst="rect">
            <a:avLst/>
          </a:prstGeom>
          <a:noFill/>
          <a:ln/>
        </p:spPr>
        <p:txBody>
          <a:bodyPr wrap="square" rtlCol="0" anchor="ctr"/>
          <a:lstStyle/>
          <a:p>
            <a:pPr marL="0" indent="0" algn="ctr">
              <a:buNone/>
            </a:pPr>
            <a:r>
              <a:rPr lang="en-US" sz="1000" dirty="0">
                <a:solidFill>
                  <a:srgbClr val="D8F3DC"/>
                </a:solidFill>
                <a:latin typeface="Calibri" pitchFamily="34" charset="0"/>
                <a:ea typeface="Calibri" pitchFamily="34" charset="-122"/>
                <a:cs typeface="Calibri" pitchFamily="34" charset="-120"/>
              </a:rPr>
              <a:t>Macro</a:t>
            </a:r>
            <a:endParaRPr lang="en-US" sz="1000" dirty="0"/>
          </a:p>
          <a:p>
            <a:pPr marL="0" indent="0" algn="ctr">
              <a:buNone/>
            </a:pPr>
            <a:r>
              <a:rPr lang="en-US" sz="1000" dirty="0">
                <a:solidFill>
                  <a:srgbClr val="D8F3DC"/>
                </a:solidFill>
                <a:latin typeface="Calibri" pitchFamily="34" charset="0"/>
                <a:ea typeface="Calibri" pitchFamily="34" charset="-122"/>
                <a:cs typeface="Calibri" pitchFamily="34" charset="-120"/>
              </a:rPr>
              <a:t>F1-Score</a:t>
            </a:r>
            <a:endParaRPr lang="en-US" sz="1000" dirty="0"/>
          </a:p>
        </p:txBody>
      </p:sp>
      <p:sp>
        <p:nvSpPr>
          <p:cNvPr id="14" name="Shape 12"/>
          <p:cNvSpPr/>
          <p:nvPr/>
        </p:nvSpPr>
        <p:spPr>
          <a:xfrm>
            <a:off x="3374136" y="1207008"/>
            <a:ext cx="1417320" cy="1097280"/>
          </a:xfrm>
          <a:prstGeom prst="rect">
            <a:avLst/>
          </a:prstGeom>
          <a:solidFill>
            <a:srgbClr val="1B4332"/>
          </a:solidFill>
          <a:ln w="12700">
            <a:solidFill>
              <a:srgbClr val="1B4332"/>
            </a:solidFill>
            <a:prstDash val="solid"/>
          </a:ln>
          <a:effectLst>
            <a:outerShdw blurRad="76200" dist="25400" dir="8100000" algn="bl" rotWithShape="0">
              <a:srgbClr val="666666">
                <a:alpha val="30000"/>
              </a:srgbClr>
            </a:outerShdw>
          </a:effectLst>
        </p:spPr>
      </p:sp>
      <p:sp>
        <p:nvSpPr>
          <p:cNvPr id="15" name="Text 13"/>
          <p:cNvSpPr/>
          <p:nvPr/>
        </p:nvSpPr>
        <p:spPr>
          <a:xfrm>
            <a:off x="3374136" y="1234440"/>
            <a:ext cx="1417320" cy="594360"/>
          </a:xfrm>
          <a:prstGeom prst="rect">
            <a:avLst/>
          </a:prstGeom>
          <a:noFill/>
          <a:ln/>
        </p:spPr>
        <p:txBody>
          <a:bodyPr wrap="square" rtlCol="0" anchor="ctr"/>
          <a:lstStyle/>
          <a:p>
            <a:pPr marL="0" indent="0" algn="ctr">
              <a:buNone/>
            </a:pPr>
            <a:r>
              <a:rPr lang="en-US" sz="2200" b="1" dirty="0">
                <a:solidFill>
                  <a:srgbClr val="F4A261"/>
                </a:solidFill>
                <a:latin typeface="Calibri" pitchFamily="34" charset="0"/>
                <a:ea typeface="Calibri" pitchFamily="34" charset="-122"/>
                <a:cs typeface="Calibri" pitchFamily="34" charset="-120"/>
              </a:rPr>
              <a:t>0.9191</a:t>
            </a:r>
            <a:endParaRPr lang="en-US" sz="2200" dirty="0"/>
          </a:p>
        </p:txBody>
      </p:sp>
      <p:sp>
        <p:nvSpPr>
          <p:cNvPr id="16" name="Text 14"/>
          <p:cNvSpPr/>
          <p:nvPr/>
        </p:nvSpPr>
        <p:spPr>
          <a:xfrm>
            <a:off x="3374136" y="1783080"/>
            <a:ext cx="1417320" cy="475488"/>
          </a:xfrm>
          <a:prstGeom prst="rect">
            <a:avLst/>
          </a:prstGeom>
          <a:noFill/>
          <a:ln/>
        </p:spPr>
        <p:txBody>
          <a:bodyPr wrap="square" rtlCol="0" anchor="ctr"/>
          <a:lstStyle/>
          <a:p>
            <a:pPr marL="0" indent="0" algn="ctr">
              <a:buNone/>
            </a:pPr>
            <a:r>
              <a:rPr lang="en-US" sz="1000" dirty="0">
                <a:solidFill>
                  <a:srgbClr val="D8F3DC"/>
                </a:solidFill>
                <a:latin typeface="Calibri" pitchFamily="34" charset="0"/>
                <a:ea typeface="Calibri" pitchFamily="34" charset="-122"/>
                <a:cs typeface="Calibri" pitchFamily="34" charset="-120"/>
              </a:rPr>
              <a:t>Weighted</a:t>
            </a:r>
            <a:endParaRPr lang="en-US" sz="1000" dirty="0"/>
          </a:p>
          <a:p>
            <a:pPr marL="0" indent="0" algn="ctr">
              <a:buNone/>
            </a:pPr>
            <a:r>
              <a:rPr lang="en-US" sz="1000" dirty="0">
                <a:solidFill>
                  <a:srgbClr val="D8F3DC"/>
                </a:solidFill>
                <a:latin typeface="Calibri" pitchFamily="34" charset="0"/>
                <a:ea typeface="Calibri" pitchFamily="34" charset="-122"/>
                <a:cs typeface="Calibri" pitchFamily="34" charset="-120"/>
              </a:rPr>
              <a:t>F1-Score</a:t>
            </a:r>
            <a:endParaRPr lang="en-US" sz="1000" dirty="0"/>
          </a:p>
        </p:txBody>
      </p:sp>
      <p:graphicFrame>
        <p:nvGraphicFramePr>
          <p:cNvPr id="17" name="Chart 0"/>
          <p:cNvGraphicFramePr/>
          <p:nvPr/>
        </p:nvGraphicFramePr>
        <p:xfrm>
          <a:off x="228600" y="2423160"/>
          <a:ext cx="4206240" cy="2331720"/>
        </p:xfrm>
        <a:graphic>
          <a:graphicData uri="http://schemas.openxmlformats.org/drawingml/2006/chart">
            <c:chart xmlns:c="http://schemas.openxmlformats.org/drawingml/2006/chart" xmlns:r="http://schemas.openxmlformats.org/officeDocument/2006/relationships" r:id="rId3"/>
          </a:graphicData>
        </a:graphic>
      </p:graphicFrame>
      <p:sp>
        <p:nvSpPr>
          <p:cNvPr id="18" name="Text 15"/>
          <p:cNvSpPr/>
          <p:nvPr/>
        </p:nvSpPr>
        <p:spPr>
          <a:xfrm>
            <a:off x="5092504" y="896112"/>
            <a:ext cx="3822895" cy="274320"/>
          </a:xfrm>
          <a:prstGeom prst="rect">
            <a:avLst/>
          </a:prstGeom>
          <a:noFill/>
          <a:ln/>
        </p:spPr>
        <p:txBody>
          <a:bodyPr wrap="square" rtlCol="0" anchor="ctr"/>
          <a:lstStyle/>
          <a:p>
            <a:pPr marL="0" indent="0">
              <a:buNone/>
            </a:pPr>
            <a:r>
              <a:rPr lang="en-US" sz="1300" b="1" dirty="0">
                <a:solidFill>
                  <a:srgbClr val="1B4332"/>
                </a:solidFill>
                <a:latin typeface="Calibri" pitchFamily="34" charset="0"/>
                <a:ea typeface="Calibri" pitchFamily="34" charset="-122"/>
                <a:cs typeface="Calibri" pitchFamily="34" charset="-120"/>
              </a:rPr>
              <a:t>🧠 Kết Quả Suy Diễn Mờ – Ca Thử Nghiệm</a:t>
            </a:r>
            <a:endParaRPr lang="en-US" sz="1300" dirty="0"/>
          </a:p>
        </p:txBody>
      </p:sp>
      <p:sp>
        <p:nvSpPr>
          <p:cNvPr id="19" name="Text 16"/>
          <p:cNvSpPr/>
          <p:nvPr/>
        </p:nvSpPr>
        <p:spPr>
          <a:xfrm>
            <a:off x="5092504" y="1257300"/>
            <a:ext cx="3822895" cy="205740"/>
          </a:xfrm>
          <a:prstGeom prst="rect">
            <a:avLst/>
          </a:prstGeom>
          <a:noFill/>
          <a:ln/>
        </p:spPr>
        <p:txBody>
          <a:bodyPr wrap="square" rtlCol="0" anchor="ctr"/>
          <a:lstStyle/>
          <a:p>
            <a:pPr marL="0" indent="0">
              <a:buNone/>
            </a:pPr>
            <a:r>
              <a:rPr lang="en-US" sz="950" i="1" dirty="0">
                <a:solidFill>
                  <a:srgbClr val="6C757D"/>
                </a:solidFill>
                <a:latin typeface="Calibri" pitchFamily="34" charset="0"/>
                <a:ea typeface="Calibri" pitchFamily="34" charset="-122"/>
                <a:cs typeface="Calibri" pitchFamily="34" charset="-120"/>
              </a:rPr>
              <a:t>Đầu vào: Ảnh BLAST9_087.jpg | 28°C | 85% Humidity</a:t>
            </a:r>
            <a:endParaRPr lang="en-US" sz="950" dirty="0"/>
          </a:p>
        </p:txBody>
      </p:sp>
      <p:sp>
        <p:nvSpPr>
          <p:cNvPr id="20" name="Shape 17"/>
          <p:cNvSpPr/>
          <p:nvPr/>
        </p:nvSpPr>
        <p:spPr>
          <a:xfrm>
            <a:off x="4958710" y="1600200"/>
            <a:ext cx="2630809" cy="274320"/>
          </a:xfrm>
          <a:prstGeom prst="rect">
            <a:avLst/>
          </a:prstGeom>
          <a:solidFill>
            <a:srgbClr val="D8F3DC"/>
          </a:solidFill>
          <a:ln w="6350">
            <a:solidFill>
              <a:srgbClr val="DDDDDD"/>
            </a:solidFill>
            <a:prstDash val="solid"/>
          </a:ln>
        </p:spPr>
      </p:sp>
      <p:sp>
        <p:nvSpPr>
          <p:cNvPr id="21" name="Shape 18"/>
          <p:cNvSpPr/>
          <p:nvPr/>
        </p:nvSpPr>
        <p:spPr>
          <a:xfrm>
            <a:off x="7723314" y="1600200"/>
            <a:ext cx="1192086" cy="274320"/>
          </a:xfrm>
          <a:prstGeom prst="rect">
            <a:avLst/>
          </a:prstGeom>
          <a:solidFill>
            <a:srgbClr val="1B4332"/>
          </a:solidFill>
          <a:ln w="12700">
            <a:solidFill>
              <a:srgbClr val="1B4332"/>
            </a:solidFill>
            <a:prstDash val="solid"/>
          </a:ln>
        </p:spPr>
      </p:sp>
      <p:sp>
        <p:nvSpPr>
          <p:cNvPr id="22" name="Text 19"/>
          <p:cNvSpPr/>
          <p:nvPr/>
        </p:nvSpPr>
        <p:spPr>
          <a:xfrm>
            <a:off x="5031696" y="1623060"/>
            <a:ext cx="2466384" cy="2057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CNN: Mild Blast</a:t>
            </a:r>
            <a:endParaRPr lang="en-US" sz="1000" dirty="0"/>
          </a:p>
        </p:txBody>
      </p:sp>
      <p:sp>
        <p:nvSpPr>
          <p:cNvPr id="23" name="Text 20"/>
          <p:cNvSpPr/>
          <p:nvPr/>
        </p:nvSpPr>
        <p:spPr>
          <a:xfrm>
            <a:off x="7723314" y="1623060"/>
            <a:ext cx="1192086" cy="205740"/>
          </a:xfrm>
          <a:prstGeom prst="rect">
            <a:avLst/>
          </a:prstGeom>
          <a:noFill/>
          <a:ln/>
        </p:spPr>
        <p:txBody>
          <a:bodyPr wrap="square" rtlCol="0" anchor="ctr"/>
          <a:lstStyle/>
          <a:p>
            <a:pPr marL="0" indent="0" algn="ctr">
              <a:buNone/>
            </a:pPr>
            <a:r>
              <a:rPr lang="en-US" sz="1000" b="1" dirty="0">
                <a:solidFill>
                  <a:srgbClr val="F4A261"/>
                </a:solidFill>
                <a:latin typeface="Calibri" pitchFamily="34" charset="0"/>
                <a:ea typeface="Calibri" pitchFamily="34" charset="-122"/>
                <a:cs typeface="Calibri" pitchFamily="34" charset="-120"/>
              </a:rPr>
              <a:t>97.47%</a:t>
            </a:r>
            <a:endParaRPr lang="en-US" sz="1000" dirty="0"/>
          </a:p>
        </p:txBody>
      </p:sp>
      <p:sp>
        <p:nvSpPr>
          <p:cNvPr id="24" name="Shape 21"/>
          <p:cNvSpPr/>
          <p:nvPr/>
        </p:nvSpPr>
        <p:spPr>
          <a:xfrm>
            <a:off x="4958710" y="2011680"/>
            <a:ext cx="2630809" cy="274320"/>
          </a:xfrm>
          <a:prstGeom prst="rect">
            <a:avLst/>
          </a:prstGeom>
          <a:solidFill>
            <a:srgbClr val="E8F5E9"/>
          </a:solidFill>
          <a:ln w="6350">
            <a:solidFill>
              <a:srgbClr val="DDDDDD"/>
            </a:solidFill>
            <a:prstDash val="solid"/>
          </a:ln>
        </p:spPr>
      </p:sp>
      <p:sp>
        <p:nvSpPr>
          <p:cNvPr id="25" name="Shape 22"/>
          <p:cNvSpPr/>
          <p:nvPr/>
        </p:nvSpPr>
        <p:spPr>
          <a:xfrm>
            <a:off x="7723314" y="2011680"/>
            <a:ext cx="1192086" cy="274320"/>
          </a:xfrm>
          <a:prstGeom prst="rect">
            <a:avLst/>
          </a:prstGeom>
          <a:solidFill>
            <a:srgbClr val="1B4332"/>
          </a:solidFill>
          <a:ln w="12700">
            <a:solidFill>
              <a:srgbClr val="1B4332"/>
            </a:solidFill>
            <a:prstDash val="solid"/>
          </a:ln>
        </p:spPr>
      </p:sp>
      <p:sp>
        <p:nvSpPr>
          <p:cNvPr id="26" name="Text 23"/>
          <p:cNvSpPr/>
          <p:nvPr/>
        </p:nvSpPr>
        <p:spPr>
          <a:xfrm>
            <a:off x="5031696" y="2034540"/>
            <a:ext cx="2466384" cy="2057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Diagnostic Confidence</a:t>
            </a:r>
            <a:endParaRPr lang="en-US" sz="1000" dirty="0"/>
          </a:p>
        </p:txBody>
      </p:sp>
      <p:sp>
        <p:nvSpPr>
          <p:cNvPr id="27" name="Text 24"/>
          <p:cNvSpPr/>
          <p:nvPr/>
        </p:nvSpPr>
        <p:spPr>
          <a:xfrm>
            <a:off x="7723314" y="2034540"/>
            <a:ext cx="1192086" cy="205740"/>
          </a:xfrm>
          <a:prstGeom prst="rect">
            <a:avLst/>
          </a:prstGeom>
          <a:noFill/>
          <a:ln/>
        </p:spPr>
        <p:txBody>
          <a:bodyPr wrap="square" rtlCol="0" anchor="ctr"/>
          <a:lstStyle/>
          <a:p>
            <a:pPr marL="0" indent="0" algn="ctr">
              <a:buNone/>
            </a:pPr>
            <a:r>
              <a:rPr lang="en-US" sz="1000" b="1" dirty="0">
                <a:solidFill>
                  <a:srgbClr val="F4A261"/>
                </a:solidFill>
                <a:latin typeface="Calibri" pitchFamily="34" charset="0"/>
                <a:ea typeface="Calibri" pitchFamily="34" charset="-122"/>
                <a:cs typeface="Calibri" pitchFamily="34" charset="-120"/>
              </a:rPr>
              <a:t>95 / 100</a:t>
            </a:r>
            <a:endParaRPr lang="en-US" sz="1000" dirty="0"/>
          </a:p>
        </p:txBody>
      </p:sp>
      <p:sp>
        <p:nvSpPr>
          <p:cNvPr id="28" name="Shape 25"/>
          <p:cNvSpPr/>
          <p:nvPr/>
        </p:nvSpPr>
        <p:spPr>
          <a:xfrm>
            <a:off x="4958710" y="2423160"/>
            <a:ext cx="2630809" cy="274320"/>
          </a:xfrm>
          <a:prstGeom prst="rect">
            <a:avLst/>
          </a:prstGeom>
          <a:solidFill>
            <a:srgbClr val="FFF9C4"/>
          </a:solidFill>
          <a:ln w="6350">
            <a:solidFill>
              <a:srgbClr val="DDDDDD"/>
            </a:solidFill>
            <a:prstDash val="solid"/>
          </a:ln>
        </p:spPr>
      </p:sp>
      <p:sp>
        <p:nvSpPr>
          <p:cNvPr id="29" name="Shape 26"/>
          <p:cNvSpPr/>
          <p:nvPr/>
        </p:nvSpPr>
        <p:spPr>
          <a:xfrm>
            <a:off x="7723314" y="2423160"/>
            <a:ext cx="1192086" cy="274320"/>
          </a:xfrm>
          <a:prstGeom prst="rect">
            <a:avLst/>
          </a:prstGeom>
          <a:solidFill>
            <a:srgbClr val="1B4332"/>
          </a:solidFill>
          <a:ln w="12700">
            <a:solidFill>
              <a:srgbClr val="1B4332"/>
            </a:solidFill>
            <a:prstDash val="solid"/>
          </a:ln>
        </p:spPr>
      </p:sp>
      <p:sp>
        <p:nvSpPr>
          <p:cNvPr id="30" name="Text 27"/>
          <p:cNvSpPr/>
          <p:nvPr/>
        </p:nvSpPr>
        <p:spPr>
          <a:xfrm>
            <a:off x="5031696" y="2446020"/>
            <a:ext cx="2466384" cy="2057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Environmental Risk (ERI)</a:t>
            </a:r>
            <a:endParaRPr lang="en-US" sz="1000" dirty="0"/>
          </a:p>
        </p:txBody>
      </p:sp>
      <p:sp>
        <p:nvSpPr>
          <p:cNvPr id="31" name="Text 28"/>
          <p:cNvSpPr/>
          <p:nvPr/>
        </p:nvSpPr>
        <p:spPr>
          <a:xfrm>
            <a:off x="7723314" y="2446020"/>
            <a:ext cx="1192086" cy="205740"/>
          </a:xfrm>
          <a:prstGeom prst="rect">
            <a:avLst/>
          </a:prstGeom>
          <a:noFill/>
          <a:ln/>
        </p:spPr>
        <p:txBody>
          <a:bodyPr wrap="square" rtlCol="0" anchor="ctr"/>
          <a:lstStyle/>
          <a:p>
            <a:pPr marL="0" indent="0" algn="ctr">
              <a:buNone/>
            </a:pPr>
            <a:r>
              <a:rPr lang="en-US" sz="1000" b="1" dirty="0">
                <a:solidFill>
                  <a:srgbClr val="F4A261"/>
                </a:solidFill>
                <a:latin typeface="Calibri" pitchFamily="34" charset="0"/>
                <a:ea typeface="Calibri" pitchFamily="34" charset="-122"/>
                <a:cs typeface="Calibri" pitchFamily="34" charset="-120"/>
              </a:rPr>
              <a:t>85 / 100</a:t>
            </a:r>
            <a:endParaRPr lang="en-US" sz="1000" dirty="0"/>
          </a:p>
        </p:txBody>
      </p:sp>
      <p:sp>
        <p:nvSpPr>
          <p:cNvPr id="32" name="Shape 29"/>
          <p:cNvSpPr/>
          <p:nvPr/>
        </p:nvSpPr>
        <p:spPr>
          <a:xfrm>
            <a:off x="4958710" y="2834640"/>
            <a:ext cx="2630809" cy="274320"/>
          </a:xfrm>
          <a:prstGeom prst="rect">
            <a:avLst/>
          </a:prstGeom>
          <a:solidFill>
            <a:srgbClr val="FFF9C4"/>
          </a:solidFill>
          <a:ln w="6350">
            <a:solidFill>
              <a:srgbClr val="DDDDDD"/>
            </a:solidFill>
            <a:prstDash val="solid"/>
          </a:ln>
        </p:spPr>
      </p:sp>
      <p:sp>
        <p:nvSpPr>
          <p:cNvPr id="33" name="Shape 30"/>
          <p:cNvSpPr/>
          <p:nvPr/>
        </p:nvSpPr>
        <p:spPr>
          <a:xfrm>
            <a:off x="7723314" y="2834640"/>
            <a:ext cx="1192086" cy="274320"/>
          </a:xfrm>
          <a:prstGeom prst="rect">
            <a:avLst/>
          </a:prstGeom>
          <a:solidFill>
            <a:srgbClr val="1B4332"/>
          </a:solidFill>
          <a:ln w="12700">
            <a:solidFill>
              <a:srgbClr val="1B4332"/>
            </a:solidFill>
            <a:prstDash val="solid"/>
          </a:ln>
        </p:spPr>
      </p:sp>
      <p:sp>
        <p:nvSpPr>
          <p:cNvPr id="34" name="Text 31"/>
          <p:cNvSpPr/>
          <p:nvPr/>
        </p:nvSpPr>
        <p:spPr>
          <a:xfrm>
            <a:off x="5031696" y="2857500"/>
            <a:ext cx="2466384" cy="2057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Visual Severity (VSI)</a:t>
            </a:r>
            <a:endParaRPr lang="en-US" sz="1000" dirty="0"/>
          </a:p>
        </p:txBody>
      </p:sp>
      <p:sp>
        <p:nvSpPr>
          <p:cNvPr id="35" name="Text 32"/>
          <p:cNvSpPr/>
          <p:nvPr/>
        </p:nvSpPr>
        <p:spPr>
          <a:xfrm>
            <a:off x="7723314" y="2857500"/>
            <a:ext cx="1192086" cy="205740"/>
          </a:xfrm>
          <a:prstGeom prst="rect">
            <a:avLst/>
          </a:prstGeom>
          <a:noFill/>
          <a:ln/>
        </p:spPr>
        <p:txBody>
          <a:bodyPr wrap="square" rtlCol="0" anchor="ctr"/>
          <a:lstStyle/>
          <a:p>
            <a:pPr marL="0" indent="0" algn="ctr">
              <a:buNone/>
            </a:pPr>
            <a:r>
              <a:rPr lang="en-US" sz="1000" b="1" dirty="0">
                <a:solidFill>
                  <a:srgbClr val="F4A261"/>
                </a:solidFill>
                <a:latin typeface="Calibri" pitchFamily="34" charset="0"/>
                <a:ea typeface="Calibri" pitchFamily="34" charset="-122"/>
                <a:cs typeface="Calibri" pitchFamily="34" charset="-120"/>
              </a:rPr>
              <a:t>20 / 100</a:t>
            </a:r>
            <a:endParaRPr lang="en-US" sz="1000" dirty="0"/>
          </a:p>
        </p:txBody>
      </p:sp>
      <p:sp>
        <p:nvSpPr>
          <p:cNvPr id="36" name="Shape 33"/>
          <p:cNvSpPr/>
          <p:nvPr/>
        </p:nvSpPr>
        <p:spPr>
          <a:xfrm>
            <a:off x="4958710" y="3246120"/>
            <a:ext cx="2630809" cy="274320"/>
          </a:xfrm>
          <a:prstGeom prst="rect">
            <a:avLst/>
          </a:prstGeom>
          <a:solidFill>
            <a:srgbClr val="F3E5F5"/>
          </a:solidFill>
          <a:ln w="6350">
            <a:solidFill>
              <a:srgbClr val="DDDDDD"/>
            </a:solidFill>
            <a:prstDash val="solid"/>
          </a:ln>
        </p:spPr>
      </p:sp>
      <p:sp>
        <p:nvSpPr>
          <p:cNvPr id="37" name="Shape 34"/>
          <p:cNvSpPr/>
          <p:nvPr/>
        </p:nvSpPr>
        <p:spPr>
          <a:xfrm>
            <a:off x="7723314" y="3246120"/>
            <a:ext cx="1192086" cy="274320"/>
          </a:xfrm>
          <a:prstGeom prst="rect">
            <a:avLst/>
          </a:prstGeom>
          <a:solidFill>
            <a:srgbClr val="1B4332"/>
          </a:solidFill>
          <a:ln w="12700">
            <a:solidFill>
              <a:srgbClr val="1B4332"/>
            </a:solidFill>
            <a:prstDash val="solid"/>
          </a:ln>
        </p:spPr>
      </p:sp>
      <p:sp>
        <p:nvSpPr>
          <p:cNvPr id="38" name="Text 35"/>
          <p:cNvSpPr/>
          <p:nvPr/>
        </p:nvSpPr>
        <p:spPr>
          <a:xfrm>
            <a:off x="5031696" y="3268980"/>
            <a:ext cx="2466384" cy="2057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Fuzzy Adjustment (FAI)</a:t>
            </a:r>
            <a:endParaRPr lang="en-US" sz="1000" dirty="0"/>
          </a:p>
        </p:txBody>
      </p:sp>
      <p:sp>
        <p:nvSpPr>
          <p:cNvPr id="39" name="Text 36"/>
          <p:cNvSpPr/>
          <p:nvPr/>
        </p:nvSpPr>
        <p:spPr>
          <a:xfrm>
            <a:off x="7723314" y="3268980"/>
            <a:ext cx="1192086" cy="205740"/>
          </a:xfrm>
          <a:prstGeom prst="rect">
            <a:avLst/>
          </a:prstGeom>
          <a:noFill/>
          <a:ln/>
        </p:spPr>
        <p:txBody>
          <a:bodyPr wrap="square" rtlCol="0" anchor="ctr"/>
          <a:lstStyle/>
          <a:p>
            <a:pPr marL="0" indent="0" algn="ctr">
              <a:buNone/>
            </a:pPr>
            <a:r>
              <a:rPr lang="en-US" sz="1000" b="1" dirty="0">
                <a:solidFill>
                  <a:srgbClr val="F4A261"/>
                </a:solidFill>
                <a:latin typeface="Calibri" pitchFamily="34" charset="0"/>
                <a:ea typeface="Calibri" pitchFamily="34" charset="-122"/>
                <a:cs typeface="Calibri" pitchFamily="34" charset="-120"/>
              </a:rPr>
              <a:t>40 / 100</a:t>
            </a:r>
            <a:endParaRPr lang="en-US" sz="1000" dirty="0"/>
          </a:p>
        </p:txBody>
      </p:sp>
      <p:sp>
        <p:nvSpPr>
          <p:cNvPr id="40" name="Shape 37"/>
          <p:cNvSpPr/>
          <p:nvPr/>
        </p:nvSpPr>
        <p:spPr>
          <a:xfrm>
            <a:off x="5025682" y="3913632"/>
            <a:ext cx="3822895" cy="877824"/>
          </a:xfrm>
          <a:prstGeom prst="rect">
            <a:avLst/>
          </a:prstGeom>
          <a:solidFill>
            <a:srgbClr val="FFF3CD"/>
          </a:solidFill>
          <a:ln w="19050">
            <a:solidFill>
              <a:srgbClr val="F4A261"/>
            </a:solidFill>
            <a:prstDash val="solid"/>
          </a:ln>
        </p:spPr>
      </p:sp>
      <p:sp>
        <p:nvSpPr>
          <p:cNvPr id="41" name="Text 38"/>
          <p:cNvSpPr/>
          <p:nvPr/>
        </p:nvSpPr>
        <p:spPr>
          <a:xfrm>
            <a:off x="5174716" y="3606165"/>
            <a:ext cx="3658469" cy="240030"/>
          </a:xfrm>
          <a:prstGeom prst="rect">
            <a:avLst/>
          </a:prstGeom>
          <a:noFill/>
          <a:ln/>
        </p:spPr>
        <p:txBody>
          <a:bodyPr wrap="square" rtlCol="0" anchor="ctr"/>
          <a:lstStyle/>
          <a:p>
            <a:pPr marL="0" indent="0">
              <a:buNone/>
            </a:pPr>
            <a:r>
              <a:rPr lang="en-US" sz="1100" b="1" dirty="0">
                <a:solidFill>
                  <a:srgbClr val="1B4332"/>
                </a:solidFill>
                <a:latin typeface="Calibri" pitchFamily="34" charset="0"/>
                <a:ea typeface="Calibri" pitchFamily="34" charset="-122"/>
                <a:cs typeface="Calibri" pitchFamily="34" charset="-120"/>
              </a:rPr>
              <a:t>⚠  Kết Luận &amp; Khuyến Nghị Tự Động:</a:t>
            </a:r>
            <a:endParaRPr lang="en-US" sz="1100" dirty="0"/>
          </a:p>
        </p:txBody>
      </p:sp>
      <p:sp>
        <p:nvSpPr>
          <p:cNvPr id="42" name="Text 39"/>
          <p:cNvSpPr/>
          <p:nvPr/>
        </p:nvSpPr>
        <p:spPr>
          <a:xfrm>
            <a:off x="5165490" y="4160520"/>
            <a:ext cx="3658469" cy="5486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Bệnh Đạo Ôn Lá (Rice Blast) – Mức nhẹ</a:t>
            </a:r>
            <a:endParaRPr lang="en-US" sz="1000" dirty="0"/>
          </a:p>
          <a:p>
            <a:pPr marL="0" indent="0">
              <a:buNone/>
            </a:pPr>
            <a:r>
              <a:rPr lang="en-US" sz="1000" dirty="0">
                <a:solidFill>
                  <a:srgbClr val="1A1A2E"/>
                </a:solidFill>
                <a:latin typeface="Calibri" pitchFamily="34" charset="0"/>
                <a:ea typeface="Calibri" pitchFamily="34" charset="-122"/>
                <a:cs typeface="Calibri" pitchFamily="34" charset="-120"/>
              </a:rPr>
              <a:t>Môi trường ẩm ướt 28°C, 85% → Nguy cơ bùng phát cao</a:t>
            </a:r>
            <a:endParaRPr lang="en-US" sz="1000" dirty="0"/>
          </a:p>
          <a:p>
            <a:pPr marL="0" indent="0">
              <a:buNone/>
            </a:pPr>
            <a:r>
              <a:rPr lang="en-US" sz="1000" dirty="0">
                <a:solidFill>
                  <a:srgbClr val="1A1A2E"/>
                </a:solidFill>
                <a:latin typeface="Calibri" pitchFamily="34" charset="0"/>
                <a:ea typeface="Calibri" pitchFamily="34" charset="-122"/>
                <a:cs typeface="Calibri" pitchFamily="34" charset="-120"/>
              </a:rPr>
              <a:t>Dùng Tricyclazole, Fenoxanil. Tránh bón đạm thêm.</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4332"/>
          </a:solidFill>
          <a:ln w="12700">
            <a:solidFill>
              <a:srgbClr val="1B4332"/>
            </a:solidFill>
            <a:prstDash val="solid"/>
          </a:ln>
        </p:spPr>
      </p:sp>
      <p:sp>
        <p:nvSpPr>
          <p:cNvPr id="3" name="Shape 1"/>
          <p:cNvSpPr/>
          <p:nvPr/>
        </p:nvSpPr>
        <p:spPr>
          <a:xfrm>
            <a:off x="0" y="685800"/>
            <a:ext cx="9144000" cy="45720"/>
          </a:xfrm>
          <a:prstGeom prst="rect">
            <a:avLst/>
          </a:prstGeom>
          <a:solidFill>
            <a:srgbClr val="74C69D"/>
          </a:solidFill>
          <a:ln w="12700">
            <a:solidFill>
              <a:srgbClr val="74C69D"/>
            </a:solidFill>
            <a:prstDash val="solid"/>
          </a:ln>
        </p:spPr>
      </p:sp>
      <p:sp>
        <p:nvSpPr>
          <p:cNvPr id="4" name="Text 2"/>
          <p:cNvSpPr/>
          <p:nvPr/>
        </p:nvSpPr>
        <p:spPr>
          <a:xfrm>
            <a:off x="274320" y="0"/>
            <a:ext cx="8595360" cy="68580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Demo – Giao Diện Hệ Thống</a:t>
            </a:r>
            <a:endParaRPr lang="en-US" sz="2000" dirty="0"/>
          </a:p>
        </p:txBody>
      </p:sp>
      <p:sp>
        <p:nvSpPr>
          <p:cNvPr id="5" name="Shape 3"/>
          <p:cNvSpPr/>
          <p:nvPr/>
        </p:nvSpPr>
        <p:spPr>
          <a:xfrm>
            <a:off x="0" y="4869180"/>
            <a:ext cx="9144000" cy="274320"/>
          </a:xfrm>
          <a:prstGeom prst="rect">
            <a:avLst/>
          </a:prstGeom>
          <a:solidFill>
            <a:srgbClr val="D8F3DC"/>
          </a:solidFill>
          <a:ln w="12700">
            <a:solidFill>
              <a:srgbClr val="D8F3DC"/>
            </a:solidFill>
            <a:prstDash val="solid"/>
          </a:ln>
        </p:spPr>
      </p:sp>
      <p:sp>
        <p:nvSpPr>
          <p:cNvPr id="6" name="Text 4"/>
          <p:cNvSpPr/>
          <p:nvPr/>
        </p:nvSpPr>
        <p:spPr>
          <a:xfrm>
            <a:off x="274320" y="4869180"/>
            <a:ext cx="8595360" cy="274320"/>
          </a:xfrm>
          <a:prstGeom prst="rect">
            <a:avLst/>
          </a:prstGeom>
          <a:noFill/>
          <a:ln/>
        </p:spPr>
        <p:txBody>
          <a:bodyPr wrap="square" lIns="0" tIns="0" rIns="0" bIns="0" rtlCol="0" anchor="ctr"/>
          <a:lstStyle/>
          <a:p>
            <a:pPr marL="0" indent="0" algn="l">
              <a:buNone/>
            </a:pPr>
            <a:r>
              <a:rPr lang="en-US" sz="800" dirty="0">
                <a:solidFill>
                  <a:srgbClr val="6C757D"/>
                </a:solidFill>
                <a:latin typeface="Calibri" pitchFamily="34" charset="0"/>
                <a:ea typeface="Calibri" pitchFamily="34" charset="-122"/>
                <a:cs typeface="Calibri" pitchFamily="34" charset="-120"/>
              </a:rPr>
              <a:t>Nhóm 14 | Hệ Thống Thông Minh | ĐH Thủy Lợi</a:t>
            </a:r>
            <a:endParaRPr lang="en-US" sz="800" dirty="0"/>
          </a:p>
        </p:txBody>
      </p:sp>
      <p:sp>
        <p:nvSpPr>
          <p:cNvPr id="7" name="Shape 5"/>
          <p:cNvSpPr/>
          <p:nvPr/>
        </p:nvSpPr>
        <p:spPr>
          <a:xfrm>
            <a:off x="228600" y="841248"/>
            <a:ext cx="5943600" cy="3749040"/>
          </a:xfrm>
          <a:prstGeom prst="rect">
            <a:avLst/>
          </a:prstGeom>
          <a:solidFill>
            <a:srgbClr val="1A1A2E"/>
          </a:solidFill>
          <a:ln w="25400">
            <a:solidFill>
              <a:srgbClr val="74C69D"/>
            </a:solidFill>
            <a:prstDash val="solid"/>
          </a:ln>
        </p:spPr>
      </p:sp>
      <p:sp>
        <p:nvSpPr>
          <p:cNvPr id="8" name="Text 6"/>
          <p:cNvSpPr/>
          <p:nvPr/>
        </p:nvSpPr>
        <p:spPr>
          <a:xfrm>
            <a:off x="228600" y="841248"/>
            <a:ext cx="5943600" cy="411480"/>
          </a:xfrm>
          <a:prstGeom prst="rect">
            <a:avLst/>
          </a:prstGeom>
          <a:noFill/>
          <a:ln/>
        </p:spPr>
        <p:txBody>
          <a:bodyPr wrap="square" rtlCol="0" anchor="ctr"/>
          <a:lstStyle/>
          <a:p>
            <a:pPr marL="0" indent="0" algn="ctr">
              <a:buNone/>
            </a:pPr>
            <a:r>
              <a:rPr lang="en-US" sz="1300" b="1" dirty="0">
                <a:solidFill>
                  <a:srgbClr val="F4A261"/>
                </a:solidFill>
                <a:latin typeface="Calibri" pitchFamily="34" charset="0"/>
                <a:ea typeface="Calibri" pitchFamily="34" charset="-122"/>
                <a:cs typeface="Calibri" pitchFamily="34" charset="-120"/>
              </a:rPr>
              <a:t>[ DEMO STREAMLIT WEB APP ]</a:t>
            </a:r>
            <a:endParaRPr lang="en-US" sz="1300" dirty="0"/>
          </a:p>
        </p:txBody>
      </p:sp>
      <p:sp>
        <p:nvSpPr>
          <p:cNvPr id="9" name="Shape 7"/>
          <p:cNvSpPr/>
          <p:nvPr/>
        </p:nvSpPr>
        <p:spPr>
          <a:xfrm>
            <a:off x="365760" y="1325880"/>
            <a:ext cx="5669280" cy="347472"/>
          </a:xfrm>
          <a:prstGeom prst="rect">
            <a:avLst/>
          </a:prstGeom>
          <a:solidFill>
            <a:srgbClr val="2D6A4F">
              <a:alpha val="40000"/>
            </a:srgbClr>
          </a:solidFill>
          <a:ln w="6350">
            <a:solidFill>
              <a:srgbClr val="40916C"/>
            </a:solidFill>
            <a:prstDash val="solid"/>
          </a:ln>
        </p:spPr>
      </p:sp>
      <p:sp>
        <p:nvSpPr>
          <p:cNvPr id="10" name="Text 8"/>
          <p:cNvSpPr/>
          <p:nvPr/>
        </p:nvSpPr>
        <p:spPr>
          <a:xfrm>
            <a:off x="502920" y="1362456"/>
            <a:ext cx="5394960" cy="274320"/>
          </a:xfrm>
          <a:prstGeom prst="rect">
            <a:avLst/>
          </a:prstGeom>
          <a:noFill/>
          <a:ln/>
        </p:spPr>
        <p:txBody>
          <a:bodyPr wrap="square" rtlCol="0" anchor="ctr"/>
          <a:lstStyle/>
          <a:p>
            <a:pPr marL="0" indent="0">
              <a:buNone/>
            </a:pPr>
            <a:r>
              <a:rPr lang="en-US" sz="1050" dirty="0">
                <a:solidFill>
                  <a:srgbClr val="D8F3DC"/>
                </a:solidFill>
                <a:latin typeface="Calibri" pitchFamily="34" charset="0"/>
                <a:ea typeface="Calibri" pitchFamily="34" charset="-122"/>
                <a:cs typeface="Calibri" pitchFamily="34" charset="-120"/>
              </a:rPr>
              <a:t>📤  Upload Ảnh Lá Cây</a:t>
            </a:r>
            <a:endParaRPr lang="en-US" sz="1050" dirty="0"/>
          </a:p>
        </p:txBody>
      </p:sp>
      <p:sp>
        <p:nvSpPr>
          <p:cNvPr id="11" name="Shape 9"/>
          <p:cNvSpPr/>
          <p:nvPr/>
        </p:nvSpPr>
        <p:spPr>
          <a:xfrm>
            <a:off x="365760" y="1783080"/>
            <a:ext cx="5669280" cy="347472"/>
          </a:xfrm>
          <a:prstGeom prst="rect">
            <a:avLst/>
          </a:prstGeom>
          <a:solidFill>
            <a:srgbClr val="2D6A4F">
              <a:alpha val="40000"/>
            </a:srgbClr>
          </a:solidFill>
          <a:ln w="6350">
            <a:solidFill>
              <a:srgbClr val="40916C"/>
            </a:solidFill>
            <a:prstDash val="solid"/>
          </a:ln>
        </p:spPr>
      </p:sp>
      <p:sp>
        <p:nvSpPr>
          <p:cNvPr id="12" name="Text 10"/>
          <p:cNvSpPr/>
          <p:nvPr/>
        </p:nvSpPr>
        <p:spPr>
          <a:xfrm>
            <a:off x="502920" y="1819656"/>
            <a:ext cx="5394960" cy="274320"/>
          </a:xfrm>
          <a:prstGeom prst="rect">
            <a:avLst/>
          </a:prstGeom>
          <a:noFill/>
          <a:ln/>
        </p:spPr>
        <p:txBody>
          <a:bodyPr wrap="square" rtlCol="0" anchor="ctr"/>
          <a:lstStyle/>
          <a:p>
            <a:pPr marL="0" indent="0">
              <a:buNone/>
            </a:pPr>
            <a:r>
              <a:rPr lang="en-US" sz="1050" dirty="0">
                <a:solidFill>
                  <a:srgbClr val="D8F3DC"/>
                </a:solidFill>
                <a:latin typeface="Calibri" pitchFamily="34" charset="0"/>
                <a:ea typeface="Calibri" pitchFamily="34" charset="-122"/>
                <a:cs typeface="Calibri" pitchFamily="34" charset="-120"/>
              </a:rPr>
              <a:t>🌡  Nhập thông số môi trường (Nhiệt độ, Độ ẩm)</a:t>
            </a:r>
            <a:endParaRPr lang="en-US" sz="1050" dirty="0"/>
          </a:p>
        </p:txBody>
      </p:sp>
      <p:sp>
        <p:nvSpPr>
          <p:cNvPr id="13" name="Shape 11"/>
          <p:cNvSpPr/>
          <p:nvPr/>
        </p:nvSpPr>
        <p:spPr>
          <a:xfrm>
            <a:off x="365760" y="2240280"/>
            <a:ext cx="5669280" cy="347472"/>
          </a:xfrm>
          <a:prstGeom prst="rect">
            <a:avLst/>
          </a:prstGeom>
          <a:solidFill>
            <a:srgbClr val="2D6A4F">
              <a:alpha val="40000"/>
            </a:srgbClr>
          </a:solidFill>
          <a:ln w="6350">
            <a:solidFill>
              <a:srgbClr val="40916C"/>
            </a:solidFill>
            <a:prstDash val="solid"/>
          </a:ln>
        </p:spPr>
      </p:sp>
      <p:sp>
        <p:nvSpPr>
          <p:cNvPr id="14" name="Text 12"/>
          <p:cNvSpPr/>
          <p:nvPr/>
        </p:nvSpPr>
        <p:spPr>
          <a:xfrm>
            <a:off x="502920" y="2276856"/>
            <a:ext cx="5394960" cy="274320"/>
          </a:xfrm>
          <a:prstGeom prst="rect">
            <a:avLst/>
          </a:prstGeom>
          <a:noFill/>
          <a:ln/>
        </p:spPr>
        <p:txBody>
          <a:bodyPr wrap="square" rtlCol="0" anchor="ctr"/>
          <a:lstStyle/>
          <a:p>
            <a:pPr marL="0" indent="0">
              <a:buNone/>
            </a:pPr>
            <a:r>
              <a:rPr lang="en-US" sz="1050" dirty="0">
                <a:solidFill>
                  <a:srgbClr val="D8F3DC"/>
                </a:solidFill>
                <a:latin typeface="Calibri" pitchFamily="34" charset="0"/>
                <a:ea typeface="Calibri" pitchFamily="34" charset="-122"/>
                <a:cs typeface="Calibri" pitchFamily="34" charset="-120"/>
              </a:rPr>
              <a:t>▶  Chạy phân tích CNN + Fuzzy</a:t>
            </a:r>
            <a:endParaRPr lang="en-US" sz="1050" dirty="0"/>
          </a:p>
        </p:txBody>
      </p:sp>
      <p:sp>
        <p:nvSpPr>
          <p:cNvPr id="15" name="Shape 13"/>
          <p:cNvSpPr/>
          <p:nvPr/>
        </p:nvSpPr>
        <p:spPr>
          <a:xfrm>
            <a:off x="365760" y="2697480"/>
            <a:ext cx="5669280" cy="347472"/>
          </a:xfrm>
          <a:prstGeom prst="rect">
            <a:avLst/>
          </a:prstGeom>
          <a:solidFill>
            <a:srgbClr val="2D6A4F">
              <a:alpha val="40000"/>
            </a:srgbClr>
          </a:solidFill>
          <a:ln w="6350">
            <a:solidFill>
              <a:srgbClr val="40916C"/>
            </a:solidFill>
            <a:prstDash val="solid"/>
          </a:ln>
        </p:spPr>
      </p:sp>
      <p:sp>
        <p:nvSpPr>
          <p:cNvPr id="16" name="Text 14"/>
          <p:cNvSpPr/>
          <p:nvPr/>
        </p:nvSpPr>
        <p:spPr>
          <a:xfrm>
            <a:off x="502920" y="2734056"/>
            <a:ext cx="5394960" cy="274320"/>
          </a:xfrm>
          <a:prstGeom prst="rect">
            <a:avLst/>
          </a:prstGeom>
          <a:noFill/>
          <a:ln/>
        </p:spPr>
        <p:txBody>
          <a:bodyPr wrap="square" rtlCol="0" anchor="ctr"/>
          <a:lstStyle/>
          <a:p>
            <a:pPr marL="0" indent="0">
              <a:buNone/>
            </a:pPr>
            <a:r>
              <a:rPr lang="en-US" sz="1050" dirty="0">
                <a:solidFill>
                  <a:srgbClr val="D8F3DC"/>
                </a:solidFill>
                <a:latin typeface="Calibri" pitchFamily="34" charset="0"/>
                <a:ea typeface="Calibri" pitchFamily="34" charset="-122"/>
                <a:cs typeface="Calibri" pitchFamily="34" charset="-120"/>
              </a:rPr>
              <a:t>📋  Kết quả phân loại bệnh &amp; Độ tin cậy</a:t>
            </a:r>
            <a:endParaRPr lang="en-US" sz="1050" dirty="0"/>
          </a:p>
        </p:txBody>
      </p:sp>
      <p:sp>
        <p:nvSpPr>
          <p:cNvPr id="17" name="Shape 15"/>
          <p:cNvSpPr/>
          <p:nvPr/>
        </p:nvSpPr>
        <p:spPr>
          <a:xfrm>
            <a:off x="365760" y="3154680"/>
            <a:ext cx="5669280" cy="347472"/>
          </a:xfrm>
          <a:prstGeom prst="rect">
            <a:avLst/>
          </a:prstGeom>
          <a:solidFill>
            <a:srgbClr val="2D6A4F">
              <a:alpha val="40000"/>
            </a:srgbClr>
          </a:solidFill>
          <a:ln w="6350">
            <a:solidFill>
              <a:srgbClr val="40916C"/>
            </a:solidFill>
            <a:prstDash val="solid"/>
          </a:ln>
        </p:spPr>
      </p:sp>
      <p:sp>
        <p:nvSpPr>
          <p:cNvPr id="18" name="Text 16"/>
          <p:cNvSpPr/>
          <p:nvPr/>
        </p:nvSpPr>
        <p:spPr>
          <a:xfrm>
            <a:off x="502920" y="3191256"/>
            <a:ext cx="5394960" cy="274320"/>
          </a:xfrm>
          <a:prstGeom prst="rect">
            <a:avLst/>
          </a:prstGeom>
          <a:noFill/>
          <a:ln/>
        </p:spPr>
        <p:txBody>
          <a:bodyPr wrap="square" rtlCol="0" anchor="ctr"/>
          <a:lstStyle/>
          <a:p>
            <a:pPr marL="0" indent="0">
              <a:buNone/>
            </a:pPr>
            <a:r>
              <a:rPr lang="en-US" sz="1050" dirty="0">
                <a:solidFill>
                  <a:srgbClr val="D8F3DC"/>
                </a:solidFill>
                <a:latin typeface="Calibri" pitchFamily="34" charset="0"/>
                <a:ea typeface="Calibri" pitchFamily="34" charset="-122"/>
                <a:cs typeface="Calibri" pitchFamily="34" charset="-120"/>
              </a:rPr>
              <a:t>💡  Báo cáo XAI – Luật mờ kích hoạt</a:t>
            </a:r>
            <a:endParaRPr lang="en-US" sz="1050" dirty="0"/>
          </a:p>
        </p:txBody>
      </p:sp>
      <p:sp>
        <p:nvSpPr>
          <p:cNvPr id="19" name="Shape 17"/>
          <p:cNvSpPr/>
          <p:nvPr/>
        </p:nvSpPr>
        <p:spPr>
          <a:xfrm>
            <a:off x="365760" y="3611880"/>
            <a:ext cx="5669280" cy="347472"/>
          </a:xfrm>
          <a:prstGeom prst="rect">
            <a:avLst/>
          </a:prstGeom>
          <a:solidFill>
            <a:srgbClr val="2D6A4F">
              <a:alpha val="40000"/>
            </a:srgbClr>
          </a:solidFill>
          <a:ln w="6350">
            <a:solidFill>
              <a:srgbClr val="40916C"/>
            </a:solidFill>
            <a:prstDash val="solid"/>
          </a:ln>
        </p:spPr>
      </p:sp>
      <p:sp>
        <p:nvSpPr>
          <p:cNvPr id="20" name="Text 18"/>
          <p:cNvSpPr/>
          <p:nvPr/>
        </p:nvSpPr>
        <p:spPr>
          <a:xfrm>
            <a:off x="502920" y="3648456"/>
            <a:ext cx="5394960" cy="274320"/>
          </a:xfrm>
          <a:prstGeom prst="rect">
            <a:avLst/>
          </a:prstGeom>
          <a:noFill/>
          <a:ln/>
        </p:spPr>
        <p:txBody>
          <a:bodyPr wrap="square" rtlCol="0" anchor="ctr"/>
          <a:lstStyle/>
          <a:p>
            <a:pPr marL="0" indent="0">
              <a:buNone/>
            </a:pPr>
            <a:r>
              <a:rPr lang="en-US" sz="1050" dirty="0">
                <a:solidFill>
                  <a:srgbClr val="D8F3DC"/>
                </a:solidFill>
                <a:latin typeface="Calibri" pitchFamily="34" charset="0"/>
                <a:ea typeface="Calibri" pitchFamily="34" charset="-122"/>
                <a:cs typeface="Calibri" pitchFamily="34" charset="-120"/>
              </a:rPr>
              <a:t>📝  Khuyến nghị nông nghiệp tự động</a:t>
            </a:r>
            <a:endParaRPr lang="en-US" sz="1050" dirty="0"/>
          </a:p>
        </p:txBody>
      </p:sp>
      <p:sp>
        <p:nvSpPr>
          <p:cNvPr id="21" name="Text 19"/>
          <p:cNvSpPr/>
          <p:nvPr/>
        </p:nvSpPr>
        <p:spPr>
          <a:xfrm>
            <a:off x="6400800" y="841248"/>
            <a:ext cx="2514600" cy="384048"/>
          </a:xfrm>
          <a:prstGeom prst="rect">
            <a:avLst/>
          </a:prstGeom>
          <a:noFill/>
          <a:ln/>
        </p:spPr>
        <p:txBody>
          <a:bodyPr wrap="square" rtlCol="0" anchor="ctr"/>
          <a:lstStyle/>
          <a:p>
            <a:pPr marL="0" indent="0">
              <a:buNone/>
            </a:pPr>
            <a:r>
              <a:rPr lang="en-US" sz="1300" b="1" dirty="0">
                <a:solidFill>
                  <a:srgbClr val="1B4332"/>
                </a:solidFill>
                <a:latin typeface="Calibri" pitchFamily="34" charset="0"/>
                <a:ea typeface="Calibri" pitchFamily="34" charset="-122"/>
                <a:cs typeface="Calibri" pitchFamily="34" charset="-120"/>
              </a:rPr>
              <a:t>🛠  Công Nghệ Sử Dụng</a:t>
            </a:r>
            <a:endParaRPr lang="en-US" sz="1300" dirty="0"/>
          </a:p>
        </p:txBody>
      </p:sp>
      <p:sp>
        <p:nvSpPr>
          <p:cNvPr id="22" name="Shape 20"/>
          <p:cNvSpPr/>
          <p:nvPr/>
        </p:nvSpPr>
        <p:spPr>
          <a:xfrm>
            <a:off x="6400800" y="1298448"/>
            <a:ext cx="2514600" cy="329184"/>
          </a:xfrm>
          <a:prstGeom prst="rect">
            <a:avLst/>
          </a:prstGeom>
          <a:solidFill>
            <a:srgbClr val="D8F3DC"/>
          </a:solidFill>
          <a:ln w="6350">
            <a:solidFill>
              <a:srgbClr val="74C69D"/>
            </a:solidFill>
            <a:prstDash val="solid"/>
          </a:ln>
        </p:spPr>
      </p:sp>
      <p:sp>
        <p:nvSpPr>
          <p:cNvPr id="23" name="Text 21"/>
          <p:cNvSpPr/>
          <p:nvPr/>
        </p:nvSpPr>
        <p:spPr>
          <a:xfrm>
            <a:off x="6492240" y="1335024"/>
            <a:ext cx="1097280" cy="256032"/>
          </a:xfrm>
          <a:prstGeom prst="rect">
            <a:avLst/>
          </a:prstGeom>
          <a:noFill/>
          <a:ln/>
        </p:spPr>
        <p:txBody>
          <a:bodyPr wrap="square" rtlCol="0" anchor="ctr"/>
          <a:lstStyle/>
          <a:p>
            <a:pPr marL="0" indent="0">
              <a:buNone/>
            </a:pPr>
            <a:r>
              <a:rPr lang="en-US" sz="1000" b="1" dirty="0">
                <a:solidFill>
                  <a:srgbClr val="1B4332"/>
                </a:solidFill>
                <a:latin typeface="Calibri" pitchFamily="34" charset="0"/>
                <a:ea typeface="Calibri" pitchFamily="34" charset="-122"/>
                <a:cs typeface="Calibri" pitchFamily="34" charset="-120"/>
              </a:rPr>
              <a:t>Python 3.10+</a:t>
            </a:r>
            <a:endParaRPr lang="en-US" sz="1000" dirty="0"/>
          </a:p>
        </p:txBody>
      </p:sp>
      <p:sp>
        <p:nvSpPr>
          <p:cNvPr id="24" name="Text 22"/>
          <p:cNvSpPr/>
          <p:nvPr/>
        </p:nvSpPr>
        <p:spPr>
          <a:xfrm>
            <a:off x="7589520" y="1335024"/>
            <a:ext cx="1234440" cy="256032"/>
          </a:xfrm>
          <a:prstGeom prst="rect">
            <a:avLst/>
          </a:prstGeom>
          <a:noFill/>
          <a:ln/>
        </p:spPr>
        <p:txBody>
          <a:bodyPr wrap="square" rtlCol="0" anchor="ctr"/>
          <a:lstStyle/>
          <a:p>
            <a:pPr marL="0" indent="0">
              <a:buNone/>
            </a:pPr>
            <a:r>
              <a:rPr lang="en-US" sz="950" dirty="0">
                <a:solidFill>
                  <a:srgbClr val="6C757D"/>
                </a:solidFill>
                <a:latin typeface="Calibri" pitchFamily="34" charset="0"/>
                <a:ea typeface="Calibri" pitchFamily="34" charset="-122"/>
                <a:cs typeface="Calibri" pitchFamily="34" charset="-120"/>
              </a:rPr>
              <a:t>Ngôn ngữ chính</a:t>
            </a:r>
            <a:endParaRPr lang="en-US" sz="950" dirty="0"/>
          </a:p>
        </p:txBody>
      </p:sp>
      <p:sp>
        <p:nvSpPr>
          <p:cNvPr id="25" name="Shape 23"/>
          <p:cNvSpPr/>
          <p:nvPr/>
        </p:nvSpPr>
        <p:spPr>
          <a:xfrm>
            <a:off x="6400800" y="1664208"/>
            <a:ext cx="2514600" cy="329184"/>
          </a:xfrm>
          <a:prstGeom prst="rect">
            <a:avLst/>
          </a:prstGeom>
          <a:solidFill>
            <a:srgbClr val="F8F9FA"/>
          </a:solidFill>
          <a:ln w="6350">
            <a:solidFill>
              <a:srgbClr val="74C69D"/>
            </a:solidFill>
            <a:prstDash val="solid"/>
          </a:ln>
        </p:spPr>
      </p:sp>
      <p:sp>
        <p:nvSpPr>
          <p:cNvPr id="26" name="Text 24"/>
          <p:cNvSpPr/>
          <p:nvPr/>
        </p:nvSpPr>
        <p:spPr>
          <a:xfrm>
            <a:off x="6492240" y="1700784"/>
            <a:ext cx="1097280" cy="256032"/>
          </a:xfrm>
          <a:prstGeom prst="rect">
            <a:avLst/>
          </a:prstGeom>
          <a:noFill/>
          <a:ln/>
        </p:spPr>
        <p:txBody>
          <a:bodyPr wrap="square" rtlCol="0" anchor="ctr"/>
          <a:lstStyle/>
          <a:p>
            <a:pPr marL="0" indent="0">
              <a:buNone/>
            </a:pPr>
            <a:r>
              <a:rPr lang="en-US" sz="1000" b="1" dirty="0">
                <a:solidFill>
                  <a:srgbClr val="1B4332"/>
                </a:solidFill>
                <a:latin typeface="Calibri" pitchFamily="34" charset="0"/>
                <a:ea typeface="Calibri" pitchFamily="34" charset="-122"/>
                <a:cs typeface="Calibri" pitchFamily="34" charset="-120"/>
              </a:rPr>
              <a:t>PyTorch</a:t>
            </a:r>
            <a:endParaRPr lang="en-US" sz="1000" dirty="0"/>
          </a:p>
        </p:txBody>
      </p:sp>
      <p:sp>
        <p:nvSpPr>
          <p:cNvPr id="27" name="Text 25"/>
          <p:cNvSpPr/>
          <p:nvPr/>
        </p:nvSpPr>
        <p:spPr>
          <a:xfrm>
            <a:off x="7589520" y="1700784"/>
            <a:ext cx="1234440" cy="256032"/>
          </a:xfrm>
          <a:prstGeom prst="rect">
            <a:avLst/>
          </a:prstGeom>
          <a:noFill/>
          <a:ln/>
        </p:spPr>
        <p:txBody>
          <a:bodyPr wrap="square" rtlCol="0" anchor="ctr"/>
          <a:lstStyle/>
          <a:p>
            <a:pPr marL="0" indent="0">
              <a:buNone/>
            </a:pPr>
            <a:r>
              <a:rPr lang="en-US" sz="950" dirty="0">
                <a:solidFill>
                  <a:srgbClr val="6C757D"/>
                </a:solidFill>
                <a:latin typeface="Calibri" pitchFamily="34" charset="0"/>
                <a:ea typeface="Calibri" pitchFamily="34" charset="-122"/>
                <a:cs typeface="Calibri" pitchFamily="34" charset="-120"/>
              </a:rPr>
              <a:t>Xây dựng CNN</a:t>
            </a:r>
            <a:endParaRPr lang="en-US" sz="950" dirty="0"/>
          </a:p>
        </p:txBody>
      </p:sp>
      <p:sp>
        <p:nvSpPr>
          <p:cNvPr id="28" name="Shape 26"/>
          <p:cNvSpPr/>
          <p:nvPr/>
        </p:nvSpPr>
        <p:spPr>
          <a:xfrm>
            <a:off x="6400800" y="2029968"/>
            <a:ext cx="2514600" cy="329184"/>
          </a:xfrm>
          <a:prstGeom prst="rect">
            <a:avLst/>
          </a:prstGeom>
          <a:solidFill>
            <a:srgbClr val="D8F3DC"/>
          </a:solidFill>
          <a:ln w="6350">
            <a:solidFill>
              <a:srgbClr val="74C69D"/>
            </a:solidFill>
            <a:prstDash val="solid"/>
          </a:ln>
        </p:spPr>
      </p:sp>
      <p:sp>
        <p:nvSpPr>
          <p:cNvPr id="29" name="Text 27"/>
          <p:cNvSpPr/>
          <p:nvPr/>
        </p:nvSpPr>
        <p:spPr>
          <a:xfrm>
            <a:off x="6492240" y="2066544"/>
            <a:ext cx="1097280" cy="256032"/>
          </a:xfrm>
          <a:prstGeom prst="rect">
            <a:avLst/>
          </a:prstGeom>
          <a:noFill/>
          <a:ln/>
        </p:spPr>
        <p:txBody>
          <a:bodyPr wrap="square" rtlCol="0" anchor="ctr"/>
          <a:lstStyle/>
          <a:p>
            <a:pPr marL="0" indent="0">
              <a:buNone/>
            </a:pPr>
            <a:r>
              <a:rPr lang="en-US" sz="1000" b="1" dirty="0">
                <a:solidFill>
                  <a:srgbClr val="1B4332"/>
                </a:solidFill>
                <a:latin typeface="Calibri" pitchFamily="34" charset="0"/>
                <a:ea typeface="Calibri" pitchFamily="34" charset="-122"/>
                <a:cs typeface="Calibri" pitchFamily="34" charset="-120"/>
              </a:rPr>
              <a:t>TorchVision</a:t>
            </a:r>
            <a:endParaRPr lang="en-US" sz="1000" dirty="0"/>
          </a:p>
        </p:txBody>
      </p:sp>
      <p:sp>
        <p:nvSpPr>
          <p:cNvPr id="30" name="Text 28"/>
          <p:cNvSpPr/>
          <p:nvPr/>
        </p:nvSpPr>
        <p:spPr>
          <a:xfrm>
            <a:off x="7589520" y="2066544"/>
            <a:ext cx="1234440" cy="256032"/>
          </a:xfrm>
          <a:prstGeom prst="rect">
            <a:avLst/>
          </a:prstGeom>
          <a:noFill/>
          <a:ln/>
        </p:spPr>
        <p:txBody>
          <a:bodyPr wrap="square" rtlCol="0" anchor="ctr"/>
          <a:lstStyle/>
          <a:p>
            <a:pPr marL="0" indent="0">
              <a:buNone/>
            </a:pPr>
            <a:r>
              <a:rPr lang="en-US" sz="950" dirty="0">
                <a:solidFill>
                  <a:srgbClr val="6C757D"/>
                </a:solidFill>
                <a:latin typeface="Calibri" pitchFamily="34" charset="0"/>
                <a:ea typeface="Calibri" pitchFamily="34" charset="-122"/>
                <a:cs typeface="Calibri" pitchFamily="34" charset="-120"/>
              </a:rPr>
              <a:t>EfficientNet-B0</a:t>
            </a:r>
            <a:endParaRPr lang="en-US" sz="950" dirty="0"/>
          </a:p>
        </p:txBody>
      </p:sp>
      <p:sp>
        <p:nvSpPr>
          <p:cNvPr id="31" name="Shape 29"/>
          <p:cNvSpPr/>
          <p:nvPr/>
        </p:nvSpPr>
        <p:spPr>
          <a:xfrm>
            <a:off x="6400800" y="2395728"/>
            <a:ext cx="2514600" cy="329184"/>
          </a:xfrm>
          <a:prstGeom prst="rect">
            <a:avLst/>
          </a:prstGeom>
          <a:solidFill>
            <a:srgbClr val="F8F9FA"/>
          </a:solidFill>
          <a:ln w="6350">
            <a:solidFill>
              <a:srgbClr val="74C69D"/>
            </a:solidFill>
            <a:prstDash val="solid"/>
          </a:ln>
        </p:spPr>
      </p:sp>
      <p:sp>
        <p:nvSpPr>
          <p:cNvPr id="32" name="Text 30"/>
          <p:cNvSpPr/>
          <p:nvPr/>
        </p:nvSpPr>
        <p:spPr>
          <a:xfrm>
            <a:off x="6492240" y="2432304"/>
            <a:ext cx="1097280" cy="256032"/>
          </a:xfrm>
          <a:prstGeom prst="rect">
            <a:avLst/>
          </a:prstGeom>
          <a:noFill/>
          <a:ln/>
        </p:spPr>
        <p:txBody>
          <a:bodyPr wrap="square" rtlCol="0" anchor="ctr"/>
          <a:lstStyle/>
          <a:p>
            <a:pPr marL="0" indent="0">
              <a:buNone/>
            </a:pPr>
            <a:r>
              <a:rPr lang="en-US" sz="1000" b="1" dirty="0">
                <a:solidFill>
                  <a:srgbClr val="1B4332"/>
                </a:solidFill>
                <a:latin typeface="Calibri" pitchFamily="34" charset="0"/>
                <a:ea typeface="Calibri" pitchFamily="34" charset="-122"/>
                <a:cs typeface="Calibri" pitchFamily="34" charset="-120"/>
              </a:rPr>
              <a:t>scikit-learn</a:t>
            </a:r>
            <a:endParaRPr lang="en-US" sz="1000" dirty="0"/>
          </a:p>
        </p:txBody>
      </p:sp>
      <p:sp>
        <p:nvSpPr>
          <p:cNvPr id="33" name="Text 31"/>
          <p:cNvSpPr/>
          <p:nvPr/>
        </p:nvSpPr>
        <p:spPr>
          <a:xfrm>
            <a:off x="7589520" y="2432304"/>
            <a:ext cx="1234440" cy="256032"/>
          </a:xfrm>
          <a:prstGeom prst="rect">
            <a:avLst/>
          </a:prstGeom>
          <a:noFill/>
          <a:ln/>
        </p:spPr>
        <p:txBody>
          <a:bodyPr wrap="square" rtlCol="0" anchor="ctr"/>
          <a:lstStyle/>
          <a:p>
            <a:pPr marL="0" indent="0">
              <a:buNone/>
            </a:pPr>
            <a:r>
              <a:rPr lang="en-US" sz="950" dirty="0">
                <a:solidFill>
                  <a:srgbClr val="6C757D"/>
                </a:solidFill>
                <a:latin typeface="Calibri" pitchFamily="34" charset="0"/>
                <a:ea typeface="Calibri" pitchFamily="34" charset="-122"/>
                <a:cs typeface="Calibri" pitchFamily="34" charset="-120"/>
              </a:rPr>
              <a:t>Đánh giá mô hình</a:t>
            </a:r>
            <a:endParaRPr lang="en-US" sz="950" dirty="0"/>
          </a:p>
        </p:txBody>
      </p:sp>
      <p:sp>
        <p:nvSpPr>
          <p:cNvPr id="34" name="Shape 32"/>
          <p:cNvSpPr/>
          <p:nvPr/>
        </p:nvSpPr>
        <p:spPr>
          <a:xfrm>
            <a:off x="6400800" y="2761488"/>
            <a:ext cx="2514600" cy="329184"/>
          </a:xfrm>
          <a:prstGeom prst="rect">
            <a:avLst/>
          </a:prstGeom>
          <a:solidFill>
            <a:srgbClr val="D8F3DC"/>
          </a:solidFill>
          <a:ln w="6350">
            <a:solidFill>
              <a:srgbClr val="74C69D"/>
            </a:solidFill>
            <a:prstDash val="solid"/>
          </a:ln>
        </p:spPr>
      </p:sp>
      <p:sp>
        <p:nvSpPr>
          <p:cNvPr id="35" name="Text 33"/>
          <p:cNvSpPr/>
          <p:nvPr/>
        </p:nvSpPr>
        <p:spPr>
          <a:xfrm>
            <a:off x="6492240" y="2798064"/>
            <a:ext cx="1097280" cy="256032"/>
          </a:xfrm>
          <a:prstGeom prst="rect">
            <a:avLst/>
          </a:prstGeom>
          <a:noFill/>
          <a:ln/>
        </p:spPr>
        <p:txBody>
          <a:bodyPr wrap="square" rtlCol="0" anchor="ctr"/>
          <a:lstStyle/>
          <a:p>
            <a:pPr marL="0" indent="0">
              <a:buNone/>
            </a:pPr>
            <a:r>
              <a:rPr lang="en-US" sz="1000" b="1" dirty="0">
                <a:solidFill>
                  <a:srgbClr val="1B4332"/>
                </a:solidFill>
                <a:latin typeface="Calibri" pitchFamily="34" charset="0"/>
                <a:ea typeface="Calibri" pitchFamily="34" charset="-122"/>
                <a:cs typeface="Calibri" pitchFamily="34" charset="-120"/>
              </a:rPr>
              <a:t>Streamlit</a:t>
            </a:r>
            <a:endParaRPr lang="en-US" sz="1000" dirty="0"/>
          </a:p>
        </p:txBody>
      </p:sp>
      <p:sp>
        <p:nvSpPr>
          <p:cNvPr id="36" name="Text 34"/>
          <p:cNvSpPr/>
          <p:nvPr/>
        </p:nvSpPr>
        <p:spPr>
          <a:xfrm>
            <a:off x="7589520" y="2798064"/>
            <a:ext cx="1234440" cy="256032"/>
          </a:xfrm>
          <a:prstGeom prst="rect">
            <a:avLst/>
          </a:prstGeom>
          <a:noFill/>
          <a:ln/>
        </p:spPr>
        <p:txBody>
          <a:bodyPr wrap="square" rtlCol="0" anchor="ctr"/>
          <a:lstStyle/>
          <a:p>
            <a:pPr marL="0" indent="0">
              <a:buNone/>
            </a:pPr>
            <a:r>
              <a:rPr lang="en-US" sz="950" dirty="0">
                <a:solidFill>
                  <a:srgbClr val="6C757D"/>
                </a:solidFill>
                <a:latin typeface="Calibri" pitchFamily="34" charset="0"/>
                <a:ea typeface="Calibri" pitchFamily="34" charset="-122"/>
                <a:cs typeface="Calibri" pitchFamily="34" charset="-120"/>
              </a:rPr>
              <a:t>Giao diện Web Demo</a:t>
            </a:r>
            <a:endParaRPr lang="en-US" sz="950" dirty="0"/>
          </a:p>
        </p:txBody>
      </p:sp>
      <p:sp>
        <p:nvSpPr>
          <p:cNvPr id="37" name="Shape 35"/>
          <p:cNvSpPr/>
          <p:nvPr/>
        </p:nvSpPr>
        <p:spPr>
          <a:xfrm>
            <a:off x="6400800" y="3127248"/>
            <a:ext cx="2514600" cy="329184"/>
          </a:xfrm>
          <a:prstGeom prst="rect">
            <a:avLst/>
          </a:prstGeom>
          <a:solidFill>
            <a:srgbClr val="F8F9FA"/>
          </a:solidFill>
          <a:ln w="6350">
            <a:solidFill>
              <a:srgbClr val="74C69D"/>
            </a:solidFill>
            <a:prstDash val="solid"/>
          </a:ln>
        </p:spPr>
      </p:sp>
      <p:sp>
        <p:nvSpPr>
          <p:cNvPr id="38" name="Text 36"/>
          <p:cNvSpPr/>
          <p:nvPr/>
        </p:nvSpPr>
        <p:spPr>
          <a:xfrm>
            <a:off x="6492240" y="3163824"/>
            <a:ext cx="1097280" cy="256032"/>
          </a:xfrm>
          <a:prstGeom prst="rect">
            <a:avLst/>
          </a:prstGeom>
          <a:noFill/>
          <a:ln/>
        </p:spPr>
        <p:txBody>
          <a:bodyPr wrap="square" rtlCol="0" anchor="ctr"/>
          <a:lstStyle/>
          <a:p>
            <a:pPr marL="0" indent="0">
              <a:buNone/>
            </a:pPr>
            <a:r>
              <a:rPr lang="en-US" sz="1000" b="1" dirty="0">
                <a:solidFill>
                  <a:srgbClr val="1B4332"/>
                </a:solidFill>
                <a:latin typeface="Calibri" pitchFamily="34" charset="0"/>
                <a:ea typeface="Calibri" pitchFamily="34" charset="-122"/>
                <a:cs typeface="Calibri" pitchFamily="34" charset="-120"/>
              </a:rPr>
              <a:t>NumPy / Pandas</a:t>
            </a:r>
            <a:endParaRPr lang="en-US" sz="1000" dirty="0"/>
          </a:p>
        </p:txBody>
      </p:sp>
      <p:sp>
        <p:nvSpPr>
          <p:cNvPr id="39" name="Text 37"/>
          <p:cNvSpPr/>
          <p:nvPr/>
        </p:nvSpPr>
        <p:spPr>
          <a:xfrm>
            <a:off x="7589520" y="3163824"/>
            <a:ext cx="1234440" cy="256032"/>
          </a:xfrm>
          <a:prstGeom prst="rect">
            <a:avLst/>
          </a:prstGeom>
          <a:noFill/>
          <a:ln/>
        </p:spPr>
        <p:txBody>
          <a:bodyPr wrap="square" rtlCol="0" anchor="ctr"/>
          <a:lstStyle/>
          <a:p>
            <a:pPr marL="0" indent="0">
              <a:buNone/>
            </a:pPr>
            <a:r>
              <a:rPr lang="en-US" sz="950" dirty="0">
                <a:solidFill>
                  <a:srgbClr val="6C757D"/>
                </a:solidFill>
                <a:latin typeface="Calibri" pitchFamily="34" charset="0"/>
                <a:ea typeface="Calibri" pitchFamily="34" charset="-122"/>
                <a:cs typeface="Calibri" pitchFamily="34" charset="-120"/>
              </a:rPr>
              <a:t>Xử lý dữ liệu</a:t>
            </a:r>
            <a:endParaRPr lang="en-US" sz="950" dirty="0"/>
          </a:p>
        </p:txBody>
      </p:sp>
      <p:sp>
        <p:nvSpPr>
          <p:cNvPr id="40" name="Shape 38"/>
          <p:cNvSpPr/>
          <p:nvPr/>
        </p:nvSpPr>
        <p:spPr>
          <a:xfrm>
            <a:off x="6400800" y="3493008"/>
            <a:ext cx="2514600" cy="329184"/>
          </a:xfrm>
          <a:prstGeom prst="rect">
            <a:avLst/>
          </a:prstGeom>
          <a:solidFill>
            <a:srgbClr val="D8F3DC"/>
          </a:solidFill>
          <a:ln w="6350">
            <a:solidFill>
              <a:srgbClr val="74C69D"/>
            </a:solidFill>
            <a:prstDash val="solid"/>
          </a:ln>
        </p:spPr>
      </p:sp>
      <p:sp>
        <p:nvSpPr>
          <p:cNvPr id="41" name="Text 39"/>
          <p:cNvSpPr/>
          <p:nvPr/>
        </p:nvSpPr>
        <p:spPr>
          <a:xfrm>
            <a:off x="6492240" y="3529584"/>
            <a:ext cx="1097280" cy="256032"/>
          </a:xfrm>
          <a:prstGeom prst="rect">
            <a:avLst/>
          </a:prstGeom>
          <a:noFill/>
          <a:ln/>
        </p:spPr>
        <p:txBody>
          <a:bodyPr wrap="square" rtlCol="0" anchor="ctr"/>
          <a:lstStyle/>
          <a:p>
            <a:pPr marL="0" indent="0">
              <a:buNone/>
            </a:pPr>
            <a:r>
              <a:rPr lang="en-US" sz="1000" b="1" dirty="0">
                <a:solidFill>
                  <a:srgbClr val="1B4332"/>
                </a:solidFill>
                <a:latin typeface="Calibri" pitchFamily="34" charset="0"/>
                <a:ea typeface="Calibri" pitchFamily="34" charset="-122"/>
                <a:cs typeface="Calibri" pitchFamily="34" charset="-120"/>
              </a:rPr>
              <a:t>Pillow (PIL)</a:t>
            </a:r>
            <a:endParaRPr lang="en-US" sz="1000" dirty="0"/>
          </a:p>
        </p:txBody>
      </p:sp>
      <p:sp>
        <p:nvSpPr>
          <p:cNvPr id="42" name="Text 40"/>
          <p:cNvSpPr/>
          <p:nvPr/>
        </p:nvSpPr>
        <p:spPr>
          <a:xfrm>
            <a:off x="7589520" y="3529584"/>
            <a:ext cx="1234440" cy="256032"/>
          </a:xfrm>
          <a:prstGeom prst="rect">
            <a:avLst/>
          </a:prstGeom>
          <a:noFill/>
          <a:ln/>
        </p:spPr>
        <p:txBody>
          <a:bodyPr wrap="square" rtlCol="0" anchor="ctr"/>
          <a:lstStyle/>
          <a:p>
            <a:pPr marL="0" indent="0">
              <a:buNone/>
            </a:pPr>
            <a:r>
              <a:rPr lang="en-US" sz="950" dirty="0">
                <a:solidFill>
                  <a:srgbClr val="6C757D"/>
                </a:solidFill>
                <a:latin typeface="Calibri" pitchFamily="34" charset="0"/>
                <a:ea typeface="Calibri" pitchFamily="34" charset="-122"/>
                <a:cs typeface="Calibri" pitchFamily="34" charset="-120"/>
              </a:rPr>
              <a:t>Xử lý ảnh đầu vào</a:t>
            </a:r>
            <a:endParaRPr lang="en-US" sz="950" dirty="0"/>
          </a:p>
        </p:txBody>
      </p:sp>
      <p:sp>
        <p:nvSpPr>
          <p:cNvPr id="43" name="Shape 41"/>
          <p:cNvSpPr/>
          <p:nvPr/>
        </p:nvSpPr>
        <p:spPr>
          <a:xfrm>
            <a:off x="6400800" y="3858768"/>
            <a:ext cx="2514600" cy="329184"/>
          </a:xfrm>
          <a:prstGeom prst="rect">
            <a:avLst/>
          </a:prstGeom>
          <a:solidFill>
            <a:srgbClr val="F8F9FA"/>
          </a:solidFill>
          <a:ln w="6350">
            <a:solidFill>
              <a:srgbClr val="74C69D"/>
            </a:solidFill>
            <a:prstDash val="solid"/>
          </a:ln>
        </p:spPr>
      </p:sp>
      <p:sp>
        <p:nvSpPr>
          <p:cNvPr id="44" name="Text 42"/>
          <p:cNvSpPr/>
          <p:nvPr/>
        </p:nvSpPr>
        <p:spPr>
          <a:xfrm>
            <a:off x="6492240" y="3895344"/>
            <a:ext cx="1097280" cy="256032"/>
          </a:xfrm>
          <a:prstGeom prst="rect">
            <a:avLst/>
          </a:prstGeom>
          <a:noFill/>
          <a:ln/>
        </p:spPr>
        <p:txBody>
          <a:bodyPr wrap="square" rtlCol="0" anchor="ctr"/>
          <a:lstStyle/>
          <a:p>
            <a:pPr marL="0" indent="0">
              <a:buNone/>
            </a:pPr>
            <a:r>
              <a:rPr lang="en-US" sz="1000" b="1" dirty="0">
                <a:solidFill>
                  <a:srgbClr val="1B4332"/>
                </a:solidFill>
                <a:latin typeface="Calibri" pitchFamily="34" charset="0"/>
                <a:ea typeface="Calibri" pitchFamily="34" charset="-122"/>
                <a:cs typeface="Calibri" pitchFamily="34" charset="-120"/>
              </a:rPr>
              <a:t>JSON</a:t>
            </a:r>
            <a:endParaRPr lang="en-US" sz="1000" dirty="0"/>
          </a:p>
        </p:txBody>
      </p:sp>
      <p:sp>
        <p:nvSpPr>
          <p:cNvPr id="45" name="Text 43"/>
          <p:cNvSpPr/>
          <p:nvPr/>
        </p:nvSpPr>
        <p:spPr>
          <a:xfrm>
            <a:off x="7589520" y="3895344"/>
            <a:ext cx="1234440" cy="256032"/>
          </a:xfrm>
          <a:prstGeom prst="rect">
            <a:avLst/>
          </a:prstGeom>
          <a:noFill/>
          <a:ln/>
        </p:spPr>
        <p:txBody>
          <a:bodyPr wrap="square" rtlCol="0" anchor="ctr"/>
          <a:lstStyle/>
          <a:p>
            <a:pPr marL="0" indent="0">
              <a:buNone/>
            </a:pPr>
            <a:r>
              <a:rPr lang="en-US" sz="950" dirty="0">
                <a:solidFill>
                  <a:srgbClr val="6C757D"/>
                </a:solidFill>
                <a:latin typeface="Calibri" pitchFamily="34" charset="0"/>
                <a:ea typeface="Calibri" pitchFamily="34" charset="-122"/>
                <a:cs typeface="Calibri" pitchFamily="34" charset="-120"/>
              </a:rPr>
              <a:t>Lưu báo cáo XAI</a:t>
            </a:r>
            <a:endParaRPr lang="en-US" sz="950" dirty="0"/>
          </a:p>
        </p:txBody>
      </p:sp>
      <p:sp>
        <p:nvSpPr>
          <p:cNvPr id="46" name="Shape 44"/>
          <p:cNvSpPr/>
          <p:nvPr/>
        </p:nvSpPr>
        <p:spPr>
          <a:xfrm>
            <a:off x="6400800" y="4224528"/>
            <a:ext cx="2514600" cy="365760"/>
          </a:xfrm>
          <a:prstGeom prst="rect">
            <a:avLst/>
          </a:prstGeom>
          <a:solidFill>
            <a:srgbClr val="1B4332"/>
          </a:solidFill>
          <a:ln w="12700">
            <a:solidFill>
              <a:srgbClr val="1B4332"/>
            </a:solidFill>
            <a:prstDash val="solid"/>
          </a:ln>
        </p:spPr>
      </p:sp>
      <p:sp>
        <p:nvSpPr>
          <p:cNvPr id="47" name="Text 45"/>
          <p:cNvSpPr/>
          <p:nvPr/>
        </p:nvSpPr>
        <p:spPr>
          <a:xfrm>
            <a:off x="6400800" y="4224528"/>
            <a:ext cx="2514600" cy="365760"/>
          </a:xfrm>
          <a:prstGeom prst="rect">
            <a:avLst/>
          </a:prstGeom>
          <a:noFill/>
          <a:ln/>
        </p:spPr>
        <p:txBody>
          <a:bodyPr wrap="square" rtlCol="0" anchor="ctr"/>
          <a:lstStyle/>
          <a:p>
            <a:pPr marL="0" indent="0" algn="ctr">
              <a:buNone/>
            </a:pPr>
            <a:r>
              <a:rPr lang="en-US" sz="1050" b="1" dirty="0">
                <a:solidFill>
                  <a:srgbClr val="F4A261"/>
                </a:solidFill>
                <a:latin typeface="Calibri" pitchFamily="34" charset="0"/>
                <a:ea typeface="Calibri" pitchFamily="34" charset="-122"/>
                <a:cs typeface="Calibri" pitchFamily="34" charset="-120"/>
              </a:rPr>
              <a:t>  Explainable AI (XAI) enabled</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1B4332"/>
        </a:solidFill>
        <a:effectLst/>
      </p:bgPr>
    </p:bg>
    <p:spTree>
      <p:nvGrpSpPr>
        <p:cNvPr id="1" name=""/>
        <p:cNvGrpSpPr/>
        <p:nvPr/>
      </p:nvGrpSpPr>
      <p:grpSpPr>
        <a:xfrm>
          <a:off x="0" y="0"/>
          <a:ext cx="0" cy="0"/>
          <a:chOff x="0" y="0"/>
          <a:chExt cx="0" cy="0"/>
        </a:xfrm>
      </p:grpSpPr>
      <p:sp>
        <p:nvSpPr>
          <p:cNvPr id="2" name="Shape 0"/>
          <p:cNvSpPr/>
          <p:nvPr/>
        </p:nvSpPr>
        <p:spPr>
          <a:xfrm>
            <a:off x="-914400" y="-914400"/>
            <a:ext cx="4572000" cy="4572000"/>
          </a:xfrm>
          <a:prstGeom prst="ellipse">
            <a:avLst/>
          </a:prstGeom>
          <a:solidFill>
            <a:srgbClr val="2D6A4F">
              <a:alpha val="40000"/>
            </a:srgbClr>
          </a:solidFill>
          <a:ln w="12700">
            <a:solidFill>
              <a:srgbClr val="2D6A4F">
                <a:alpha val="40000"/>
              </a:srgbClr>
            </a:solidFill>
            <a:prstDash val="solid"/>
          </a:ln>
        </p:spPr>
      </p:sp>
      <p:sp>
        <p:nvSpPr>
          <p:cNvPr id="3" name="Shape 1"/>
          <p:cNvSpPr/>
          <p:nvPr/>
        </p:nvSpPr>
        <p:spPr>
          <a:xfrm>
            <a:off x="6400800" y="2286000"/>
            <a:ext cx="3657600" cy="3657600"/>
          </a:xfrm>
          <a:prstGeom prst="ellipse">
            <a:avLst/>
          </a:prstGeom>
          <a:solidFill>
            <a:srgbClr val="40916C">
              <a:alpha val="30000"/>
            </a:srgbClr>
          </a:solidFill>
          <a:ln w="12700">
            <a:solidFill>
              <a:srgbClr val="40916C">
                <a:alpha val="30000"/>
              </a:srgbClr>
            </a:solidFill>
            <a:prstDash val="solid"/>
          </a:ln>
        </p:spPr>
      </p:sp>
      <p:sp>
        <p:nvSpPr>
          <p:cNvPr id="4" name="Text 2"/>
          <p:cNvSpPr/>
          <p:nvPr/>
        </p:nvSpPr>
        <p:spPr>
          <a:xfrm>
            <a:off x="457200" y="274320"/>
            <a:ext cx="8229600" cy="54864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Kết Luận &amp; Hướng Phát Triển</a:t>
            </a:r>
            <a:endParaRPr lang="en-US" sz="2600" dirty="0"/>
          </a:p>
        </p:txBody>
      </p:sp>
      <p:sp>
        <p:nvSpPr>
          <p:cNvPr id="5" name="Shape 3"/>
          <p:cNvSpPr/>
          <p:nvPr/>
        </p:nvSpPr>
        <p:spPr>
          <a:xfrm>
            <a:off x="274320" y="1005840"/>
            <a:ext cx="2743200" cy="3108960"/>
          </a:xfrm>
          <a:prstGeom prst="rect">
            <a:avLst/>
          </a:prstGeom>
          <a:solidFill>
            <a:srgbClr val="2D6A4F">
              <a:alpha val="70000"/>
            </a:srgbClr>
          </a:solidFill>
          <a:ln w="12700">
            <a:solidFill>
              <a:srgbClr val="74C69D"/>
            </a:solidFill>
            <a:prstDash val="solid"/>
          </a:ln>
          <a:effectLst>
            <a:outerShdw blurRad="76200" dist="25400" dir="8100000" algn="bl" rotWithShape="0">
              <a:srgbClr val="000000">
                <a:alpha val="30000"/>
              </a:srgbClr>
            </a:outerShdw>
          </a:effectLst>
        </p:spPr>
      </p:sp>
      <p:sp>
        <p:nvSpPr>
          <p:cNvPr id="6" name="Text 4"/>
          <p:cNvSpPr/>
          <p:nvPr/>
        </p:nvSpPr>
        <p:spPr>
          <a:xfrm>
            <a:off x="274320" y="1143000"/>
            <a:ext cx="2743200" cy="502920"/>
          </a:xfrm>
          <a:prstGeom prst="rect">
            <a:avLst/>
          </a:prstGeom>
          <a:noFill/>
          <a:ln/>
        </p:spPr>
        <p:txBody>
          <a:bodyPr wrap="square" rtlCol="0" anchor="ctr"/>
          <a:lstStyle/>
          <a:p>
            <a:pPr marL="0" indent="0" algn="ctr">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7" name="Text 5"/>
          <p:cNvSpPr/>
          <p:nvPr/>
        </p:nvSpPr>
        <p:spPr>
          <a:xfrm>
            <a:off x="365760" y="1691640"/>
            <a:ext cx="2560320" cy="411480"/>
          </a:xfrm>
          <a:prstGeom prst="rect">
            <a:avLst/>
          </a:prstGeom>
          <a:noFill/>
          <a:ln/>
        </p:spPr>
        <p:txBody>
          <a:bodyPr wrap="square" rtlCol="0" anchor="ctr"/>
          <a:lstStyle/>
          <a:p>
            <a:pPr marL="0" indent="0" algn="ctr">
              <a:buNone/>
            </a:pPr>
            <a:r>
              <a:rPr lang="en-US" sz="1300" b="1" dirty="0">
                <a:solidFill>
                  <a:srgbClr val="F4A261"/>
                </a:solidFill>
                <a:latin typeface="Calibri" pitchFamily="34" charset="0"/>
                <a:ea typeface="Calibri" pitchFamily="34" charset="-122"/>
                <a:cs typeface="Calibri" pitchFamily="34" charset="-120"/>
              </a:rPr>
              <a:t>Đã đạt được</a:t>
            </a:r>
            <a:endParaRPr lang="en-US" sz="1300" dirty="0"/>
          </a:p>
        </p:txBody>
      </p:sp>
      <p:sp>
        <p:nvSpPr>
          <p:cNvPr id="8" name="Shape 6"/>
          <p:cNvSpPr/>
          <p:nvPr/>
        </p:nvSpPr>
        <p:spPr>
          <a:xfrm>
            <a:off x="365760" y="2103120"/>
            <a:ext cx="2560320" cy="36576"/>
          </a:xfrm>
          <a:prstGeom prst="rect">
            <a:avLst/>
          </a:prstGeom>
          <a:solidFill>
            <a:srgbClr val="74C69D"/>
          </a:solidFill>
          <a:ln w="12700">
            <a:solidFill>
              <a:srgbClr val="74C69D"/>
            </a:solidFill>
            <a:prstDash val="solid"/>
          </a:ln>
        </p:spPr>
      </p:sp>
      <p:sp>
        <p:nvSpPr>
          <p:cNvPr id="9" name="Text 7"/>
          <p:cNvSpPr/>
          <p:nvPr/>
        </p:nvSpPr>
        <p:spPr>
          <a:xfrm>
            <a:off x="365760" y="2194560"/>
            <a:ext cx="2560320" cy="1828800"/>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Xây dựng thành công hệ thống Hybrid CNN + Fuzzy. Accuracy 92.04%, F1-score 0.919 trên 9 lớp bệnh lúa.</a:t>
            </a:r>
            <a:endParaRPr lang="en-US" sz="1050" dirty="0"/>
          </a:p>
        </p:txBody>
      </p:sp>
      <p:sp>
        <p:nvSpPr>
          <p:cNvPr id="10" name="Shape 8"/>
          <p:cNvSpPr/>
          <p:nvPr/>
        </p:nvSpPr>
        <p:spPr>
          <a:xfrm>
            <a:off x="3200400" y="1005840"/>
            <a:ext cx="2743200" cy="3108960"/>
          </a:xfrm>
          <a:prstGeom prst="rect">
            <a:avLst/>
          </a:prstGeom>
          <a:solidFill>
            <a:srgbClr val="2D6A4F">
              <a:alpha val="70000"/>
            </a:srgbClr>
          </a:solidFill>
          <a:ln w="12700">
            <a:solidFill>
              <a:srgbClr val="74C69D"/>
            </a:solidFill>
            <a:prstDash val="solid"/>
          </a:ln>
          <a:effectLst>
            <a:outerShdw blurRad="76200" dist="25400" dir="8100000" algn="bl" rotWithShape="0">
              <a:srgbClr val="000000">
                <a:alpha val="30000"/>
              </a:srgbClr>
            </a:outerShdw>
          </a:effectLst>
        </p:spPr>
      </p:sp>
      <p:sp>
        <p:nvSpPr>
          <p:cNvPr id="11" name="Text 9"/>
          <p:cNvSpPr/>
          <p:nvPr/>
        </p:nvSpPr>
        <p:spPr>
          <a:xfrm>
            <a:off x="3200400" y="1143000"/>
            <a:ext cx="2743200" cy="502920"/>
          </a:xfrm>
          <a:prstGeom prst="rect">
            <a:avLst/>
          </a:prstGeom>
          <a:noFill/>
          <a:ln/>
        </p:spPr>
        <p:txBody>
          <a:bodyPr wrap="square" rtlCol="0" anchor="ctr"/>
          <a:lstStyle/>
          <a:p>
            <a:pPr marL="0" indent="0" algn="ctr">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12" name="Text 10"/>
          <p:cNvSpPr/>
          <p:nvPr/>
        </p:nvSpPr>
        <p:spPr>
          <a:xfrm>
            <a:off x="3291840" y="1691640"/>
            <a:ext cx="2560320" cy="411480"/>
          </a:xfrm>
          <a:prstGeom prst="rect">
            <a:avLst/>
          </a:prstGeom>
          <a:noFill/>
          <a:ln/>
        </p:spPr>
        <p:txBody>
          <a:bodyPr wrap="square" rtlCol="0" anchor="ctr"/>
          <a:lstStyle/>
          <a:p>
            <a:pPr marL="0" indent="0" algn="ctr">
              <a:buNone/>
            </a:pPr>
            <a:r>
              <a:rPr lang="en-US" sz="1300" b="1" dirty="0">
                <a:solidFill>
                  <a:srgbClr val="F4A261"/>
                </a:solidFill>
                <a:latin typeface="Calibri" pitchFamily="34" charset="0"/>
                <a:ea typeface="Calibri" pitchFamily="34" charset="-122"/>
                <a:cs typeface="Calibri" pitchFamily="34" charset="-120"/>
              </a:rPr>
              <a:t>Đóng góp chính</a:t>
            </a:r>
            <a:endParaRPr lang="en-US" sz="1300" dirty="0"/>
          </a:p>
        </p:txBody>
      </p:sp>
      <p:sp>
        <p:nvSpPr>
          <p:cNvPr id="13" name="Shape 11"/>
          <p:cNvSpPr/>
          <p:nvPr/>
        </p:nvSpPr>
        <p:spPr>
          <a:xfrm>
            <a:off x="3291840" y="2103120"/>
            <a:ext cx="2560320" cy="36576"/>
          </a:xfrm>
          <a:prstGeom prst="rect">
            <a:avLst/>
          </a:prstGeom>
          <a:solidFill>
            <a:srgbClr val="74C69D"/>
          </a:solidFill>
          <a:ln w="12700">
            <a:solidFill>
              <a:srgbClr val="74C69D"/>
            </a:solidFill>
            <a:prstDash val="solid"/>
          </a:ln>
        </p:spPr>
      </p:sp>
      <p:sp>
        <p:nvSpPr>
          <p:cNvPr id="14" name="Text 12"/>
          <p:cNvSpPr/>
          <p:nvPr/>
        </p:nvSpPr>
        <p:spPr>
          <a:xfrm>
            <a:off x="3291840" y="2194560"/>
            <a:ext cx="2560320" cy="1828800"/>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Tích hợp XAI qua luật mờ IF-THEN ngôn ngữ tự nhiên. Hệ thống hiệu chỉnh kết quả CNN theo môi trường thực địa.</a:t>
            </a:r>
            <a:endParaRPr lang="en-US" sz="1050" dirty="0"/>
          </a:p>
        </p:txBody>
      </p:sp>
      <p:sp>
        <p:nvSpPr>
          <p:cNvPr id="15" name="Shape 13"/>
          <p:cNvSpPr/>
          <p:nvPr/>
        </p:nvSpPr>
        <p:spPr>
          <a:xfrm>
            <a:off x="6126480" y="1005840"/>
            <a:ext cx="2743200" cy="3108960"/>
          </a:xfrm>
          <a:prstGeom prst="rect">
            <a:avLst/>
          </a:prstGeom>
          <a:solidFill>
            <a:srgbClr val="2D6A4F">
              <a:alpha val="70000"/>
            </a:srgbClr>
          </a:solidFill>
          <a:ln w="12700">
            <a:solidFill>
              <a:srgbClr val="74C69D"/>
            </a:solidFill>
            <a:prstDash val="solid"/>
          </a:ln>
          <a:effectLst>
            <a:outerShdw blurRad="76200" dist="25400" dir="8100000" algn="bl" rotWithShape="0">
              <a:srgbClr val="000000">
                <a:alpha val="30000"/>
              </a:srgbClr>
            </a:outerShdw>
          </a:effectLst>
        </p:spPr>
      </p:sp>
      <p:sp>
        <p:nvSpPr>
          <p:cNvPr id="16" name="Text 14"/>
          <p:cNvSpPr/>
          <p:nvPr/>
        </p:nvSpPr>
        <p:spPr>
          <a:xfrm>
            <a:off x="6126480" y="1143000"/>
            <a:ext cx="2743200" cy="502920"/>
          </a:xfrm>
          <a:prstGeom prst="rect">
            <a:avLst/>
          </a:prstGeom>
          <a:noFill/>
          <a:ln/>
        </p:spPr>
        <p:txBody>
          <a:bodyPr wrap="square" rtlCol="0" anchor="ctr"/>
          <a:lstStyle/>
          <a:p>
            <a:pPr marL="0" indent="0" algn="ctr">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17" name="Text 15"/>
          <p:cNvSpPr/>
          <p:nvPr/>
        </p:nvSpPr>
        <p:spPr>
          <a:xfrm>
            <a:off x="6217920" y="1691640"/>
            <a:ext cx="2560320" cy="411480"/>
          </a:xfrm>
          <a:prstGeom prst="rect">
            <a:avLst/>
          </a:prstGeom>
          <a:noFill/>
          <a:ln/>
        </p:spPr>
        <p:txBody>
          <a:bodyPr wrap="square" rtlCol="0" anchor="ctr"/>
          <a:lstStyle/>
          <a:p>
            <a:pPr marL="0" indent="0" algn="ctr">
              <a:buNone/>
            </a:pPr>
            <a:r>
              <a:rPr lang="en-US" sz="1300" b="1" dirty="0">
                <a:solidFill>
                  <a:srgbClr val="F4A261"/>
                </a:solidFill>
                <a:latin typeface="Calibri" pitchFamily="34" charset="0"/>
                <a:ea typeface="Calibri" pitchFamily="34" charset="-122"/>
                <a:cs typeface="Calibri" pitchFamily="34" charset="-120"/>
              </a:rPr>
              <a:t>Hướng phát triển</a:t>
            </a:r>
            <a:endParaRPr lang="en-US" sz="1300" dirty="0"/>
          </a:p>
        </p:txBody>
      </p:sp>
      <p:sp>
        <p:nvSpPr>
          <p:cNvPr id="18" name="Shape 16"/>
          <p:cNvSpPr/>
          <p:nvPr/>
        </p:nvSpPr>
        <p:spPr>
          <a:xfrm>
            <a:off x="6217920" y="2103120"/>
            <a:ext cx="2560320" cy="36576"/>
          </a:xfrm>
          <a:prstGeom prst="rect">
            <a:avLst/>
          </a:prstGeom>
          <a:solidFill>
            <a:srgbClr val="74C69D"/>
          </a:solidFill>
          <a:ln w="12700">
            <a:solidFill>
              <a:srgbClr val="74C69D"/>
            </a:solidFill>
            <a:prstDash val="solid"/>
          </a:ln>
        </p:spPr>
      </p:sp>
      <p:sp>
        <p:nvSpPr>
          <p:cNvPr id="19" name="Text 17"/>
          <p:cNvSpPr/>
          <p:nvPr/>
        </p:nvSpPr>
        <p:spPr>
          <a:xfrm>
            <a:off x="6217920" y="2194560"/>
            <a:ext cx="2560320" cy="1828800"/>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Mở rộng sang nhiều loại cây trồng. Tích hợp IoT, camera thực địa. Triển khai mobile app cho nông dân.</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B4332"/>
        </a:solidFill>
        <a:effectLst/>
      </p:bgPr>
    </p:bg>
    <p:spTree>
      <p:nvGrpSpPr>
        <p:cNvPr id="1" name="">
          <a:extLst>
            <a:ext uri="{FF2B5EF4-FFF2-40B4-BE49-F238E27FC236}">
              <a16:creationId xmlns:a16="http://schemas.microsoft.com/office/drawing/2014/main" id="{DD7E207E-EDBC-CD22-9729-00C003B2274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CE22942-CEA4-A783-8C06-77421F3FCF1C}"/>
              </a:ext>
            </a:extLst>
          </p:cNvPr>
          <p:cNvSpPr/>
          <p:nvPr/>
        </p:nvSpPr>
        <p:spPr>
          <a:xfrm>
            <a:off x="-914400" y="-914400"/>
            <a:ext cx="4572000" cy="4572000"/>
          </a:xfrm>
          <a:prstGeom prst="ellipse">
            <a:avLst/>
          </a:prstGeom>
          <a:solidFill>
            <a:srgbClr val="2D6A4F">
              <a:alpha val="40000"/>
            </a:srgbClr>
          </a:solidFill>
          <a:ln w="12700">
            <a:solidFill>
              <a:srgbClr val="2D6A4F">
                <a:alpha val="40000"/>
              </a:srgbClr>
            </a:solidFill>
            <a:prstDash val="solid"/>
          </a:ln>
        </p:spPr>
      </p:sp>
      <p:sp>
        <p:nvSpPr>
          <p:cNvPr id="3" name="Shape 1">
            <a:extLst>
              <a:ext uri="{FF2B5EF4-FFF2-40B4-BE49-F238E27FC236}">
                <a16:creationId xmlns:a16="http://schemas.microsoft.com/office/drawing/2014/main" id="{24772EB4-AA0E-F0EB-84BE-68556B61F55C}"/>
              </a:ext>
            </a:extLst>
          </p:cNvPr>
          <p:cNvSpPr/>
          <p:nvPr/>
        </p:nvSpPr>
        <p:spPr>
          <a:xfrm>
            <a:off x="6400800" y="2286000"/>
            <a:ext cx="3657600" cy="3657600"/>
          </a:xfrm>
          <a:prstGeom prst="ellipse">
            <a:avLst/>
          </a:prstGeom>
          <a:solidFill>
            <a:srgbClr val="40916C">
              <a:alpha val="30000"/>
            </a:srgbClr>
          </a:solidFill>
          <a:ln w="12700">
            <a:solidFill>
              <a:srgbClr val="40916C">
                <a:alpha val="30000"/>
              </a:srgbClr>
            </a:solidFill>
            <a:prstDash val="solid"/>
          </a:ln>
        </p:spPr>
      </p:sp>
      <p:sp>
        <p:nvSpPr>
          <p:cNvPr id="24" name="TextBox 23">
            <a:extLst>
              <a:ext uri="{FF2B5EF4-FFF2-40B4-BE49-F238E27FC236}">
                <a16:creationId xmlns:a16="http://schemas.microsoft.com/office/drawing/2014/main" id="{1E9B804B-DBCA-3881-B7C4-EB3AFC732D3B}"/>
              </a:ext>
            </a:extLst>
          </p:cNvPr>
          <p:cNvSpPr txBox="1"/>
          <p:nvPr/>
        </p:nvSpPr>
        <p:spPr>
          <a:xfrm>
            <a:off x="1825283" y="2329934"/>
            <a:ext cx="5493434" cy="369332"/>
          </a:xfrm>
          <a:prstGeom prst="rect">
            <a:avLst/>
          </a:prstGeom>
          <a:noFill/>
        </p:spPr>
        <p:txBody>
          <a:bodyPr wrap="square">
            <a:spAutoFit/>
          </a:bodyPr>
          <a:lstStyle/>
          <a:p>
            <a:endParaRPr lang="en-US" dirty="0"/>
          </a:p>
        </p:txBody>
      </p:sp>
      <p:sp>
        <p:nvSpPr>
          <p:cNvPr id="26" name="TextBox 25">
            <a:extLst>
              <a:ext uri="{FF2B5EF4-FFF2-40B4-BE49-F238E27FC236}">
                <a16:creationId xmlns:a16="http://schemas.microsoft.com/office/drawing/2014/main" id="{C39A1BAF-E3D5-5BBE-3DE9-8A293A9A0729}"/>
              </a:ext>
            </a:extLst>
          </p:cNvPr>
          <p:cNvSpPr txBox="1"/>
          <p:nvPr/>
        </p:nvSpPr>
        <p:spPr>
          <a:xfrm>
            <a:off x="1825283" y="2329934"/>
            <a:ext cx="5493434" cy="369332"/>
          </a:xfrm>
          <a:prstGeom prst="rect">
            <a:avLst/>
          </a:prstGeom>
          <a:noFill/>
        </p:spPr>
        <p:txBody>
          <a:bodyPr wrap="square">
            <a:spAutoFit/>
          </a:bodyPr>
          <a:lstStyle/>
          <a:p>
            <a:endParaRPr lang="en-US" dirty="0"/>
          </a:p>
        </p:txBody>
      </p:sp>
      <p:sp>
        <p:nvSpPr>
          <p:cNvPr id="32" name="TextBox 31">
            <a:extLst>
              <a:ext uri="{FF2B5EF4-FFF2-40B4-BE49-F238E27FC236}">
                <a16:creationId xmlns:a16="http://schemas.microsoft.com/office/drawing/2014/main" id="{26B4C475-3F61-CE7D-A34F-1EA4EDCBEDC5}"/>
              </a:ext>
            </a:extLst>
          </p:cNvPr>
          <p:cNvSpPr txBox="1"/>
          <p:nvPr/>
        </p:nvSpPr>
        <p:spPr>
          <a:xfrm>
            <a:off x="1825283" y="2329934"/>
            <a:ext cx="5493434" cy="369332"/>
          </a:xfrm>
          <a:prstGeom prst="rect">
            <a:avLst/>
          </a:prstGeom>
          <a:noFill/>
        </p:spPr>
        <p:txBody>
          <a:bodyPr wrap="square">
            <a:spAutoFit/>
          </a:bodyPr>
          <a:lstStyle/>
          <a:p>
            <a:endParaRPr lang="en-US" dirty="0"/>
          </a:p>
        </p:txBody>
      </p:sp>
      <p:pic>
        <p:nvPicPr>
          <p:cNvPr id="34" name="Picture 33">
            <a:extLst>
              <a:ext uri="{FF2B5EF4-FFF2-40B4-BE49-F238E27FC236}">
                <a16:creationId xmlns:a16="http://schemas.microsoft.com/office/drawing/2014/main" id="{15699D6D-8680-5659-B636-8AB7C7710B9D}"/>
              </a:ext>
            </a:extLst>
          </p:cNvPr>
          <p:cNvPicPr>
            <a:picLocks noChangeAspect="1"/>
          </p:cNvPicPr>
          <p:nvPr/>
        </p:nvPicPr>
        <p:blipFill>
          <a:blip r:embed="rId3"/>
          <a:stretch>
            <a:fillRect/>
          </a:stretch>
        </p:blipFill>
        <p:spPr>
          <a:xfrm>
            <a:off x="0" y="0"/>
            <a:ext cx="9144000" cy="5143500"/>
          </a:xfrm>
          <a:prstGeom prst="rect">
            <a:avLst/>
          </a:prstGeom>
        </p:spPr>
      </p:pic>
      <p:pic>
        <p:nvPicPr>
          <p:cNvPr id="6" name="Picture 5">
            <a:extLst>
              <a:ext uri="{FF2B5EF4-FFF2-40B4-BE49-F238E27FC236}">
                <a16:creationId xmlns:a16="http://schemas.microsoft.com/office/drawing/2014/main" id="{44517B69-25BF-945A-0776-41D97E561DE4}"/>
              </a:ext>
            </a:extLst>
          </p:cNvPr>
          <p:cNvPicPr>
            <a:picLocks noChangeAspect="1"/>
          </p:cNvPicPr>
          <p:nvPr/>
        </p:nvPicPr>
        <p:blipFill>
          <a:blip r:embed="rId4"/>
          <a:stretch>
            <a:fillRect/>
          </a:stretch>
        </p:blipFill>
        <p:spPr>
          <a:xfrm>
            <a:off x="0" y="0"/>
            <a:ext cx="1307214" cy="1084709"/>
          </a:xfrm>
          <a:prstGeom prst="ellipse">
            <a:avLst/>
          </a:prstGeom>
        </p:spPr>
      </p:pic>
    </p:spTree>
    <p:extLst>
      <p:ext uri="{BB962C8B-B14F-4D97-AF65-F5344CB8AC3E}">
        <p14:creationId xmlns:p14="http://schemas.microsoft.com/office/powerpoint/2010/main" val="11280288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131</TotalTime>
  <Words>2250</Words>
  <Application>Microsoft Office PowerPoint</Application>
  <PresentationFormat>On-screen Show (16:9)</PresentationFormat>
  <Paragraphs>275</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Cambria Math</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Explainable Intelligent System for Plant Disease Severity Assessment using Fuzzy Inference</dc:title>
  <dc:subject>PptxGenJS Presentation</dc:subject>
  <dc:creator>PptxGenJS</dc:creator>
  <cp:lastModifiedBy>Tran Khanh Trang</cp:lastModifiedBy>
  <cp:revision>21</cp:revision>
  <dcterms:created xsi:type="dcterms:W3CDTF">2026-05-30T02:04:36Z</dcterms:created>
  <dcterms:modified xsi:type="dcterms:W3CDTF">2026-06-05T11:11:52Z</dcterms:modified>
</cp:coreProperties>
</file>