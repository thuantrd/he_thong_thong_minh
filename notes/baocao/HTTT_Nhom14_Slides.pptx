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58" r:id="rId5"/>
    <p:sldId id="266" r:id="rId6"/>
    <p:sldId id="267" r:id="rId7"/>
    <p:sldId id="259" r:id="rId8"/>
    <p:sldId id="269" r:id="rId9"/>
    <p:sldId id="260" r:id="rId10"/>
    <p:sldId id="261" r:id="rId11"/>
    <p:sldId id="262" r:id="rId12"/>
    <p:sldId id="263" r:id="rId13"/>
    <p:sldId id="264" r:id="rId14"/>
    <p:sldId id="265"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2D6A4F"/>
            </a:solidFill>
            <a:effectLst/>
          </c:spPr>
          <c:invertIfNegative val="0"/>
          <c:cat>
            <c:strRef>
              <c:f>Sheet1!$A$2:$A$10</c:f>
              <c:strCache>
                <c:ptCount val="9"/>
                <c:pt idx="0">
                  <c:v>Healthy</c:v>
                </c:pt>
                <c:pt idx="1">
                  <c:v>Mild Blast</c:v>
                </c:pt>
                <c:pt idx="2">
                  <c:v>Severe Blast</c:v>
                </c:pt>
                <c:pt idx="3">
                  <c:v>Mild B.Blight</c:v>
                </c:pt>
                <c:pt idx="4">
                  <c:v>Severe B.Blight</c:v>
                </c:pt>
                <c:pt idx="5">
                  <c:v>Mild Brownspot</c:v>
                </c:pt>
                <c:pt idx="6">
                  <c:v>Severe Brownspot</c:v>
                </c:pt>
                <c:pt idx="7">
                  <c:v>Mild Tungro</c:v>
                </c:pt>
                <c:pt idx="8">
                  <c:v>Severe Tungro</c:v>
                </c:pt>
              </c:strCache>
            </c:strRef>
          </c:cat>
          <c:val>
            <c:numRef>
              <c:f>Sheet1!$B$2:$B$10</c:f>
              <c:numCache>
                <c:formatCode>General</c:formatCode>
                <c:ptCount val="9"/>
                <c:pt idx="0">
                  <c:v>1</c:v>
                </c:pt>
                <c:pt idx="1">
                  <c:v>0.92300000000000004</c:v>
                </c:pt>
                <c:pt idx="2">
                  <c:v>0.92100000000000004</c:v>
                </c:pt>
                <c:pt idx="3">
                  <c:v>0.92100000000000004</c:v>
                </c:pt>
                <c:pt idx="4">
                  <c:v>0.91</c:v>
                </c:pt>
                <c:pt idx="5">
                  <c:v>0.89100000000000001</c:v>
                </c:pt>
                <c:pt idx="6">
                  <c:v>0.87</c:v>
                </c:pt>
                <c:pt idx="7">
                  <c:v>0.97499999999999998</c:v>
                </c:pt>
                <c:pt idx="8">
                  <c:v>0.98499999999999999</c:v>
                </c:pt>
              </c:numCache>
            </c:numRef>
          </c:val>
          <c:extLst>
            <c:ext xmlns:c16="http://schemas.microsoft.com/office/drawing/2014/chart" uri="{C3380CC4-5D6E-409C-BE32-E72D297353CC}">
              <c16:uniqueId val="{00000000-ED62-4A56-B121-D288099B9B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45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DFB4-6880-9DCE-D040-C01069B7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258A3-F516-56E2-63F7-904A32293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0978-87AC-17A1-B5CA-6E5BC7C29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9BA0A7-2BEB-44B1-51C0-81E75C85F2D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7673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AA5F-B547-3B1B-C26C-A0630936D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2F31A-548E-CEBA-B793-6A457F60F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B5326-E137-2695-9793-1E713A6B5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D2A39-11F0-09C5-4717-07064E806A4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61380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3EE07-467B-7F9A-8B3C-32184605B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771AC-B5C0-96A6-3151-1F47B7A7B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E5766-33DF-B27E-77A7-548FD37E0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16BA5-63E9-72DB-BBFF-8494C9446B8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44877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C93-E2A4-828A-6637-4AB882628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C5F75-17AD-5243-312B-F372A32BB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A430-127B-6D39-4847-CC7F548FB0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6B2553-4E3F-1763-3CE1-19F38A79671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536586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4EF10-F741-5BDE-EA4B-CF83EA6DF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041CE-1563-5CC9-4D41-BBCC2B5AC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546E2-0FB9-7065-802E-E77A2D74D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E7491-B129-C2D6-50BA-C046A88D396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33495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4C69D"/>
          </a:solidFill>
          <a:ln w="12700">
            <a:solidFill>
              <a:srgbClr val="74C69D"/>
            </a:solidFill>
            <a:prstDash val="solid"/>
          </a:ln>
        </p:spPr>
      </p:sp>
      <p:sp>
        <p:nvSpPr>
          <p:cNvPr id="3" name="Shape 1"/>
          <p:cNvSpPr/>
          <p:nvPr/>
        </p:nvSpPr>
        <p:spPr>
          <a:xfrm>
            <a:off x="137160" y="0"/>
            <a:ext cx="73152" cy="5143500"/>
          </a:xfrm>
          <a:prstGeom prst="rect">
            <a:avLst/>
          </a:prstGeom>
          <a:solidFill>
            <a:srgbClr val="40916C"/>
          </a:solidFill>
          <a:ln w="12700">
            <a:solidFill>
              <a:srgbClr val="40916C"/>
            </a:solidFill>
            <a:prstDash val="solid"/>
          </a:ln>
        </p:spPr>
      </p:sp>
      <p:sp>
        <p:nvSpPr>
          <p:cNvPr id="4" name="Shape 2"/>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p:cNvSpPr/>
          <p:nvPr/>
        </p:nvSpPr>
        <p:spPr>
          <a:xfrm>
            <a:off x="457200" y="685800"/>
            <a:ext cx="7772400" cy="320040"/>
          </a:xfrm>
          <a:prstGeom prst="rect">
            <a:avLst/>
          </a:prstGeom>
          <a:noFill/>
          <a:ln/>
        </p:spPr>
        <p:txBody>
          <a:bodyPr wrap="square" rtlCol="0" anchor="ctr"/>
          <a:lstStyle/>
          <a:p>
            <a:pPr marL="0" indent="0" algn="l">
              <a:buNone/>
            </a:pPr>
            <a:r>
              <a:rPr lang="en-US" sz="1000" dirty="0">
                <a:solidFill>
                  <a:srgbClr val="74C69D"/>
                </a:solidFill>
                <a:latin typeface="Calibri" pitchFamily="34" charset="0"/>
                <a:ea typeface="Calibri" pitchFamily="34" charset="-122"/>
                <a:cs typeface="Calibri" pitchFamily="34" charset="-120"/>
              </a:rPr>
              <a:t>MÔN HỌC: HỆ THỐNG THÔNG MINH</a:t>
            </a:r>
            <a:endParaRPr lang="en-US" sz="1000" dirty="0"/>
          </a:p>
        </p:txBody>
      </p:sp>
      <p:sp>
        <p:nvSpPr>
          <p:cNvPr id="8" name="Text 6"/>
          <p:cNvSpPr/>
          <p:nvPr/>
        </p:nvSpPr>
        <p:spPr>
          <a:xfrm>
            <a:off x="457200" y="1143000"/>
            <a:ext cx="8229600" cy="64008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An Explainable Intelligent System</a:t>
            </a:r>
            <a:endParaRPr lang="en-US" sz="3200" dirty="0"/>
          </a:p>
        </p:txBody>
      </p:sp>
      <p:sp>
        <p:nvSpPr>
          <p:cNvPr id="9" name="Text 7"/>
          <p:cNvSpPr/>
          <p:nvPr/>
        </p:nvSpPr>
        <p:spPr>
          <a:xfrm>
            <a:off x="457200" y="1737360"/>
            <a:ext cx="8229600" cy="54864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for Plant Disease Severity Assessment</a:t>
            </a:r>
            <a:endParaRPr lang="en-US" sz="2800" dirty="0"/>
          </a:p>
        </p:txBody>
      </p:sp>
      <p:sp>
        <p:nvSpPr>
          <p:cNvPr id="10" name="Text 8"/>
          <p:cNvSpPr/>
          <p:nvPr/>
        </p:nvSpPr>
        <p:spPr>
          <a:xfrm>
            <a:off x="457200" y="2240280"/>
            <a:ext cx="8229600" cy="50292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using Fuzzy Inference</a:t>
            </a:r>
            <a:endParaRPr lang="en-US" sz="2800" dirty="0"/>
          </a:p>
        </p:txBody>
      </p:sp>
      <p:sp>
        <p:nvSpPr>
          <p:cNvPr id="11" name="Shape 9"/>
          <p:cNvSpPr/>
          <p:nvPr/>
        </p:nvSpPr>
        <p:spPr>
          <a:xfrm>
            <a:off x="457200" y="2834640"/>
            <a:ext cx="5029200" cy="36576"/>
          </a:xfrm>
          <a:prstGeom prst="rect">
            <a:avLst/>
          </a:prstGeom>
          <a:solidFill>
            <a:srgbClr val="74C69D"/>
          </a:solidFill>
          <a:ln w="12700">
            <a:solidFill>
              <a:srgbClr val="74C69D"/>
            </a:solidFill>
            <a:prstDash val="solid"/>
          </a:ln>
        </p:spPr>
      </p:sp>
      <p:sp>
        <p:nvSpPr>
          <p:cNvPr id="12" name="Shape 10"/>
          <p:cNvSpPr/>
          <p:nvPr/>
        </p:nvSpPr>
        <p:spPr>
          <a:xfrm>
            <a:off x="457200" y="2971800"/>
            <a:ext cx="5029200" cy="1554480"/>
          </a:xfrm>
          <a:prstGeom prst="rect">
            <a:avLst/>
          </a:prstGeom>
          <a:solidFill>
            <a:srgbClr val="2D6A4F">
              <a:alpha val="60000"/>
            </a:srgbClr>
          </a:solidFill>
          <a:ln w="12700">
            <a:solidFill>
              <a:srgbClr val="74C69D"/>
            </a:solidFill>
            <a:prstDash val="solid"/>
          </a:ln>
        </p:spPr>
      </p:sp>
      <p:sp>
        <p:nvSpPr>
          <p:cNvPr id="13" name="Text 11"/>
          <p:cNvSpPr/>
          <p:nvPr/>
        </p:nvSpPr>
        <p:spPr>
          <a:xfrm>
            <a:off x="640080" y="3017520"/>
            <a:ext cx="4663440" cy="1417320"/>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Nhóm 14
</a:t>
            </a:r>
            <a:r>
              <a:rPr lang="en-US" sz="1100" dirty="0">
                <a:solidFill>
                  <a:srgbClr val="FFFFFF"/>
                </a:solidFill>
                <a:latin typeface="Calibri" pitchFamily="34" charset="0"/>
                <a:ea typeface="Calibri" pitchFamily="34" charset="-122"/>
                <a:cs typeface="Calibri" pitchFamily="34" charset="-120"/>
              </a:rPr>
              <a:t>Trần Đình Thuận   –   C2251262648
Trần Khánh Trang  –   248218749
Hoàng Quốc Việt   –   2582019033</a:t>
            </a:r>
            <a:endParaRPr lang="en-US" sz="1300" dirty="0"/>
          </a:p>
        </p:txBody>
      </p:sp>
      <p:sp>
        <p:nvSpPr>
          <p:cNvPr id="14" name="Text 12"/>
          <p:cNvSpPr/>
          <p:nvPr/>
        </p:nvSpPr>
        <p:spPr>
          <a:xfrm>
            <a:off x="5669280" y="2971800"/>
            <a:ext cx="3291840" cy="1005840"/>
          </a:xfrm>
          <a:prstGeom prst="rect">
            <a:avLst/>
          </a:prstGeom>
          <a:noFill/>
          <a:ln/>
        </p:spPr>
        <p:txBody>
          <a:bodyPr wrap="square" rtlCol="0" anchor="ctr"/>
          <a:lstStyle/>
          <a:p>
            <a:pPr marL="0" indent="0" algn="l">
              <a:buNone/>
            </a:pPr>
            <a:r>
              <a:rPr lang="en-US" sz="1200" b="1" dirty="0">
                <a:solidFill>
                  <a:srgbClr val="F4A261"/>
                </a:solidFill>
                <a:latin typeface="Calibri" pitchFamily="34" charset="0"/>
                <a:ea typeface="Calibri" pitchFamily="34" charset="-122"/>
                <a:cs typeface="Calibri" pitchFamily="34" charset="-120"/>
              </a:rPr>
              <a:t>Giảng viên hướng dẫn:
</a:t>
            </a:r>
            <a:r>
              <a:rPr lang="en-US" sz="1300" b="1" dirty="0">
                <a:solidFill>
                  <a:srgbClr val="FFFFFF"/>
                </a:solidFill>
                <a:latin typeface="Calibri" pitchFamily="34" charset="0"/>
                <a:ea typeface="Calibri" pitchFamily="34" charset="-122"/>
                <a:cs typeface="Calibri" pitchFamily="34" charset="-120"/>
              </a:rPr>
              <a:t>TS. Trần Mạnh Tuấn</a:t>
            </a:r>
            <a:endParaRPr lang="en-US" sz="1200" dirty="0"/>
          </a:p>
        </p:txBody>
      </p:sp>
      <p:sp>
        <p:nvSpPr>
          <p:cNvPr id="15" name="Text 13"/>
          <p:cNvSpPr/>
          <p:nvPr/>
        </p:nvSpPr>
        <p:spPr>
          <a:xfrm>
            <a:off x="5669280" y="4114800"/>
            <a:ext cx="3291840" cy="365760"/>
          </a:xfrm>
          <a:prstGeom prst="rect">
            <a:avLst/>
          </a:prstGeom>
          <a:noFill/>
          <a:ln/>
        </p:spPr>
        <p:txBody>
          <a:bodyPr wrap="square" rtlCol="0" anchor="ctr"/>
          <a:lstStyle/>
          <a:p>
            <a:pPr marL="0" indent="0" algn="l">
              <a:buNone/>
            </a:pPr>
            <a:r>
              <a:rPr lang="en-US" sz="1000" dirty="0">
                <a:solidFill>
                  <a:srgbClr val="74C69D"/>
                </a:solidFill>
                <a:latin typeface="Calibri" pitchFamily="34" charset="0"/>
                <a:ea typeface="Calibri" pitchFamily="34" charset="-122"/>
                <a:cs typeface="Calibri" pitchFamily="34" charset="-120"/>
              </a:rPr>
              <a:t>Hà Nội, 5/2026</a:t>
            </a:r>
            <a:endParaRPr lang="en-US" sz="1000" dirty="0"/>
          </a:p>
        </p:txBody>
      </p:sp>
      <p:pic>
        <p:nvPicPr>
          <p:cNvPr id="18" name="Picture 17">
            <a:extLst>
              <a:ext uri="{FF2B5EF4-FFF2-40B4-BE49-F238E27FC236}">
                <a16:creationId xmlns:a16="http://schemas.microsoft.com/office/drawing/2014/main" id="{BA5B753A-28C1-0C18-DB31-597A21B95588}"/>
              </a:ext>
            </a:extLst>
          </p:cNvPr>
          <p:cNvPicPr>
            <a:picLocks noChangeAspect="1"/>
          </p:cNvPicPr>
          <p:nvPr/>
        </p:nvPicPr>
        <p:blipFill>
          <a:blip r:embed="rId3"/>
          <a:stretch>
            <a:fillRect/>
          </a:stretch>
        </p:blipFill>
        <p:spPr>
          <a:xfrm>
            <a:off x="6931152" y="35431"/>
            <a:ext cx="2075688" cy="1722379"/>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B4E03EC8-BD2E-FF72-3093-21831BA390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06B4DE-2182-0358-0BC2-6B07374BD402}"/>
              </a:ext>
            </a:extLst>
          </p:cNvPr>
          <p:cNvSpPr/>
          <p:nvPr/>
        </p:nvSpPr>
        <p:spPr>
          <a:xfrm>
            <a:off x="0" y="0"/>
            <a:ext cx="137160" cy="5143500"/>
          </a:xfrm>
          <a:prstGeom prst="rect">
            <a:avLst/>
          </a:prstGeom>
          <a:solidFill>
            <a:srgbClr val="74C69D"/>
          </a:solidFill>
          <a:ln w="12700">
            <a:solidFill>
              <a:srgbClr val="74C69D"/>
            </a:solidFill>
            <a:prstDash val="solid"/>
          </a:ln>
        </p:spPr>
      </p:sp>
      <p:sp>
        <p:nvSpPr>
          <p:cNvPr id="3" name="Shape 1">
            <a:extLst>
              <a:ext uri="{FF2B5EF4-FFF2-40B4-BE49-F238E27FC236}">
                <a16:creationId xmlns:a16="http://schemas.microsoft.com/office/drawing/2014/main" id="{8AB19E1D-3E00-62DE-A0DF-F07DCD66126A}"/>
              </a:ext>
            </a:extLst>
          </p:cNvPr>
          <p:cNvSpPr/>
          <p:nvPr/>
        </p:nvSpPr>
        <p:spPr>
          <a:xfrm>
            <a:off x="137160" y="0"/>
            <a:ext cx="73152" cy="5143500"/>
          </a:xfrm>
          <a:prstGeom prst="rect">
            <a:avLst/>
          </a:prstGeom>
          <a:solidFill>
            <a:srgbClr val="40916C"/>
          </a:solidFill>
          <a:ln w="12700">
            <a:solidFill>
              <a:srgbClr val="40916C"/>
            </a:solidFill>
            <a:prstDash val="solid"/>
          </a:ln>
        </p:spPr>
      </p:sp>
      <p:sp>
        <p:nvSpPr>
          <p:cNvPr id="4" name="Shape 2">
            <a:extLst>
              <a:ext uri="{FF2B5EF4-FFF2-40B4-BE49-F238E27FC236}">
                <a16:creationId xmlns:a16="http://schemas.microsoft.com/office/drawing/2014/main" id="{F956BFBF-D002-2911-F014-B7FBCC29A564}"/>
              </a:ext>
            </a:extLst>
          </p:cNvPr>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a:extLst>
              <a:ext uri="{FF2B5EF4-FFF2-40B4-BE49-F238E27FC236}">
                <a16:creationId xmlns:a16="http://schemas.microsoft.com/office/drawing/2014/main" id="{D0390F19-ACB4-FB87-E76B-08F0A22D51E2}"/>
              </a:ext>
            </a:extLst>
          </p:cNvPr>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a:extLst>
              <a:ext uri="{FF2B5EF4-FFF2-40B4-BE49-F238E27FC236}">
                <a16:creationId xmlns:a16="http://schemas.microsoft.com/office/drawing/2014/main" id="{69EAED09-AB43-2B23-714F-47061775B8D8}"/>
              </a:ext>
            </a:extLst>
          </p:cNvPr>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a:extLst>
              <a:ext uri="{FF2B5EF4-FFF2-40B4-BE49-F238E27FC236}">
                <a16:creationId xmlns:a16="http://schemas.microsoft.com/office/drawing/2014/main" id="{B53B3EC1-465D-19A6-87F3-96779B00288D}"/>
              </a:ext>
            </a:extLst>
          </p:cNvPr>
          <p:cNvSpPr/>
          <p:nvPr/>
        </p:nvSpPr>
        <p:spPr>
          <a:xfrm>
            <a:off x="457200" y="685800"/>
            <a:ext cx="7772400" cy="320040"/>
          </a:xfrm>
          <a:prstGeom prst="rect">
            <a:avLst/>
          </a:prstGeom>
          <a:noFill/>
          <a:ln/>
        </p:spPr>
        <p:txBody>
          <a:bodyPr wrap="square" rtlCol="0" anchor="ctr"/>
          <a:lstStyle/>
          <a:p>
            <a:pPr marL="0" indent="0" algn="l">
              <a:buNone/>
            </a:pPr>
            <a:r>
              <a:rPr lang="en-US" sz="1000" dirty="0">
                <a:solidFill>
                  <a:srgbClr val="74C69D"/>
                </a:solidFill>
                <a:latin typeface="Calibri" pitchFamily="34" charset="0"/>
                <a:ea typeface="Calibri" pitchFamily="34" charset="-122"/>
                <a:cs typeface="Calibri" pitchFamily="34" charset="-120"/>
              </a:rPr>
              <a:t>MÔN HỌC: HỆ THỐNG THÔNG MINH</a:t>
            </a:r>
            <a:endParaRPr lang="en-US" sz="1000" dirty="0"/>
          </a:p>
        </p:txBody>
      </p:sp>
      <p:sp>
        <p:nvSpPr>
          <p:cNvPr id="17" name="TextBox 16">
            <a:extLst>
              <a:ext uri="{FF2B5EF4-FFF2-40B4-BE49-F238E27FC236}">
                <a16:creationId xmlns:a16="http://schemas.microsoft.com/office/drawing/2014/main" id="{85B72EF5-88F8-4A6C-A564-CCD062734D74}"/>
              </a:ext>
            </a:extLst>
          </p:cNvPr>
          <p:cNvSpPr txBox="1"/>
          <p:nvPr/>
        </p:nvSpPr>
        <p:spPr>
          <a:xfrm>
            <a:off x="470916" y="1109990"/>
            <a:ext cx="2771335" cy="523220"/>
          </a:xfrm>
          <a:prstGeom prst="rect">
            <a:avLst/>
          </a:prstGeom>
          <a:noFill/>
        </p:spPr>
        <p:txBody>
          <a:bodyPr wrap="square">
            <a:spAutoFit/>
          </a:bodyPr>
          <a:lstStyle/>
          <a:p>
            <a:r>
              <a:rPr lang="vi-VN" sz="2800" b="1" dirty="0">
                <a:solidFill>
                  <a:schemeClr val="bg1"/>
                </a:solidFill>
                <a:latin typeface="Calibri" panose="020F0502020204030204" pitchFamily="34" charset="0"/>
                <a:ea typeface="Calibri" panose="020F0502020204030204" pitchFamily="34" charset="0"/>
                <a:cs typeface="Calibri" panose="020F0502020204030204" pitchFamily="34" charset="0"/>
              </a:rPr>
              <a:t>LỜI CẢM ƠN</a:t>
            </a:r>
            <a:endPar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9">
            <a:extLst>
              <a:ext uri="{FF2B5EF4-FFF2-40B4-BE49-F238E27FC236}">
                <a16:creationId xmlns:a16="http://schemas.microsoft.com/office/drawing/2014/main" id="{5FD48D63-B631-A839-E564-ADE5DCCC22EE}"/>
              </a:ext>
            </a:extLst>
          </p:cNvPr>
          <p:cNvSpPr/>
          <p:nvPr/>
        </p:nvSpPr>
        <p:spPr>
          <a:xfrm>
            <a:off x="470916" y="1655064"/>
            <a:ext cx="5029200" cy="36576"/>
          </a:xfrm>
          <a:prstGeom prst="rect">
            <a:avLst/>
          </a:prstGeom>
          <a:solidFill>
            <a:srgbClr val="74C69D"/>
          </a:solidFill>
          <a:ln w="12700">
            <a:solidFill>
              <a:srgbClr val="74C69D"/>
            </a:solidFill>
            <a:prstDash val="solid"/>
          </a:ln>
        </p:spPr>
      </p:sp>
      <p:sp>
        <p:nvSpPr>
          <p:cNvPr id="19" name="Shape 10">
            <a:extLst>
              <a:ext uri="{FF2B5EF4-FFF2-40B4-BE49-F238E27FC236}">
                <a16:creationId xmlns:a16="http://schemas.microsoft.com/office/drawing/2014/main" id="{951C7286-8C91-6684-ECA9-3BF1CF320E2F}"/>
              </a:ext>
            </a:extLst>
          </p:cNvPr>
          <p:cNvSpPr/>
          <p:nvPr/>
        </p:nvSpPr>
        <p:spPr>
          <a:xfrm>
            <a:off x="470916" y="1865728"/>
            <a:ext cx="5065776" cy="2161852"/>
          </a:xfrm>
          <a:prstGeom prst="rect">
            <a:avLst/>
          </a:prstGeom>
          <a:solidFill>
            <a:srgbClr val="2D6A4F">
              <a:alpha val="60000"/>
            </a:srgbClr>
          </a:solidFill>
          <a:ln w="12700">
            <a:solidFill>
              <a:srgbClr val="74C69D"/>
            </a:solidFill>
            <a:prstDash val="solid"/>
          </a:ln>
        </p:spPr>
      </p:sp>
      <p:sp>
        <p:nvSpPr>
          <p:cNvPr id="20" name="Text 11">
            <a:extLst>
              <a:ext uri="{FF2B5EF4-FFF2-40B4-BE49-F238E27FC236}">
                <a16:creationId xmlns:a16="http://schemas.microsoft.com/office/drawing/2014/main" id="{EFF2AD7B-F706-7176-9953-74053144E14B}"/>
              </a:ext>
            </a:extLst>
          </p:cNvPr>
          <p:cNvSpPr/>
          <p:nvPr/>
        </p:nvSpPr>
        <p:spPr>
          <a:xfrm>
            <a:off x="470915" y="1807298"/>
            <a:ext cx="5029199" cy="2416126"/>
          </a:xfrm>
          <a:prstGeom prst="rect">
            <a:avLst/>
          </a:prstGeom>
          <a:noFill/>
          <a:ln/>
        </p:spPr>
        <p:txBody>
          <a:bodyPr wrap="square" rtlCol="0" anchor="ctr"/>
          <a:lstStyle/>
          <a:p>
            <a:pPr marL="0" indent="0">
              <a:buNone/>
            </a:pPr>
            <a:r>
              <a:rPr lang="vi-VN" sz="1100" dirty="0">
                <a:solidFill>
                  <a:schemeClr val="bg1"/>
                </a:solidFill>
              </a:rPr>
              <a:t>Nhóm em xin chân thành cảm ơn TS. Trần Mạnh Tuấn, giảng viên môn Hệ thống Thông minh, Trường Đại học Thủy Lợi, đã tận tình giảng dạy, hướng dẫn và cung cấp những kiến thức chuyên môn quý báu trong suốt quá trình học tập và thực hiện bài tập lớn này.Những kiến thức và góp ý của thầy đã giúp nhóm em hiểu rõ hơn về các phương pháp xây dựng hệ thống thông minh, đồng thời là nền tảng quan trọng để hoàn thành đề tài.</a:t>
            </a:r>
            <a:endParaRPr lang="en-US" sz="1100" dirty="0">
              <a:solidFill>
                <a:schemeClr val="bg1"/>
              </a:solidFill>
            </a:endParaRPr>
          </a:p>
          <a:p>
            <a:pPr marL="0" indent="0">
              <a:buNone/>
            </a:pPr>
            <a:r>
              <a:rPr lang="vi-VN" sz="1100" dirty="0">
                <a:solidFill>
                  <a:schemeClr val="bg1"/>
                </a:solidFill>
              </a:rPr>
              <a:t>Do thời gian thực hiện và kiến thức còn hạn chế, bài báo cáo khó tránh khỏi những thiếu sót. Nhóm em rất mong nhận được những ý kiến đóng góp từ thầy để tiếp tục hoàn thiện và nâng cao kiến thức của mình.Nhóm em xin chân thành cảm ơn!</a:t>
            </a:r>
            <a:endParaRPr lang="en-US" sz="1100" dirty="0">
              <a:solidFill>
                <a:schemeClr val="bg1"/>
              </a:solidFill>
            </a:endParaRPr>
          </a:p>
        </p:txBody>
      </p:sp>
      <p:pic>
        <p:nvPicPr>
          <p:cNvPr id="31" name="Picture 30" descr="Bộ sưu tập hình ảnh cánh đồng lúa đẹp nhất với hơn 999+ ảnh chất lượng 4K.">
            <a:extLst>
              <a:ext uri="{FF2B5EF4-FFF2-40B4-BE49-F238E27FC236}">
                <a16:creationId xmlns:a16="http://schemas.microsoft.com/office/drawing/2014/main" id="{E355C2BF-2A9A-B149-CC00-BFEB619E5F45}"/>
              </a:ext>
            </a:extLst>
          </p:cNvPr>
          <p:cNvPicPr>
            <a:picLocks noChangeAspect="1"/>
          </p:cNvPicPr>
          <p:nvPr/>
        </p:nvPicPr>
        <p:blipFill>
          <a:blip r:embed="rId3"/>
          <a:stretch>
            <a:fillRect/>
          </a:stretch>
        </p:blipFill>
        <p:spPr>
          <a:xfrm>
            <a:off x="5641145" y="1321082"/>
            <a:ext cx="3432515" cy="3001216"/>
          </a:xfrm>
          <a:prstGeom prst="roundRect">
            <a:avLst>
              <a:gd name="adj" fmla="val 11111"/>
            </a:avLst>
          </a:prstGeom>
          <a:ln w="190500" cap="rnd">
            <a:solidFill>
              <a:schemeClr val="accent6">
                <a:lumMod val="40000"/>
                <a:lumOff val="60000"/>
              </a:schemeClr>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3428602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Phần Mở Đầu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63306" y="868680"/>
            <a:ext cx="2096085" cy="3794760"/>
          </a:xfrm>
          <a:prstGeom prst="rect">
            <a:avLst/>
          </a:prstGeom>
          <a:solidFill>
            <a:srgbClr val="D8F3DC"/>
          </a:solidFill>
          <a:ln w="12700">
            <a:solidFill>
              <a:srgbClr val="40916C"/>
            </a:solidFill>
            <a:prstDash val="solid"/>
          </a:ln>
          <a:effectLst>
            <a:outerShdw blurRad="63500" dist="25400" dir="8100000" algn="bl" rotWithShape="0">
              <a:srgbClr val="AAAAAA">
                <a:alpha val="25000"/>
              </a:srgbClr>
            </a:outerShdw>
          </a:effectLst>
        </p:spPr>
      </p:sp>
      <p:sp>
        <p:nvSpPr>
          <p:cNvPr id="8" name="Text 6"/>
          <p:cNvSpPr/>
          <p:nvPr/>
        </p:nvSpPr>
        <p:spPr>
          <a:xfrm>
            <a:off x="166345" y="960120"/>
            <a:ext cx="1948991"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Lý Do Chọn Đề Tài</a:t>
            </a:r>
            <a:endParaRPr lang="en-US" sz="1300" dirty="0"/>
          </a:p>
        </p:txBody>
      </p:sp>
      <p:sp>
        <p:nvSpPr>
          <p:cNvPr id="9" name="Shape 7"/>
          <p:cNvSpPr/>
          <p:nvPr/>
        </p:nvSpPr>
        <p:spPr>
          <a:xfrm>
            <a:off x="166345" y="1463040"/>
            <a:ext cx="1948991" cy="27432"/>
          </a:xfrm>
          <a:prstGeom prst="rect">
            <a:avLst/>
          </a:prstGeom>
          <a:solidFill>
            <a:srgbClr val="40916C"/>
          </a:solidFill>
          <a:ln w="12700">
            <a:solidFill>
              <a:srgbClr val="40916C"/>
            </a:solidFill>
            <a:prstDash val="solid"/>
          </a:ln>
        </p:spPr>
      </p:sp>
      <p:sp>
        <p:nvSpPr>
          <p:cNvPr id="10" name="Text 8"/>
          <p:cNvSpPr/>
          <p:nvPr/>
        </p:nvSpPr>
        <p:spPr>
          <a:xfrm>
            <a:off x="166345" y="1581912"/>
            <a:ext cx="1948991" cy="2880360"/>
          </a:xfrm>
          <a:prstGeom prst="rect">
            <a:avLst/>
          </a:prstGeom>
          <a:noFill/>
          <a:ln/>
        </p:spPr>
        <p:txBody>
          <a:bodyPr wrap="square" rtlCol="0" anchor="t"/>
          <a:lstStyle/>
          <a:p>
            <a:pPr marL="0" indent="0">
              <a:buNone/>
            </a:pPr>
            <a:r>
              <a:rPr lang="en-US" sz="1050" dirty="0">
                <a:effectLst/>
                <a:latin typeface="Calibri" panose="020F0502020204030204" pitchFamily="34" charset="0"/>
                <a:ea typeface="Calibri" panose="020F0502020204030204" pitchFamily="34" charset="0"/>
                <a:cs typeface="Times New Roman" panose="02020603050405020304" pitchFamily="18" charset="0"/>
              </a:rPr>
              <a:t>Trong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bối</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cảnh</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nền</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nông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nghiệp</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hiện</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đại</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đang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chuyển</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mình</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mạnh</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mẽ</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theo</a:t>
            </a:r>
            <a:r>
              <a:rPr lang="en-US" sz="1050" dirty="0">
                <a:effectLst/>
                <a:latin typeface="Calibri" panose="020F0502020204030204" pitchFamily="34" charset="0"/>
                <a:ea typeface="Calibri" panose="020F0502020204030204" pitchFamily="34" charset="0"/>
                <a:cs typeface="Times New Roman" panose="02020603050405020304" pitchFamily="18" charset="0"/>
              </a:rPr>
              <a:t> xu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hướng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Nông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nghiệp</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thông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minh</a:t>
            </a:r>
            <a:r>
              <a:rPr lang="en-US" sz="1050" dirty="0">
                <a:effectLst/>
                <a:latin typeface="Calibri" panose="020F0502020204030204" pitchFamily="34" charset="0"/>
                <a:ea typeface="Calibri" panose="020F0502020204030204" pitchFamily="34" charset="0"/>
                <a:cs typeface="Times New Roman" panose="02020603050405020304" pitchFamily="18" charset="0"/>
              </a:rPr>
              <a:t> (Smart Agriculture)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và</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Nông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nghiệp</a:t>
            </a:r>
            <a:r>
              <a:rPr lang="en-US" sz="1050" dirty="0">
                <a:effectLst/>
                <a:latin typeface="Calibri" panose="020F0502020204030204" pitchFamily="34" charset="0"/>
                <a:ea typeface="Calibri" panose="020F0502020204030204" pitchFamily="34" charset="0"/>
                <a:cs typeface="Times New Roman" panose="02020603050405020304" pitchFamily="18" charset="0"/>
              </a:rPr>
              <a:t> 4.0,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việc</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ứng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dụng</a:t>
            </a:r>
            <a:r>
              <a:rPr lang="en-US" sz="1050" dirty="0">
                <a:effectLst/>
                <a:latin typeface="Calibri" panose="020F0502020204030204" pitchFamily="34" charset="0"/>
                <a:ea typeface="Calibri" panose="020F0502020204030204" pitchFamily="34" charset="0"/>
                <a:cs typeface="Times New Roman" panose="02020603050405020304" pitchFamily="18" charset="0"/>
              </a:rPr>
              <a:t> Khoa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học</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máy</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tính</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để</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tối</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ưu</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hóa</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năng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suất</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và</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bảo</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vệ</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cây</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trồng</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đã</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trở</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thành</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một</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nhu</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cầu</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cấp</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thiết</a:t>
            </a:r>
            <a:r>
              <a:rPr lang="en-US" sz="1050" dirty="0">
                <a:effectLst/>
                <a:latin typeface="Calibri" panose="020F0502020204030204" pitchFamily="34" charset="0"/>
                <a:ea typeface="Calibri" panose="020F0502020204030204" pitchFamily="34" charset="0"/>
                <a:cs typeface="Times New Roman" panose="02020603050405020304" pitchFamily="18" charset="0"/>
              </a:rPr>
              <a:t>. </a:t>
            </a:r>
            <a:endParaRPr lang="en-US" sz="1050" dirty="0">
              <a:solidFill>
                <a:srgbClr val="1A1A2E"/>
              </a:solidFill>
              <a:latin typeface="Calibri" pitchFamily="34" charset="0"/>
              <a:ea typeface="Calibri" pitchFamily="34" charset="-122"/>
              <a:cs typeface="Calibri" pitchFamily="34" charset="-120"/>
            </a:endParaRPr>
          </a:p>
          <a:p>
            <a:pPr marL="0" indent="0">
              <a:buNone/>
            </a:pPr>
            <a:r>
              <a:rPr lang="en-US" sz="1050" dirty="0" err="1">
                <a:solidFill>
                  <a:srgbClr val="1A1A2E"/>
                </a:solidFill>
                <a:latin typeface="Calibri" pitchFamily="34" charset="0"/>
                <a:ea typeface="Calibri" pitchFamily="34" charset="-122"/>
                <a:cs typeface="Calibri" pitchFamily="34" charset="-120"/>
              </a:rPr>
              <a:t>Dịch</a:t>
            </a:r>
            <a:r>
              <a:rPr lang="en-US" sz="1050" dirty="0">
                <a:solidFill>
                  <a:srgbClr val="1A1A2E"/>
                </a:solidFill>
                <a:latin typeface="Calibri" pitchFamily="34" charset="0"/>
                <a:ea typeface="Calibri" pitchFamily="34" charset="-122"/>
                <a:cs typeface="Calibri" pitchFamily="34" charset="-120"/>
              </a:rPr>
              <a:t> bệnh cây trồng gây sụt giảm năng suất nghiêm trọng. AI dạng hộp đen (Black-box) thiếu tính minh bạch, người nông dân khó tin tưởng. Ranh giới sinh học mang tính mờ — logic nhị phân không phù hợp.</a:t>
            </a:r>
            <a:endParaRPr lang="en-US" sz="1050" dirty="0"/>
          </a:p>
        </p:txBody>
      </p:sp>
      <p:sp>
        <p:nvSpPr>
          <p:cNvPr id="11" name="Shape 9"/>
          <p:cNvSpPr/>
          <p:nvPr/>
        </p:nvSpPr>
        <p:spPr>
          <a:xfrm>
            <a:off x="2262431" y="868680"/>
            <a:ext cx="3301342" cy="3794760"/>
          </a:xfrm>
          <a:prstGeom prst="rect">
            <a:avLst/>
          </a:prstGeom>
          <a:solidFill>
            <a:srgbClr val="E8F5E9"/>
          </a:solidFill>
          <a:ln w="12700">
            <a:solidFill>
              <a:srgbClr val="40916C"/>
            </a:solidFill>
            <a:prstDash val="solid"/>
          </a:ln>
          <a:effectLst>
            <a:outerShdw blurRad="63500" dist="25400" dir="8100000" algn="bl" rotWithShape="0">
              <a:srgbClr val="AAAAAA">
                <a:alpha val="25000"/>
              </a:srgbClr>
            </a:outerShdw>
          </a:effectLst>
        </p:spPr>
      </p:sp>
      <p:sp>
        <p:nvSpPr>
          <p:cNvPr id="12" name="Text 10"/>
          <p:cNvSpPr/>
          <p:nvPr/>
        </p:nvSpPr>
        <p:spPr>
          <a:xfrm>
            <a:off x="2403652" y="960120"/>
            <a:ext cx="3069668"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Mục Tiêu Hệ Thống</a:t>
            </a:r>
            <a:endParaRPr lang="en-US" sz="1300" dirty="0"/>
          </a:p>
        </p:txBody>
      </p:sp>
      <p:sp>
        <p:nvSpPr>
          <p:cNvPr id="13" name="Shape 11"/>
          <p:cNvSpPr/>
          <p:nvPr/>
        </p:nvSpPr>
        <p:spPr>
          <a:xfrm>
            <a:off x="2403652" y="1463040"/>
            <a:ext cx="3069668" cy="27432"/>
          </a:xfrm>
          <a:prstGeom prst="rect">
            <a:avLst/>
          </a:prstGeom>
          <a:solidFill>
            <a:srgbClr val="40916C"/>
          </a:solidFill>
          <a:ln w="12700">
            <a:solidFill>
              <a:srgbClr val="40916C"/>
            </a:solidFill>
            <a:prstDash val="solid"/>
          </a:ln>
        </p:spPr>
      </p:sp>
      <p:sp>
        <p:nvSpPr>
          <p:cNvPr id="14" name="Text 12"/>
          <p:cNvSpPr/>
          <p:nvPr/>
        </p:nvSpPr>
        <p:spPr>
          <a:xfrm>
            <a:off x="2403652" y="1581912"/>
            <a:ext cx="3069668" cy="3004156"/>
          </a:xfrm>
          <a:prstGeom prst="rect">
            <a:avLst/>
          </a:prstGeom>
          <a:noFill/>
          <a:ln/>
        </p:spPr>
        <p:txBody>
          <a:bodyPr wrap="square" rtlCol="0" anchor="t"/>
          <a:lstStyle/>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chung</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Xây dựng một hệ thống thông minh hỗ trợ đánh giá mức độ nghiêm trọng của bệnh trên cây trồng bằng cách kết hợp trí tuệ nhân tạo và suy luận mờ, đồng thời đảm bảo khả năng giải thích rõ ràng quá trình ra quyết định cho người sử dụng.</a:t>
            </a:r>
          </a:p>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cụ</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thể</a:t>
            </a:r>
            <a:r>
              <a:rPr lang="en-US" sz="1050" b="1" dirty="0">
                <a:latin typeface="Calibri" panose="020F0502020204030204" pitchFamily="34" charset="0"/>
                <a:ea typeface="Calibri" panose="020F0502020204030204" pitchFamily="34" charset="0"/>
                <a:cs typeface="Calibri" panose="020F0502020204030204" pitchFamily="34" charset="0"/>
              </a:rPr>
              <a:t>:</a:t>
            </a:r>
          </a:p>
          <a:p>
            <a:pPr algn="just"/>
            <a:r>
              <a:rPr lang="en-US" sz="1050" dirty="0">
                <a:latin typeface="Calibri" panose="020F0502020204030204" pitchFamily="34" charset="0"/>
                <a:ea typeface="Calibri" panose="020F0502020204030204" pitchFamily="34" charset="0"/>
                <a:cs typeface="Calibri" panose="020F0502020204030204" pitchFamily="34" charset="0"/>
              </a:rPr>
              <a:t>+</a:t>
            </a:r>
            <a:r>
              <a:rPr lang="vi-VN" sz="1050" dirty="0">
                <a:latin typeface="Calibri" panose="020F0502020204030204" pitchFamily="34" charset="0"/>
                <a:ea typeface="Calibri" panose="020F0502020204030204" pitchFamily="34" charset="0"/>
                <a:cs typeface="Calibri" panose="020F0502020204030204" pitchFamily="34" charset="0"/>
              </a:rPr>
              <a:t>Về tri thức: Số hóa tri thức chuyên gia nông nghiệp thành các tập mờ, hàm thuộc và luật suy luận. </a:t>
            </a:r>
            <a:endParaRPr lang="en-US" sz="1050" dirty="0">
              <a:latin typeface="Calibri" panose="020F0502020204030204" pitchFamily="34" charset="0"/>
              <a:ea typeface="Calibri" panose="020F0502020204030204" pitchFamily="34" charset="0"/>
              <a:cs typeface="Calibri" panose="020F0502020204030204" pitchFamily="34" charset="0"/>
            </a:endParaRPr>
          </a:p>
          <a:p>
            <a:pPr algn="just"/>
            <a:r>
              <a:rPr lang="en-US" sz="1050" dirty="0">
                <a:latin typeface="Calibri" panose="020F0502020204030204" pitchFamily="34" charset="0"/>
                <a:ea typeface="Calibri" panose="020F0502020204030204" pitchFamily="34" charset="0"/>
                <a:cs typeface="Calibri" panose="020F0502020204030204" pitchFamily="34" charset="0"/>
              </a:rPr>
              <a:t>+</a:t>
            </a:r>
            <a:r>
              <a:rPr lang="vi-VN" sz="1050" dirty="0">
                <a:latin typeface="Calibri" panose="020F0502020204030204" pitchFamily="34" charset="0"/>
                <a:ea typeface="Calibri" panose="020F0502020204030204" pitchFamily="34" charset="0"/>
                <a:cs typeface="Calibri" panose="020F0502020204030204" pitchFamily="34" charset="0"/>
              </a:rPr>
              <a:t>Về xử lý: Xây dựng bộ suy diễn mờ có khả năng đánh giá và phân loại mức độ bệnh từ dữ liệu đầu vào. </a:t>
            </a:r>
            <a:endParaRPr lang="en-US" sz="1050" dirty="0">
              <a:latin typeface="Calibri" panose="020F0502020204030204" pitchFamily="34" charset="0"/>
              <a:ea typeface="Calibri" panose="020F0502020204030204" pitchFamily="34" charset="0"/>
              <a:cs typeface="Calibri" panose="020F0502020204030204" pitchFamily="34" charset="0"/>
            </a:endParaRPr>
          </a:p>
          <a:p>
            <a:pPr algn="just"/>
            <a:r>
              <a:rPr lang="en-US" sz="1050" dirty="0">
                <a:latin typeface="Calibri" panose="020F0502020204030204" pitchFamily="34" charset="0"/>
                <a:ea typeface="Calibri" panose="020F0502020204030204" pitchFamily="34" charset="0"/>
                <a:cs typeface="Calibri" panose="020F0502020204030204" pitchFamily="34" charset="0"/>
              </a:rPr>
              <a:t>-</a:t>
            </a:r>
            <a:r>
              <a:rPr lang="vi-VN" sz="1050" dirty="0">
                <a:latin typeface="Calibri" panose="020F0502020204030204" pitchFamily="34" charset="0"/>
                <a:ea typeface="Calibri" panose="020F0502020204030204" pitchFamily="34" charset="0"/>
                <a:cs typeface="Calibri" panose="020F0502020204030204" pitchFamily="34" charset="0"/>
              </a:rPr>
              <a:t>Về giải thích: Cung cấp cơ chế giải thích kết quả thông qua các luật mờ được kích hoạt và báo cáo bằng ngôn ngữ tự nhiên. </a:t>
            </a:r>
            <a:endParaRPr lang="en-US" sz="1050" dirty="0">
              <a:latin typeface="Calibri" panose="020F0502020204030204" pitchFamily="34" charset="0"/>
              <a:ea typeface="Calibri" panose="020F0502020204030204" pitchFamily="34" charset="0"/>
              <a:cs typeface="Calibri" panose="020F0502020204030204" pitchFamily="34" charset="0"/>
            </a:endParaRPr>
          </a:p>
          <a:p>
            <a:pPr algn="just"/>
            <a:r>
              <a:rPr lang="en-US" sz="1050" dirty="0">
                <a:latin typeface="Calibri" panose="020F0502020204030204" pitchFamily="34" charset="0"/>
                <a:ea typeface="Calibri" panose="020F0502020204030204" pitchFamily="34" charset="0"/>
                <a:cs typeface="Calibri" panose="020F0502020204030204" pitchFamily="34" charset="0"/>
              </a:rPr>
              <a:t>-</a:t>
            </a:r>
            <a:r>
              <a:rPr lang="vi-VN" sz="1050" dirty="0">
                <a:latin typeface="Calibri" panose="020F0502020204030204" pitchFamily="34" charset="0"/>
                <a:ea typeface="Calibri" panose="020F0502020204030204" pitchFamily="34" charset="0"/>
                <a:cs typeface="Calibri" panose="020F0502020204030204" pitchFamily="34" charset="0"/>
              </a:rPr>
              <a:t>Về hệ thống: Phát triển giao diện trực quan, dễ sử dụng và có khả năng mở rộng, tích hợp với các nền tảng di động hoặc IoT trong tương lai.</a:t>
            </a:r>
            <a:endParaRPr lang="en-US" sz="105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15" name="Shape 13"/>
          <p:cNvSpPr/>
          <p:nvPr/>
        </p:nvSpPr>
        <p:spPr>
          <a:xfrm>
            <a:off x="5666813" y="868680"/>
            <a:ext cx="3413881" cy="3794760"/>
          </a:xfrm>
          <a:prstGeom prst="rect">
            <a:avLst/>
          </a:prstGeom>
          <a:solidFill>
            <a:srgbClr val="FFF9C4"/>
          </a:solidFill>
          <a:ln w="12700">
            <a:solidFill>
              <a:srgbClr val="40916C"/>
            </a:solidFill>
            <a:prstDash val="solid"/>
          </a:ln>
          <a:effectLst>
            <a:outerShdw blurRad="63500" dist="25400" dir="8100000" algn="bl" rotWithShape="0">
              <a:srgbClr val="AAAAAA">
                <a:alpha val="25000"/>
              </a:srgbClr>
            </a:outerShdw>
          </a:effectLst>
        </p:spPr>
      </p:sp>
      <p:sp>
        <p:nvSpPr>
          <p:cNvPr id="16" name="Text 14"/>
          <p:cNvSpPr/>
          <p:nvPr/>
        </p:nvSpPr>
        <p:spPr>
          <a:xfrm>
            <a:off x="5761009" y="960120"/>
            <a:ext cx="3218802"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Phạm Vi Nghiên Cứu</a:t>
            </a:r>
            <a:endParaRPr lang="en-US" sz="1300" dirty="0"/>
          </a:p>
        </p:txBody>
      </p:sp>
      <p:sp>
        <p:nvSpPr>
          <p:cNvPr id="17" name="Shape 15"/>
          <p:cNvSpPr/>
          <p:nvPr/>
        </p:nvSpPr>
        <p:spPr>
          <a:xfrm>
            <a:off x="5761009" y="1463040"/>
            <a:ext cx="3218802" cy="27432"/>
          </a:xfrm>
          <a:prstGeom prst="rect">
            <a:avLst/>
          </a:prstGeom>
          <a:solidFill>
            <a:srgbClr val="40916C"/>
          </a:solidFill>
          <a:ln w="12700">
            <a:solidFill>
              <a:srgbClr val="40916C"/>
            </a:solidFill>
            <a:prstDash val="solid"/>
          </a:ln>
        </p:spPr>
      </p:sp>
      <p:sp>
        <p:nvSpPr>
          <p:cNvPr id="18" name="Text 16"/>
          <p:cNvSpPr/>
          <p:nvPr/>
        </p:nvSpPr>
        <p:spPr>
          <a:xfrm>
            <a:off x="5761009" y="1581912"/>
            <a:ext cx="3218802" cy="2880360"/>
          </a:xfrm>
          <a:prstGeom prst="rect">
            <a:avLst/>
          </a:prstGeom>
          <a:noFill/>
          <a:ln/>
        </p:spPr>
        <p:txBody>
          <a:bodyPr wrap="square" rtlCol="0" anchor="t"/>
          <a:lstStyle/>
          <a:p>
            <a:r>
              <a:rPr lang="vi-VN" sz="1050" b="1" dirty="0">
                <a:latin typeface="Calibri" panose="020F0502020204030204" pitchFamily="34" charset="0"/>
                <a:ea typeface="Calibri" panose="020F0502020204030204" pitchFamily="34" charset="0"/>
                <a:cs typeface="Calibri" panose="020F0502020204030204" pitchFamily="34" charset="0"/>
              </a:rPr>
              <a:t>Đối tượng nghiên cứu:</a:t>
            </a:r>
            <a:r>
              <a:rPr lang="vi-VN" sz="1050" dirty="0">
                <a:latin typeface="Calibri" panose="020F0502020204030204" pitchFamily="34" charset="0"/>
                <a:ea typeface="Calibri" panose="020F0502020204030204" pitchFamily="34" charset="0"/>
                <a:cs typeface="Calibri" panose="020F0502020204030204" pitchFamily="34" charset="0"/>
              </a:rPr>
              <a:t> Bệnh trên lá cây trồng nông nghiệp (thử nghiệm trên bộ dữ liệu bệnh lá lúa gồm Healthy, Blast, Brownspot, Bacterial Blight và Tungro).</a:t>
            </a:r>
            <a:endParaRPr lang="en-US" sz="1050" dirty="0">
              <a:latin typeface="Calibri" panose="020F0502020204030204" pitchFamily="34" charset="0"/>
              <a:ea typeface="Calibri" panose="020F0502020204030204" pitchFamily="34" charset="0"/>
              <a:cs typeface="Calibri" panose="020F0502020204030204" pitchFamily="34" charset="0"/>
            </a:endParaRP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vào:</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Ảnh lá cây chứa triệu chứng bệnh.</a:t>
            </a:r>
          </a:p>
          <a:p>
            <a:r>
              <a:rPr lang="vi-VN" sz="1050" dirty="0">
                <a:latin typeface="Calibri" panose="020F0502020204030204" pitchFamily="34" charset="0"/>
                <a:ea typeface="Calibri" panose="020F0502020204030204" pitchFamily="34" charset="0"/>
                <a:cs typeface="Calibri" panose="020F0502020204030204" pitchFamily="34" charset="0"/>
              </a:rPr>
              <a:t>Độ tin cậy dự đoán từ mô hình CNN.</a:t>
            </a:r>
          </a:p>
          <a:p>
            <a:r>
              <a:rPr lang="vi-VN" sz="1050" dirty="0">
                <a:latin typeface="Calibri" panose="020F0502020204030204" pitchFamily="34" charset="0"/>
                <a:ea typeface="Calibri" panose="020F0502020204030204" pitchFamily="34" charset="0"/>
                <a:cs typeface="Calibri" panose="020F0502020204030204" pitchFamily="34" charset="0"/>
              </a:rPr>
              <a:t>Nhiệt độ môi trường (°C).</a:t>
            </a:r>
          </a:p>
          <a:p>
            <a:r>
              <a:rPr lang="vi-VN" sz="1050" dirty="0">
                <a:latin typeface="Calibri" panose="020F0502020204030204" pitchFamily="34" charset="0"/>
                <a:ea typeface="Calibri" panose="020F0502020204030204" pitchFamily="34" charset="0"/>
                <a:cs typeface="Calibri" panose="020F0502020204030204" pitchFamily="34" charset="0"/>
              </a:rPr>
              <a:t>Độ ẩm không khí (%).</a:t>
            </a: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ra:</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Loại bệnh và mức độ nghiêm trọng.</a:t>
            </a:r>
          </a:p>
          <a:p>
            <a:r>
              <a:rPr lang="vi-VN" sz="1050" dirty="0">
                <a:latin typeface="Calibri" panose="020F0502020204030204" pitchFamily="34" charset="0"/>
                <a:ea typeface="Calibri" panose="020F0502020204030204" pitchFamily="34" charset="0"/>
                <a:cs typeface="Calibri" panose="020F0502020204030204" pitchFamily="34" charset="0"/>
              </a:rPr>
              <a:t>Chỉ số đánh giá bệnh (Severity Index).</a:t>
            </a:r>
          </a:p>
          <a:p>
            <a:r>
              <a:rPr lang="vi-VN" sz="1050" dirty="0">
                <a:latin typeface="Calibri" panose="020F0502020204030204" pitchFamily="34" charset="0"/>
                <a:ea typeface="Calibri" panose="020F0502020204030204" pitchFamily="34" charset="0"/>
                <a:cs typeface="Calibri" panose="020F0502020204030204" pitchFamily="34" charset="0"/>
              </a:rPr>
              <a:t>Mức cảnh báo: Normal, Attention, Danger, Red Alert.</a:t>
            </a:r>
          </a:p>
          <a:p>
            <a:r>
              <a:rPr lang="vi-VN" sz="1050" dirty="0">
                <a:latin typeface="Calibri" panose="020F0502020204030204" pitchFamily="34" charset="0"/>
                <a:ea typeface="Calibri" panose="020F0502020204030204" pitchFamily="34" charset="0"/>
                <a:cs typeface="Calibri" panose="020F0502020204030204" pitchFamily="34" charset="0"/>
              </a:rPr>
              <a:t>Báo cáo giải thích kết quả (XAI).</a:t>
            </a:r>
          </a:p>
          <a:p>
            <a:r>
              <a:rPr lang="vi-VN" sz="1050" b="1" dirty="0">
                <a:latin typeface="Calibri" panose="020F0502020204030204" pitchFamily="34" charset="0"/>
                <a:ea typeface="Calibri" panose="020F0502020204030204" pitchFamily="34" charset="0"/>
                <a:cs typeface="Calibri" panose="020F0502020204030204" pitchFamily="34" charset="0"/>
              </a:rPr>
              <a:t>Giới hạn công nghệ</a:t>
            </a:r>
            <a:r>
              <a:rPr lang="vi-VN" sz="1050" dirty="0">
                <a:latin typeface="Calibri" panose="020F0502020204030204" pitchFamily="34" charset="0"/>
                <a:ea typeface="Calibri" panose="020F0502020204030204" pitchFamily="34" charset="0"/>
                <a:cs typeface="Calibri" panose="020F0502020204030204" pitchFamily="34" charset="0"/>
              </a:rPr>
              <a:t>:</a:t>
            </a:r>
            <a:r>
              <a:rPr lang="en-US" sz="1050"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Sử dụng CNN (EfficientNet-B0) để nhận dạng bệnh.</a:t>
            </a:r>
          </a:p>
          <a:p>
            <a:r>
              <a:rPr lang="vi-VN" sz="1050" dirty="0">
                <a:latin typeface="Calibri" panose="020F0502020204030204" pitchFamily="34" charset="0"/>
                <a:ea typeface="Calibri" panose="020F0502020204030204" pitchFamily="34" charset="0"/>
                <a:cs typeface="Calibri" panose="020F0502020204030204" pitchFamily="34" charset="0"/>
              </a:rPr>
              <a:t>Sử dụng Fuzzy Logic Sugeno để suy luận mức độXây dựng giao diện Web bằng Streamlit.</a:t>
            </a:r>
          </a:p>
          <a:p>
            <a:r>
              <a:rPr lang="vi-VN" sz="1050" dirty="0">
                <a:latin typeface="Calibri" panose="020F0502020204030204" pitchFamily="34" charset="0"/>
                <a:ea typeface="Calibri" panose="020F0502020204030204" pitchFamily="34" charset="0"/>
                <a:cs typeface="Calibri" panose="020F0502020204030204" pitchFamily="34" charset="0"/>
              </a:rPr>
              <a:t>Chưa tích hợp cảm biến IoT và dữ liệu thời gian thực.</a:t>
            </a:r>
          </a:p>
          <a:p>
            <a:r>
              <a:rPr lang="vi-VN" sz="1050" dirty="0">
                <a:latin typeface="Calibri" panose="020F0502020204030204" pitchFamily="34" charset="0"/>
                <a:ea typeface="Calibri" panose="020F0502020204030204" pitchFamily="34" charset="0"/>
                <a:cs typeface="Calibri" panose="020F0502020204030204" pitchFamily="34" charset="0"/>
              </a:rPr>
              <a:t> bệnh.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Cơ Sở Lý Thuyết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8" name="Shape 6"/>
          <p:cNvSpPr/>
          <p:nvPr/>
        </p:nvSpPr>
        <p:spPr>
          <a:xfrm>
            <a:off x="365760" y="1005840"/>
            <a:ext cx="457200" cy="457200"/>
          </a:xfrm>
          <a:prstGeom prst="ellipse">
            <a:avLst/>
          </a:prstGeom>
          <a:solidFill>
            <a:srgbClr val="1B4332"/>
          </a:solidFill>
          <a:ln w="12700">
            <a:solidFill>
              <a:srgbClr val="1B4332"/>
            </a:solidFill>
            <a:prstDash val="solid"/>
          </a:ln>
        </p:spPr>
      </p:sp>
      <p:sp>
        <p:nvSpPr>
          <p:cNvPr id="9" name="Text 7"/>
          <p:cNvSpPr/>
          <p:nvPr/>
        </p:nvSpPr>
        <p:spPr>
          <a:xfrm>
            <a:off x="36576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91440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Hệ Thống Thông Tin Thông Minh (IIS)</a:t>
            </a:r>
            <a:endParaRPr lang="en-US" sz="1150" dirty="0"/>
          </a:p>
        </p:txBody>
      </p:sp>
      <p:sp>
        <p:nvSpPr>
          <p:cNvPr id="11" name="Text 9"/>
          <p:cNvSpPr/>
          <p:nvPr/>
        </p:nvSpPr>
        <p:spPr>
          <a:xfrm>
            <a:off x="36576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Tích hợp AI vào hệ thống thông tin truyền thống. Có khả năng suy diễn, học hỏi và thích nghi từ dữ liệu phi cấu trúc.</a:t>
            </a:r>
            <a:endParaRPr lang="en-US" sz="1050" dirty="0"/>
          </a:p>
        </p:txBody>
      </p:sp>
      <p:sp>
        <p:nvSpPr>
          <p:cNvPr id="12" name="Shape 10"/>
          <p:cNvSpPr/>
          <p:nvPr/>
        </p:nvSpPr>
        <p:spPr>
          <a:xfrm>
            <a:off x="324612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3" name="Shape 11"/>
          <p:cNvSpPr/>
          <p:nvPr/>
        </p:nvSpPr>
        <p:spPr>
          <a:xfrm>
            <a:off x="3383280" y="1005840"/>
            <a:ext cx="457200" cy="457200"/>
          </a:xfrm>
          <a:prstGeom prst="ellipse">
            <a:avLst/>
          </a:prstGeom>
          <a:solidFill>
            <a:srgbClr val="40916C"/>
          </a:solidFill>
          <a:ln w="12700">
            <a:solidFill>
              <a:srgbClr val="40916C"/>
            </a:solidFill>
            <a:prstDash val="solid"/>
          </a:ln>
        </p:spPr>
      </p:sp>
      <p:sp>
        <p:nvSpPr>
          <p:cNvPr id="14" name="Text 12"/>
          <p:cNvSpPr/>
          <p:nvPr/>
        </p:nvSpPr>
        <p:spPr>
          <a:xfrm>
            <a:off x="338328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93192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Explainable AI (XAI) trong Nông Nghiệp</a:t>
            </a:r>
            <a:endParaRPr lang="en-US" sz="1150" dirty="0"/>
          </a:p>
        </p:txBody>
      </p:sp>
      <p:sp>
        <p:nvSpPr>
          <p:cNvPr id="16" name="Text 14"/>
          <p:cNvSpPr/>
          <p:nvPr/>
        </p:nvSpPr>
        <p:spPr>
          <a:xfrm>
            <a:off x="338328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Giải quyết vấn đề hộp đen. Xây dựng niềm tin, hỗ trợ ra quyết định lâm sàng, trách nhiệm giải trình.</a:t>
            </a:r>
            <a:endParaRPr lang="en-US" sz="1050" dirty="0"/>
          </a:p>
        </p:txBody>
      </p:sp>
      <p:sp>
        <p:nvSpPr>
          <p:cNvPr id="17" name="Shape 15"/>
          <p:cNvSpPr/>
          <p:nvPr/>
        </p:nvSpPr>
        <p:spPr>
          <a:xfrm>
            <a:off x="626364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8" name="Shape 16"/>
          <p:cNvSpPr/>
          <p:nvPr/>
        </p:nvSpPr>
        <p:spPr>
          <a:xfrm>
            <a:off x="6400800" y="1005840"/>
            <a:ext cx="457200" cy="457200"/>
          </a:xfrm>
          <a:prstGeom prst="ellipse">
            <a:avLst/>
          </a:prstGeom>
          <a:solidFill>
            <a:srgbClr val="F4A261"/>
          </a:solidFill>
          <a:ln w="12700">
            <a:solidFill>
              <a:srgbClr val="F4A261"/>
            </a:solidFill>
            <a:prstDash val="solid"/>
          </a:ln>
        </p:spPr>
      </p:sp>
      <p:sp>
        <p:nvSpPr>
          <p:cNvPr id="19" name="Text 17"/>
          <p:cNvSpPr/>
          <p:nvPr/>
        </p:nvSpPr>
        <p:spPr>
          <a:xfrm>
            <a:off x="640080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694944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Fuzzy Set &amp; Membership Function</a:t>
            </a:r>
            <a:endParaRPr lang="en-US" sz="1150" dirty="0"/>
          </a:p>
        </p:txBody>
      </p:sp>
      <p:sp>
        <p:nvSpPr>
          <p:cNvPr id="21" name="Text 19"/>
          <p:cNvSpPr/>
          <p:nvPr/>
        </p:nvSpPr>
        <p:spPr>
          <a:xfrm>
            <a:off x="640080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Cho phép thuộc vào tập hợp với mức độ [0,1]. Hàm tam giác, hình thang dùng cho dữ liệu nông nghiệp.</a:t>
            </a:r>
            <a:endParaRPr lang="en-US" sz="1050" dirty="0"/>
          </a:p>
        </p:txBody>
      </p:sp>
      <p:sp>
        <p:nvSpPr>
          <p:cNvPr id="22" name="Text 20"/>
          <p:cNvSpPr/>
          <p:nvPr/>
        </p:nvSpPr>
        <p:spPr>
          <a:xfrm>
            <a:off x="228600" y="2468880"/>
            <a:ext cx="8686800" cy="365760"/>
          </a:xfrm>
          <a:prstGeom prst="rect">
            <a:avLst/>
          </a:prstGeom>
          <a:noFill/>
          <a:ln/>
        </p:spPr>
        <p:txBody>
          <a:bodyPr wrap="square" rtlCol="0" anchor="ctr"/>
          <a:lstStyle/>
          <a:p>
            <a:r>
              <a:rPr lang="en-US" sz="1300" b="1" dirty="0">
                <a:solidFill>
                  <a:srgbClr val="1B4332"/>
                </a:solidFill>
                <a:latin typeface="Calibri" pitchFamily="34" charset="0"/>
                <a:ea typeface="Calibri" pitchFamily="34" charset="-122"/>
                <a:cs typeface="Calibri" pitchFamily="34" charset="-120"/>
              </a:rPr>
              <a:t>Quy </a:t>
            </a:r>
            <a:r>
              <a:rPr lang="en-US" sz="1300" b="1" dirty="0" err="1">
                <a:solidFill>
                  <a:srgbClr val="1B4332"/>
                </a:solidFill>
                <a:latin typeface="Calibri" pitchFamily="34" charset="0"/>
                <a:ea typeface="Calibri" pitchFamily="34" charset="-122"/>
                <a:cs typeface="Calibri" pitchFamily="34" charset="-120"/>
              </a:rPr>
              <a:t>Trình</a:t>
            </a:r>
            <a:r>
              <a:rPr lang="en-US" sz="1300" b="1" dirty="0">
                <a:solidFill>
                  <a:srgbClr val="1B4332"/>
                </a:solidFill>
                <a:latin typeface="Calibri" pitchFamily="34" charset="0"/>
                <a:ea typeface="Calibri" pitchFamily="34" charset="-122"/>
                <a:cs typeface="Calibri" pitchFamily="34" charset="-120"/>
              </a:rPr>
              <a:t> Zero-order </a:t>
            </a:r>
            <a:r>
              <a:rPr lang="en-US" sz="1300" b="1" dirty="0" err="1">
                <a:solidFill>
                  <a:srgbClr val="1B4332"/>
                </a:solidFill>
                <a:latin typeface="Calibri" pitchFamily="34" charset="0"/>
                <a:ea typeface="Calibri" pitchFamily="34" charset="-122"/>
                <a:cs typeface="Calibri" pitchFamily="34" charset="-120"/>
              </a:rPr>
              <a:t>Sugeno</a:t>
            </a:r>
            <a:r>
              <a:rPr lang="en-US" sz="1300" b="1" dirty="0">
                <a:solidFill>
                  <a:srgbClr val="1B4332"/>
                </a:solidFill>
                <a:latin typeface="Calibri" pitchFamily="34" charset="0"/>
                <a:ea typeface="Calibri" pitchFamily="34" charset="-122"/>
                <a:cs typeface="Calibri" pitchFamily="34" charset="-120"/>
              </a:rPr>
              <a:t> Fuzzy Inference System: 4 </a:t>
            </a:r>
            <a:r>
              <a:rPr lang="en-US" sz="1300" b="1" dirty="0" err="1">
                <a:solidFill>
                  <a:srgbClr val="1B4332"/>
                </a:solidFill>
                <a:latin typeface="Calibri" pitchFamily="34" charset="0"/>
                <a:ea typeface="Calibri" pitchFamily="34" charset="-122"/>
                <a:cs typeface="Calibri" pitchFamily="34" charset="-120"/>
              </a:rPr>
              <a:t>Bước</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Cốt</a:t>
            </a:r>
            <a:r>
              <a:rPr lang="en-US" sz="1300" b="1" dirty="0">
                <a:solidFill>
                  <a:srgbClr val="1B4332"/>
                </a:solidFill>
                <a:latin typeface="Calibri" pitchFamily="34" charset="0"/>
                <a:ea typeface="Calibri" pitchFamily="34" charset="-122"/>
                <a:cs typeface="Calibri" pitchFamily="34" charset="-120"/>
              </a:rPr>
              <a:t> Lõi</a:t>
            </a:r>
            <a:endParaRPr lang="en-US" sz="1300" dirty="0"/>
          </a:p>
        </p:txBody>
      </p:sp>
      <p:sp>
        <p:nvSpPr>
          <p:cNvPr id="23" name="Shape 21"/>
          <p:cNvSpPr/>
          <p:nvPr/>
        </p:nvSpPr>
        <p:spPr>
          <a:xfrm>
            <a:off x="228600" y="2880360"/>
            <a:ext cx="1920240" cy="1280160"/>
          </a:xfrm>
          <a:prstGeom prst="rect">
            <a:avLst/>
          </a:prstGeom>
          <a:solidFill>
            <a:srgbClr val="D8F3DC"/>
          </a:solidFill>
          <a:ln w="12700">
            <a:solidFill>
              <a:srgbClr val="40916C"/>
            </a:solidFill>
            <a:prstDash val="solid"/>
          </a:ln>
          <a:effectLst>
            <a:outerShdw blurRad="38100" dist="25400" dir="8100000" algn="bl" rotWithShape="0">
              <a:srgbClr val="AAAAAA">
                <a:alpha val="20000"/>
              </a:srgbClr>
            </a:outerShdw>
          </a:effectLst>
        </p:spPr>
      </p:sp>
      <p:sp>
        <p:nvSpPr>
          <p:cNvPr id="24" name="Text 22"/>
          <p:cNvSpPr/>
          <p:nvPr/>
        </p:nvSpPr>
        <p:spPr>
          <a:xfrm>
            <a:off x="32004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① Fuzzification</a:t>
            </a:r>
            <a:endParaRPr lang="en-US" sz="1200" dirty="0"/>
          </a:p>
        </p:txBody>
      </p:sp>
      <p:sp>
        <p:nvSpPr>
          <p:cNvPr id="25" name="Text 23"/>
          <p:cNvSpPr/>
          <p:nvPr/>
        </p:nvSpPr>
        <p:spPr>
          <a:xfrm>
            <a:off x="32004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Chuyển giá trị rõ → độ thuộc μ</a:t>
            </a:r>
            <a:endParaRPr lang="en-US" sz="1050" dirty="0"/>
          </a:p>
        </p:txBody>
      </p:sp>
      <p:sp>
        <p:nvSpPr>
          <p:cNvPr id="26" name="Shape 24"/>
          <p:cNvSpPr/>
          <p:nvPr/>
        </p:nvSpPr>
        <p:spPr>
          <a:xfrm>
            <a:off x="2167128" y="3493008"/>
            <a:ext cx="192024" cy="54864"/>
          </a:xfrm>
          <a:prstGeom prst="rect">
            <a:avLst/>
          </a:prstGeom>
          <a:solidFill>
            <a:srgbClr val="2D6A4F"/>
          </a:solidFill>
          <a:ln w="12700">
            <a:solidFill>
              <a:srgbClr val="2D6A4F"/>
            </a:solidFill>
            <a:prstDash val="solid"/>
          </a:ln>
        </p:spPr>
      </p:sp>
      <p:sp>
        <p:nvSpPr>
          <p:cNvPr id="27" name="Shape 25"/>
          <p:cNvSpPr/>
          <p:nvPr/>
        </p:nvSpPr>
        <p:spPr>
          <a:xfrm>
            <a:off x="2377440" y="2880360"/>
            <a:ext cx="1920240" cy="1280160"/>
          </a:xfrm>
          <a:prstGeom prst="rect">
            <a:avLst/>
          </a:prstGeom>
          <a:solidFill>
            <a:srgbClr val="E3F2FD"/>
          </a:solidFill>
          <a:ln w="12700">
            <a:solidFill>
              <a:srgbClr val="40916C"/>
            </a:solidFill>
            <a:prstDash val="solid"/>
          </a:ln>
          <a:effectLst>
            <a:outerShdw blurRad="38100" dist="25400" dir="8100000" algn="bl" rotWithShape="0">
              <a:srgbClr val="AAAAAA">
                <a:alpha val="20000"/>
              </a:srgbClr>
            </a:outerShdw>
          </a:effectLst>
        </p:spPr>
      </p:sp>
      <p:sp>
        <p:nvSpPr>
          <p:cNvPr id="28" name="Text 26"/>
          <p:cNvSpPr/>
          <p:nvPr/>
        </p:nvSpPr>
        <p:spPr>
          <a:xfrm>
            <a:off x="246888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② Rule Evaluation</a:t>
            </a:r>
            <a:endParaRPr lang="en-US" sz="1200" dirty="0"/>
          </a:p>
        </p:txBody>
      </p:sp>
      <p:sp>
        <p:nvSpPr>
          <p:cNvPr id="29" name="Text 27"/>
          <p:cNvSpPr/>
          <p:nvPr/>
        </p:nvSpPr>
        <p:spPr>
          <a:xfrm>
            <a:off x="246888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Áp dụng luật IF-THEN, toán tử min/max</a:t>
            </a:r>
            <a:endParaRPr lang="en-US" sz="1050" dirty="0"/>
          </a:p>
        </p:txBody>
      </p:sp>
      <p:sp>
        <p:nvSpPr>
          <p:cNvPr id="30" name="Shape 28"/>
          <p:cNvSpPr/>
          <p:nvPr/>
        </p:nvSpPr>
        <p:spPr>
          <a:xfrm>
            <a:off x="4315968" y="3493008"/>
            <a:ext cx="192024" cy="54864"/>
          </a:xfrm>
          <a:prstGeom prst="rect">
            <a:avLst/>
          </a:prstGeom>
          <a:solidFill>
            <a:srgbClr val="2D6A4F"/>
          </a:solidFill>
          <a:ln w="12700">
            <a:solidFill>
              <a:srgbClr val="2D6A4F"/>
            </a:solidFill>
            <a:prstDash val="solid"/>
          </a:ln>
        </p:spPr>
      </p:sp>
      <p:sp>
        <p:nvSpPr>
          <p:cNvPr id="31" name="Shape 29"/>
          <p:cNvSpPr/>
          <p:nvPr/>
        </p:nvSpPr>
        <p:spPr>
          <a:xfrm>
            <a:off x="4526280" y="2880360"/>
            <a:ext cx="1920240" cy="1280160"/>
          </a:xfrm>
          <a:prstGeom prst="rect">
            <a:avLst/>
          </a:prstGeom>
          <a:solidFill>
            <a:srgbClr val="FFF9C4"/>
          </a:solidFill>
          <a:ln w="12700">
            <a:solidFill>
              <a:srgbClr val="40916C"/>
            </a:solidFill>
            <a:prstDash val="solid"/>
          </a:ln>
          <a:effectLst>
            <a:outerShdw blurRad="38100" dist="25400" dir="8100000" algn="bl" rotWithShape="0">
              <a:srgbClr val="AAAAAA">
                <a:alpha val="20000"/>
              </a:srgbClr>
            </a:outerShdw>
          </a:effectLst>
        </p:spPr>
      </p:sp>
      <p:sp>
        <p:nvSpPr>
          <p:cNvPr id="32" name="Text 30"/>
          <p:cNvSpPr/>
          <p:nvPr/>
        </p:nvSpPr>
        <p:spPr>
          <a:xfrm>
            <a:off x="461772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③ Aggregation</a:t>
            </a:r>
            <a:endParaRPr lang="en-US" sz="1200" dirty="0"/>
          </a:p>
        </p:txBody>
      </p:sp>
      <p:sp>
        <p:nvSpPr>
          <p:cNvPr id="33" name="Text 31"/>
          <p:cNvSpPr/>
          <p:nvPr/>
        </p:nvSpPr>
        <p:spPr>
          <a:xfrm>
            <a:off x="4617720" y="3474720"/>
            <a:ext cx="1737360" cy="594360"/>
          </a:xfrm>
          <a:prstGeom prst="rect">
            <a:avLst/>
          </a:prstGeom>
          <a:noFill/>
          <a:ln/>
        </p:spPr>
        <p:txBody>
          <a:bodyPr wrap="square" rtlCol="0" anchor="ctr"/>
          <a:lstStyle/>
          <a:p>
            <a:r>
              <a:rPr lang="vi-VN" sz="1050" dirty="0"/>
              <a:t>Kết hợp mức kích hoạt luật và giá trị singleton</a:t>
            </a:r>
            <a:endParaRPr lang="en-US" sz="1050" dirty="0"/>
          </a:p>
        </p:txBody>
      </p:sp>
      <p:sp>
        <p:nvSpPr>
          <p:cNvPr id="34" name="Shape 32"/>
          <p:cNvSpPr/>
          <p:nvPr/>
        </p:nvSpPr>
        <p:spPr>
          <a:xfrm>
            <a:off x="6464808" y="3493008"/>
            <a:ext cx="192024" cy="54864"/>
          </a:xfrm>
          <a:prstGeom prst="rect">
            <a:avLst/>
          </a:prstGeom>
          <a:solidFill>
            <a:srgbClr val="2D6A4F"/>
          </a:solidFill>
          <a:ln w="12700">
            <a:solidFill>
              <a:srgbClr val="2D6A4F"/>
            </a:solidFill>
            <a:prstDash val="solid"/>
          </a:ln>
        </p:spPr>
      </p:sp>
      <p:sp>
        <p:nvSpPr>
          <p:cNvPr id="35" name="Shape 33"/>
          <p:cNvSpPr/>
          <p:nvPr/>
        </p:nvSpPr>
        <p:spPr>
          <a:xfrm>
            <a:off x="6675120" y="2880360"/>
            <a:ext cx="1920240" cy="1280160"/>
          </a:xfrm>
          <a:prstGeom prst="rect">
            <a:avLst/>
          </a:prstGeom>
          <a:solidFill>
            <a:srgbClr val="FCE4EC"/>
          </a:solidFill>
          <a:ln w="12700">
            <a:solidFill>
              <a:srgbClr val="40916C"/>
            </a:solidFill>
            <a:prstDash val="solid"/>
          </a:ln>
          <a:effectLst>
            <a:outerShdw blurRad="38100" dist="25400" dir="8100000" algn="bl" rotWithShape="0">
              <a:srgbClr val="AAAAAA">
                <a:alpha val="20000"/>
              </a:srgbClr>
            </a:outerShdw>
          </a:effectLst>
        </p:spPr>
      </p:sp>
      <p:sp>
        <p:nvSpPr>
          <p:cNvPr id="36" name="Text 34"/>
          <p:cNvSpPr/>
          <p:nvPr/>
        </p:nvSpPr>
        <p:spPr>
          <a:xfrm>
            <a:off x="676656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④ Defuzzification</a:t>
            </a:r>
            <a:endParaRPr lang="en-US" sz="1200" dirty="0"/>
          </a:p>
        </p:txBody>
      </p:sp>
      <p:sp>
        <p:nvSpPr>
          <p:cNvPr id="37" name="Text 35"/>
          <p:cNvSpPr/>
          <p:nvPr/>
        </p:nvSpPr>
        <p:spPr>
          <a:xfrm>
            <a:off x="6766560" y="3474720"/>
            <a:ext cx="1737360" cy="594360"/>
          </a:xfrm>
          <a:prstGeom prst="rect">
            <a:avLst/>
          </a:prstGeom>
          <a:noFill/>
          <a:ln/>
        </p:spPr>
        <p:txBody>
          <a:bodyPr wrap="square" rtlCol="0" anchor="ctr"/>
          <a:lstStyle/>
          <a:p>
            <a:r>
              <a:rPr lang="en-US" sz="1050" dirty="0"/>
              <a:t>Weighted Average → </a:t>
            </a:r>
            <a:r>
              <a:rPr lang="en-US" sz="1050" dirty="0" err="1"/>
              <a:t>giá</a:t>
            </a:r>
            <a:r>
              <a:rPr lang="en-US" sz="1050" dirty="0"/>
              <a:t> </a:t>
            </a:r>
            <a:r>
              <a:rPr lang="en-US" sz="1050" dirty="0" err="1"/>
              <a:t>trị</a:t>
            </a:r>
            <a:r>
              <a:rPr lang="en-US" sz="1050" dirty="0"/>
              <a:t> </a:t>
            </a:r>
            <a:r>
              <a:rPr lang="en-US" sz="1050" dirty="0" err="1"/>
              <a:t>rõ</a:t>
            </a:r>
            <a:endParaRPr lang="en-US" sz="1050" dirty="0"/>
          </a:p>
        </p:txBody>
      </p:sp>
      <p:sp>
        <p:nvSpPr>
          <p:cNvPr id="38" name="Text 36"/>
          <p:cNvSpPr/>
          <p:nvPr/>
        </p:nvSpPr>
        <p:spPr>
          <a:xfrm>
            <a:off x="228600" y="4251960"/>
            <a:ext cx="8686800" cy="274320"/>
          </a:xfrm>
          <a:prstGeom prst="rect">
            <a:avLst/>
          </a:prstGeom>
          <a:noFill/>
          <a:ln/>
        </p:spPr>
        <p:txBody>
          <a:bodyPr wrap="square" rtlCol="0" anchor="ctr"/>
          <a:lstStyle/>
          <a:p>
            <a:r>
              <a:rPr lang="en-US" sz="1000" i="1" dirty="0" err="1">
                <a:latin typeface="Arial" panose="020B0604020202020204" pitchFamily="34" charset="0"/>
                <a:cs typeface="Arial" panose="020B0604020202020204" pitchFamily="34" charset="0"/>
              </a:rPr>
              <a:t>Nhóm</a:t>
            </a:r>
            <a:r>
              <a:rPr lang="vi-VN" sz="1000" i="1" dirty="0">
                <a:latin typeface="Arial" panose="020B0604020202020204" pitchFamily="34" charset="0"/>
                <a:cs typeface="Arial" panose="020B0604020202020204" pitchFamily="34" charset="0"/>
              </a:rPr>
              <a:t> </a:t>
            </a:r>
            <a:r>
              <a:rPr lang="vi-VN" sz="1000" i="1" dirty="0"/>
              <a:t>sử dụng Zero-order Sugeno FIS làm lõi fuzzy reasoning, kết hợp heuristic scoring và expert-guided decision logic nhằm hỗ trợ xử lý uncertainty và hỗ trợ quyết định trong môi trường thực tế.</a:t>
            </a:r>
            <a:endParaRPr lang="en-US" sz="10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D644A-A0D3-EADF-9E06-B3660F0585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EF59A2-17A1-90E3-7512-A88FEBCCBA48}"/>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85179E4B-2DCA-6129-2D81-09615133A9D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3C53929-3A23-7DB1-4C7D-274CD158B85A}"/>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39A67A20-C0DD-D204-B2D9-07E875C2D3D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B4DE1823-A85A-C379-6EF0-E1F99832C7B0}"/>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5D68215F-4029-E286-D5B4-C97FBF1A3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2867" y="790851"/>
            <a:ext cx="6119446" cy="4078329"/>
          </a:xfrm>
          <a:prstGeom prst="rect">
            <a:avLst/>
          </a:prstGeom>
        </p:spPr>
      </p:pic>
    </p:spTree>
    <p:extLst>
      <p:ext uri="{BB962C8B-B14F-4D97-AF65-F5344CB8AC3E}">
        <p14:creationId xmlns:p14="http://schemas.microsoft.com/office/powerpoint/2010/main" val="204664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3F9540-8DB9-4C71-D61D-36C850C378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861C74-D544-007C-1A60-55C69333CA34}"/>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AD80817-F95F-F5A2-EFDD-75EC738D74B3}"/>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751E7A65-5FF8-CB0F-8D92-0637AFEA7DFC}"/>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E26313C2-8A14-3C7A-B284-E8BCBD4DDD3B}"/>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8085CE0C-2C36-1005-B165-06448EE4117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8F34030E-BAB4-D72C-DED9-2A732DD14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592" y="822959"/>
            <a:ext cx="2300069" cy="1532891"/>
          </a:xfrm>
          <a:prstGeom prst="rect">
            <a:avLst/>
          </a:prstGeom>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1B52954-39A9-A698-D54D-DAAD1710F1B3}"/>
                  </a:ext>
                </a:extLst>
              </p:cNvPr>
              <p:cNvSpPr txBox="1"/>
              <p:nvPr/>
            </p:nvSpPr>
            <p:spPr>
              <a:xfrm>
                <a:off x="70339" y="768448"/>
                <a:ext cx="6703253" cy="4131644"/>
              </a:xfrm>
              <a:prstGeom prst="rect">
                <a:avLst/>
              </a:prstGeom>
              <a:noFill/>
            </p:spPr>
            <p:txBody>
              <a:bodyPr wrap="square">
                <a:spAutoFit/>
              </a:bodyPr>
              <a:lstStyle/>
              <a:p>
                <a:pPr marL="0" marR="0">
                  <a:lnSpc>
                    <a:spcPct val="107000"/>
                  </a:lnSpc>
                  <a:spcAft>
                    <a:spcPts val="800"/>
                  </a:spcAft>
                  <a:buNone/>
                </a:pPr>
                <a:r>
                  <a:rPr lang="en-US" sz="1000" dirty="0">
                    <a:effectLst/>
                    <a:latin typeface="+mj-lt"/>
                    <a:ea typeface="Calibri" panose="020F0502020204030204" pitchFamily="34" charset="0"/>
                    <a:cs typeface="Times New Roman" panose="02020603050405020304" pitchFamily="18" charset="0"/>
                  </a:rPr>
                  <a:t>Quy </a:t>
                </a:r>
                <a:r>
                  <a:rPr lang="en-US" sz="1000" dirty="0" err="1">
                    <a:effectLst/>
                    <a:latin typeface="+mj-lt"/>
                    <a:ea typeface="Calibri" panose="020F0502020204030204" pitchFamily="34" charset="0"/>
                    <a:cs typeface="Times New Roman" panose="02020603050405020304" pitchFamily="18" charset="0"/>
                  </a:rPr>
                  <a:t>trình</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luồng</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dữ</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liệu</a:t>
                </a:r>
                <a:r>
                  <a:rPr lang="en-US" sz="1000" dirty="0">
                    <a:effectLst/>
                    <a:latin typeface="+mj-lt"/>
                    <a:ea typeface="Calibri" panose="020F0502020204030204" pitchFamily="34" charset="0"/>
                    <a:cs typeface="Times New Roman" panose="02020603050405020304" pitchFamily="18" charset="0"/>
                  </a:rPr>
                  <a:t> 5 </a:t>
                </a:r>
                <a:r>
                  <a:rPr lang="en-US" sz="1000" dirty="0" err="1">
                    <a:effectLst/>
                    <a:latin typeface="+mj-lt"/>
                    <a:ea typeface="Calibri" panose="020F0502020204030204" pitchFamily="34" charset="0"/>
                    <a:cs typeface="Times New Roman" panose="02020603050405020304" pitchFamily="18" charset="0"/>
                  </a:rPr>
                  <a:t>bước</a:t>
                </a:r>
                <a:r>
                  <a:rPr lang="en-US" sz="1000" dirty="0">
                    <a:effectLst/>
                    <a:latin typeface="+mj-lt"/>
                    <a:ea typeface="Calibri" panose="020F0502020204030204" pitchFamily="34" charset="0"/>
                    <a:cs typeface="Times New Roman" panose="02020603050405020304" pitchFamily="18" charset="0"/>
                  </a:rPr>
                  <a:t> (Pipeline Execution):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1: </a:t>
                </a:r>
                <a:r>
                  <a:rPr lang="en-US" sz="1000" b="1" dirty="0" err="1">
                    <a:effectLst/>
                    <a:latin typeface="+mj-lt"/>
                    <a:ea typeface="Times New Roman" panose="02020603050405020304" pitchFamily="18" charset="0"/>
                  </a:rPr>
                  <a:t>Tiếp</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nhận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dữ</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liệu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đầu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vào</a:t>
                </a:r>
                <a:r>
                  <a:rPr lang="en-US" sz="1000" b="1" dirty="0">
                    <a:effectLst/>
                    <a:latin typeface="+mj-lt"/>
                    <a:ea typeface="Times New Roman" panose="02020603050405020304" pitchFamily="18" charset="0"/>
                  </a:rPr>
                  <a:t> (Input):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1 ca </a:t>
                </a:r>
                <a:r>
                  <a:rPr lang="en-US" sz="1000" dirty="0" err="1">
                    <a:effectLst/>
                    <a:latin typeface="+mj-lt"/>
                    <a:ea typeface="Times New Roman" panose="02020603050405020304" pitchFamily="18" charset="0"/>
                  </a:rPr>
                  <a:t>kiểm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nghiệm</a:t>
                </a:r>
                <a:r>
                  <a:rPr lang="en-US" sz="1000" dirty="0">
                    <a:effectLst/>
                    <a:latin typeface="+mj-lt"/>
                    <a:ea typeface="Times New Roman" panose="02020603050405020304" pitchFamily="18" charset="0"/>
                  </a:rPr>
                  <a:t> (1 record)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nguồn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lập</a:t>
                </a:r>
                <a:r>
                  <a:rPr lang="en-US" sz="1000" dirty="0">
                    <a:effectLst/>
                    <a:latin typeface="+mj-lt"/>
                    <a:ea typeface="Times New Roman" panose="02020603050405020304" pitchFamily="18" charset="0"/>
                  </a:rPr>
                  <a:t>:</a:t>
                </a:r>
              </a:p>
              <a:p>
                <a:pPr marL="742950" marR="0" lvl="1" indent="-285750">
                  <a:lnSpc>
                    <a:spcPct val="150000"/>
                  </a:lnSpc>
                  <a:buSzPts val="1000"/>
                  <a:buFont typeface="Courier New" panose="02070309020205020404" pitchFamily="49" charset="0"/>
                  <a:buChar char="o"/>
                  <a:tabLst>
                    <a:tab pos="914400" algn="l"/>
                  </a:tabLst>
                </a:pPr>
                <a:r>
                  <a:rPr lang="en-US" sz="1000" i="1" dirty="0" err="1">
                    <a:effectLst/>
                    <a:latin typeface="+mj-lt"/>
                    <a:ea typeface="Times New Roman" panose="02020603050405020304" pitchFamily="18" charset="0"/>
                    <a:cs typeface="Times New Roman" panose="02020603050405020304" pitchFamily="18" charset="0"/>
                  </a:rPr>
                  <a:t>Dữ</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liệu</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hình</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ảnh</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Ảnh</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chụp</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bề</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mặt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lá</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cây</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bệnh</a:t>
                </a:r>
                <a:r>
                  <a:rPr lang="en-US" sz="1000" dirty="0">
                    <a:effectLst/>
                    <a:latin typeface="+mj-lt"/>
                    <a:ea typeface="Times New Roman" panose="02020603050405020304" pitchFamily="18" charset="0"/>
                    <a:cs typeface="Times New Roman" panose="02020603050405020304" pitchFamily="18" charset="0"/>
                  </a:rPr>
                  <a:t> </a:t>
                </a:r>
              </a:p>
              <a:p>
                <a:pPr marL="742950" marR="0" lvl="1" indent="-285750">
                  <a:lnSpc>
                    <a:spcPct val="150000"/>
                  </a:lnSpc>
                  <a:buSzPts val="1000"/>
                  <a:buFont typeface="Courier New" panose="02070309020205020404" pitchFamily="49" charset="0"/>
                  <a:buChar char="o"/>
                  <a:tabLst>
                    <a:tab pos="914400" algn="l"/>
                  </a:tabLst>
                </a:pPr>
                <a:r>
                  <a:rPr lang="en-US" sz="1000" i="1" dirty="0">
                    <a:effectLst/>
                    <a:latin typeface="+mj-lt"/>
                    <a:ea typeface="Times New Roman" panose="02020603050405020304" pitchFamily="18" charset="0"/>
                    <a:cs typeface="Times New Roman" panose="02020603050405020304" pitchFamily="18" charset="0"/>
                  </a:rPr>
                  <a:t>Thông tin </a:t>
                </a:r>
                <a:r>
                  <a:rPr lang="en-US" sz="1000" i="1" dirty="0" err="1">
                    <a:effectLst/>
                    <a:latin typeface="+mj-lt"/>
                    <a:ea typeface="Times New Roman" panose="02020603050405020304" pitchFamily="18" charset="0"/>
                    <a:cs typeface="Times New Roman" panose="02020603050405020304" pitchFamily="18" charset="0"/>
                  </a:rPr>
                  <a:t>môi</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trường</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thực</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địa</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ẩm</a:t>
                </a:r>
                <a:r>
                  <a:rPr lang="en-US" sz="1000" dirty="0">
                    <a:effectLst/>
                    <a:latin typeface="+mj-lt"/>
                    <a:ea typeface="Times New Roman" panose="02020603050405020304" pitchFamily="18" charset="0"/>
                    <a:cs typeface="Times New Roman" panose="02020603050405020304" pitchFamily="18" charset="0"/>
                  </a:rPr>
                  <a:t> (Humidity), </a:t>
                </a:r>
                <a:r>
                  <a:rPr lang="en-US" sz="1000" dirty="0" err="1">
                    <a:effectLst/>
                    <a:latin typeface="+mj-lt"/>
                    <a:ea typeface="Times New Roman" panose="02020603050405020304" pitchFamily="18" charset="0"/>
                    <a:cs typeface="Times New Roman" panose="02020603050405020304" pitchFamily="18" charset="0"/>
                  </a:rPr>
                  <a:t>Nhiệt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(Temperature), </a:t>
                </a:r>
                <a:r>
                  <a:rPr lang="en-US" sz="1000" dirty="0" err="1">
                    <a:effectLst/>
                    <a:latin typeface="+mj-lt"/>
                    <a:ea typeface="Times New Roman" panose="02020603050405020304" pitchFamily="18" charset="0"/>
                    <a:cs typeface="Times New Roman" panose="02020603050405020304" pitchFamily="18" charset="0"/>
                  </a:rPr>
                  <a:t>Lượng</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mưa</a:t>
                </a:r>
                <a:r>
                  <a:rPr lang="en-US" sz="1000" dirty="0">
                    <a:effectLst/>
                    <a:latin typeface="+mj-lt"/>
                    <a:ea typeface="Times New Roman" panose="02020603050405020304" pitchFamily="18" charset="0"/>
                    <a:cs typeface="Times New Roman" panose="02020603050405020304" pitchFamily="18" charset="0"/>
                  </a:rPr>
                  <a:t> 24h (Rainfall), </a:t>
                </a:r>
                <a:r>
                  <a:rPr lang="en-US" sz="1000" dirty="0" err="1">
                    <a:effectLst/>
                    <a:latin typeface="+mj-lt"/>
                    <a:ea typeface="Times New Roman" panose="02020603050405020304" pitchFamily="18" charset="0"/>
                    <a:cs typeface="Times New Roman" panose="02020603050405020304" pitchFamily="18" charset="0"/>
                  </a:rPr>
                  <a:t>Mùa</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vụ</a:t>
                </a:r>
                <a:r>
                  <a:rPr lang="en-US" sz="1000" dirty="0">
                    <a:effectLst/>
                    <a:latin typeface="+mj-lt"/>
                    <a:ea typeface="Times New Roman" panose="02020603050405020304" pitchFamily="18" charset="0"/>
                    <a:cs typeface="Times New Roman" panose="02020603050405020304" pitchFamily="18" charset="0"/>
                  </a:rPr>
                  <a:t> (Season), </a:t>
                </a:r>
                <a:r>
                  <a:rPr lang="en-US" sz="1000" dirty="0" err="1">
                    <a:effectLst/>
                    <a:latin typeface="+mj-lt"/>
                    <a:ea typeface="Times New Roman" panose="02020603050405020304" pitchFamily="18" charset="0"/>
                    <a:cs typeface="Times New Roman" panose="02020603050405020304" pitchFamily="18" charset="0"/>
                  </a:rPr>
                  <a:t>Vị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trí</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và</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Thời</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gian</a:t>
                </a:r>
                <a:r>
                  <a:rPr lang="en-US" sz="1000" dirty="0">
                    <a:effectLst/>
                    <a:latin typeface="+mj-lt"/>
                    <a:ea typeface="Times New Roman" panose="02020603050405020304" pitchFamily="18" charset="0"/>
                    <a:cs typeface="Times New Roman" panose="02020603050405020304" pitchFamily="18" charset="0"/>
                  </a:rPr>
                  <a:t>.</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2: </a:t>
                </a:r>
                <a:r>
                  <a:rPr lang="en-US" sz="1000" b="1" dirty="0" err="1">
                    <a:effectLst/>
                    <a:latin typeface="+mj-lt"/>
                    <a:ea typeface="Times New Roman" panose="02020603050405020304" pitchFamily="18" charset="0"/>
                  </a:rPr>
                  <a:t>Dự</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đoán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từ</a:t>
                </a:r>
                <a:r>
                  <a:rPr lang="en-US" sz="1000" b="1" dirty="0">
                    <a:effectLst/>
                    <a:latin typeface="+mj-lt"/>
                    <a:ea typeface="Times New Roman" panose="02020603050405020304" pitchFamily="18" charset="0"/>
                  </a:rPr>
                  <a:t> CNN (CNN Inference):</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ảnh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qua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xuất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suất</a:t>
                </a:r>
                <a:r>
                  <a:rPr lang="en-US" sz="1000" dirty="0">
                    <a:effectLst/>
                    <a:latin typeface="+mj-lt"/>
                    <a:ea typeface="Times New Roman" panose="02020603050405020304" pitchFamily="18" charset="0"/>
                  </a:rPr>
                  <a:t> (Output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loại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endParaRPr lang="en-US" sz="1000" dirty="0">
                  <a:latin typeface="+mj-lt"/>
                  <a:ea typeface="Times New Roman" panose="02020603050405020304" pitchFamily="18" charset="0"/>
                </a:endParaRP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3: </a:t>
                </a:r>
                <a:r>
                  <a:rPr lang="en-US" sz="1000" b="1" dirty="0" err="1">
                    <a:effectLst/>
                    <a:latin typeface="+mj-lt"/>
                    <a:ea typeface="Times New Roman" panose="02020603050405020304" pitchFamily="18" charset="0"/>
                  </a:rPr>
                  <a:t>Tầng</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suy</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diễn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mờ</a:t>
                </a:r>
                <a:r>
                  <a:rPr lang="en-US" sz="1000" b="1" dirty="0">
                    <a:effectLst/>
                    <a:latin typeface="+mj-lt"/>
                    <a:ea typeface="Times New Roman" panose="02020603050405020304" pitchFamily="18" charset="0"/>
                  </a:rPr>
                  <a:t> (Fuzzy Reasoning Layer):</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Đây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lõi</a:t>
                </a:r>
                <a:r>
                  <a:rPr lang="en-US" sz="1000" dirty="0">
                    <a:effectLst/>
                    <a:latin typeface="+mj-lt"/>
                    <a:ea typeface="Times New Roman" panose="02020603050405020304" pitchFamily="18" charset="0"/>
                  </a:rPr>
                  <a:t> tri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chuyên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Tầng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này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môi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trường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vào</a:t>
                </a:r>
                <a:r>
                  <a:rPr lang="en-US" sz="1000"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Nền</a:t>
                </a:r>
                <a:r>
                  <a:rPr lang="en-US" sz="1000" b="1" dirty="0">
                    <a:effectLst/>
                    <a:latin typeface="+mj-lt"/>
                    <a:ea typeface="Times New Roman" panose="02020603050405020304" pitchFamily="18" charset="0"/>
                  </a:rPr>
                  <a:t> tri </a:t>
                </a:r>
                <a:r>
                  <a:rPr lang="en-US" sz="1000" b="1" dirty="0" err="1">
                    <a:effectLst/>
                    <a:latin typeface="+mj-lt"/>
                    <a:ea typeface="Times New Roman" panose="02020603050405020304" pitchFamily="18" charset="0"/>
                  </a:rPr>
                  <a:t>thức</a:t>
                </a:r>
                <a:r>
                  <a:rPr lang="en-US" sz="1000" b="1" dirty="0">
                    <a:effectLst/>
                    <a:latin typeface="+mj-lt"/>
                    <a:ea typeface="Times New Roman" panose="02020603050405020304" pitchFamily="18" charset="0"/>
                  </a:rPr>
                  <a:t> (Fuzzy Knowledge Base)</a:t>
                </a:r>
                <a:r>
                  <a:rPr lang="en-US" sz="1000" dirty="0">
                    <a:effectLst/>
                    <a:latin typeface="+mj-lt"/>
                    <a:ea typeface="Times New Roman" panose="02020603050405020304" pitchFamily="18" charset="0"/>
                  </a:rPr>
                  <a:t> bao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biến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hàm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thuộc</a:t>
                </a:r>
                <a:r>
                  <a:rPr lang="en-US" sz="1000" dirty="0">
                    <a:effectLst/>
                    <a:latin typeface="+mj-lt"/>
                    <a:ea typeface="Times New Roman" panose="02020603050405020304" pitchFamily="18" charset="0"/>
                  </a:rPr>
                  <a:t> (Membership Functions)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tập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a:effectLst/>
                    <a:latin typeface="+mj-lt"/>
                    <a:ea typeface="Times New Roman" panose="02020603050405020304" pitchFamily="18" charset="0"/>
                    <a:cs typeface="Courier New" panose="02070309020205020404" pitchFamily="49" charset="0"/>
                  </a:rPr>
                  <a:t>IF - THEN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Quá</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sử</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dụng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phép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toán</a:t>
                </a:r>
                <a:r>
                  <a:rPr lang="en-US" sz="1000" dirty="0">
                    <a:effectLst/>
                    <a:latin typeface="+mj-lt"/>
                    <a:ea typeface="Times New Roman" panose="02020603050405020304" pitchFamily="18" charset="0"/>
                  </a:rPr>
                  <a:t> Max-Min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(Defuzzification).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4: Ra </a:t>
                </a:r>
                <a:r>
                  <a:rPr lang="en-US" sz="1000" b="1" dirty="0" err="1">
                    <a:effectLst/>
                    <a:latin typeface="+mj-lt"/>
                    <a:ea typeface="Times New Roman" panose="02020603050405020304" pitchFamily="18" charset="0"/>
                  </a:rPr>
                  <a:t>quyết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định</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hợp</a:t>
                </a:r>
                <a:r>
                  <a:rPr lang="en-US" sz="1000" b="1" dirty="0">
                    <a:effectLst/>
                    <a:latin typeface="+mj-lt"/>
                    <a:ea typeface="Times New Roman" panose="02020603050405020304" pitchFamily="18" charset="0"/>
                  </a:rPr>
                  <a:t> (Hybrid Decision):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hợp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trọng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giữa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mạng</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bộ</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diễn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theo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a:t>
                </a:r>
              </a:p>
              <a:p>
                <a:pPr marL="457200" marR="0">
                  <a:lnSpc>
                    <a:spcPct val="150000"/>
                  </a:lnSpc>
                  <a:spcAft>
                    <a:spcPts val="800"/>
                  </a:spcAft>
                  <a:buNone/>
                </a:pPr>
                <a14:m>
                  <m:oMathPara xmlns:m="http://schemas.openxmlformats.org/officeDocument/2006/math">
                    <m:oMathParaPr>
                      <m:jc m:val="centerGroup"/>
                    </m:oMathParaPr>
                    <m:oMath xmlns:m="http://schemas.openxmlformats.org/officeDocument/2006/math">
                      <m:r>
                        <a:rPr lang="en-US" sz="1000" i="1">
                          <a:effectLst/>
                          <a:latin typeface="Cambria Math" panose="02040503050406030204" pitchFamily="18" charset="0"/>
                          <a:ea typeface="Calibri" panose="020F0502020204030204" pitchFamily="34" charset="0"/>
                          <a:cs typeface="Times New Roman" panose="02020603050405020304" pitchFamily="18" charset="0"/>
                        </a:rPr>
                        <m:t>𝐹𝑖𝑛𝑎𝑙</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𝐶𝑁𝑁</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𝛽</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𝐹𝑢𝑧𝑧𝑦</m:t>
                      </m:r>
                    </m:oMath>
                  </m:oMathPara>
                </a14:m>
                <a:endParaRPr lang="en-US" sz="1000" dirty="0">
                  <a:effectLst/>
                  <a:latin typeface="+mj-lt"/>
                  <a:ea typeface="Calibri" panose="020F0502020204030204" pitchFamily="34" charset="0"/>
                  <a:cs typeface="Times New Roman" panose="02020603050405020304" pitchFamily="18" charset="0"/>
                </a:endParaRPr>
              </a:p>
              <a:p>
                <a:pPr marL="457200" marR="0">
                  <a:lnSpc>
                    <a:spcPct val="150000"/>
                  </a:lnSpc>
                  <a:buNone/>
                </a:pP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đó</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ra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chỉnh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cuối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5: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luận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Giải</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thích</a:t>
                </a:r>
                <a:r>
                  <a:rPr lang="en-US" sz="1000" b="1" dirty="0">
                    <a:effectLst/>
                    <a:latin typeface="+mj-lt"/>
                    <a:ea typeface="Times New Roman" panose="02020603050405020304" pitchFamily="18" charset="0"/>
                  </a:rPr>
                  <a:t> (Output + XAI):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kèm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a:t>
                </a:r>
                <a:r>
                  <a:rPr lang="en-US" sz="1000" dirty="0">
                    <a:effectLst/>
                    <a:latin typeface="+mj-lt"/>
                    <a:ea typeface="Times New Roman" panose="02020603050405020304" pitchFamily="18" charset="0"/>
                  </a:rPr>
                  <a:t> tin </a:t>
                </a:r>
                <a:r>
                  <a:rPr lang="en-US" sz="1000" dirty="0" err="1">
                    <a:effectLst/>
                    <a:latin typeface="+mj-lt"/>
                    <a:ea typeface="Times New Roman" panose="02020603050405020304" pitchFamily="18" charset="0"/>
                  </a:rPr>
                  <a:t>cậy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Đồng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thời</a:t>
                </a:r>
                <a:r>
                  <a:rPr lang="en-US" sz="1000" dirty="0">
                    <a:effectLst/>
                    <a:latin typeface="+mj-lt"/>
                    <a:ea typeface="Times New Roman" panose="02020603050405020304" pitchFamily="18" charset="0"/>
                  </a:rPr>
                  <a:t>, module XAI </a:t>
                </a:r>
                <a:r>
                  <a:rPr lang="en-US" sz="1000" dirty="0" err="1">
                    <a:effectLst/>
                    <a:latin typeface="+mj-lt"/>
                    <a:ea typeface="Times New Roman" panose="02020603050405020304" pitchFamily="18" charset="0"/>
                  </a:rPr>
                  <a:t>hiển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bằng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tự</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nhiên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dựa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hoạt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người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dân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chiếu</a:t>
                </a:r>
                <a:r>
                  <a:rPr lang="en-US" sz="1000" dirty="0">
                    <a:effectLst/>
                    <a:latin typeface="+mj-lt"/>
                    <a:ea typeface="Times New Roman" panose="02020603050405020304" pitchFamily="18" charset="0"/>
                  </a:rPr>
                  <a:t>.</a:t>
                </a:r>
              </a:p>
            </p:txBody>
          </p:sp>
        </mc:Choice>
        <mc:Fallback xmlns="">
          <p:sp>
            <p:nvSpPr>
              <p:cNvPr id="42" name="TextBox 41">
                <a:extLst>
                  <a:ext uri="{FF2B5EF4-FFF2-40B4-BE49-F238E27FC236}">
                    <a16:creationId xmlns:a16="http://schemas.microsoft.com/office/drawing/2014/main" id="{01B52954-39A9-A698-D54D-DAAD1710F1B3}"/>
                  </a:ext>
                </a:extLst>
              </p:cNvPr>
              <p:cNvSpPr txBox="1">
                <a:spLocks noRot="1" noChangeAspect="1" noMove="1" noResize="1" noEditPoints="1" noAdjustHandles="1" noChangeArrowheads="1" noChangeShapeType="1" noTextEdit="1"/>
              </p:cNvSpPr>
              <p:nvPr/>
            </p:nvSpPr>
            <p:spPr>
              <a:xfrm>
                <a:off x="70339" y="768448"/>
                <a:ext cx="6703253" cy="413164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53241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681021-65D0-7049-A4FC-774D7EE783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72F1D5-25E9-EC06-34AD-1AB34187CAD7}"/>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6FA943BF-3DA0-C175-464E-D0BEFC30E6B4}"/>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24DA06F7-6309-5DA2-67E5-0877F4E4F91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a:extLst>
              <a:ext uri="{FF2B5EF4-FFF2-40B4-BE49-F238E27FC236}">
                <a16:creationId xmlns:a16="http://schemas.microsoft.com/office/drawing/2014/main" id="{DDDAFC6E-B0CE-D2B0-9D8B-79AA0BD8E22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AEEDA270-95F1-DD5F-9B0D-0575137E8505}"/>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a:extLst>
              <a:ext uri="{FF2B5EF4-FFF2-40B4-BE49-F238E27FC236}">
                <a16:creationId xmlns:a16="http://schemas.microsoft.com/office/drawing/2014/main" id="{64D25DCB-91C2-9C85-46BC-6CB8F186C88E}"/>
              </a:ext>
            </a:extLst>
          </p:cNvPr>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a:extLst>
              <a:ext uri="{FF2B5EF4-FFF2-40B4-BE49-F238E27FC236}">
                <a16:creationId xmlns:a16="http://schemas.microsoft.com/office/drawing/2014/main" id="{2115D839-F024-D848-55FA-51B615FE7EE1}"/>
              </a:ext>
            </a:extLst>
          </p:cNvPr>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a:extLst>
              <a:ext uri="{FF2B5EF4-FFF2-40B4-BE49-F238E27FC236}">
                <a16:creationId xmlns:a16="http://schemas.microsoft.com/office/drawing/2014/main" id="{5F3388AC-B202-5DCE-F8AA-9DE4A6969DA0}"/>
              </a:ext>
            </a:extLst>
          </p:cNvPr>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a:extLst>
              <a:ext uri="{FF2B5EF4-FFF2-40B4-BE49-F238E27FC236}">
                <a16:creationId xmlns:a16="http://schemas.microsoft.com/office/drawing/2014/main" id="{AA342631-1B22-AC88-D98E-71BE4D7E8280}"/>
              </a:ext>
            </a:extLst>
          </p:cNvPr>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a:extLst>
              <a:ext uri="{FF2B5EF4-FFF2-40B4-BE49-F238E27FC236}">
                <a16:creationId xmlns:a16="http://schemas.microsoft.com/office/drawing/2014/main" id="{4B374079-463D-85FF-F3E1-329B2CFBCAF4}"/>
              </a:ext>
            </a:extLst>
          </p:cNvPr>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a:extLst>
              <a:ext uri="{FF2B5EF4-FFF2-40B4-BE49-F238E27FC236}">
                <a16:creationId xmlns:a16="http://schemas.microsoft.com/office/drawing/2014/main" id="{5CEF3270-CE56-3AF1-374C-288EFF5F1D8A}"/>
              </a:ext>
            </a:extLst>
          </p:cNvPr>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a:extLst>
              <a:ext uri="{FF2B5EF4-FFF2-40B4-BE49-F238E27FC236}">
                <a16:creationId xmlns:a16="http://schemas.microsoft.com/office/drawing/2014/main" id="{CEBCD4EB-A997-487A-C57E-DB1823DF4DF9}"/>
              </a:ext>
            </a:extLst>
          </p:cNvPr>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a:extLst>
              <a:ext uri="{FF2B5EF4-FFF2-40B4-BE49-F238E27FC236}">
                <a16:creationId xmlns:a16="http://schemas.microsoft.com/office/drawing/2014/main" id="{1AC9A285-0546-8AC6-7A41-455BACB2D63E}"/>
              </a:ext>
            </a:extLst>
          </p:cNvPr>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a:extLst>
              <a:ext uri="{FF2B5EF4-FFF2-40B4-BE49-F238E27FC236}">
                <a16:creationId xmlns:a16="http://schemas.microsoft.com/office/drawing/2014/main" id="{B47934E4-F3DD-5119-F233-FE28CD087C66}"/>
              </a:ext>
            </a:extLst>
          </p:cNvPr>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a:extLst>
              <a:ext uri="{FF2B5EF4-FFF2-40B4-BE49-F238E27FC236}">
                <a16:creationId xmlns:a16="http://schemas.microsoft.com/office/drawing/2014/main" id="{1ACC457E-02B5-CC3D-BB72-B0AEC63E5BF6}"/>
              </a:ext>
            </a:extLst>
          </p:cNvPr>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a:extLst>
              <a:ext uri="{FF2B5EF4-FFF2-40B4-BE49-F238E27FC236}">
                <a16:creationId xmlns:a16="http://schemas.microsoft.com/office/drawing/2014/main" id="{945905D0-918A-94DA-2D5C-7F0A9C627EB9}"/>
              </a:ext>
            </a:extLst>
          </p:cNvPr>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a:extLst>
              <a:ext uri="{FF2B5EF4-FFF2-40B4-BE49-F238E27FC236}">
                <a16:creationId xmlns:a16="http://schemas.microsoft.com/office/drawing/2014/main" id="{DEB8DFC4-518C-BB6C-B918-531C283B45A1}"/>
              </a:ext>
            </a:extLst>
          </p:cNvPr>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a:extLst>
              <a:ext uri="{FF2B5EF4-FFF2-40B4-BE49-F238E27FC236}">
                <a16:creationId xmlns:a16="http://schemas.microsoft.com/office/drawing/2014/main" id="{0B9F94B3-3B33-D33C-0480-2C600D5C663F}"/>
              </a:ext>
            </a:extLst>
          </p:cNvPr>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a:extLst>
              <a:ext uri="{FF2B5EF4-FFF2-40B4-BE49-F238E27FC236}">
                <a16:creationId xmlns:a16="http://schemas.microsoft.com/office/drawing/2014/main" id="{F3D66B12-BCE3-8392-D3F6-6082E985D8C6}"/>
              </a:ext>
            </a:extLst>
          </p:cNvPr>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a:extLst>
              <a:ext uri="{FF2B5EF4-FFF2-40B4-BE49-F238E27FC236}">
                <a16:creationId xmlns:a16="http://schemas.microsoft.com/office/drawing/2014/main" id="{510FF79D-4803-90B7-100F-BDC53BC13C5B}"/>
              </a:ext>
            </a:extLst>
          </p:cNvPr>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a:extLst>
              <a:ext uri="{FF2B5EF4-FFF2-40B4-BE49-F238E27FC236}">
                <a16:creationId xmlns:a16="http://schemas.microsoft.com/office/drawing/2014/main" id="{8D129F53-A169-19F3-953E-E28BDFF1B5AC}"/>
              </a:ext>
            </a:extLst>
          </p:cNvPr>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a:extLst>
              <a:ext uri="{FF2B5EF4-FFF2-40B4-BE49-F238E27FC236}">
                <a16:creationId xmlns:a16="http://schemas.microsoft.com/office/drawing/2014/main" id="{073FCBE8-95E9-E276-360A-41491B85F1D3}"/>
              </a:ext>
            </a:extLst>
          </p:cNvPr>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a:extLst>
              <a:ext uri="{FF2B5EF4-FFF2-40B4-BE49-F238E27FC236}">
                <a16:creationId xmlns:a16="http://schemas.microsoft.com/office/drawing/2014/main" id="{658C1D1E-0361-762E-DD0A-12BA768DBE62}"/>
              </a:ext>
            </a:extLst>
          </p:cNvPr>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a:extLst>
              <a:ext uri="{FF2B5EF4-FFF2-40B4-BE49-F238E27FC236}">
                <a16:creationId xmlns:a16="http://schemas.microsoft.com/office/drawing/2014/main" id="{96AFF45B-EFF1-6B0D-EC40-358FB51D1488}"/>
              </a:ext>
            </a:extLst>
          </p:cNvPr>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a:extLst>
              <a:ext uri="{FF2B5EF4-FFF2-40B4-BE49-F238E27FC236}">
                <a16:creationId xmlns:a16="http://schemas.microsoft.com/office/drawing/2014/main" id="{20488583-4786-185F-1524-D92923666809}"/>
              </a:ext>
            </a:extLst>
          </p:cNvPr>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a:extLst>
              <a:ext uri="{FF2B5EF4-FFF2-40B4-BE49-F238E27FC236}">
                <a16:creationId xmlns:a16="http://schemas.microsoft.com/office/drawing/2014/main" id="{FE232594-F679-2E61-E95D-FCCB3FC36CD2}"/>
              </a:ext>
            </a:extLst>
          </p:cNvPr>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a:extLst>
              <a:ext uri="{FF2B5EF4-FFF2-40B4-BE49-F238E27FC236}">
                <a16:creationId xmlns:a16="http://schemas.microsoft.com/office/drawing/2014/main" id="{D11D5298-5057-B301-ECEF-350971B17BE5}"/>
              </a:ext>
            </a:extLst>
          </p:cNvPr>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a:extLst>
              <a:ext uri="{FF2B5EF4-FFF2-40B4-BE49-F238E27FC236}">
                <a16:creationId xmlns:a16="http://schemas.microsoft.com/office/drawing/2014/main" id="{2527DA92-A3D0-8450-3400-7D08F0752352}"/>
              </a:ext>
            </a:extLst>
          </p:cNvPr>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a:extLst>
              <a:ext uri="{FF2B5EF4-FFF2-40B4-BE49-F238E27FC236}">
                <a16:creationId xmlns:a16="http://schemas.microsoft.com/office/drawing/2014/main" id="{AF9C12AA-CCF3-A61E-F8BA-B3A7686B2F9F}"/>
              </a:ext>
            </a:extLst>
          </p:cNvPr>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a:extLst>
              <a:ext uri="{FF2B5EF4-FFF2-40B4-BE49-F238E27FC236}">
                <a16:creationId xmlns:a16="http://schemas.microsoft.com/office/drawing/2014/main" id="{521EE8AD-CD1A-AF57-27BE-FE21A846AC4D}"/>
              </a:ext>
            </a:extLst>
          </p:cNvPr>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a:extLst>
              <a:ext uri="{FF2B5EF4-FFF2-40B4-BE49-F238E27FC236}">
                <a16:creationId xmlns:a16="http://schemas.microsoft.com/office/drawing/2014/main" id="{6BD3DEB2-CA0E-FCB8-379E-FD6CF9B6CBDD}"/>
              </a:ext>
            </a:extLst>
          </p:cNvPr>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a:extLst>
              <a:ext uri="{FF2B5EF4-FFF2-40B4-BE49-F238E27FC236}">
                <a16:creationId xmlns:a16="http://schemas.microsoft.com/office/drawing/2014/main" id="{EA52ABE8-8E29-105C-372E-FB765635D523}"/>
              </a:ext>
            </a:extLst>
          </p:cNvPr>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a:extLst>
              <a:ext uri="{FF2B5EF4-FFF2-40B4-BE49-F238E27FC236}">
                <a16:creationId xmlns:a16="http://schemas.microsoft.com/office/drawing/2014/main" id="{EBA20228-442F-E625-8F6C-2AE547827D35}"/>
              </a:ext>
            </a:extLst>
          </p:cNvPr>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a:extLst>
              <a:ext uri="{FF2B5EF4-FFF2-40B4-BE49-F238E27FC236}">
                <a16:creationId xmlns:a16="http://schemas.microsoft.com/office/drawing/2014/main" id="{878C0B08-36DF-491E-B5BE-D2CEC3C68A5D}"/>
              </a:ext>
            </a:extLst>
          </p:cNvPr>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a:extLst>
              <a:ext uri="{FF2B5EF4-FFF2-40B4-BE49-F238E27FC236}">
                <a16:creationId xmlns:a16="http://schemas.microsoft.com/office/drawing/2014/main" id="{4CE1E0D1-7D8F-E0E2-8732-C0F847AD7D1A}"/>
              </a:ext>
            </a:extLst>
          </p:cNvPr>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a:extLst>
              <a:ext uri="{FF2B5EF4-FFF2-40B4-BE49-F238E27FC236}">
                <a16:creationId xmlns:a16="http://schemas.microsoft.com/office/drawing/2014/main" id="{F646112B-35CB-66B9-7F99-8655671F1EAE}"/>
              </a:ext>
            </a:extLst>
          </p:cNvPr>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a:extLst>
              <a:ext uri="{FF2B5EF4-FFF2-40B4-BE49-F238E27FC236}">
                <a16:creationId xmlns:a16="http://schemas.microsoft.com/office/drawing/2014/main" id="{EA32E629-6D40-D485-986F-7E6ED65A0DE8}"/>
              </a:ext>
            </a:extLst>
          </p:cNvPr>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a:extLst>
              <a:ext uri="{FF2B5EF4-FFF2-40B4-BE49-F238E27FC236}">
                <a16:creationId xmlns:a16="http://schemas.microsoft.com/office/drawing/2014/main" id="{7253833C-C21E-85A7-A820-F3FF0ACF005D}"/>
              </a:ext>
            </a:extLst>
          </p:cNvPr>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a:extLst>
              <a:ext uri="{FF2B5EF4-FFF2-40B4-BE49-F238E27FC236}">
                <a16:creationId xmlns:a16="http://schemas.microsoft.com/office/drawing/2014/main" id="{0147E625-F0EB-8D58-0813-53C4DAC808F9}"/>
              </a:ext>
            </a:extLst>
          </p:cNvPr>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a:extLst>
              <a:ext uri="{FF2B5EF4-FFF2-40B4-BE49-F238E27FC236}">
                <a16:creationId xmlns:a16="http://schemas.microsoft.com/office/drawing/2014/main" id="{B0C36AA6-4F96-61B8-F88F-06154B0A070E}"/>
              </a:ext>
            </a:extLst>
          </p:cNvPr>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pic>
        <p:nvPicPr>
          <p:cNvPr id="42" name="Picture 41">
            <a:extLst>
              <a:ext uri="{FF2B5EF4-FFF2-40B4-BE49-F238E27FC236}">
                <a16:creationId xmlns:a16="http://schemas.microsoft.com/office/drawing/2014/main" id="{C95FF840-395C-FA7D-12B3-5D80A5D3133C}"/>
              </a:ext>
            </a:extLst>
          </p:cNvPr>
          <p:cNvPicPr>
            <a:picLocks noChangeAspect="1"/>
          </p:cNvPicPr>
          <p:nvPr/>
        </p:nvPicPr>
        <p:blipFill>
          <a:blip r:embed="rId3"/>
          <a:stretch>
            <a:fillRect/>
          </a:stretch>
        </p:blipFill>
        <p:spPr>
          <a:xfrm>
            <a:off x="3131463" y="1653658"/>
            <a:ext cx="2857500" cy="2857500"/>
          </a:xfrm>
          <a:prstGeom prst="rect">
            <a:avLst/>
          </a:prstGeom>
        </p:spPr>
      </p:pic>
      <p:pic>
        <p:nvPicPr>
          <p:cNvPr id="43" name="Picture 42">
            <a:extLst>
              <a:ext uri="{FF2B5EF4-FFF2-40B4-BE49-F238E27FC236}">
                <a16:creationId xmlns:a16="http://schemas.microsoft.com/office/drawing/2014/main" id="{6B1A6141-7ACD-B48E-6718-BB776458EBA5}"/>
              </a:ext>
            </a:extLst>
          </p:cNvPr>
          <p:cNvPicPr>
            <a:picLocks noChangeAspect="1"/>
          </p:cNvPicPr>
          <p:nvPr/>
        </p:nvPicPr>
        <p:blipFill>
          <a:blip r:embed="rId4"/>
          <a:stretch>
            <a:fillRect/>
          </a:stretch>
        </p:blipFill>
        <p:spPr>
          <a:xfrm>
            <a:off x="5988963" y="1643107"/>
            <a:ext cx="2857143" cy="2857143"/>
          </a:xfrm>
          <a:prstGeom prst="rect">
            <a:avLst/>
          </a:prstGeom>
        </p:spPr>
      </p:pic>
      <p:pic>
        <p:nvPicPr>
          <p:cNvPr id="44" name="Picture 43">
            <a:extLst>
              <a:ext uri="{FF2B5EF4-FFF2-40B4-BE49-F238E27FC236}">
                <a16:creationId xmlns:a16="http://schemas.microsoft.com/office/drawing/2014/main" id="{91104609-0AE1-0AD8-AE0D-695072775D6E}"/>
              </a:ext>
            </a:extLst>
          </p:cNvPr>
          <p:cNvPicPr>
            <a:picLocks noChangeAspect="1"/>
          </p:cNvPicPr>
          <p:nvPr/>
        </p:nvPicPr>
        <p:blipFill>
          <a:blip r:embed="rId5"/>
          <a:stretch>
            <a:fillRect/>
          </a:stretch>
        </p:blipFill>
        <p:spPr>
          <a:xfrm>
            <a:off x="274320" y="1643106"/>
            <a:ext cx="2857143" cy="2857143"/>
          </a:xfrm>
          <a:prstGeom prst="rect">
            <a:avLst/>
          </a:prstGeom>
        </p:spPr>
      </p:pic>
    </p:spTree>
    <p:extLst>
      <p:ext uri="{BB962C8B-B14F-4D97-AF65-F5344CB8AC3E}">
        <p14:creationId xmlns:p14="http://schemas.microsoft.com/office/powerpoint/2010/main" val="2533782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Tiền Xử Lý Dữ Liệu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4160520" cy="384048"/>
          </a:xfrm>
          <a:prstGeom prst="rect">
            <a:avLst/>
          </a:prstGeom>
          <a:solidFill>
            <a:srgbClr val="1B4332"/>
          </a:solidFill>
          <a:ln w="12700">
            <a:solidFill>
              <a:srgbClr val="1B4332"/>
            </a:solidFill>
            <a:prstDash val="solid"/>
          </a:ln>
        </p:spPr>
      </p:sp>
      <p:sp>
        <p:nvSpPr>
          <p:cNvPr id="8" name="Text 6"/>
          <p:cNvSpPr/>
          <p:nvPr/>
        </p:nvSpPr>
        <p:spPr>
          <a:xfrm>
            <a:off x="228600" y="841248"/>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Ảnh (CNN Input)</a:t>
            </a:r>
            <a:endParaRPr lang="en-US" sz="1300" dirty="0"/>
          </a:p>
        </p:txBody>
      </p:sp>
      <p:sp>
        <p:nvSpPr>
          <p:cNvPr id="9" name="Shape 7"/>
          <p:cNvSpPr/>
          <p:nvPr/>
        </p:nvSpPr>
        <p:spPr>
          <a:xfrm>
            <a:off x="320040" y="1344168"/>
            <a:ext cx="384048" cy="384048"/>
          </a:xfrm>
          <a:prstGeom prst="ellipse">
            <a:avLst/>
          </a:prstGeom>
          <a:solidFill>
            <a:srgbClr val="40916C"/>
          </a:solidFill>
          <a:ln w="12700">
            <a:solidFill>
              <a:srgbClr val="40916C"/>
            </a:solidFill>
            <a:prstDash val="solid"/>
          </a:ln>
        </p:spPr>
      </p:sp>
      <p:sp>
        <p:nvSpPr>
          <p:cNvPr id="10" name="Text 8"/>
          <p:cNvSpPr/>
          <p:nvPr/>
        </p:nvSpPr>
        <p:spPr>
          <a:xfrm>
            <a:off x="320040" y="13441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04672" y="1335024"/>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Resize</a:t>
            </a:r>
            <a:endParaRPr lang="en-US" sz="1150" dirty="0"/>
          </a:p>
        </p:txBody>
      </p:sp>
      <p:sp>
        <p:nvSpPr>
          <p:cNvPr id="12" name="Text 10"/>
          <p:cNvSpPr/>
          <p:nvPr/>
        </p:nvSpPr>
        <p:spPr>
          <a:xfrm>
            <a:off x="804672" y="1618488"/>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Resize ảnh về 224×224 px (EfficientNet-B0)</a:t>
            </a:r>
            <a:endParaRPr lang="en-US" sz="1000" dirty="0"/>
          </a:p>
        </p:txBody>
      </p:sp>
      <p:sp>
        <p:nvSpPr>
          <p:cNvPr id="13" name="Shape 11"/>
          <p:cNvSpPr/>
          <p:nvPr/>
        </p:nvSpPr>
        <p:spPr>
          <a:xfrm>
            <a:off x="320040" y="2057400"/>
            <a:ext cx="384048" cy="384048"/>
          </a:xfrm>
          <a:prstGeom prst="ellipse">
            <a:avLst/>
          </a:prstGeom>
          <a:solidFill>
            <a:srgbClr val="40916C"/>
          </a:solidFill>
          <a:ln w="12700">
            <a:solidFill>
              <a:srgbClr val="40916C"/>
            </a:solidFill>
            <a:prstDash val="solid"/>
          </a:ln>
        </p:spPr>
      </p:sp>
      <p:sp>
        <p:nvSpPr>
          <p:cNvPr id="14" name="Text 12"/>
          <p:cNvSpPr/>
          <p:nvPr/>
        </p:nvSpPr>
        <p:spPr>
          <a:xfrm>
            <a:off x="32004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804672" y="2048256"/>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Normalize</a:t>
            </a:r>
            <a:endParaRPr lang="en-US" sz="1150" dirty="0"/>
          </a:p>
        </p:txBody>
      </p:sp>
      <p:sp>
        <p:nvSpPr>
          <p:cNvPr id="16" name="Text 14"/>
          <p:cNvSpPr/>
          <p:nvPr/>
        </p:nvSpPr>
        <p:spPr>
          <a:xfrm>
            <a:off x="804672" y="2331720"/>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Chuẩn hóa pixel về [0,1] theo ImageNet mean/std</a:t>
            </a:r>
            <a:endParaRPr lang="en-US" sz="1000" dirty="0"/>
          </a:p>
        </p:txBody>
      </p:sp>
      <p:sp>
        <p:nvSpPr>
          <p:cNvPr id="17" name="Shape 15"/>
          <p:cNvSpPr/>
          <p:nvPr/>
        </p:nvSpPr>
        <p:spPr>
          <a:xfrm>
            <a:off x="320040" y="2770632"/>
            <a:ext cx="384048" cy="384048"/>
          </a:xfrm>
          <a:prstGeom prst="ellipse">
            <a:avLst/>
          </a:prstGeom>
          <a:solidFill>
            <a:srgbClr val="40916C"/>
          </a:solidFill>
          <a:ln w="12700">
            <a:solidFill>
              <a:srgbClr val="40916C"/>
            </a:solidFill>
            <a:prstDash val="solid"/>
          </a:ln>
        </p:spPr>
      </p:sp>
      <p:sp>
        <p:nvSpPr>
          <p:cNvPr id="18" name="Text 16"/>
          <p:cNvSpPr/>
          <p:nvPr/>
        </p:nvSpPr>
        <p:spPr>
          <a:xfrm>
            <a:off x="320040" y="27706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04672" y="2761488"/>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Data Augmentation</a:t>
            </a:r>
            <a:endParaRPr lang="en-US" sz="1150" dirty="0"/>
          </a:p>
        </p:txBody>
      </p:sp>
      <p:sp>
        <p:nvSpPr>
          <p:cNvPr id="20" name="Text 18"/>
          <p:cNvSpPr/>
          <p:nvPr/>
        </p:nvSpPr>
        <p:spPr>
          <a:xfrm>
            <a:off x="804672" y="3044952"/>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Random flip, rotation, color jitter để tăng dữ liệu</a:t>
            </a:r>
            <a:endParaRPr lang="en-US" sz="1000" dirty="0"/>
          </a:p>
        </p:txBody>
      </p:sp>
      <p:sp>
        <p:nvSpPr>
          <p:cNvPr id="21" name="Shape 19"/>
          <p:cNvSpPr/>
          <p:nvPr/>
        </p:nvSpPr>
        <p:spPr>
          <a:xfrm>
            <a:off x="320040" y="3483864"/>
            <a:ext cx="384048" cy="384048"/>
          </a:xfrm>
          <a:prstGeom prst="ellipse">
            <a:avLst/>
          </a:prstGeom>
          <a:solidFill>
            <a:srgbClr val="40916C"/>
          </a:solidFill>
          <a:ln w="12700">
            <a:solidFill>
              <a:srgbClr val="40916C"/>
            </a:solidFill>
            <a:prstDash val="solid"/>
          </a:ln>
        </p:spPr>
      </p:sp>
      <p:sp>
        <p:nvSpPr>
          <p:cNvPr id="22" name="Text 20"/>
          <p:cNvSpPr/>
          <p:nvPr/>
        </p:nvSpPr>
        <p:spPr>
          <a:xfrm>
            <a:off x="320040" y="34838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804672" y="3474720"/>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ToTensor</a:t>
            </a:r>
            <a:endParaRPr lang="en-US" sz="1150" dirty="0"/>
          </a:p>
        </p:txBody>
      </p:sp>
      <p:sp>
        <p:nvSpPr>
          <p:cNvPr id="24" name="Text 22"/>
          <p:cNvSpPr/>
          <p:nvPr/>
        </p:nvSpPr>
        <p:spPr>
          <a:xfrm>
            <a:off x="804672" y="3758184"/>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Chuyển ảnh PIL sang PyTorch Tensor</a:t>
            </a:r>
            <a:endParaRPr lang="en-US" sz="1000" dirty="0"/>
          </a:p>
        </p:txBody>
      </p:sp>
      <p:sp>
        <p:nvSpPr>
          <p:cNvPr id="25" name="Shape 23"/>
          <p:cNvSpPr/>
          <p:nvPr/>
        </p:nvSpPr>
        <p:spPr>
          <a:xfrm>
            <a:off x="4663440" y="841248"/>
            <a:ext cx="4206240" cy="384048"/>
          </a:xfrm>
          <a:prstGeom prst="rect">
            <a:avLst/>
          </a:prstGeom>
          <a:solidFill>
            <a:srgbClr val="2D6A4F"/>
          </a:solidFill>
          <a:ln w="12700">
            <a:solidFill>
              <a:srgbClr val="2D6A4F"/>
            </a:solidFill>
            <a:prstDash val="solid"/>
          </a:ln>
        </p:spPr>
      </p:sp>
      <p:sp>
        <p:nvSpPr>
          <p:cNvPr id="26" name="Text 24"/>
          <p:cNvSpPr/>
          <p:nvPr/>
        </p:nvSpPr>
        <p:spPr>
          <a:xfrm>
            <a:off x="4663440" y="841248"/>
            <a:ext cx="42062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Dữ Liệu Mờ (Fuzzy Input)</a:t>
            </a:r>
            <a:endParaRPr lang="en-US" sz="1300" dirty="0"/>
          </a:p>
        </p:txBody>
      </p:sp>
      <p:sp>
        <p:nvSpPr>
          <p:cNvPr id="27" name="Shape 25"/>
          <p:cNvSpPr/>
          <p:nvPr/>
        </p:nvSpPr>
        <p:spPr>
          <a:xfrm>
            <a:off x="4754880" y="1335024"/>
            <a:ext cx="347472" cy="347472"/>
          </a:xfrm>
          <a:prstGeom prst="ellipse">
            <a:avLst/>
          </a:prstGeom>
          <a:solidFill>
            <a:srgbClr val="F4A261"/>
          </a:solidFill>
          <a:ln w="12700">
            <a:solidFill>
              <a:srgbClr val="F4A261"/>
            </a:solidFill>
            <a:prstDash val="solid"/>
          </a:ln>
        </p:spPr>
      </p:sp>
      <p:sp>
        <p:nvSpPr>
          <p:cNvPr id="28" name="Text 26"/>
          <p:cNvSpPr/>
          <p:nvPr/>
        </p:nvSpPr>
        <p:spPr>
          <a:xfrm>
            <a:off x="4754880" y="1335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5193792" y="1325880"/>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Thu thập thông số</a:t>
            </a:r>
            <a:endParaRPr lang="en-US" sz="1100" dirty="0"/>
          </a:p>
        </p:txBody>
      </p:sp>
      <p:sp>
        <p:nvSpPr>
          <p:cNvPr id="30" name="Text 28"/>
          <p:cNvSpPr/>
          <p:nvPr/>
        </p:nvSpPr>
        <p:spPr>
          <a:xfrm>
            <a:off x="5193792" y="1572768"/>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Nhiệt độ, Độ ẩm, Lượng mưa, Mùa vụ</a:t>
            </a:r>
            <a:endParaRPr lang="en-US" sz="950" dirty="0"/>
          </a:p>
        </p:txBody>
      </p:sp>
      <p:sp>
        <p:nvSpPr>
          <p:cNvPr id="31" name="Shape 29"/>
          <p:cNvSpPr/>
          <p:nvPr/>
        </p:nvSpPr>
        <p:spPr>
          <a:xfrm>
            <a:off x="4754880" y="1911096"/>
            <a:ext cx="347472" cy="347472"/>
          </a:xfrm>
          <a:prstGeom prst="ellipse">
            <a:avLst/>
          </a:prstGeom>
          <a:solidFill>
            <a:srgbClr val="F4A261"/>
          </a:solidFill>
          <a:ln w="12700">
            <a:solidFill>
              <a:srgbClr val="F4A261"/>
            </a:solidFill>
            <a:prstDash val="solid"/>
          </a:ln>
        </p:spPr>
      </p:sp>
      <p:sp>
        <p:nvSpPr>
          <p:cNvPr id="32" name="Text 30"/>
          <p:cNvSpPr/>
          <p:nvPr/>
        </p:nvSpPr>
        <p:spPr>
          <a:xfrm>
            <a:off x="4754880" y="19110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5193792" y="1901952"/>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Kiểm tra &amp; Làm sạch</a:t>
            </a:r>
            <a:endParaRPr lang="en-US" sz="1100" dirty="0"/>
          </a:p>
        </p:txBody>
      </p:sp>
      <p:sp>
        <p:nvSpPr>
          <p:cNvPr id="34" name="Text 32"/>
          <p:cNvSpPr/>
          <p:nvPr/>
        </p:nvSpPr>
        <p:spPr>
          <a:xfrm>
            <a:off x="5193792" y="2148840"/>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Loại bỏ giá trị ngoại lệ (outlier), điền khuyết</a:t>
            </a:r>
            <a:endParaRPr lang="en-US" sz="950" dirty="0"/>
          </a:p>
        </p:txBody>
      </p:sp>
      <p:sp>
        <p:nvSpPr>
          <p:cNvPr id="35" name="Shape 33"/>
          <p:cNvSpPr/>
          <p:nvPr/>
        </p:nvSpPr>
        <p:spPr>
          <a:xfrm>
            <a:off x="4754880" y="2487168"/>
            <a:ext cx="347472" cy="347472"/>
          </a:xfrm>
          <a:prstGeom prst="ellipse">
            <a:avLst/>
          </a:prstGeom>
          <a:solidFill>
            <a:srgbClr val="F4A261"/>
          </a:solidFill>
          <a:ln w="12700">
            <a:solidFill>
              <a:srgbClr val="F4A261"/>
            </a:solidFill>
            <a:prstDash val="solid"/>
          </a:ln>
        </p:spPr>
      </p:sp>
      <p:sp>
        <p:nvSpPr>
          <p:cNvPr id="36" name="Text 34"/>
          <p:cNvSpPr/>
          <p:nvPr/>
        </p:nvSpPr>
        <p:spPr>
          <a:xfrm>
            <a:off x="4754880" y="248716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5193792" y="2478024"/>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Chuẩn hóa phạm vi</a:t>
            </a:r>
            <a:endParaRPr lang="en-US" sz="1100" dirty="0"/>
          </a:p>
        </p:txBody>
      </p:sp>
      <p:sp>
        <p:nvSpPr>
          <p:cNvPr id="38" name="Text 36"/>
          <p:cNvSpPr/>
          <p:nvPr/>
        </p:nvSpPr>
        <p:spPr>
          <a:xfrm>
            <a:off x="5193792" y="2724912"/>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Độ ẩm [0–100%], Nhiệt độ [0–45°C]…</a:t>
            </a:r>
            <a:endParaRPr lang="en-US" sz="950" dirty="0"/>
          </a:p>
        </p:txBody>
      </p:sp>
      <p:sp>
        <p:nvSpPr>
          <p:cNvPr id="39" name="Shape 37"/>
          <p:cNvSpPr/>
          <p:nvPr/>
        </p:nvSpPr>
        <p:spPr>
          <a:xfrm>
            <a:off x="4754880" y="3063240"/>
            <a:ext cx="347472" cy="347472"/>
          </a:xfrm>
          <a:prstGeom prst="ellipse">
            <a:avLst/>
          </a:prstGeom>
          <a:solidFill>
            <a:srgbClr val="F4A261"/>
          </a:solidFill>
          <a:ln w="12700">
            <a:solidFill>
              <a:srgbClr val="F4A261"/>
            </a:solidFill>
            <a:prstDash val="solid"/>
          </a:ln>
        </p:spPr>
      </p:sp>
      <p:sp>
        <p:nvSpPr>
          <p:cNvPr id="40" name="Text 38"/>
          <p:cNvSpPr/>
          <p:nvPr/>
        </p:nvSpPr>
        <p:spPr>
          <a:xfrm>
            <a:off x="4754880" y="30632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9"/>
          <p:cNvSpPr/>
          <p:nvPr/>
        </p:nvSpPr>
        <p:spPr>
          <a:xfrm>
            <a:off x="5193792" y="3054096"/>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Mờ hóa (Fuzzification)</a:t>
            </a:r>
            <a:endParaRPr lang="en-US" sz="1100" dirty="0"/>
          </a:p>
        </p:txBody>
      </p:sp>
      <p:sp>
        <p:nvSpPr>
          <p:cNvPr id="42" name="Text 40"/>
          <p:cNvSpPr/>
          <p:nvPr/>
        </p:nvSpPr>
        <p:spPr>
          <a:xfrm>
            <a:off x="5193792" y="3300984"/>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Ánh xạ giá trị rõ → mức độ thuộc tập mờ μ ∈ [0,1]</a:t>
            </a:r>
            <a:endParaRPr lang="en-US" sz="950" dirty="0"/>
          </a:p>
        </p:txBody>
      </p:sp>
      <p:sp>
        <p:nvSpPr>
          <p:cNvPr id="43" name="Shape 41"/>
          <p:cNvSpPr/>
          <p:nvPr/>
        </p:nvSpPr>
        <p:spPr>
          <a:xfrm>
            <a:off x="4754880" y="3639312"/>
            <a:ext cx="347472" cy="347472"/>
          </a:xfrm>
          <a:prstGeom prst="ellipse">
            <a:avLst/>
          </a:prstGeom>
          <a:solidFill>
            <a:srgbClr val="F4A261"/>
          </a:solidFill>
          <a:ln w="12700">
            <a:solidFill>
              <a:srgbClr val="F4A261"/>
            </a:solidFill>
            <a:prstDash val="solid"/>
          </a:ln>
        </p:spPr>
      </p:sp>
      <p:sp>
        <p:nvSpPr>
          <p:cNvPr id="44" name="Text 42"/>
          <p:cNvSpPr/>
          <p:nvPr/>
        </p:nvSpPr>
        <p:spPr>
          <a:xfrm>
            <a:off x="4754880" y="36393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93792" y="3630168"/>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Linguistic Labels</a:t>
            </a:r>
            <a:endParaRPr lang="en-US" sz="1100" dirty="0"/>
          </a:p>
        </p:txBody>
      </p:sp>
      <p:sp>
        <p:nvSpPr>
          <p:cNvPr id="46" name="Text 44"/>
          <p:cNvSpPr/>
          <p:nvPr/>
        </p:nvSpPr>
        <p:spPr>
          <a:xfrm>
            <a:off x="5193792" y="3877056"/>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LOW / MEDIUM / HIGH dùng hàm tam giác, hình thang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Xây Dựng Mô Hình – Pipeline Hybrid CNN + Fuzzy</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320040" y="841248"/>
            <a:ext cx="1463040" cy="777240"/>
          </a:xfrm>
          <a:prstGeom prst="rect">
            <a:avLst/>
          </a:prstGeom>
          <a:solidFill>
            <a:srgbClr val="1B4332"/>
          </a:solidFill>
          <a:ln w="12700">
            <a:solidFill>
              <a:srgbClr val="1B4332"/>
            </a:solidFill>
            <a:prstDash val="solid"/>
          </a:ln>
          <a:effectLst>
            <a:outerShdw blurRad="50800" dist="25400" dir="8100000" algn="bl" rotWithShape="0">
              <a:srgbClr val="666666">
                <a:alpha val="30000"/>
              </a:srgbClr>
            </a:outerShdw>
          </a:effectLst>
        </p:spPr>
      </p:sp>
      <p:sp>
        <p:nvSpPr>
          <p:cNvPr id="8" name="Text 6"/>
          <p:cNvSpPr/>
          <p:nvPr/>
        </p:nvSpPr>
        <p:spPr>
          <a:xfrm>
            <a:off x="32004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(Ảnh + Môi trường)</a:t>
            </a:r>
            <a:endParaRPr lang="en-US" sz="1000" dirty="0"/>
          </a:p>
        </p:txBody>
      </p:sp>
      <p:sp>
        <p:nvSpPr>
          <p:cNvPr id="9" name="Shape 7"/>
          <p:cNvSpPr/>
          <p:nvPr/>
        </p:nvSpPr>
        <p:spPr>
          <a:xfrm>
            <a:off x="1783080" y="1202436"/>
            <a:ext cx="256032" cy="54864"/>
          </a:xfrm>
          <a:prstGeom prst="rect">
            <a:avLst/>
          </a:prstGeom>
          <a:solidFill>
            <a:srgbClr val="6C757D"/>
          </a:solidFill>
          <a:ln w="12700">
            <a:solidFill>
              <a:srgbClr val="6C757D"/>
            </a:solidFill>
            <a:prstDash val="solid"/>
          </a:ln>
        </p:spPr>
      </p:sp>
      <p:sp>
        <p:nvSpPr>
          <p:cNvPr id="10" name="Shape 8"/>
          <p:cNvSpPr/>
          <p:nvPr/>
        </p:nvSpPr>
        <p:spPr>
          <a:xfrm>
            <a:off x="2057400" y="841248"/>
            <a:ext cx="1463040" cy="777240"/>
          </a:xfrm>
          <a:prstGeom prst="rect">
            <a:avLst/>
          </a:prstGeom>
          <a:solidFill>
            <a:srgbClr val="2D6A4F"/>
          </a:solidFill>
          <a:ln w="12700">
            <a:solidFill>
              <a:srgbClr val="2D6A4F"/>
            </a:solidFill>
            <a:prstDash val="solid"/>
          </a:ln>
          <a:effectLst>
            <a:outerShdw blurRad="50800" dist="25400" dir="8100000" algn="bl" rotWithShape="0">
              <a:srgbClr val="666666">
                <a:alpha val="30000"/>
              </a:srgbClr>
            </a:outerShdw>
          </a:effectLst>
        </p:spPr>
      </p:sp>
      <p:sp>
        <p:nvSpPr>
          <p:cNvPr id="11" name="Text 9"/>
          <p:cNvSpPr/>
          <p:nvPr/>
        </p:nvSpPr>
        <p:spPr>
          <a:xfrm>
            <a:off x="205740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EfficientNet-B0</a:t>
            </a:r>
            <a:endParaRPr lang="en-US" sz="1000" dirty="0"/>
          </a:p>
        </p:txBody>
      </p:sp>
      <p:sp>
        <p:nvSpPr>
          <p:cNvPr id="12" name="Shape 10"/>
          <p:cNvSpPr/>
          <p:nvPr/>
        </p:nvSpPr>
        <p:spPr>
          <a:xfrm>
            <a:off x="3520440" y="1202436"/>
            <a:ext cx="256032" cy="54864"/>
          </a:xfrm>
          <a:prstGeom prst="rect">
            <a:avLst/>
          </a:prstGeom>
          <a:solidFill>
            <a:srgbClr val="6C757D"/>
          </a:solidFill>
          <a:ln w="12700">
            <a:solidFill>
              <a:srgbClr val="6C757D"/>
            </a:solidFill>
            <a:prstDash val="solid"/>
          </a:ln>
        </p:spPr>
      </p:sp>
      <p:sp>
        <p:nvSpPr>
          <p:cNvPr id="13" name="Shape 11"/>
          <p:cNvSpPr/>
          <p:nvPr/>
        </p:nvSpPr>
        <p:spPr>
          <a:xfrm>
            <a:off x="3794760" y="841248"/>
            <a:ext cx="1463040" cy="777240"/>
          </a:xfrm>
          <a:prstGeom prst="rect">
            <a:avLst/>
          </a:prstGeom>
          <a:solidFill>
            <a:srgbClr val="40916C"/>
          </a:solidFill>
          <a:ln w="12700">
            <a:solidFill>
              <a:srgbClr val="40916C"/>
            </a:solidFill>
            <a:prstDash val="solid"/>
          </a:ln>
          <a:effectLst>
            <a:outerShdw blurRad="50800" dist="25400" dir="8100000" algn="bl" rotWithShape="0">
              <a:srgbClr val="666666">
                <a:alpha val="30000"/>
              </a:srgbClr>
            </a:outerShdw>
          </a:effectLst>
        </p:spPr>
      </p:sp>
      <p:sp>
        <p:nvSpPr>
          <p:cNvPr id="14" name="Text 12"/>
          <p:cNvSpPr/>
          <p:nvPr/>
        </p:nvSpPr>
        <p:spPr>
          <a:xfrm>
            <a:off x="379476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Fuzzy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5" name="Shape 13"/>
          <p:cNvSpPr/>
          <p:nvPr/>
        </p:nvSpPr>
        <p:spPr>
          <a:xfrm>
            <a:off x="5257800" y="1202436"/>
            <a:ext cx="256032" cy="54864"/>
          </a:xfrm>
          <a:prstGeom prst="rect">
            <a:avLst/>
          </a:prstGeom>
          <a:solidFill>
            <a:srgbClr val="6C757D"/>
          </a:solidFill>
          <a:ln w="12700">
            <a:solidFill>
              <a:srgbClr val="6C757D"/>
            </a:solidFill>
            <a:prstDash val="solid"/>
          </a:ln>
        </p:spPr>
      </p:sp>
      <p:sp>
        <p:nvSpPr>
          <p:cNvPr id="16" name="Shape 14"/>
          <p:cNvSpPr/>
          <p:nvPr/>
        </p:nvSpPr>
        <p:spPr>
          <a:xfrm>
            <a:off x="5532120" y="841248"/>
            <a:ext cx="1463040" cy="777240"/>
          </a:xfrm>
          <a:prstGeom prst="rect">
            <a:avLst/>
          </a:prstGeom>
          <a:solidFill>
            <a:srgbClr val="F4A261"/>
          </a:solidFill>
          <a:ln w="12700">
            <a:solidFill>
              <a:srgbClr val="F4A261"/>
            </a:solidFill>
            <a:prstDash val="solid"/>
          </a:ln>
          <a:effectLst>
            <a:outerShdw blurRad="50800" dist="25400" dir="8100000" algn="bl" rotWithShape="0">
              <a:srgbClr val="666666">
                <a:alpha val="30000"/>
              </a:srgbClr>
            </a:outerShdw>
          </a:effectLst>
        </p:spPr>
      </p:sp>
      <p:sp>
        <p:nvSpPr>
          <p:cNvPr id="17" name="Text 15"/>
          <p:cNvSpPr/>
          <p:nvPr/>
        </p:nvSpPr>
        <p:spPr>
          <a:xfrm>
            <a:off x="553212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Hybrid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p:txBody>
      </p:sp>
      <p:sp>
        <p:nvSpPr>
          <p:cNvPr id="18" name="Shape 16"/>
          <p:cNvSpPr/>
          <p:nvPr/>
        </p:nvSpPr>
        <p:spPr>
          <a:xfrm>
            <a:off x="6995160" y="1202436"/>
            <a:ext cx="256032" cy="54864"/>
          </a:xfrm>
          <a:prstGeom prst="rect">
            <a:avLst/>
          </a:prstGeom>
          <a:solidFill>
            <a:srgbClr val="6C757D"/>
          </a:solidFill>
          <a:ln w="12700">
            <a:solidFill>
              <a:srgbClr val="6C757D"/>
            </a:solidFill>
            <a:prstDash val="solid"/>
          </a:ln>
        </p:spPr>
      </p:sp>
      <p:sp>
        <p:nvSpPr>
          <p:cNvPr id="19" name="Shape 17"/>
          <p:cNvSpPr/>
          <p:nvPr/>
        </p:nvSpPr>
        <p:spPr>
          <a:xfrm>
            <a:off x="7269480" y="841248"/>
            <a:ext cx="1463040" cy="777240"/>
          </a:xfrm>
          <a:prstGeom prst="rect">
            <a:avLst/>
          </a:prstGeom>
          <a:solidFill>
            <a:srgbClr val="E76F51"/>
          </a:solidFill>
          <a:ln w="12700">
            <a:solidFill>
              <a:srgbClr val="E76F51"/>
            </a:solidFill>
            <a:prstDash val="solid"/>
          </a:ln>
          <a:effectLst>
            <a:outerShdw blurRad="50800" dist="25400" dir="8100000" algn="bl" rotWithShape="0">
              <a:srgbClr val="666666">
                <a:alpha val="30000"/>
              </a:srgbClr>
            </a:outerShdw>
          </a:effectLst>
        </p:spPr>
      </p:sp>
      <p:sp>
        <p:nvSpPr>
          <p:cNvPr id="20" name="Text 18"/>
          <p:cNvSpPr/>
          <p:nvPr/>
        </p:nvSpPr>
        <p:spPr>
          <a:xfrm>
            <a:off x="726948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 XAI</a:t>
            </a:r>
            <a:endParaRPr lang="en-US" sz="1000" dirty="0"/>
          </a:p>
        </p:txBody>
      </p:sp>
      <p:sp>
        <p:nvSpPr>
          <p:cNvPr id="21" name="Shape 19"/>
          <p:cNvSpPr/>
          <p:nvPr/>
        </p:nvSpPr>
        <p:spPr>
          <a:xfrm>
            <a:off x="320040" y="1737360"/>
            <a:ext cx="8503920" cy="411480"/>
          </a:xfrm>
          <a:prstGeom prst="rect">
            <a:avLst/>
          </a:prstGeom>
          <a:solidFill>
            <a:srgbClr val="EFF8F3"/>
          </a:solidFill>
          <a:ln w="12700">
            <a:solidFill>
              <a:srgbClr val="74C69D"/>
            </a:solidFill>
            <a:prstDash val="solid"/>
          </a:ln>
        </p:spPr>
      </p:sp>
      <p:sp>
        <p:nvSpPr>
          <p:cNvPr id="22" name="Text 20"/>
          <p:cNvSpPr/>
          <p:nvPr/>
        </p:nvSpPr>
        <p:spPr>
          <a:xfrm>
            <a:off x="320040" y="1737360"/>
            <a:ext cx="8503920" cy="411480"/>
          </a:xfrm>
          <a:prstGeom prst="rect">
            <a:avLst/>
          </a:prstGeom>
          <a:noFill/>
          <a:ln/>
        </p:spPr>
        <p:txBody>
          <a:bodyPr wrap="square" rtlCol="0" anchor="ctr"/>
          <a:lstStyle/>
          <a:p>
            <a:pPr marL="0" indent="0" algn="ctr">
              <a:buNone/>
            </a:pPr>
            <a:r>
              <a:rPr lang="en-US" sz="1400" b="1" dirty="0">
                <a:solidFill>
                  <a:srgbClr val="1B4332"/>
                </a:solidFill>
                <a:latin typeface="Calibri" pitchFamily="34" charset="0"/>
                <a:ea typeface="Calibri" pitchFamily="34" charset="-122"/>
                <a:cs typeface="Calibri" pitchFamily="34" charset="-120"/>
              </a:rPr>
              <a:t>Final Score  =  α × CNN_Score  +  β × Fuzzy_Score</a:t>
            </a:r>
            <a:endParaRPr lang="en-US" sz="1400" dirty="0"/>
          </a:p>
        </p:txBody>
      </p:sp>
      <p:sp>
        <p:nvSpPr>
          <p:cNvPr id="23" name="Shape 21"/>
          <p:cNvSpPr/>
          <p:nvPr/>
        </p:nvSpPr>
        <p:spPr>
          <a:xfrm>
            <a:off x="228600" y="2240280"/>
            <a:ext cx="4206240" cy="2423160"/>
          </a:xfrm>
          <a:prstGeom prst="rect">
            <a:avLst/>
          </a:prstGeom>
          <a:solidFill>
            <a:srgbClr val="D8F3DC"/>
          </a:solidFill>
          <a:ln w="12700">
            <a:solidFill>
              <a:srgbClr val="40916C"/>
            </a:solidFill>
            <a:prstDash val="solid"/>
          </a:ln>
          <a:effectLst>
            <a:outerShdw blurRad="63500" dist="25400" dir="8100000" algn="bl" rotWithShape="0">
              <a:srgbClr val="AAAAAA">
                <a:alpha val="20000"/>
              </a:srgbClr>
            </a:outerShdw>
          </a:effectLst>
        </p:spPr>
      </p:sp>
      <p:sp>
        <p:nvSpPr>
          <p:cNvPr id="24" name="Text 22"/>
          <p:cNvSpPr/>
          <p:nvPr/>
        </p:nvSpPr>
        <p:spPr>
          <a:xfrm>
            <a:off x="32004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1: EfficientNet-B0 (CNN)</a:t>
            </a:r>
            <a:endParaRPr lang="en-US" sz="1200" dirty="0"/>
          </a:p>
        </p:txBody>
      </p:sp>
      <p:sp>
        <p:nvSpPr>
          <p:cNvPr id="25" name="Shape 23"/>
          <p:cNvSpPr/>
          <p:nvPr/>
        </p:nvSpPr>
        <p:spPr>
          <a:xfrm>
            <a:off x="320040" y="2679192"/>
            <a:ext cx="4023360" cy="27432"/>
          </a:xfrm>
          <a:prstGeom prst="rect">
            <a:avLst/>
          </a:prstGeom>
          <a:solidFill>
            <a:srgbClr val="40916C"/>
          </a:solidFill>
          <a:ln w="12700">
            <a:solidFill>
              <a:srgbClr val="40916C"/>
            </a:solidFill>
            <a:prstDash val="solid"/>
          </a:ln>
        </p:spPr>
      </p:sp>
      <p:sp>
        <p:nvSpPr>
          <p:cNvPr id="26" name="Text 24"/>
          <p:cNvSpPr/>
          <p:nvPr/>
        </p:nvSpPr>
        <p:spPr>
          <a:xfrm>
            <a:off x="32004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Transfer Learning từ ImageNet</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Phân loại 9 lớp bệnh lúa</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Đầu ra: Softmax probability vector</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Validation Accuracy: 92.04%</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Macro F1-score: 0.9190</a:t>
            </a:r>
            <a:endParaRPr lang="en-US" sz="1050" dirty="0"/>
          </a:p>
        </p:txBody>
      </p:sp>
      <p:sp>
        <p:nvSpPr>
          <p:cNvPr id="27" name="Shape 25"/>
          <p:cNvSpPr/>
          <p:nvPr/>
        </p:nvSpPr>
        <p:spPr>
          <a:xfrm>
            <a:off x="4663440" y="2240280"/>
            <a:ext cx="4206240" cy="2423160"/>
          </a:xfrm>
          <a:prstGeom prst="rect">
            <a:avLst/>
          </a:prstGeom>
          <a:solidFill>
            <a:srgbClr val="E8F5E9"/>
          </a:solidFill>
          <a:ln w="12700">
            <a:solidFill>
              <a:srgbClr val="40916C"/>
            </a:solidFill>
            <a:prstDash val="solid"/>
          </a:ln>
          <a:effectLst>
            <a:outerShdw blurRad="63500" dist="25400" dir="8100000" algn="bl" rotWithShape="0">
              <a:srgbClr val="AAAAAA">
                <a:alpha val="20000"/>
              </a:srgbClr>
            </a:outerShdw>
          </a:effectLst>
        </p:spPr>
      </p:sp>
      <p:sp>
        <p:nvSpPr>
          <p:cNvPr id="28" name="Text 26"/>
          <p:cNvSpPr/>
          <p:nvPr/>
        </p:nvSpPr>
        <p:spPr>
          <a:xfrm>
            <a:off x="475488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2: Fuzzy Inference System (Mamdani)</a:t>
            </a:r>
            <a:endParaRPr lang="en-US" sz="1200" dirty="0"/>
          </a:p>
        </p:txBody>
      </p:sp>
      <p:sp>
        <p:nvSpPr>
          <p:cNvPr id="29" name="Shape 27"/>
          <p:cNvSpPr/>
          <p:nvPr/>
        </p:nvSpPr>
        <p:spPr>
          <a:xfrm>
            <a:off x="4754880" y="2679192"/>
            <a:ext cx="4023360" cy="27432"/>
          </a:xfrm>
          <a:prstGeom prst="rect">
            <a:avLst/>
          </a:prstGeom>
          <a:solidFill>
            <a:srgbClr val="40916C"/>
          </a:solidFill>
          <a:ln w="12700">
            <a:solidFill>
              <a:srgbClr val="40916C"/>
            </a:solidFill>
            <a:prstDash val="solid"/>
          </a:ln>
        </p:spPr>
      </p:sp>
      <p:sp>
        <p:nvSpPr>
          <p:cNvPr id="30" name="Text 28"/>
          <p:cNvSpPr/>
          <p:nvPr/>
        </p:nvSpPr>
        <p:spPr>
          <a:xfrm>
            <a:off x="475488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vào: CNN Score, Độ ẩm, Nhiệt độ</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ra: Diagnostic Confidence, ERI, VSI</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Cơ sở luật: IF-THEN (Luật R1, R2, R3…)</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Defuzzification: Centroid Method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Giải thích bằng ngôn ngữ tự nhiên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Fuzzy Inference System – Thiết Kế Chi Tiết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Biến Ngôn Ngữ (Linguistic Variables)</a:t>
            </a:r>
            <a:endParaRPr lang="en-US" sz="1300" dirty="0"/>
          </a:p>
        </p:txBody>
      </p:sp>
      <p:sp>
        <p:nvSpPr>
          <p:cNvPr id="8" name="Shape 6"/>
          <p:cNvSpPr/>
          <p:nvPr/>
        </p:nvSpPr>
        <p:spPr>
          <a:xfrm>
            <a:off x="228600" y="1170432"/>
            <a:ext cx="2423160" cy="347472"/>
          </a:xfrm>
          <a:prstGeom prst="rect">
            <a:avLst/>
          </a:prstGeom>
          <a:solidFill>
            <a:srgbClr val="1B4332"/>
          </a:solidFill>
          <a:ln w="12700">
            <a:solidFill>
              <a:srgbClr val="1B4332"/>
            </a:solidFill>
            <a:prstDash val="solid"/>
          </a:ln>
        </p:spPr>
      </p:sp>
      <p:sp>
        <p:nvSpPr>
          <p:cNvPr id="9" name="Text 7"/>
          <p:cNvSpPr/>
          <p:nvPr/>
        </p:nvSpPr>
        <p:spPr>
          <a:xfrm>
            <a:off x="22860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CNN (Triệu chứng thị giác)</a:t>
            </a:r>
            <a:endParaRPr lang="en-US" sz="1000" dirty="0"/>
          </a:p>
        </p:txBody>
      </p:sp>
      <p:sp>
        <p:nvSpPr>
          <p:cNvPr id="10" name="Shape 8"/>
          <p:cNvSpPr/>
          <p:nvPr/>
        </p:nvSpPr>
        <p:spPr>
          <a:xfrm>
            <a:off x="228600" y="1517904"/>
            <a:ext cx="2423160" cy="1737360"/>
          </a:xfrm>
          <a:prstGeom prst="rect">
            <a:avLst/>
          </a:prstGeom>
          <a:solidFill>
            <a:srgbClr val="D8F3DC"/>
          </a:solidFill>
          <a:ln w="10160">
            <a:solidFill>
              <a:srgbClr val="40916C"/>
            </a:solidFill>
            <a:prstDash val="solid"/>
          </a:ln>
        </p:spPr>
      </p:sp>
      <p:sp>
        <p:nvSpPr>
          <p:cNvPr id="11" name="Text 9"/>
          <p:cNvSpPr/>
          <p:nvPr/>
        </p:nvSpPr>
        <p:spPr>
          <a:xfrm>
            <a:off x="32004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BrownSpot – Đốm nâu</a:t>
            </a:r>
            <a:endParaRPr lang="en-US" sz="1000" dirty="0"/>
          </a:p>
        </p:txBody>
      </p:sp>
      <p:sp>
        <p:nvSpPr>
          <p:cNvPr id="12" name="Text 10"/>
          <p:cNvSpPr/>
          <p:nvPr/>
        </p:nvSpPr>
        <p:spPr>
          <a:xfrm>
            <a:off x="32004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MoldTexture – Kết cấu nấm mốc</a:t>
            </a:r>
            <a:endParaRPr lang="en-US" sz="1000" dirty="0"/>
          </a:p>
        </p:txBody>
      </p:sp>
      <p:sp>
        <p:nvSpPr>
          <p:cNvPr id="13" name="Text 11"/>
          <p:cNvSpPr/>
          <p:nvPr/>
        </p:nvSpPr>
        <p:spPr>
          <a:xfrm>
            <a:off x="32004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YellowEdge – Rìa lá vàng</a:t>
            </a:r>
            <a:endParaRPr lang="en-US" sz="1000" dirty="0"/>
          </a:p>
        </p:txBody>
      </p:sp>
      <p:sp>
        <p:nvSpPr>
          <p:cNvPr id="14" name="Text 12"/>
          <p:cNvSpPr/>
          <p:nvPr/>
        </p:nvSpPr>
        <p:spPr>
          <a:xfrm>
            <a:off x="32004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LeafYellowing – Vàng lá</a:t>
            </a:r>
            <a:endParaRPr lang="en-US" sz="1000" dirty="0"/>
          </a:p>
        </p:txBody>
      </p:sp>
      <p:sp>
        <p:nvSpPr>
          <p:cNvPr id="15" name="Text 13"/>
          <p:cNvSpPr/>
          <p:nvPr/>
        </p:nvSpPr>
        <p:spPr>
          <a:xfrm>
            <a:off x="320040" y="2944368"/>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HoleDamage – Lá bị thủng</a:t>
            </a:r>
            <a:endParaRPr lang="en-US" sz="1000" dirty="0"/>
          </a:p>
        </p:txBody>
      </p:sp>
      <p:sp>
        <p:nvSpPr>
          <p:cNvPr id="16" name="Shape 14"/>
          <p:cNvSpPr/>
          <p:nvPr/>
        </p:nvSpPr>
        <p:spPr>
          <a:xfrm>
            <a:off x="2834640" y="1170432"/>
            <a:ext cx="2423160" cy="347472"/>
          </a:xfrm>
          <a:prstGeom prst="rect">
            <a:avLst/>
          </a:prstGeom>
          <a:solidFill>
            <a:srgbClr val="1B4332"/>
          </a:solidFill>
          <a:ln w="12700">
            <a:solidFill>
              <a:srgbClr val="1B4332"/>
            </a:solidFill>
            <a:prstDash val="solid"/>
          </a:ln>
        </p:spPr>
      </p:sp>
      <p:sp>
        <p:nvSpPr>
          <p:cNvPr id="17" name="Text 15"/>
          <p:cNvSpPr/>
          <p:nvPr/>
        </p:nvSpPr>
        <p:spPr>
          <a:xfrm>
            <a:off x="283464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Môi trường</a:t>
            </a:r>
            <a:endParaRPr lang="en-US" sz="1000" dirty="0"/>
          </a:p>
        </p:txBody>
      </p:sp>
      <p:sp>
        <p:nvSpPr>
          <p:cNvPr id="18" name="Shape 16"/>
          <p:cNvSpPr/>
          <p:nvPr/>
        </p:nvSpPr>
        <p:spPr>
          <a:xfrm>
            <a:off x="2834640" y="1517904"/>
            <a:ext cx="2423160" cy="1389888"/>
          </a:xfrm>
          <a:prstGeom prst="rect">
            <a:avLst/>
          </a:prstGeom>
          <a:solidFill>
            <a:srgbClr val="FFF9C4"/>
          </a:solidFill>
          <a:ln w="10160">
            <a:solidFill>
              <a:srgbClr val="40916C"/>
            </a:solidFill>
            <a:prstDash val="solid"/>
          </a:ln>
        </p:spPr>
      </p:sp>
      <p:sp>
        <p:nvSpPr>
          <p:cNvPr id="19" name="Text 17"/>
          <p:cNvSpPr/>
          <p:nvPr/>
        </p:nvSpPr>
        <p:spPr>
          <a:xfrm>
            <a:off x="292608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Humidity – Độ ẩm (%)</a:t>
            </a:r>
            <a:endParaRPr lang="en-US" sz="1000" dirty="0"/>
          </a:p>
        </p:txBody>
      </p:sp>
      <p:sp>
        <p:nvSpPr>
          <p:cNvPr id="20" name="Text 18"/>
          <p:cNvSpPr/>
          <p:nvPr/>
        </p:nvSpPr>
        <p:spPr>
          <a:xfrm>
            <a:off x="292608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Temperature – Nhiệt độ (°C)</a:t>
            </a:r>
            <a:endParaRPr lang="en-US" sz="1000" dirty="0"/>
          </a:p>
        </p:txBody>
      </p:sp>
      <p:sp>
        <p:nvSpPr>
          <p:cNvPr id="21" name="Text 19"/>
          <p:cNvSpPr/>
          <p:nvPr/>
        </p:nvSpPr>
        <p:spPr>
          <a:xfrm>
            <a:off x="292608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Rainfall_24h – Lượng mưa 24h</a:t>
            </a:r>
            <a:endParaRPr lang="en-US" sz="1000" dirty="0"/>
          </a:p>
        </p:txBody>
      </p:sp>
      <p:sp>
        <p:nvSpPr>
          <p:cNvPr id="22" name="Text 20"/>
          <p:cNvSpPr/>
          <p:nvPr/>
        </p:nvSpPr>
        <p:spPr>
          <a:xfrm>
            <a:off x="292608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Season – Mùa vụ</a:t>
            </a:r>
            <a:endParaRPr lang="en-US" sz="1000" dirty="0"/>
          </a:p>
        </p:txBody>
      </p:sp>
      <p:sp>
        <p:nvSpPr>
          <p:cNvPr id="23" name="Shape 21"/>
          <p:cNvSpPr/>
          <p:nvPr/>
        </p:nvSpPr>
        <p:spPr>
          <a:xfrm>
            <a:off x="5394960" y="1170432"/>
            <a:ext cx="2423160" cy="347472"/>
          </a:xfrm>
          <a:prstGeom prst="rect">
            <a:avLst/>
          </a:prstGeom>
          <a:solidFill>
            <a:srgbClr val="1B4332"/>
          </a:solidFill>
          <a:ln w="12700">
            <a:solidFill>
              <a:srgbClr val="1B4332"/>
            </a:solidFill>
            <a:prstDash val="solid"/>
          </a:ln>
        </p:spPr>
      </p:sp>
      <p:sp>
        <p:nvSpPr>
          <p:cNvPr id="24" name="Text 22"/>
          <p:cNvSpPr/>
          <p:nvPr/>
        </p:nvSpPr>
        <p:spPr>
          <a:xfrm>
            <a:off x="539496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Đầu ra (Output)</a:t>
            </a:r>
            <a:endParaRPr lang="en-US" sz="1000" dirty="0"/>
          </a:p>
        </p:txBody>
      </p:sp>
      <p:sp>
        <p:nvSpPr>
          <p:cNvPr id="25" name="Shape 23"/>
          <p:cNvSpPr/>
          <p:nvPr/>
        </p:nvSpPr>
        <p:spPr>
          <a:xfrm>
            <a:off x="5394960" y="1517904"/>
            <a:ext cx="2423160" cy="1389888"/>
          </a:xfrm>
          <a:prstGeom prst="rect">
            <a:avLst/>
          </a:prstGeom>
          <a:solidFill>
            <a:srgbClr val="E3F2FD"/>
          </a:solidFill>
          <a:ln w="10160">
            <a:solidFill>
              <a:srgbClr val="40916C"/>
            </a:solidFill>
            <a:prstDash val="solid"/>
          </a:ln>
        </p:spPr>
      </p:sp>
      <p:sp>
        <p:nvSpPr>
          <p:cNvPr id="26" name="Text 24"/>
          <p:cNvSpPr/>
          <p:nvPr/>
        </p:nvSpPr>
        <p:spPr>
          <a:xfrm>
            <a:off x="548640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Diagnostic Confidence – Độ tin cậy</a:t>
            </a:r>
            <a:endParaRPr lang="en-US" sz="1000" dirty="0"/>
          </a:p>
        </p:txBody>
      </p:sp>
      <p:sp>
        <p:nvSpPr>
          <p:cNvPr id="27" name="Text 25"/>
          <p:cNvSpPr/>
          <p:nvPr/>
        </p:nvSpPr>
        <p:spPr>
          <a:xfrm>
            <a:off x="548640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VSI – Visual Severity Index</a:t>
            </a:r>
            <a:endParaRPr lang="en-US" sz="1000" dirty="0"/>
          </a:p>
        </p:txBody>
      </p:sp>
      <p:sp>
        <p:nvSpPr>
          <p:cNvPr id="28" name="Text 26"/>
          <p:cNvSpPr/>
          <p:nvPr/>
        </p:nvSpPr>
        <p:spPr>
          <a:xfrm>
            <a:off x="548640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ERI – Environmental Risk Index</a:t>
            </a:r>
            <a:endParaRPr lang="en-US" sz="1000" dirty="0"/>
          </a:p>
        </p:txBody>
      </p:sp>
      <p:sp>
        <p:nvSpPr>
          <p:cNvPr id="29" name="Text 27"/>
          <p:cNvSpPr/>
          <p:nvPr/>
        </p:nvSpPr>
        <p:spPr>
          <a:xfrm>
            <a:off x="548640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FAI – Fuzzy Adjustment Index</a:t>
            </a:r>
            <a:endParaRPr lang="en-US" sz="1000" dirty="0"/>
          </a:p>
        </p:txBody>
      </p:sp>
      <p:sp>
        <p:nvSpPr>
          <p:cNvPr id="30" name="Text 28"/>
          <p:cNvSpPr/>
          <p:nvPr/>
        </p:nvSpPr>
        <p:spPr>
          <a:xfrm>
            <a:off x="274320" y="3221853"/>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Cơ Sở Luật Mờ Chuyên Gia (Fuzzy Rule Base)</a:t>
            </a:r>
            <a:endParaRPr lang="en-US" sz="1300" dirty="0"/>
          </a:p>
        </p:txBody>
      </p:sp>
      <p:sp>
        <p:nvSpPr>
          <p:cNvPr id="31" name="Shape 29"/>
          <p:cNvSpPr/>
          <p:nvPr/>
        </p:nvSpPr>
        <p:spPr>
          <a:xfrm>
            <a:off x="228600" y="3547872"/>
            <a:ext cx="457200" cy="347472"/>
          </a:xfrm>
          <a:prstGeom prst="rect">
            <a:avLst/>
          </a:prstGeom>
          <a:solidFill>
            <a:srgbClr val="2D6A4F"/>
          </a:solidFill>
          <a:ln w="12700">
            <a:solidFill>
              <a:srgbClr val="2D6A4F"/>
            </a:solidFill>
            <a:prstDash val="solid"/>
          </a:ln>
        </p:spPr>
      </p:sp>
      <p:sp>
        <p:nvSpPr>
          <p:cNvPr id="32" name="Text 30"/>
          <p:cNvSpPr/>
          <p:nvPr/>
        </p:nvSpPr>
        <p:spPr>
          <a:xfrm>
            <a:off x="228600" y="354787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33" name="Shape 31"/>
          <p:cNvSpPr/>
          <p:nvPr/>
        </p:nvSpPr>
        <p:spPr>
          <a:xfrm>
            <a:off x="685800" y="3547872"/>
            <a:ext cx="8229600" cy="347472"/>
          </a:xfrm>
          <a:prstGeom prst="rect">
            <a:avLst/>
          </a:prstGeom>
          <a:solidFill>
            <a:srgbClr val="D8F3DC"/>
          </a:solidFill>
          <a:ln w="10160">
            <a:solidFill>
              <a:srgbClr val="74C69D"/>
            </a:solidFill>
            <a:prstDash val="solid"/>
          </a:ln>
        </p:spPr>
      </p:sp>
      <p:sp>
        <p:nvSpPr>
          <p:cNvPr id="34" name="Text 32"/>
          <p:cNvSpPr/>
          <p:nvPr/>
        </p:nvSpPr>
        <p:spPr>
          <a:xfrm>
            <a:off x="777240" y="357530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[Apple Scab (Ghẻ sẹo)]   IF BrownSpot = HIGH  AND  Humidity = HIGH  AND  Temperature = MEDIUM  →  THEN Scab = HIGH</a:t>
            </a:r>
            <a:endParaRPr lang="en-US" sz="1000" dirty="0"/>
          </a:p>
        </p:txBody>
      </p:sp>
      <p:sp>
        <p:nvSpPr>
          <p:cNvPr id="35" name="Shape 33"/>
          <p:cNvSpPr/>
          <p:nvPr/>
        </p:nvSpPr>
        <p:spPr>
          <a:xfrm>
            <a:off x="228600" y="3959352"/>
            <a:ext cx="457200" cy="347472"/>
          </a:xfrm>
          <a:prstGeom prst="rect">
            <a:avLst/>
          </a:prstGeom>
          <a:solidFill>
            <a:srgbClr val="2D6A4F"/>
          </a:solidFill>
          <a:ln w="12700">
            <a:solidFill>
              <a:srgbClr val="2D6A4F"/>
            </a:solidFill>
            <a:prstDash val="solid"/>
          </a:ln>
        </p:spPr>
      </p:sp>
      <p:sp>
        <p:nvSpPr>
          <p:cNvPr id="36" name="Text 34"/>
          <p:cNvSpPr/>
          <p:nvPr/>
        </p:nvSpPr>
        <p:spPr>
          <a:xfrm>
            <a:off x="228600" y="395935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37" name="Shape 35"/>
          <p:cNvSpPr/>
          <p:nvPr/>
        </p:nvSpPr>
        <p:spPr>
          <a:xfrm>
            <a:off x="685800" y="3959352"/>
            <a:ext cx="8229600" cy="347472"/>
          </a:xfrm>
          <a:prstGeom prst="rect">
            <a:avLst/>
          </a:prstGeom>
          <a:solidFill>
            <a:srgbClr val="FFF9C4"/>
          </a:solidFill>
          <a:ln w="10160">
            <a:solidFill>
              <a:srgbClr val="74C69D"/>
            </a:solidFill>
            <a:prstDash val="solid"/>
          </a:ln>
        </p:spPr>
      </p:sp>
      <p:sp>
        <p:nvSpPr>
          <p:cNvPr id="38" name="Text 36"/>
          <p:cNvSpPr/>
          <p:nvPr/>
        </p:nvSpPr>
        <p:spPr>
          <a:xfrm>
            <a:off x="777240" y="398678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[Rust (Gỉ sắt)]   IF MoldTexture = HIGH  AND  Humidity = HIGH  →  THEN Rust = HIGH</a:t>
            </a:r>
            <a:endParaRPr lang="en-US" sz="1000" dirty="0"/>
          </a:p>
        </p:txBody>
      </p:sp>
      <p:sp>
        <p:nvSpPr>
          <p:cNvPr id="39" name="Shape 37"/>
          <p:cNvSpPr/>
          <p:nvPr/>
        </p:nvSpPr>
        <p:spPr>
          <a:xfrm>
            <a:off x="228600" y="4370832"/>
            <a:ext cx="457200" cy="347472"/>
          </a:xfrm>
          <a:prstGeom prst="rect">
            <a:avLst/>
          </a:prstGeom>
          <a:solidFill>
            <a:srgbClr val="2D6A4F"/>
          </a:solidFill>
          <a:ln w="12700">
            <a:solidFill>
              <a:srgbClr val="2D6A4F"/>
            </a:solidFill>
            <a:prstDash val="solid"/>
          </a:ln>
        </p:spPr>
      </p:sp>
      <p:sp>
        <p:nvSpPr>
          <p:cNvPr id="40" name="Text 38"/>
          <p:cNvSpPr/>
          <p:nvPr/>
        </p:nvSpPr>
        <p:spPr>
          <a:xfrm>
            <a:off x="228600" y="437083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41" name="Shape 39"/>
          <p:cNvSpPr/>
          <p:nvPr/>
        </p:nvSpPr>
        <p:spPr>
          <a:xfrm>
            <a:off x="685800" y="4370832"/>
            <a:ext cx="8229600" cy="347472"/>
          </a:xfrm>
          <a:prstGeom prst="rect">
            <a:avLst/>
          </a:prstGeom>
          <a:solidFill>
            <a:srgbClr val="FCE4EC"/>
          </a:solidFill>
          <a:ln w="10160">
            <a:solidFill>
              <a:srgbClr val="74C69D"/>
            </a:solidFill>
            <a:prstDash val="solid"/>
          </a:ln>
        </p:spPr>
      </p:sp>
      <p:sp>
        <p:nvSpPr>
          <p:cNvPr id="42" name="Text 40"/>
          <p:cNvSpPr/>
          <p:nvPr/>
        </p:nvSpPr>
        <p:spPr>
          <a:xfrm>
            <a:off x="777240" y="439826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[Sunburn (Cháy nắng)]   IF YellowEdge = HIGH  AND  Temperature = HIGH  AND  Humidity = LOW  →  THEN Sunburn = HIGH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Kết Quả – Đánh Giá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4572000" cy="36576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Hiệu Năng Mô Hình EfficientNet-B0</a:t>
            </a:r>
            <a:endParaRPr lang="en-US" sz="1300" dirty="0"/>
          </a:p>
        </p:txBody>
      </p:sp>
      <p:sp>
        <p:nvSpPr>
          <p:cNvPr id="8" name="Shape 6"/>
          <p:cNvSpPr/>
          <p:nvPr/>
        </p:nvSpPr>
        <p:spPr>
          <a:xfrm>
            <a:off x="228600"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9" name="Text 7"/>
          <p:cNvSpPr/>
          <p:nvPr/>
        </p:nvSpPr>
        <p:spPr>
          <a:xfrm>
            <a:off x="228600"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92.04%</a:t>
            </a:r>
            <a:endParaRPr lang="en-US" sz="2200" dirty="0"/>
          </a:p>
        </p:txBody>
      </p:sp>
      <p:sp>
        <p:nvSpPr>
          <p:cNvPr id="10" name="Text 8"/>
          <p:cNvSpPr/>
          <p:nvPr/>
        </p:nvSpPr>
        <p:spPr>
          <a:xfrm>
            <a:off x="228600"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Validation</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Accuracy</a:t>
            </a:r>
            <a:endParaRPr lang="en-US" sz="1000" dirty="0"/>
          </a:p>
        </p:txBody>
      </p:sp>
      <p:sp>
        <p:nvSpPr>
          <p:cNvPr id="11" name="Shape 9"/>
          <p:cNvSpPr/>
          <p:nvPr/>
        </p:nvSpPr>
        <p:spPr>
          <a:xfrm>
            <a:off x="1801368"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2" name="Text 10"/>
          <p:cNvSpPr/>
          <p:nvPr/>
        </p:nvSpPr>
        <p:spPr>
          <a:xfrm>
            <a:off x="1801368"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0.9190</a:t>
            </a:r>
            <a:endParaRPr lang="en-US" sz="2200" dirty="0"/>
          </a:p>
        </p:txBody>
      </p:sp>
      <p:sp>
        <p:nvSpPr>
          <p:cNvPr id="13" name="Text 11"/>
          <p:cNvSpPr/>
          <p:nvPr/>
        </p:nvSpPr>
        <p:spPr>
          <a:xfrm>
            <a:off x="1801368"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Macro</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sp>
        <p:nvSpPr>
          <p:cNvPr id="14" name="Shape 12"/>
          <p:cNvSpPr/>
          <p:nvPr/>
        </p:nvSpPr>
        <p:spPr>
          <a:xfrm>
            <a:off x="3374136"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5" name="Text 13"/>
          <p:cNvSpPr/>
          <p:nvPr/>
        </p:nvSpPr>
        <p:spPr>
          <a:xfrm>
            <a:off x="3374136"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0.9191</a:t>
            </a:r>
            <a:endParaRPr lang="en-US" sz="2200" dirty="0"/>
          </a:p>
        </p:txBody>
      </p:sp>
      <p:sp>
        <p:nvSpPr>
          <p:cNvPr id="16" name="Text 14"/>
          <p:cNvSpPr/>
          <p:nvPr/>
        </p:nvSpPr>
        <p:spPr>
          <a:xfrm>
            <a:off x="3374136"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Weighted</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graphicFrame>
        <p:nvGraphicFramePr>
          <p:cNvPr id="17" name="Chart 0"/>
          <p:cNvGraphicFramePr/>
          <p:nvPr/>
        </p:nvGraphicFramePr>
        <p:xfrm>
          <a:off x="228600" y="2423160"/>
          <a:ext cx="42062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5092504" y="896112"/>
            <a:ext cx="3822895"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Kết Quả Suy Diễn Mờ – Ca Thử Nghiệm</a:t>
            </a:r>
            <a:endParaRPr lang="en-US" sz="1300" dirty="0"/>
          </a:p>
        </p:txBody>
      </p:sp>
      <p:sp>
        <p:nvSpPr>
          <p:cNvPr id="19" name="Text 16"/>
          <p:cNvSpPr/>
          <p:nvPr/>
        </p:nvSpPr>
        <p:spPr>
          <a:xfrm>
            <a:off x="5092504" y="1257300"/>
            <a:ext cx="3822895" cy="205740"/>
          </a:xfrm>
          <a:prstGeom prst="rect">
            <a:avLst/>
          </a:prstGeom>
          <a:noFill/>
          <a:ln/>
        </p:spPr>
        <p:txBody>
          <a:bodyPr wrap="square" rtlCol="0" anchor="ctr"/>
          <a:lstStyle/>
          <a:p>
            <a:pPr marL="0" indent="0">
              <a:buNone/>
            </a:pPr>
            <a:r>
              <a:rPr lang="en-US" sz="950" i="1" dirty="0">
                <a:solidFill>
                  <a:srgbClr val="6C757D"/>
                </a:solidFill>
                <a:latin typeface="Calibri" pitchFamily="34" charset="0"/>
                <a:ea typeface="Calibri" pitchFamily="34" charset="-122"/>
                <a:cs typeface="Calibri" pitchFamily="34" charset="-120"/>
              </a:rPr>
              <a:t>Đầu vào: Ảnh BLAST9_087.jpg | 28°C | 85% Humidity</a:t>
            </a:r>
            <a:endParaRPr lang="en-US" sz="950" dirty="0"/>
          </a:p>
        </p:txBody>
      </p:sp>
      <p:sp>
        <p:nvSpPr>
          <p:cNvPr id="20" name="Shape 17"/>
          <p:cNvSpPr/>
          <p:nvPr/>
        </p:nvSpPr>
        <p:spPr>
          <a:xfrm>
            <a:off x="4958710" y="1600200"/>
            <a:ext cx="2630809" cy="274320"/>
          </a:xfrm>
          <a:prstGeom prst="rect">
            <a:avLst/>
          </a:prstGeom>
          <a:solidFill>
            <a:srgbClr val="D8F3DC"/>
          </a:solidFill>
          <a:ln w="6350">
            <a:solidFill>
              <a:srgbClr val="DDDDDD"/>
            </a:solidFill>
            <a:prstDash val="solid"/>
          </a:ln>
        </p:spPr>
      </p:sp>
      <p:sp>
        <p:nvSpPr>
          <p:cNvPr id="21" name="Shape 18"/>
          <p:cNvSpPr/>
          <p:nvPr/>
        </p:nvSpPr>
        <p:spPr>
          <a:xfrm>
            <a:off x="7723314" y="1600200"/>
            <a:ext cx="1192086" cy="274320"/>
          </a:xfrm>
          <a:prstGeom prst="rect">
            <a:avLst/>
          </a:prstGeom>
          <a:solidFill>
            <a:srgbClr val="1B4332"/>
          </a:solidFill>
          <a:ln w="12700">
            <a:solidFill>
              <a:srgbClr val="1B4332"/>
            </a:solidFill>
            <a:prstDash val="solid"/>
          </a:ln>
        </p:spPr>
      </p:sp>
      <p:sp>
        <p:nvSpPr>
          <p:cNvPr id="22" name="Text 19"/>
          <p:cNvSpPr/>
          <p:nvPr/>
        </p:nvSpPr>
        <p:spPr>
          <a:xfrm>
            <a:off x="5031696" y="162306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CNN: Mild Blast</a:t>
            </a:r>
            <a:endParaRPr lang="en-US" sz="1000" dirty="0"/>
          </a:p>
        </p:txBody>
      </p:sp>
      <p:sp>
        <p:nvSpPr>
          <p:cNvPr id="23" name="Text 20"/>
          <p:cNvSpPr/>
          <p:nvPr/>
        </p:nvSpPr>
        <p:spPr>
          <a:xfrm>
            <a:off x="7723314" y="162306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97.47%</a:t>
            </a:r>
            <a:endParaRPr lang="en-US" sz="1000" dirty="0"/>
          </a:p>
        </p:txBody>
      </p:sp>
      <p:sp>
        <p:nvSpPr>
          <p:cNvPr id="24" name="Shape 21"/>
          <p:cNvSpPr/>
          <p:nvPr/>
        </p:nvSpPr>
        <p:spPr>
          <a:xfrm>
            <a:off x="4958710" y="2011680"/>
            <a:ext cx="2630809" cy="274320"/>
          </a:xfrm>
          <a:prstGeom prst="rect">
            <a:avLst/>
          </a:prstGeom>
          <a:solidFill>
            <a:srgbClr val="E8F5E9"/>
          </a:solidFill>
          <a:ln w="6350">
            <a:solidFill>
              <a:srgbClr val="DDDDDD"/>
            </a:solidFill>
            <a:prstDash val="solid"/>
          </a:ln>
        </p:spPr>
      </p:sp>
      <p:sp>
        <p:nvSpPr>
          <p:cNvPr id="25" name="Shape 22"/>
          <p:cNvSpPr/>
          <p:nvPr/>
        </p:nvSpPr>
        <p:spPr>
          <a:xfrm>
            <a:off x="7723314" y="2011680"/>
            <a:ext cx="1192086" cy="274320"/>
          </a:xfrm>
          <a:prstGeom prst="rect">
            <a:avLst/>
          </a:prstGeom>
          <a:solidFill>
            <a:srgbClr val="1B4332"/>
          </a:solidFill>
          <a:ln w="12700">
            <a:solidFill>
              <a:srgbClr val="1B4332"/>
            </a:solidFill>
            <a:prstDash val="solid"/>
          </a:ln>
        </p:spPr>
      </p:sp>
      <p:sp>
        <p:nvSpPr>
          <p:cNvPr id="26" name="Text 23"/>
          <p:cNvSpPr/>
          <p:nvPr/>
        </p:nvSpPr>
        <p:spPr>
          <a:xfrm>
            <a:off x="5031696" y="203454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Diagnostic Confidence</a:t>
            </a:r>
            <a:endParaRPr lang="en-US" sz="1000" dirty="0"/>
          </a:p>
        </p:txBody>
      </p:sp>
      <p:sp>
        <p:nvSpPr>
          <p:cNvPr id="27" name="Text 24"/>
          <p:cNvSpPr/>
          <p:nvPr/>
        </p:nvSpPr>
        <p:spPr>
          <a:xfrm>
            <a:off x="7723314" y="203454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95 / 100</a:t>
            </a:r>
            <a:endParaRPr lang="en-US" sz="1000" dirty="0"/>
          </a:p>
        </p:txBody>
      </p:sp>
      <p:sp>
        <p:nvSpPr>
          <p:cNvPr id="28" name="Shape 25"/>
          <p:cNvSpPr/>
          <p:nvPr/>
        </p:nvSpPr>
        <p:spPr>
          <a:xfrm>
            <a:off x="4958710" y="2423160"/>
            <a:ext cx="2630809" cy="274320"/>
          </a:xfrm>
          <a:prstGeom prst="rect">
            <a:avLst/>
          </a:prstGeom>
          <a:solidFill>
            <a:srgbClr val="FFF9C4"/>
          </a:solidFill>
          <a:ln w="6350">
            <a:solidFill>
              <a:srgbClr val="DDDDDD"/>
            </a:solidFill>
            <a:prstDash val="solid"/>
          </a:ln>
        </p:spPr>
      </p:sp>
      <p:sp>
        <p:nvSpPr>
          <p:cNvPr id="29" name="Shape 26"/>
          <p:cNvSpPr/>
          <p:nvPr/>
        </p:nvSpPr>
        <p:spPr>
          <a:xfrm>
            <a:off x="7723314" y="2423160"/>
            <a:ext cx="1192086" cy="274320"/>
          </a:xfrm>
          <a:prstGeom prst="rect">
            <a:avLst/>
          </a:prstGeom>
          <a:solidFill>
            <a:srgbClr val="1B4332"/>
          </a:solidFill>
          <a:ln w="12700">
            <a:solidFill>
              <a:srgbClr val="1B4332"/>
            </a:solidFill>
            <a:prstDash val="solid"/>
          </a:ln>
        </p:spPr>
      </p:sp>
      <p:sp>
        <p:nvSpPr>
          <p:cNvPr id="30" name="Text 27"/>
          <p:cNvSpPr/>
          <p:nvPr/>
        </p:nvSpPr>
        <p:spPr>
          <a:xfrm>
            <a:off x="5031696" y="244602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Environmental Risk (ERI)</a:t>
            </a:r>
            <a:endParaRPr lang="en-US" sz="1000" dirty="0"/>
          </a:p>
        </p:txBody>
      </p:sp>
      <p:sp>
        <p:nvSpPr>
          <p:cNvPr id="31" name="Text 28"/>
          <p:cNvSpPr/>
          <p:nvPr/>
        </p:nvSpPr>
        <p:spPr>
          <a:xfrm>
            <a:off x="7723314" y="244602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85 / 100</a:t>
            </a:r>
            <a:endParaRPr lang="en-US" sz="1000" dirty="0"/>
          </a:p>
        </p:txBody>
      </p:sp>
      <p:sp>
        <p:nvSpPr>
          <p:cNvPr id="32" name="Shape 29"/>
          <p:cNvSpPr/>
          <p:nvPr/>
        </p:nvSpPr>
        <p:spPr>
          <a:xfrm>
            <a:off x="4958710" y="2834640"/>
            <a:ext cx="2630809" cy="274320"/>
          </a:xfrm>
          <a:prstGeom prst="rect">
            <a:avLst/>
          </a:prstGeom>
          <a:solidFill>
            <a:srgbClr val="FFF9C4"/>
          </a:solidFill>
          <a:ln w="6350">
            <a:solidFill>
              <a:srgbClr val="DDDDDD"/>
            </a:solidFill>
            <a:prstDash val="solid"/>
          </a:ln>
        </p:spPr>
      </p:sp>
      <p:sp>
        <p:nvSpPr>
          <p:cNvPr id="33" name="Shape 30"/>
          <p:cNvSpPr/>
          <p:nvPr/>
        </p:nvSpPr>
        <p:spPr>
          <a:xfrm>
            <a:off x="7723314" y="2834640"/>
            <a:ext cx="1192086" cy="274320"/>
          </a:xfrm>
          <a:prstGeom prst="rect">
            <a:avLst/>
          </a:prstGeom>
          <a:solidFill>
            <a:srgbClr val="1B4332"/>
          </a:solidFill>
          <a:ln w="12700">
            <a:solidFill>
              <a:srgbClr val="1B4332"/>
            </a:solidFill>
            <a:prstDash val="solid"/>
          </a:ln>
        </p:spPr>
      </p:sp>
      <p:sp>
        <p:nvSpPr>
          <p:cNvPr id="34" name="Text 31"/>
          <p:cNvSpPr/>
          <p:nvPr/>
        </p:nvSpPr>
        <p:spPr>
          <a:xfrm>
            <a:off x="5031696" y="285750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Visual Severity (VSI)</a:t>
            </a:r>
            <a:endParaRPr lang="en-US" sz="1000" dirty="0"/>
          </a:p>
        </p:txBody>
      </p:sp>
      <p:sp>
        <p:nvSpPr>
          <p:cNvPr id="35" name="Text 32"/>
          <p:cNvSpPr/>
          <p:nvPr/>
        </p:nvSpPr>
        <p:spPr>
          <a:xfrm>
            <a:off x="7723314" y="285750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20 / 100</a:t>
            </a:r>
            <a:endParaRPr lang="en-US" sz="1000" dirty="0"/>
          </a:p>
        </p:txBody>
      </p:sp>
      <p:sp>
        <p:nvSpPr>
          <p:cNvPr id="36" name="Shape 33"/>
          <p:cNvSpPr/>
          <p:nvPr/>
        </p:nvSpPr>
        <p:spPr>
          <a:xfrm>
            <a:off x="4958710" y="3246120"/>
            <a:ext cx="2630809" cy="274320"/>
          </a:xfrm>
          <a:prstGeom prst="rect">
            <a:avLst/>
          </a:prstGeom>
          <a:solidFill>
            <a:srgbClr val="F3E5F5"/>
          </a:solidFill>
          <a:ln w="6350">
            <a:solidFill>
              <a:srgbClr val="DDDDDD"/>
            </a:solidFill>
            <a:prstDash val="solid"/>
          </a:ln>
        </p:spPr>
      </p:sp>
      <p:sp>
        <p:nvSpPr>
          <p:cNvPr id="37" name="Shape 34"/>
          <p:cNvSpPr/>
          <p:nvPr/>
        </p:nvSpPr>
        <p:spPr>
          <a:xfrm>
            <a:off x="7723314" y="3246120"/>
            <a:ext cx="1192086" cy="274320"/>
          </a:xfrm>
          <a:prstGeom prst="rect">
            <a:avLst/>
          </a:prstGeom>
          <a:solidFill>
            <a:srgbClr val="1B4332"/>
          </a:solidFill>
          <a:ln w="12700">
            <a:solidFill>
              <a:srgbClr val="1B4332"/>
            </a:solidFill>
            <a:prstDash val="solid"/>
          </a:ln>
        </p:spPr>
      </p:sp>
      <p:sp>
        <p:nvSpPr>
          <p:cNvPr id="38" name="Text 35"/>
          <p:cNvSpPr/>
          <p:nvPr/>
        </p:nvSpPr>
        <p:spPr>
          <a:xfrm>
            <a:off x="5031696" y="326898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Fuzzy Adjustment (FAI)</a:t>
            </a:r>
            <a:endParaRPr lang="en-US" sz="1000" dirty="0"/>
          </a:p>
        </p:txBody>
      </p:sp>
      <p:sp>
        <p:nvSpPr>
          <p:cNvPr id="39" name="Text 36"/>
          <p:cNvSpPr/>
          <p:nvPr/>
        </p:nvSpPr>
        <p:spPr>
          <a:xfrm>
            <a:off x="7723314" y="326898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40 / 100</a:t>
            </a:r>
            <a:endParaRPr lang="en-US" sz="1000" dirty="0"/>
          </a:p>
        </p:txBody>
      </p:sp>
      <p:sp>
        <p:nvSpPr>
          <p:cNvPr id="40" name="Shape 37"/>
          <p:cNvSpPr/>
          <p:nvPr/>
        </p:nvSpPr>
        <p:spPr>
          <a:xfrm>
            <a:off x="5025682" y="3913632"/>
            <a:ext cx="3822895" cy="877824"/>
          </a:xfrm>
          <a:prstGeom prst="rect">
            <a:avLst/>
          </a:prstGeom>
          <a:solidFill>
            <a:srgbClr val="FFF3CD"/>
          </a:solidFill>
          <a:ln w="19050">
            <a:solidFill>
              <a:srgbClr val="F4A261"/>
            </a:solidFill>
            <a:prstDash val="solid"/>
          </a:ln>
        </p:spPr>
      </p:sp>
      <p:sp>
        <p:nvSpPr>
          <p:cNvPr id="41" name="Text 38"/>
          <p:cNvSpPr/>
          <p:nvPr/>
        </p:nvSpPr>
        <p:spPr>
          <a:xfrm>
            <a:off x="5174716" y="3606165"/>
            <a:ext cx="3658469" cy="24003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Kết Luận &amp; Khuyến Nghị Tự Động:</a:t>
            </a:r>
            <a:endParaRPr lang="en-US" sz="1100" dirty="0"/>
          </a:p>
        </p:txBody>
      </p:sp>
      <p:sp>
        <p:nvSpPr>
          <p:cNvPr id="42" name="Text 39"/>
          <p:cNvSpPr/>
          <p:nvPr/>
        </p:nvSpPr>
        <p:spPr>
          <a:xfrm>
            <a:off x="5165490" y="4160520"/>
            <a:ext cx="3658469"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Bệnh Đạo Ôn Lá (Rice Blast) – Mức nhẹ</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Môi trường ẩm ướt 28°C, 85% → Nguy cơ bùng phát cao</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Dùng Tricyclazole, Fenoxanil. Tránh bón đạm thêm.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Demo – Giao Diện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5943600" cy="3749040"/>
          </a:xfrm>
          <a:prstGeom prst="rect">
            <a:avLst/>
          </a:prstGeom>
          <a:solidFill>
            <a:srgbClr val="1A1A2E"/>
          </a:solidFill>
          <a:ln w="25400">
            <a:solidFill>
              <a:srgbClr val="74C69D"/>
            </a:solidFill>
            <a:prstDash val="solid"/>
          </a:ln>
        </p:spPr>
      </p:sp>
      <p:sp>
        <p:nvSpPr>
          <p:cNvPr id="8" name="Text 6"/>
          <p:cNvSpPr/>
          <p:nvPr/>
        </p:nvSpPr>
        <p:spPr>
          <a:xfrm>
            <a:off x="228600" y="841248"/>
            <a:ext cx="594360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 DEMO STREAMLIT WEB APP ]</a:t>
            </a:r>
            <a:endParaRPr lang="en-US" sz="1300" dirty="0"/>
          </a:p>
        </p:txBody>
      </p:sp>
      <p:sp>
        <p:nvSpPr>
          <p:cNvPr id="9" name="Shape 7"/>
          <p:cNvSpPr/>
          <p:nvPr/>
        </p:nvSpPr>
        <p:spPr>
          <a:xfrm>
            <a:off x="365760" y="1325880"/>
            <a:ext cx="5669280" cy="347472"/>
          </a:xfrm>
          <a:prstGeom prst="rect">
            <a:avLst/>
          </a:prstGeom>
          <a:solidFill>
            <a:srgbClr val="2D6A4F">
              <a:alpha val="40000"/>
            </a:srgbClr>
          </a:solidFill>
          <a:ln w="6350">
            <a:solidFill>
              <a:srgbClr val="40916C"/>
            </a:solidFill>
            <a:prstDash val="solid"/>
          </a:ln>
        </p:spPr>
      </p:sp>
      <p:sp>
        <p:nvSpPr>
          <p:cNvPr id="10" name="Text 8"/>
          <p:cNvSpPr/>
          <p:nvPr/>
        </p:nvSpPr>
        <p:spPr>
          <a:xfrm>
            <a:off x="502920" y="1362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Upload Ảnh Lá Cây</a:t>
            </a:r>
            <a:endParaRPr lang="en-US" sz="1050" dirty="0"/>
          </a:p>
        </p:txBody>
      </p:sp>
      <p:sp>
        <p:nvSpPr>
          <p:cNvPr id="11" name="Shape 9"/>
          <p:cNvSpPr/>
          <p:nvPr/>
        </p:nvSpPr>
        <p:spPr>
          <a:xfrm>
            <a:off x="365760" y="1783080"/>
            <a:ext cx="5669280" cy="347472"/>
          </a:xfrm>
          <a:prstGeom prst="rect">
            <a:avLst/>
          </a:prstGeom>
          <a:solidFill>
            <a:srgbClr val="2D6A4F">
              <a:alpha val="40000"/>
            </a:srgbClr>
          </a:solidFill>
          <a:ln w="6350">
            <a:solidFill>
              <a:srgbClr val="40916C"/>
            </a:solidFill>
            <a:prstDash val="solid"/>
          </a:ln>
        </p:spPr>
      </p:sp>
      <p:sp>
        <p:nvSpPr>
          <p:cNvPr id="12" name="Text 10"/>
          <p:cNvSpPr/>
          <p:nvPr/>
        </p:nvSpPr>
        <p:spPr>
          <a:xfrm>
            <a:off x="502920" y="18196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Nhập thông số môi trường (Nhiệt độ, Độ ẩm)</a:t>
            </a:r>
            <a:endParaRPr lang="en-US" sz="1050" dirty="0"/>
          </a:p>
        </p:txBody>
      </p:sp>
      <p:sp>
        <p:nvSpPr>
          <p:cNvPr id="13" name="Shape 11"/>
          <p:cNvSpPr/>
          <p:nvPr/>
        </p:nvSpPr>
        <p:spPr>
          <a:xfrm>
            <a:off x="365760" y="2240280"/>
            <a:ext cx="5669280" cy="347472"/>
          </a:xfrm>
          <a:prstGeom prst="rect">
            <a:avLst/>
          </a:prstGeom>
          <a:solidFill>
            <a:srgbClr val="2D6A4F">
              <a:alpha val="40000"/>
            </a:srgbClr>
          </a:solidFill>
          <a:ln w="6350">
            <a:solidFill>
              <a:srgbClr val="40916C"/>
            </a:solidFill>
            <a:prstDash val="solid"/>
          </a:ln>
        </p:spPr>
      </p:sp>
      <p:sp>
        <p:nvSpPr>
          <p:cNvPr id="14" name="Text 12"/>
          <p:cNvSpPr/>
          <p:nvPr/>
        </p:nvSpPr>
        <p:spPr>
          <a:xfrm>
            <a:off x="502920" y="22768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Chạy phân tích CNN + Fuzzy</a:t>
            </a:r>
            <a:endParaRPr lang="en-US" sz="1050" dirty="0"/>
          </a:p>
        </p:txBody>
      </p:sp>
      <p:sp>
        <p:nvSpPr>
          <p:cNvPr id="15" name="Shape 13"/>
          <p:cNvSpPr/>
          <p:nvPr/>
        </p:nvSpPr>
        <p:spPr>
          <a:xfrm>
            <a:off x="365760" y="2697480"/>
            <a:ext cx="5669280" cy="347472"/>
          </a:xfrm>
          <a:prstGeom prst="rect">
            <a:avLst/>
          </a:prstGeom>
          <a:solidFill>
            <a:srgbClr val="2D6A4F">
              <a:alpha val="40000"/>
            </a:srgbClr>
          </a:solidFill>
          <a:ln w="6350">
            <a:solidFill>
              <a:srgbClr val="40916C"/>
            </a:solidFill>
            <a:prstDash val="solid"/>
          </a:ln>
        </p:spPr>
      </p:sp>
      <p:sp>
        <p:nvSpPr>
          <p:cNvPr id="16" name="Text 14"/>
          <p:cNvSpPr/>
          <p:nvPr/>
        </p:nvSpPr>
        <p:spPr>
          <a:xfrm>
            <a:off x="502920" y="27340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Kết quả phân loại bệnh &amp; Độ tin cậy</a:t>
            </a:r>
            <a:endParaRPr lang="en-US" sz="1050" dirty="0"/>
          </a:p>
        </p:txBody>
      </p:sp>
      <p:sp>
        <p:nvSpPr>
          <p:cNvPr id="17" name="Shape 15"/>
          <p:cNvSpPr/>
          <p:nvPr/>
        </p:nvSpPr>
        <p:spPr>
          <a:xfrm>
            <a:off x="365760" y="3154680"/>
            <a:ext cx="5669280" cy="347472"/>
          </a:xfrm>
          <a:prstGeom prst="rect">
            <a:avLst/>
          </a:prstGeom>
          <a:solidFill>
            <a:srgbClr val="2D6A4F">
              <a:alpha val="40000"/>
            </a:srgbClr>
          </a:solidFill>
          <a:ln w="6350">
            <a:solidFill>
              <a:srgbClr val="40916C"/>
            </a:solidFill>
            <a:prstDash val="solid"/>
          </a:ln>
        </p:spPr>
      </p:sp>
      <p:sp>
        <p:nvSpPr>
          <p:cNvPr id="18" name="Text 16"/>
          <p:cNvSpPr/>
          <p:nvPr/>
        </p:nvSpPr>
        <p:spPr>
          <a:xfrm>
            <a:off x="502920" y="31912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Báo cáo XAI – Luật mờ kích hoạt</a:t>
            </a:r>
            <a:endParaRPr lang="en-US" sz="1050" dirty="0"/>
          </a:p>
        </p:txBody>
      </p:sp>
      <p:sp>
        <p:nvSpPr>
          <p:cNvPr id="19" name="Shape 17"/>
          <p:cNvSpPr/>
          <p:nvPr/>
        </p:nvSpPr>
        <p:spPr>
          <a:xfrm>
            <a:off x="365760" y="3611880"/>
            <a:ext cx="5669280" cy="347472"/>
          </a:xfrm>
          <a:prstGeom prst="rect">
            <a:avLst/>
          </a:prstGeom>
          <a:solidFill>
            <a:srgbClr val="2D6A4F">
              <a:alpha val="40000"/>
            </a:srgbClr>
          </a:solidFill>
          <a:ln w="6350">
            <a:solidFill>
              <a:srgbClr val="40916C"/>
            </a:solidFill>
            <a:prstDash val="solid"/>
          </a:ln>
        </p:spPr>
      </p:sp>
      <p:sp>
        <p:nvSpPr>
          <p:cNvPr id="20" name="Text 18"/>
          <p:cNvSpPr/>
          <p:nvPr/>
        </p:nvSpPr>
        <p:spPr>
          <a:xfrm>
            <a:off x="502920" y="3648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Khuyến nghị nông nghiệp tự động</a:t>
            </a:r>
            <a:endParaRPr lang="en-US" sz="1050" dirty="0"/>
          </a:p>
        </p:txBody>
      </p:sp>
      <p:sp>
        <p:nvSpPr>
          <p:cNvPr id="21" name="Text 19"/>
          <p:cNvSpPr/>
          <p:nvPr/>
        </p:nvSpPr>
        <p:spPr>
          <a:xfrm>
            <a:off x="6400800" y="841248"/>
            <a:ext cx="2514600" cy="384048"/>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Công Nghệ Sử Dụng</a:t>
            </a:r>
            <a:endParaRPr lang="en-US" sz="1300" dirty="0"/>
          </a:p>
        </p:txBody>
      </p:sp>
      <p:sp>
        <p:nvSpPr>
          <p:cNvPr id="22" name="Shape 20"/>
          <p:cNvSpPr/>
          <p:nvPr/>
        </p:nvSpPr>
        <p:spPr>
          <a:xfrm>
            <a:off x="6400800" y="1298448"/>
            <a:ext cx="2514600" cy="329184"/>
          </a:xfrm>
          <a:prstGeom prst="rect">
            <a:avLst/>
          </a:prstGeom>
          <a:solidFill>
            <a:srgbClr val="D8F3DC"/>
          </a:solidFill>
          <a:ln w="6350">
            <a:solidFill>
              <a:srgbClr val="74C69D"/>
            </a:solidFill>
            <a:prstDash val="solid"/>
          </a:ln>
        </p:spPr>
      </p:sp>
      <p:sp>
        <p:nvSpPr>
          <p:cNvPr id="23" name="Text 21"/>
          <p:cNvSpPr/>
          <p:nvPr/>
        </p:nvSpPr>
        <p:spPr>
          <a:xfrm>
            <a:off x="6492240" y="13350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Python 3.10+</a:t>
            </a:r>
            <a:endParaRPr lang="en-US" sz="1000" dirty="0"/>
          </a:p>
        </p:txBody>
      </p:sp>
      <p:sp>
        <p:nvSpPr>
          <p:cNvPr id="24" name="Text 22"/>
          <p:cNvSpPr/>
          <p:nvPr/>
        </p:nvSpPr>
        <p:spPr>
          <a:xfrm>
            <a:off x="7589520" y="13350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Ngôn ngữ chính</a:t>
            </a:r>
            <a:endParaRPr lang="en-US" sz="950" dirty="0"/>
          </a:p>
        </p:txBody>
      </p:sp>
      <p:sp>
        <p:nvSpPr>
          <p:cNvPr id="25" name="Shape 23"/>
          <p:cNvSpPr/>
          <p:nvPr/>
        </p:nvSpPr>
        <p:spPr>
          <a:xfrm>
            <a:off x="6400800" y="1664208"/>
            <a:ext cx="2514600" cy="329184"/>
          </a:xfrm>
          <a:prstGeom prst="rect">
            <a:avLst/>
          </a:prstGeom>
          <a:solidFill>
            <a:srgbClr val="F8F9FA"/>
          </a:solidFill>
          <a:ln w="6350">
            <a:solidFill>
              <a:srgbClr val="74C69D"/>
            </a:solidFill>
            <a:prstDash val="solid"/>
          </a:ln>
        </p:spPr>
      </p:sp>
      <p:sp>
        <p:nvSpPr>
          <p:cNvPr id="26" name="Text 24"/>
          <p:cNvSpPr/>
          <p:nvPr/>
        </p:nvSpPr>
        <p:spPr>
          <a:xfrm>
            <a:off x="6492240" y="17007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PyTorch</a:t>
            </a:r>
            <a:endParaRPr lang="en-US" sz="1000" dirty="0"/>
          </a:p>
        </p:txBody>
      </p:sp>
      <p:sp>
        <p:nvSpPr>
          <p:cNvPr id="27" name="Text 25"/>
          <p:cNvSpPr/>
          <p:nvPr/>
        </p:nvSpPr>
        <p:spPr>
          <a:xfrm>
            <a:off x="7589520" y="17007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Xây dựng CNN</a:t>
            </a:r>
            <a:endParaRPr lang="en-US" sz="950" dirty="0"/>
          </a:p>
        </p:txBody>
      </p:sp>
      <p:sp>
        <p:nvSpPr>
          <p:cNvPr id="28" name="Shape 26"/>
          <p:cNvSpPr/>
          <p:nvPr/>
        </p:nvSpPr>
        <p:spPr>
          <a:xfrm>
            <a:off x="6400800" y="2029968"/>
            <a:ext cx="2514600" cy="329184"/>
          </a:xfrm>
          <a:prstGeom prst="rect">
            <a:avLst/>
          </a:prstGeom>
          <a:solidFill>
            <a:srgbClr val="D8F3DC"/>
          </a:solidFill>
          <a:ln w="6350">
            <a:solidFill>
              <a:srgbClr val="74C69D"/>
            </a:solidFill>
            <a:prstDash val="solid"/>
          </a:ln>
        </p:spPr>
      </p:sp>
      <p:sp>
        <p:nvSpPr>
          <p:cNvPr id="29" name="Text 27"/>
          <p:cNvSpPr/>
          <p:nvPr/>
        </p:nvSpPr>
        <p:spPr>
          <a:xfrm>
            <a:off x="6492240" y="20665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TorchVision</a:t>
            </a:r>
            <a:endParaRPr lang="en-US" sz="1000" dirty="0"/>
          </a:p>
        </p:txBody>
      </p:sp>
      <p:sp>
        <p:nvSpPr>
          <p:cNvPr id="30" name="Text 28"/>
          <p:cNvSpPr/>
          <p:nvPr/>
        </p:nvSpPr>
        <p:spPr>
          <a:xfrm>
            <a:off x="7589520" y="20665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EfficientNet-B0</a:t>
            </a:r>
            <a:endParaRPr lang="en-US" sz="950" dirty="0"/>
          </a:p>
        </p:txBody>
      </p:sp>
      <p:sp>
        <p:nvSpPr>
          <p:cNvPr id="31" name="Shape 29"/>
          <p:cNvSpPr/>
          <p:nvPr/>
        </p:nvSpPr>
        <p:spPr>
          <a:xfrm>
            <a:off x="6400800" y="2395728"/>
            <a:ext cx="2514600" cy="329184"/>
          </a:xfrm>
          <a:prstGeom prst="rect">
            <a:avLst/>
          </a:prstGeom>
          <a:solidFill>
            <a:srgbClr val="F8F9FA"/>
          </a:solidFill>
          <a:ln w="6350">
            <a:solidFill>
              <a:srgbClr val="74C69D"/>
            </a:solidFill>
            <a:prstDash val="solid"/>
          </a:ln>
        </p:spPr>
      </p:sp>
      <p:sp>
        <p:nvSpPr>
          <p:cNvPr id="32" name="Text 30"/>
          <p:cNvSpPr/>
          <p:nvPr/>
        </p:nvSpPr>
        <p:spPr>
          <a:xfrm>
            <a:off x="6492240" y="243230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scikit-learn</a:t>
            </a:r>
            <a:endParaRPr lang="en-US" sz="1000" dirty="0"/>
          </a:p>
        </p:txBody>
      </p:sp>
      <p:sp>
        <p:nvSpPr>
          <p:cNvPr id="33" name="Text 31"/>
          <p:cNvSpPr/>
          <p:nvPr/>
        </p:nvSpPr>
        <p:spPr>
          <a:xfrm>
            <a:off x="7589520" y="243230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Đánh giá mô hình</a:t>
            </a:r>
            <a:endParaRPr lang="en-US" sz="950" dirty="0"/>
          </a:p>
        </p:txBody>
      </p:sp>
      <p:sp>
        <p:nvSpPr>
          <p:cNvPr id="34" name="Shape 32"/>
          <p:cNvSpPr/>
          <p:nvPr/>
        </p:nvSpPr>
        <p:spPr>
          <a:xfrm>
            <a:off x="6400800" y="2761488"/>
            <a:ext cx="2514600" cy="329184"/>
          </a:xfrm>
          <a:prstGeom prst="rect">
            <a:avLst/>
          </a:prstGeom>
          <a:solidFill>
            <a:srgbClr val="D8F3DC"/>
          </a:solidFill>
          <a:ln w="6350">
            <a:solidFill>
              <a:srgbClr val="74C69D"/>
            </a:solidFill>
            <a:prstDash val="solid"/>
          </a:ln>
        </p:spPr>
      </p:sp>
      <p:sp>
        <p:nvSpPr>
          <p:cNvPr id="35" name="Text 33"/>
          <p:cNvSpPr/>
          <p:nvPr/>
        </p:nvSpPr>
        <p:spPr>
          <a:xfrm>
            <a:off x="6492240" y="279806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Streamlit</a:t>
            </a:r>
            <a:endParaRPr lang="en-US" sz="1000" dirty="0"/>
          </a:p>
        </p:txBody>
      </p:sp>
      <p:sp>
        <p:nvSpPr>
          <p:cNvPr id="36" name="Text 34"/>
          <p:cNvSpPr/>
          <p:nvPr/>
        </p:nvSpPr>
        <p:spPr>
          <a:xfrm>
            <a:off x="7589520" y="279806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Giao diện Web Demo</a:t>
            </a:r>
            <a:endParaRPr lang="en-US" sz="950" dirty="0"/>
          </a:p>
        </p:txBody>
      </p:sp>
      <p:sp>
        <p:nvSpPr>
          <p:cNvPr id="37" name="Shape 35"/>
          <p:cNvSpPr/>
          <p:nvPr/>
        </p:nvSpPr>
        <p:spPr>
          <a:xfrm>
            <a:off x="6400800" y="3127248"/>
            <a:ext cx="2514600" cy="329184"/>
          </a:xfrm>
          <a:prstGeom prst="rect">
            <a:avLst/>
          </a:prstGeom>
          <a:solidFill>
            <a:srgbClr val="F8F9FA"/>
          </a:solidFill>
          <a:ln w="6350">
            <a:solidFill>
              <a:srgbClr val="74C69D"/>
            </a:solidFill>
            <a:prstDash val="solid"/>
          </a:ln>
        </p:spPr>
      </p:sp>
      <p:sp>
        <p:nvSpPr>
          <p:cNvPr id="38" name="Text 36"/>
          <p:cNvSpPr/>
          <p:nvPr/>
        </p:nvSpPr>
        <p:spPr>
          <a:xfrm>
            <a:off x="6492240" y="31638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NumPy / Pandas</a:t>
            </a:r>
            <a:endParaRPr lang="en-US" sz="1000" dirty="0"/>
          </a:p>
        </p:txBody>
      </p:sp>
      <p:sp>
        <p:nvSpPr>
          <p:cNvPr id="39" name="Text 37"/>
          <p:cNvSpPr/>
          <p:nvPr/>
        </p:nvSpPr>
        <p:spPr>
          <a:xfrm>
            <a:off x="7589520" y="31638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dữ liệu</a:t>
            </a:r>
            <a:endParaRPr lang="en-US" sz="950" dirty="0"/>
          </a:p>
        </p:txBody>
      </p:sp>
      <p:sp>
        <p:nvSpPr>
          <p:cNvPr id="40" name="Shape 38"/>
          <p:cNvSpPr/>
          <p:nvPr/>
        </p:nvSpPr>
        <p:spPr>
          <a:xfrm>
            <a:off x="6400800" y="3493008"/>
            <a:ext cx="2514600" cy="329184"/>
          </a:xfrm>
          <a:prstGeom prst="rect">
            <a:avLst/>
          </a:prstGeom>
          <a:solidFill>
            <a:srgbClr val="D8F3DC"/>
          </a:solidFill>
          <a:ln w="6350">
            <a:solidFill>
              <a:srgbClr val="74C69D"/>
            </a:solidFill>
            <a:prstDash val="solid"/>
          </a:ln>
        </p:spPr>
      </p:sp>
      <p:sp>
        <p:nvSpPr>
          <p:cNvPr id="41" name="Text 39"/>
          <p:cNvSpPr/>
          <p:nvPr/>
        </p:nvSpPr>
        <p:spPr>
          <a:xfrm>
            <a:off x="6492240" y="35295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Pillow (PIL)</a:t>
            </a:r>
            <a:endParaRPr lang="en-US" sz="1000" dirty="0"/>
          </a:p>
        </p:txBody>
      </p:sp>
      <p:sp>
        <p:nvSpPr>
          <p:cNvPr id="42" name="Text 40"/>
          <p:cNvSpPr/>
          <p:nvPr/>
        </p:nvSpPr>
        <p:spPr>
          <a:xfrm>
            <a:off x="7589520" y="35295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ảnh đầu vào</a:t>
            </a:r>
            <a:endParaRPr lang="en-US" sz="950" dirty="0"/>
          </a:p>
        </p:txBody>
      </p:sp>
      <p:sp>
        <p:nvSpPr>
          <p:cNvPr id="43" name="Shape 41"/>
          <p:cNvSpPr/>
          <p:nvPr/>
        </p:nvSpPr>
        <p:spPr>
          <a:xfrm>
            <a:off x="6400800" y="3858768"/>
            <a:ext cx="2514600" cy="329184"/>
          </a:xfrm>
          <a:prstGeom prst="rect">
            <a:avLst/>
          </a:prstGeom>
          <a:solidFill>
            <a:srgbClr val="F8F9FA"/>
          </a:solidFill>
          <a:ln w="6350">
            <a:solidFill>
              <a:srgbClr val="74C69D"/>
            </a:solidFill>
            <a:prstDash val="solid"/>
          </a:ln>
        </p:spPr>
      </p:sp>
      <p:sp>
        <p:nvSpPr>
          <p:cNvPr id="44" name="Text 42"/>
          <p:cNvSpPr/>
          <p:nvPr/>
        </p:nvSpPr>
        <p:spPr>
          <a:xfrm>
            <a:off x="6492240" y="38953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JSON</a:t>
            </a:r>
            <a:endParaRPr lang="en-US" sz="1000" dirty="0"/>
          </a:p>
        </p:txBody>
      </p:sp>
      <p:sp>
        <p:nvSpPr>
          <p:cNvPr id="45" name="Text 43"/>
          <p:cNvSpPr/>
          <p:nvPr/>
        </p:nvSpPr>
        <p:spPr>
          <a:xfrm>
            <a:off x="7589520" y="38953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Lưu báo cáo XAI</a:t>
            </a:r>
            <a:endParaRPr lang="en-US" sz="950" dirty="0"/>
          </a:p>
        </p:txBody>
      </p:sp>
      <p:sp>
        <p:nvSpPr>
          <p:cNvPr id="46" name="Shape 44"/>
          <p:cNvSpPr/>
          <p:nvPr/>
        </p:nvSpPr>
        <p:spPr>
          <a:xfrm>
            <a:off x="6400800" y="4224528"/>
            <a:ext cx="2514600" cy="365760"/>
          </a:xfrm>
          <a:prstGeom prst="rect">
            <a:avLst/>
          </a:prstGeom>
          <a:solidFill>
            <a:srgbClr val="1B4332"/>
          </a:solidFill>
          <a:ln w="12700">
            <a:solidFill>
              <a:srgbClr val="1B4332"/>
            </a:solidFill>
            <a:prstDash val="solid"/>
          </a:ln>
        </p:spPr>
      </p:sp>
      <p:sp>
        <p:nvSpPr>
          <p:cNvPr id="47" name="Text 45"/>
          <p:cNvSpPr/>
          <p:nvPr/>
        </p:nvSpPr>
        <p:spPr>
          <a:xfrm>
            <a:off x="6400800" y="4224528"/>
            <a:ext cx="2514600" cy="365760"/>
          </a:xfrm>
          <a:prstGeom prst="rect">
            <a:avLst/>
          </a:prstGeom>
          <a:noFill/>
          <a:ln/>
        </p:spPr>
        <p:txBody>
          <a:bodyPr wrap="square" rtlCol="0" anchor="ctr"/>
          <a:lstStyle/>
          <a:p>
            <a:pPr marL="0" indent="0" algn="ctr">
              <a:buNone/>
            </a:pPr>
            <a:r>
              <a:rPr lang="en-US" sz="1050" b="1" dirty="0">
                <a:solidFill>
                  <a:srgbClr val="F4A261"/>
                </a:solidFill>
                <a:latin typeface="Calibri" pitchFamily="34" charset="0"/>
                <a:ea typeface="Calibri" pitchFamily="34" charset="-122"/>
                <a:cs typeface="Calibri" pitchFamily="34" charset="-120"/>
              </a:rPr>
              <a:t>  Explainable AI (XAI) enabled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4" name="Text 2"/>
          <p:cNvSpPr/>
          <p:nvPr/>
        </p:nvSpPr>
        <p:spPr>
          <a:xfrm>
            <a:off x="457200" y="274320"/>
            <a:ext cx="822960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Kết Luận &amp; Hướng Phát Triển</a:t>
            </a:r>
            <a:endParaRPr lang="en-US" sz="2600" dirty="0"/>
          </a:p>
        </p:txBody>
      </p:sp>
      <p:sp>
        <p:nvSpPr>
          <p:cNvPr id="5" name="Shape 3"/>
          <p:cNvSpPr/>
          <p:nvPr/>
        </p:nvSpPr>
        <p:spPr>
          <a:xfrm>
            <a:off x="27432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6" name="Text 4"/>
          <p:cNvSpPr/>
          <p:nvPr/>
        </p:nvSpPr>
        <p:spPr>
          <a:xfrm>
            <a:off x="27432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36576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Đã đạt được</a:t>
            </a:r>
            <a:endParaRPr lang="en-US" sz="1300" dirty="0"/>
          </a:p>
        </p:txBody>
      </p:sp>
      <p:sp>
        <p:nvSpPr>
          <p:cNvPr id="8" name="Shape 6"/>
          <p:cNvSpPr/>
          <p:nvPr/>
        </p:nvSpPr>
        <p:spPr>
          <a:xfrm>
            <a:off x="365760" y="2103120"/>
            <a:ext cx="2560320" cy="36576"/>
          </a:xfrm>
          <a:prstGeom prst="rect">
            <a:avLst/>
          </a:prstGeom>
          <a:solidFill>
            <a:srgbClr val="74C69D"/>
          </a:solidFill>
          <a:ln w="12700">
            <a:solidFill>
              <a:srgbClr val="74C69D"/>
            </a:solidFill>
            <a:prstDash val="solid"/>
          </a:ln>
        </p:spPr>
      </p:sp>
      <p:sp>
        <p:nvSpPr>
          <p:cNvPr id="9" name="Text 7"/>
          <p:cNvSpPr/>
          <p:nvPr/>
        </p:nvSpPr>
        <p:spPr>
          <a:xfrm>
            <a:off x="36576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Xây dựng thành công hệ thống Hybrid CNN + Fuzzy. Accuracy 92.04%, F1-score 0.919 trên 9 lớp bệnh lúa.</a:t>
            </a:r>
            <a:endParaRPr lang="en-US" sz="1050" dirty="0"/>
          </a:p>
        </p:txBody>
      </p:sp>
      <p:sp>
        <p:nvSpPr>
          <p:cNvPr id="10" name="Shape 8"/>
          <p:cNvSpPr/>
          <p:nvPr/>
        </p:nvSpPr>
        <p:spPr>
          <a:xfrm>
            <a:off x="320040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1" name="Text 9"/>
          <p:cNvSpPr/>
          <p:nvPr/>
        </p:nvSpPr>
        <p:spPr>
          <a:xfrm>
            <a:off x="320040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29184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Đóng góp chính</a:t>
            </a:r>
            <a:endParaRPr lang="en-US" sz="1300" dirty="0"/>
          </a:p>
        </p:txBody>
      </p:sp>
      <p:sp>
        <p:nvSpPr>
          <p:cNvPr id="13" name="Shape 11"/>
          <p:cNvSpPr/>
          <p:nvPr/>
        </p:nvSpPr>
        <p:spPr>
          <a:xfrm>
            <a:off x="3291840" y="2103120"/>
            <a:ext cx="2560320" cy="36576"/>
          </a:xfrm>
          <a:prstGeom prst="rect">
            <a:avLst/>
          </a:prstGeom>
          <a:solidFill>
            <a:srgbClr val="74C69D"/>
          </a:solidFill>
          <a:ln w="12700">
            <a:solidFill>
              <a:srgbClr val="74C69D"/>
            </a:solidFill>
            <a:prstDash val="solid"/>
          </a:ln>
        </p:spPr>
      </p:sp>
      <p:sp>
        <p:nvSpPr>
          <p:cNvPr id="14" name="Text 12"/>
          <p:cNvSpPr/>
          <p:nvPr/>
        </p:nvSpPr>
        <p:spPr>
          <a:xfrm>
            <a:off x="329184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Tích hợp XAI qua luật mờ IF-THEN ngôn ngữ tự nhiên. Hệ thống hiệu chỉnh kết quả CNN theo môi trường thực địa.</a:t>
            </a:r>
            <a:endParaRPr lang="en-US" sz="1050" dirty="0"/>
          </a:p>
        </p:txBody>
      </p:sp>
      <p:sp>
        <p:nvSpPr>
          <p:cNvPr id="15" name="Shape 13"/>
          <p:cNvSpPr/>
          <p:nvPr/>
        </p:nvSpPr>
        <p:spPr>
          <a:xfrm>
            <a:off x="612648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6" name="Text 14"/>
          <p:cNvSpPr/>
          <p:nvPr/>
        </p:nvSpPr>
        <p:spPr>
          <a:xfrm>
            <a:off x="612648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21792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Hướng phát triển</a:t>
            </a:r>
            <a:endParaRPr lang="en-US" sz="1300" dirty="0"/>
          </a:p>
        </p:txBody>
      </p:sp>
      <p:sp>
        <p:nvSpPr>
          <p:cNvPr id="18" name="Shape 16"/>
          <p:cNvSpPr/>
          <p:nvPr/>
        </p:nvSpPr>
        <p:spPr>
          <a:xfrm>
            <a:off x="6217920" y="2103120"/>
            <a:ext cx="2560320" cy="36576"/>
          </a:xfrm>
          <a:prstGeom prst="rect">
            <a:avLst/>
          </a:prstGeom>
          <a:solidFill>
            <a:srgbClr val="74C69D"/>
          </a:solidFill>
          <a:ln w="12700">
            <a:solidFill>
              <a:srgbClr val="74C69D"/>
            </a:solidFill>
            <a:prstDash val="solid"/>
          </a:ln>
        </p:spPr>
      </p:sp>
      <p:sp>
        <p:nvSpPr>
          <p:cNvPr id="19" name="Text 17"/>
          <p:cNvSpPr/>
          <p:nvPr/>
        </p:nvSpPr>
        <p:spPr>
          <a:xfrm>
            <a:off x="621792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Mở rộng sang nhiều loại cây trồng. Tích hợp IoT, camera thực địa. Triển khai mobile app cho nông dân.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DD7E207E-EDBC-CD22-9729-00C003B227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E22942-CEA4-A783-8C06-77421F3FCF1C}"/>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24772EB4-AA0E-F0EB-84BE-68556B61F55C}"/>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1E9B804B-DBCA-3881-B7C4-EB3AFC732D3B}"/>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C39A1BAF-E3D5-5BBE-3DE9-8A293A9A0729}"/>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32" name="TextBox 31">
            <a:extLst>
              <a:ext uri="{FF2B5EF4-FFF2-40B4-BE49-F238E27FC236}">
                <a16:creationId xmlns:a16="http://schemas.microsoft.com/office/drawing/2014/main" id="{26B4C475-3F61-CE7D-A34F-1EA4EDCBEDC5}"/>
              </a:ext>
            </a:extLst>
          </p:cNvPr>
          <p:cNvSpPr txBox="1"/>
          <p:nvPr/>
        </p:nvSpPr>
        <p:spPr>
          <a:xfrm>
            <a:off x="1825283" y="2329934"/>
            <a:ext cx="5493434" cy="369332"/>
          </a:xfrm>
          <a:prstGeom prst="rect">
            <a:avLst/>
          </a:prstGeom>
          <a:noFill/>
        </p:spPr>
        <p:txBody>
          <a:bodyPr wrap="square">
            <a:spAutoFit/>
          </a:bodyPr>
          <a:lstStyle/>
          <a:p>
            <a:endParaRPr lang="en-US" dirty="0"/>
          </a:p>
        </p:txBody>
      </p:sp>
      <p:pic>
        <p:nvPicPr>
          <p:cNvPr id="34" name="Picture 33">
            <a:extLst>
              <a:ext uri="{FF2B5EF4-FFF2-40B4-BE49-F238E27FC236}">
                <a16:creationId xmlns:a16="http://schemas.microsoft.com/office/drawing/2014/main" id="{15699D6D-8680-5659-B636-8AB7C7710B9D}"/>
              </a:ext>
            </a:extLst>
          </p:cNvPr>
          <p:cNvPicPr>
            <a:picLocks noChangeAspect="1"/>
          </p:cNvPicPr>
          <p:nvPr/>
        </p:nvPicPr>
        <p:blipFill>
          <a:blip r:embed="rId3"/>
          <a:stretch>
            <a:fillRect/>
          </a:stretch>
        </p:blipFill>
        <p:spPr>
          <a:xfrm>
            <a:off x="0" y="0"/>
            <a:ext cx="9144000" cy="5143500"/>
          </a:xfrm>
          <a:prstGeom prst="rect">
            <a:avLst/>
          </a:prstGeom>
        </p:spPr>
      </p:pic>
      <p:pic>
        <p:nvPicPr>
          <p:cNvPr id="6" name="Picture 5">
            <a:extLst>
              <a:ext uri="{FF2B5EF4-FFF2-40B4-BE49-F238E27FC236}">
                <a16:creationId xmlns:a16="http://schemas.microsoft.com/office/drawing/2014/main" id="{44517B69-25BF-945A-0776-41D97E561DE4}"/>
              </a:ext>
            </a:extLst>
          </p:cNvPr>
          <p:cNvPicPr>
            <a:picLocks noChangeAspect="1"/>
          </p:cNvPicPr>
          <p:nvPr/>
        </p:nvPicPr>
        <p:blipFill>
          <a:blip r:embed="rId4"/>
          <a:stretch>
            <a:fillRect/>
          </a:stretch>
        </p:blipFill>
        <p:spPr>
          <a:xfrm>
            <a:off x="0" y="0"/>
            <a:ext cx="1307214" cy="1084709"/>
          </a:xfrm>
          <a:prstGeom prst="ellipse">
            <a:avLst/>
          </a:prstGeom>
        </p:spPr>
      </p:pic>
    </p:spTree>
    <p:extLst>
      <p:ext uri="{BB962C8B-B14F-4D97-AF65-F5344CB8AC3E}">
        <p14:creationId xmlns:p14="http://schemas.microsoft.com/office/powerpoint/2010/main" val="1128028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2382</Words>
  <Application>Microsoft Office PowerPoint</Application>
  <PresentationFormat>On-screen Show (16:9)</PresentationFormat>
  <Paragraphs>280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Intelligent System for Plant Disease Severity Assessment using Fuzzy Inference</dc:title>
  <dc:subject>PptxGenJS Presentation</dc:subject>
  <dc:creator>PptxGenJS</dc:creator>
  <cp:lastModifiedBy>Tran Khanh Trang</cp:lastModifiedBy>
  <cp:revision>15</cp:revision>
  <dcterms:created xsi:type="dcterms:W3CDTF">2026-05-30T02:04:36Z</dcterms:created>
  <dcterms:modified xsi:type="dcterms:W3CDTF">2026-06-01T09:32:18Z</dcterms:modified>
</cp:coreProperties>
</file>