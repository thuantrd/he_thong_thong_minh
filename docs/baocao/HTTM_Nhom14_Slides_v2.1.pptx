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74" r:id="rId4"/>
    <p:sldId id="266" r:id="rId5"/>
    <p:sldId id="277" r:id="rId6"/>
    <p:sldId id="273" r:id="rId7"/>
    <p:sldId id="272" r:id="rId8"/>
    <p:sldId id="267" r:id="rId9"/>
    <p:sldId id="259" r:id="rId10"/>
    <p:sldId id="260" r:id="rId11"/>
    <p:sldId id="264" r:id="rId12"/>
    <p:sldId id="263" r:id="rId13"/>
    <p:sldId id="265" r:id="rId14"/>
    <p:sldId id="276" r:id="rId15"/>
    <p:sldId id="278" r:id="rId16"/>
    <p:sldId id="275" r:id="rId17"/>
    <p:sldId id="270"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ran Khanh Trang" initials="TT" lastIdx="2" clrIdx="0">
    <p:extLst>
      <p:ext uri="{19B8F6BF-5375-455C-9EA6-DF929625EA0E}">
        <p15:presenceInfo xmlns:p15="http://schemas.microsoft.com/office/powerpoint/2012/main" userId="S::228116842@e.tlu.edu.vn::8d253a26-78aa-4da7-853b-8ada7af2bc3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62" d="100"/>
          <a:sy n="162" d="100"/>
        </p:scale>
        <p:origin x="14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F1-Score</c:v>
                </c:pt>
              </c:strCache>
            </c:strRef>
          </c:tx>
          <c:spPr>
            <a:solidFill>
              <a:srgbClr val="2D6A4F"/>
            </a:solidFill>
            <a:effectLst/>
          </c:spPr>
          <c:invertIfNegative val="0"/>
          <c:cat>
            <c:strRef>
              <c:f>Sheet1!$A$2:$A$10</c:f>
              <c:strCache>
                <c:ptCount val="9"/>
                <c:pt idx="0">
                  <c:v>Healthy</c:v>
                </c:pt>
                <c:pt idx="1">
                  <c:v>Mild Blast</c:v>
                </c:pt>
                <c:pt idx="2">
                  <c:v>Severe Blast</c:v>
                </c:pt>
                <c:pt idx="3">
                  <c:v>Mild B.Blight</c:v>
                </c:pt>
                <c:pt idx="4">
                  <c:v>Severe B.Blight</c:v>
                </c:pt>
                <c:pt idx="5">
                  <c:v>Mild Brownspot</c:v>
                </c:pt>
                <c:pt idx="6">
                  <c:v>Severe Brownspot</c:v>
                </c:pt>
                <c:pt idx="7">
                  <c:v>Mild Tungro</c:v>
                </c:pt>
                <c:pt idx="8">
                  <c:v>Severe Tungro</c:v>
                </c:pt>
              </c:strCache>
            </c:strRef>
          </c:cat>
          <c:val>
            <c:numRef>
              <c:f>Sheet1!$B$2:$B$10</c:f>
              <c:numCache>
                <c:formatCode>General</c:formatCode>
                <c:ptCount val="9"/>
                <c:pt idx="0">
                  <c:v>1</c:v>
                </c:pt>
                <c:pt idx="1">
                  <c:v>0.92300000000000004</c:v>
                </c:pt>
                <c:pt idx="2">
                  <c:v>0.92100000000000004</c:v>
                </c:pt>
                <c:pt idx="3">
                  <c:v>0.92100000000000004</c:v>
                </c:pt>
                <c:pt idx="4">
                  <c:v>0.91</c:v>
                </c:pt>
                <c:pt idx="5">
                  <c:v>0.89100000000000001</c:v>
                </c:pt>
                <c:pt idx="6">
                  <c:v>0.87</c:v>
                </c:pt>
                <c:pt idx="7">
                  <c:v>0.97499999999999998</c:v>
                </c:pt>
                <c:pt idx="8">
                  <c:v>0.98499999999999999</c:v>
                </c:pt>
              </c:numCache>
            </c:numRef>
          </c:val>
          <c:extLst>
            <c:ext xmlns:c16="http://schemas.microsoft.com/office/drawing/2014/chart" uri="{C3380CC4-5D6E-409C-BE32-E72D297353CC}">
              <c16:uniqueId val="{00000000-ED62-4A56-B121-D288099B9B2A}"/>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44444"/>
                </a:solidFill>
                <a:latin typeface="Arial"/>
              </a:defRPr>
            </a:pPr>
            <a:endParaRPr lang="en-US"/>
          </a:p>
        </c:txPr>
        <c:crossAx val="2094734552"/>
        <c:crosses val="autoZero"/>
        <c:auto val="1"/>
        <c:lblAlgn val="ctr"/>
        <c:lblOffset val="100"/>
        <c:noMultiLvlLbl val="1"/>
      </c:catAx>
      <c:valAx>
        <c:axId val="2094734552"/>
        <c:scaling>
          <c:orientation val="minMax"/>
          <c:max val="1"/>
          <c:min val="0.8"/>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444444"/>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8F9F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2457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2868C-4060-C7EB-6975-EFBDEDF5B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5DDF06-F02D-CF2A-9022-273CB1D4AC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B75559-E63D-E680-1E1E-C981FC770B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7CBCEB-C864-A04C-D7E4-7E345EB69F1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4740873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DAA5F-B547-3B1B-C26C-A0630936D7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B2F31A-548E-CEBA-B793-6A457F60F2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B5326-E137-2695-9793-1E713A6B51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6D2A39-11F0-09C5-4717-07064E806A49}"/>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4613801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CE12F-0169-4F03-1ED9-76465AF58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8D8744-DC81-35F3-FBDC-6BD8CCB00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A50644-471C-BE3A-9927-5E097E034E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9C661A-8399-97D7-0EF0-A20AFC029482}"/>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0602406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CF2AA-96ED-649C-6466-5B63D08DF4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6E0357-F613-08E5-53A9-1EF50B2E80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910D34-E7D3-8703-FC13-9A5426E409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0208EA-C960-68E2-DF6B-2DCC3FD4C425}"/>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4870962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875F1-2B2E-8A00-DA06-EC21D69ECE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084F69-0C4B-ABFE-083B-B226C5A6A5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E4BE47-288F-0914-0F39-4DECF57BF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A63D3C-A4D1-493B-8697-B12A846B3A6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5368812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3EE07-467B-7F9A-8B3C-32184605B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8771AC-B5C0-96A6-3151-1F47B7A7B5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FE5766-33DF-B27E-77A7-548FD37E0F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516BA5-63E9-72DB-BBFF-8494C9446B82}"/>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8448772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56444-4316-2E2C-68A2-1139957B11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D9596C-5F17-87DB-4615-1934012CA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A8A5F-2CEF-46F8-C2DB-87FE24C41A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E93F97-4763-F4A0-A198-9F6E14756C7D}"/>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399428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D9A2-D1EB-7728-C34E-725895B8C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92535C-B75E-DA2E-A504-58BD981941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168348-A636-B2F2-CB5F-0AAFF23415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9F4719-C078-0AFD-2814-1CFF51D334AC}"/>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9857162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938C-84CA-A40E-0448-A5C7BAED76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5546F1-4E0F-203F-3745-22951160D3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A4143-48DB-0EF4-CE94-07105E47C7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54A0F1-39F9-3F3D-CC2D-6E3F79508399}"/>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7973291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8DFB4-6880-9DCE-D040-C01069B71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258A3-F516-56E2-63F7-904A322937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0978-87AC-17A1-B5CA-6E5BC7C290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9BA0A7-2BEB-44B1-51C0-81E75C85F2DC}"/>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7767366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hyperlink" Target="https://www.kaggle.com/datasets/isaacritharson/severity-based-rice-leaf-diseases-dataset"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4332"/>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74C69D"/>
          </a:solidFill>
          <a:ln w="12700">
            <a:solidFill>
              <a:srgbClr val="74C69D"/>
            </a:solidFill>
            <a:prstDash val="solid"/>
          </a:ln>
        </p:spPr>
      </p:sp>
      <p:sp>
        <p:nvSpPr>
          <p:cNvPr id="3" name="Shape 1"/>
          <p:cNvSpPr/>
          <p:nvPr/>
        </p:nvSpPr>
        <p:spPr>
          <a:xfrm>
            <a:off x="137160" y="0"/>
            <a:ext cx="73152" cy="5143500"/>
          </a:xfrm>
          <a:prstGeom prst="rect">
            <a:avLst/>
          </a:prstGeom>
          <a:solidFill>
            <a:srgbClr val="40916C"/>
          </a:solidFill>
          <a:ln w="12700">
            <a:solidFill>
              <a:srgbClr val="40916C"/>
            </a:solidFill>
            <a:prstDash val="solid"/>
          </a:ln>
        </p:spPr>
      </p:sp>
      <p:sp>
        <p:nvSpPr>
          <p:cNvPr id="4" name="Shape 2"/>
          <p:cNvSpPr/>
          <p:nvPr/>
        </p:nvSpPr>
        <p:spPr>
          <a:xfrm>
            <a:off x="6858000" y="-1371600"/>
            <a:ext cx="4114800" cy="4114800"/>
          </a:xfrm>
          <a:prstGeom prst="ellipse">
            <a:avLst/>
          </a:prstGeom>
          <a:solidFill>
            <a:srgbClr val="2D6A4F">
              <a:alpha val="40000"/>
            </a:srgbClr>
          </a:solidFill>
          <a:ln w="12700">
            <a:solidFill>
              <a:srgbClr val="2D6A4F">
                <a:alpha val="40000"/>
              </a:srgbClr>
            </a:solidFill>
            <a:prstDash val="solid"/>
          </a:ln>
        </p:spPr>
      </p:sp>
      <p:sp>
        <p:nvSpPr>
          <p:cNvPr id="5" name="Shape 3"/>
          <p:cNvSpPr/>
          <p:nvPr/>
        </p:nvSpPr>
        <p:spPr>
          <a:xfrm>
            <a:off x="6400800" y="2286000"/>
            <a:ext cx="3200400" cy="3200400"/>
          </a:xfrm>
          <a:prstGeom prst="ellipse">
            <a:avLst/>
          </a:prstGeom>
          <a:solidFill>
            <a:srgbClr val="40916C">
              <a:alpha val="30000"/>
            </a:srgbClr>
          </a:solidFill>
          <a:ln w="12700">
            <a:solidFill>
              <a:srgbClr val="40916C">
                <a:alpha val="30000"/>
              </a:srgbClr>
            </a:solidFill>
            <a:prstDash val="solid"/>
          </a:ln>
        </p:spPr>
      </p:sp>
      <p:sp>
        <p:nvSpPr>
          <p:cNvPr id="6" name="Text 4"/>
          <p:cNvSpPr/>
          <p:nvPr/>
        </p:nvSpPr>
        <p:spPr>
          <a:xfrm>
            <a:off x="457200" y="320040"/>
            <a:ext cx="7772400" cy="365760"/>
          </a:xfrm>
          <a:prstGeom prst="rect">
            <a:avLst/>
          </a:prstGeom>
          <a:noFill/>
          <a:ln/>
        </p:spPr>
        <p:txBody>
          <a:bodyPr wrap="square" rtlCol="0" anchor="ctr"/>
          <a:lstStyle/>
          <a:p>
            <a:pPr marL="0" indent="0" algn="l">
              <a:buNone/>
            </a:pPr>
            <a:r>
              <a:rPr lang="en-US" sz="1100" b="1" kern="0" spc="300" dirty="0">
                <a:solidFill>
                  <a:srgbClr val="74C69D"/>
                </a:solidFill>
                <a:latin typeface="Calibri" pitchFamily="34" charset="0"/>
                <a:ea typeface="Calibri" pitchFamily="34" charset="-122"/>
                <a:cs typeface="Calibri" pitchFamily="34" charset="-120"/>
              </a:rPr>
              <a:t>TRƯỜNG ĐẠI HỌC THỦY LỢI</a:t>
            </a:r>
            <a:endParaRPr lang="en-US" sz="1100" dirty="0"/>
          </a:p>
        </p:txBody>
      </p:sp>
      <p:sp>
        <p:nvSpPr>
          <p:cNvPr id="7" name="Text 5"/>
          <p:cNvSpPr/>
          <p:nvPr/>
        </p:nvSpPr>
        <p:spPr>
          <a:xfrm>
            <a:off x="457200" y="685800"/>
            <a:ext cx="7772400" cy="320040"/>
          </a:xfrm>
          <a:prstGeom prst="rect">
            <a:avLst/>
          </a:prstGeom>
          <a:noFill/>
          <a:ln/>
        </p:spPr>
        <p:txBody>
          <a:bodyPr wrap="square" rtlCol="0" anchor="ctr"/>
          <a:lstStyle/>
          <a:p>
            <a:pPr marL="0" indent="0" algn="l">
              <a:buNone/>
            </a:pPr>
            <a:r>
              <a:rPr lang="en-US" sz="1000" b="1" dirty="0">
                <a:solidFill>
                  <a:srgbClr val="74C69D"/>
                </a:solidFill>
                <a:latin typeface="Calibri" pitchFamily="34" charset="0"/>
                <a:ea typeface="Calibri" pitchFamily="34" charset="-122"/>
                <a:cs typeface="Calibri" pitchFamily="34" charset="-120"/>
              </a:rPr>
              <a:t>MÔN HỌC - HỆ THỐNG THÔNG MINH</a:t>
            </a:r>
            <a:endParaRPr lang="en-US" sz="1000" b="1" dirty="0"/>
          </a:p>
        </p:txBody>
      </p:sp>
      <p:sp>
        <p:nvSpPr>
          <p:cNvPr id="8" name="Text 6"/>
          <p:cNvSpPr/>
          <p:nvPr/>
        </p:nvSpPr>
        <p:spPr>
          <a:xfrm>
            <a:off x="457200" y="1143000"/>
            <a:ext cx="8229600" cy="640080"/>
          </a:xfrm>
          <a:prstGeom prst="rect">
            <a:avLst/>
          </a:prstGeom>
          <a:noFill/>
          <a:ln/>
        </p:spPr>
        <p:txBody>
          <a:bodyPr wrap="square" rtlCol="0" anchor="ctr"/>
          <a:lstStyle/>
          <a:p>
            <a:pPr marL="0" indent="0" algn="l">
              <a:buNone/>
            </a:pPr>
            <a:r>
              <a:rPr lang="en-US" sz="3200" b="1" dirty="0" err="1">
                <a:solidFill>
                  <a:srgbClr val="FFFFFF"/>
                </a:solidFill>
                <a:latin typeface="Calibri" pitchFamily="34" charset="0"/>
                <a:ea typeface="Calibri" pitchFamily="34" charset="-122"/>
                <a:cs typeface="Calibri" pitchFamily="34" charset="-120"/>
              </a:rPr>
              <a:t>Đề</a:t>
            </a:r>
            <a:r>
              <a:rPr lang="en-US" sz="3200" b="1" dirty="0">
                <a:solidFill>
                  <a:srgbClr val="FFFFFF"/>
                </a:solidFill>
                <a:latin typeface="Calibri" pitchFamily="34" charset="0"/>
                <a:ea typeface="Calibri" pitchFamily="34" charset="-122"/>
                <a:cs typeface="Calibri" pitchFamily="34" charset="-120"/>
              </a:rPr>
              <a:t> </a:t>
            </a:r>
            <a:r>
              <a:rPr lang="en-US" sz="3200" b="1" dirty="0" err="1">
                <a:solidFill>
                  <a:srgbClr val="FFFFFF"/>
                </a:solidFill>
                <a:latin typeface="Calibri" pitchFamily="34" charset="0"/>
                <a:ea typeface="Calibri" pitchFamily="34" charset="-122"/>
                <a:cs typeface="Calibri" pitchFamily="34" charset="-120"/>
              </a:rPr>
              <a:t>tài</a:t>
            </a:r>
            <a:r>
              <a:rPr lang="en-US" sz="3200" b="1" dirty="0">
                <a:solidFill>
                  <a:srgbClr val="FFFFFF"/>
                </a:solidFill>
                <a:latin typeface="Calibri" pitchFamily="34" charset="0"/>
                <a:ea typeface="Calibri" pitchFamily="34" charset="-122"/>
                <a:cs typeface="Calibri" pitchFamily="34" charset="-120"/>
              </a:rPr>
              <a:t>: An Explainable Intelligent System</a:t>
            </a:r>
            <a:endParaRPr lang="en-US" sz="3200" dirty="0"/>
          </a:p>
        </p:txBody>
      </p:sp>
      <p:sp>
        <p:nvSpPr>
          <p:cNvPr id="9" name="Text 7"/>
          <p:cNvSpPr/>
          <p:nvPr/>
        </p:nvSpPr>
        <p:spPr>
          <a:xfrm>
            <a:off x="457200" y="1737360"/>
            <a:ext cx="8229600" cy="548640"/>
          </a:xfrm>
          <a:prstGeom prst="rect">
            <a:avLst/>
          </a:prstGeom>
          <a:noFill/>
          <a:ln/>
        </p:spPr>
        <p:txBody>
          <a:bodyPr wrap="square" rtlCol="0" anchor="ctr"/>
          <a:lstStyle/>
          <a:p>
            <a:pPr marL="0" indent="0" algn="l">
              <a:buNone/>
            </a:pPr>
            <a:r>
              <a:rPr lang="en-US" sz="2800" b="1" dirty="0">
                <a:solidFill>
                  <a:srgbClr val="74C69D"/>
                </a:solidFill>
                <a:latin typeface="Calibri" pitchFamily="34" charset="0"/>
                <a:ea typeface="Calibri" pitchFamily="34" charset="-122"/>
                <a:cs typeface="Calibri" pitchFamily="34" charset="-120"/>
              </a:rPr>
              <a:t>For Plant Disease Severity Assessment</a:t>
            </a:r>
            <a:endParaRPr lang="en-US" sz="2800" dirty="0"/>
          </a:p>
        </p:txBody>
      </p:sp>
      <p:sp>
        <p:nvSpPr>
          <p:cNvPr id="10" name="Text 8"/>
          <p:cNvSpPr/>
          <p:nvPr/>
        </p:nvSpPr>
        <p:spPr>
          <a:xfrm>
            <a:off x="457200" y="2240280"/>
            <a:ext cx="8229600" cy="502920"/>
          </a:xfrm>
          <a:prstGeom prst="rect">
            <a:avLst/>
          </a:prstGeom>
          <a:noFill/>
          <a:ln/>
        </p:spPr>
        <p:txBody>
          <a:bodyPr wrap="square" rtlCol="0" anchor="ctr"/>
          <a:lstStyle/>
          <a:p>
            <a:pPr marL="0" indent="0" algn="l">
              <a:buNone/>
            </a:pPr>
            <a:r>
              <a:rPr lang="en-US" sz="2800" b="1" dirty="0">
                <a:solidFill>
                  <a:srgbClr val="74C69D"/>
                </a:solidFill>
                <a:latin typeface="Calibri" pitchFamily="34" charset="0"/>
                <a:ea typeface="Calibri" pitchFamily="34" charset="-122"/>
                <a:cs typeface="Calibri" pitchFamily="34" charset="-120"/>
              </a:rPr>
              <a:t>using Fuzzy Inference</a:t>
            </a:r>
            <a:endParaRPr lang="en-US" sz="2800" dirty="0"/>
          </a:p>
        </p:txBody>
      </p:sp>
      <p:sp>
        <p:nvSpPr>
          <p:cNvPr id="11" name="Shape 9"/>
          <p:cNvSpPr/>
          <p:nvPr/>
        </p:nvSpPr>
        <p:spPr>
          <a:xfrm>
            <a:off x="457200" y="2834640"/>
            <a:ext cx="5029200" cy="36576"/>
          </a:xfrm>
          <a:prstGeom prst="rect">
            <a:avLst/>
          </a:prstGeom>
          <a:solidFill>
            <a:srgbClr val="74C69D"/>
          </a:solidFill>
          <a:ln w="12700">
            <a:solidFill>
              <a:srgbClr val="74C69D"/>
            </a:solidFill>
            <a:prstDash val="solid"/>
          </a:ln>
        </p:spPr>
      </p:sp>
      <p:sp>
        <p:nvSpPr>
          <p:cNvPr id="12" name="Shape 10"/>
          <p:cNvSpPr/>
          <p:nvPr/>
        </p:nvSpPr>
        <p:spPr>
          <a:xfrm>
            <a:off x="457200" y="3315515"/>
            <a:ext cx="5029200" cy="1227046"/>
          </a:xfrm>
          <a:prstGeom prst="rect">
            <a:avLst/>
          </a:prstGeom>
          <a:solidFill>
            <a:srgbClr val="2D6A4F">
              <a:alpha val="60000"/>
            </a:srgbClr>
          </a:solidFill>
          <a:ln w="12700">
            <a:solidFill>
              <a:srgbClr val="74C69D"/>
            </a:solidFill>
            <a:prstDash val="solid"/>
          </a:ln>
        </p:spPr>
      </p:sp>
      <p:sp>
        <p:nvSpPr>
          <p:cNvPr id="13" name="Text 11"/>
          <p:cNvSpPr/>
          <p:nvPr/>
        </p:nvSpPr>
        <p:spPr>
          <a:xfrm>
            <a:off x="594685" y="3516875"/>
            <a:ext cx="4663440" cy="940825"/>
          </a:xfrm>
          <a:prstGeom prst="rect">
            <a:avLst/>
          </a:prstGeom>
          <a:noFill/>
          <a:ln/>
        </p:spPr>
        <p:txBody>
          <a:bodyPr wrap="square" rtlCol="0" anchor="ctr"/>
          <a:lstStyle/>
          <a:p>
            <a:r>
              <a:rPr lang="en-US" sz="1200" b="1" dirty="0">
                <a:solidFill>
                  <a:srgbClr val="F4A261"/>
                </a:solidFill>
                <a:latin typeface="Calibri" pitchFamily="34" charset="0"/>
                <a:ea typeface="Calibri" pitchFamily="34" charset="-122"/>
                <a:cs typeface="Calibri" pitchFamily="34" charset="-120"/>
              </a:rPr>
              <a:t>Học </a:t>
            </a:r>
            <a:r>
              <a:rPr lang="en-US" sz="1200" b="1" dirty="0" err="1">
                <a:solidFill>
                  <a:srgbClr val="F4A261"/>
                </a:solidFill>
                <a:latin typeface="Calibri" pitchFamily="34" charset="0"/>
                <a:ea typeface="Calibri" pitchFamily="34" charset="-122"/>
                <a:cs typeface="Calibri" pitchFamily="34" charset="-120"/>
              </a:rPr>
              <a:t>viên</a:t>
            </a:r>
            <a:r>
              <a:rPr lang="en-US" sz="1200" b="1" dirty="0">
                <a:solidFill>
                  <a:srgbClr val="F4A261"/>
                </a:solidFill>
                <a:latin typeface="Calibri" pitchFamily="34" charset="0"/>
                <a:ea typeface="Calibri" pitchFamily="34" charset="-122"/>
                <a:cs typeface="Calibri" pitchFamily="34" charset="-120"/>
              </a:rPr>
              <a:t> </a:t>
            </a:r>
            <a:r>
              <a:rPr lang="en-US" sz="1200" b="1" dirty="0" err="1">
                <a:solidFill>
                  <a:srgbClr val="F4A261"/>
                </a:solidFill>
                <a:latin typeface="Calibri" pitchFamily="34" charset="0"/>
                <a:ea typeface="Calibri" pitchFamily="34" charset="-122"/>
                <a:cs typeface="Calibri" pitchFamily="34" charset="-120"/>
              </a:rPr>
              <a:t>Nhóm</a:t>
            </a:r>
            <a:r>
              <a:rPr lang="en-US" sz="1200" b="1" dirty="0">
                <a:solidFill>
                  <a:srgbClr val="F4A261"/>
                </a:solidFill>
                <a:latin typeface="Calibri" pitchFamily="34" charset="0"/>
                <a:ea typeface="Calibri" pitchFamily="34" charset="-122"/>
                <a:cs typeface="Calibri" pitchFamily="34" charset="-120"/>
              </a:rPr>
              <a:t> 14
</a:t>
            </a:r>
          </a:p>
          <a:p>
            <a:pPr marL="171450" indent="-171450">
              <a:buFont typeface="Arial" panose="020B0604020202020204" pitchFamily="34" charset="0"/>
              <a:buChar char="•"/>
            </a:pPr>
            <a:r>
              <a:rPr lang="en-US" sz="1100" dirty="0">
                <a:solidFill>
                  <a:srgbClr val="FFFFFF"/>
                </a:solidFill>
                <a:latin typeface="Calibri" pitchFamily="34" charset="0"/>
                <a:ea typeface="Calibri" pitchFamily="34" charset="-122"/>
                <a:cs typeface="Calibri" pitchFamily="34" charset="-120"/>
              </a:rPr>
              <a:t>Trần Khánh Trang - 32CNTT21 - 248218749
Hoàng Quốc Việt  - 33CNTT21 - 2582019033</a:t>
            </a:r>
          </a:p>
          <a:p>
            <a:pPr marL="171450" indent="-171450">
              <a:buFont typeface="Arial" panose="020B0604020202020204" pitchFamily="34" charset="0"/>
              <a:buChar char="•"/>
            </a:pPr>
            <a:r>
              <a:rPr lang="en-US" sz="1100" dirty="0">
                <a:solidFill>
                  <a:srgbClr val="FFFFFF"/>
                </a:solidFill>
                <a:latin typeface="Calibri" pitchFamily="34" charset="0"/>
                <a:ea typeface="Calibri" pitchFamily="34" charset="-122"/>
                <a:cs typeface="Calibri" pitchFamily="34" charset="-120"/>
              </a:rPr>
              <a:t>Trần </a:t>
            </a:r>
            <a:r>
              <a:rPr lang="en-US" sz="1100" dirty="0" err="1">
                <a:solidFill>
                  <a:srgbClr val="FFFFFF"/>
                </a:solidFill>
                <a:latin typeface="Calibri" pitchFamily="34" charset="0"/>
                <a:ea typeface="Calibri" pitchFamily="34" charset="-122"/>
                <a:cs typeface="Calibri" pitchFamily="34" charset="-120"/>
              </a:rPr>
              <a:t>Đình</a:t>
            </a:r>
            <a:r>
              <a:rPr lang="en-US" sz="1100" dirty="0">
                <a:solidFill>
                  <a:srgbClr val="FFFFFF"/>
                </a:solidFill>
                <a:latin typeface="Calibri" pitchFamily="34" charset="0"/>
                <a:ea typeface="Calibri" pitchFamily="34" charset="-122"/>
                <a:cs typeface="Calibri" pitchFamily="34" charset="-120"/>
              </a:rPr>
              <a:t> </a:t>
            </a:r>
            <a:r>
              <a:rPr lang="en-US" sz="1100" dirty="0" err="1">
                <a:solidFill>
                  <a:srgbClr val="FFFFFF"/>
                </a:solidFill>
                <a:latin typeface="Calibri" pitchFamily="34" charset="0"/>
                <a:ea typeface="Calibri" pitchFamily="34" charset="-122"/>
                <a:cs typeface="Calibri" pitchFamily="34" charset="-120"/>
              </a:rPr>
              <a:t>Thuận</a:t>
            </a:r>
            <a:r>
              <a:rPr lang="en-US" sz="1100" dirty="0">
                <a:solidFill>
                  <a:srgbClr val="FFFFFF"/>
                </a:solidFill>
                <a:latin typeface="Calibri" pitchFamily="34" charset="0"/>
                <a:ea typeface="Calibri" pitchFamily="34" charset="-122"/>
                <a:cs typeface="Calibri" pitchFamily="34" charset="-120"/>
              </a:rPr>
              <a:t>   - 33CNTT21 - C2251262648</a:t>
            </a:r>
          </a:p>
          <a:p>
            <a:r>
              <a:rPr lang="en-US" sz="1100" dirty="0">
                <a:solidFill>
                  <a:srgbClr val="FFFFFF"/>
                </a:solidFill>
                <a:latin typeface="Calibri" pitchFamily="34" charset="0"/>
                <a:ea typeface="Calibri" pitchFamily="34" charset="-122"/>
                <a:cs typeface="Calibri" pitchFamily="34" charset="-120"/>
              </a:rPr>
              <a:t> 
</a:t>
            </a:r>
            <a:endParaRPr lang="en-US" sz="1100" dirty="0"/>
          </a:p>
        </p:txBody>
      </p:sp>
      <p:sp>
        <p:nvSpPr>
          <p:cNvPr id="14" name="Text 12"/>
          <p:cNvSpPr/>
          <p:nvPr/>
        </p:nvSpPr>
        <p:spPr>
          <a:xfrm>
            <a:off x="455256" y="2822645"/>
            <a:ext cx="5011689" cy="531519"/>
          </a:xfrm>
          <a:prstGeom prst="rect">
            <a:avLst/>
          </a:prstGeom>
          <a:noFill/>
          <a:ln/>
        </p:spPr>
        <p:txBody>
          <a:bodyPr wrap="square" rtlCol="0" anchor="ctr"/>
          <a:lstStyle/>
          <a:p>
            <a:r>
              <a:rPr lang="en-US" sz="1600" b="1" dirty="0">
                <a:solidFill>
                  <a:srgbClr val="F4A261"/>
                </a:solidFill>
                <a:latin typeface="Calibri" pitchFamily="34" charset="0"/>
                <a:ea typeface="Calibri" pitchFamily="34" charset="-122"/>
                <a:cs typeface="Calibri" pitchFamily="34" charset="-120"/>
              </a:rPr>
              <a:t>Giảng viên hướng </a:t>
            </a:r>
            <a:r>
              <a:rPr lang="en-US" sz="1600" b="1" dirty="0" err="1">
                <a:solidFill>
                  <a:srgbClr val="F4A261"/>
                </a:solidFill>
                <a:latin typeface="Calibri" pitchFamily="34" charset="0"/>
                <a:ea typeface="Calibri" pitchFamily="34" charset="-122"/>
                <a:cs typeface="Calibri" pitchFamily="34" charset="-120"/>
              </a:rPr>
              <a:t>dẫn</a:t>
            </a:r>
            <a:r>
              <a:rPr lang="en-US" sz="1600" b="1" dirty="0">
                <a:solidFill>
                  <a:srgbClr val="F4A261"/>
                </a:solidFill>
                <a:latin typeface="Calibri" pitchFamily="34" charset="0"/>
                <a:ea typeface="Calibri" pitchFamily="34" charset="-122"/>
                <a:cs typeface="Calibri" pitchFamily="34" charset="-120"/>
              </a:rPr>
              <a:t>: </a:t>
            </a:r>
            <a:r>
              <a:rPr lang="en-US" sz="1600" b="1" dirty="0">
                <a:solidFill>
                  <a:srgbClr val="FFFFFF"/>
                </a:solidFill>
                <a:latin typeface="Calibri" pitchFamily="34" charset="0"/>
                <a:ea typeface="Calibri" pitchFamily="34" charset="-122"/>
                <a:cs typeface="Calibri" pitchFamily="34" charset="-120"/>
              </a:rPr>
              <a:t>TS. Trần Mạnh Tuấn</a:t>
            </a:r>
            <a:endParaRPr lang="en-US" sz="1600" dirty="0"/>
          </a:p>
        </p:txBody>
      </p:sp>
      <p:sp>
        <p:nvSpPr>
          <p:cNvPr id="15" name="Text 13"/>
          <p:cNvSpPr/>
          <p:nvPr/>
        </p:nvSpPr>
        <p:spPr>
          <a:xfrm>
            <a:off x="2536974" y="4594441"/>
            <a:ext cx="3291840" cy="365760"/>
          </a:xfrm>
          <a:prstGeom prst="rect">
            <a:avLst/>
          </a:prstGeom>
          <a:noFill/>
          <a:ln/>
        </p:spPr>
        <p:txBody>
          <a:bodyPr wrap="square" rtlCol="0" anchor="ctr"/>
          <a:lstStyle/>
          <a:p>
            <a:pPr marL="0" indent="0" algn="ctr">
              <a:buNone/>
            </a:pPr>
            <a:r>
              <a:rPr lang="en-US" sz="1600" b="1" dirty="0">
                <a:solidFill>
                  <a:schemeClr val="bg1">
                    <a:lumMod val="95000"/>
                  </a:schemeClr>
                </a:solidFill>
                <a:latin typeface="Calibri" pitchFamily="34" charset="0"/>
                <a:ea typeface="Calibri" pitchFamily="34" charset="-122"/>
                <a:cs typeface="Calibri" pitchFamily="34" charset="-120"/>
              </a:rPr>
              <a:t>Hà Nội, </a:t>
            </a:r>
            <a:r>
              <a:rPr lang="en-US" sz="1600" b="1" dirty="0" err="1">
                <a:solidFill>
                  <a:schemeClr val="bg1">
                    <a:lumMod val="95000"/>
                  </a:schemeClr>
                </a:solidFill>
                <a:latin typeface="Calibri" pitchFamily="34" charset="0"/>
                <a:ea typeface="Calibri" pitchFamily="34" charset="-122"/>
                <a:cs typeface="Calibri" pitchFamily="34" charset="-120"/>
              </a:rPr>
              <a:t>tháng</a:t>
            </a:r>
            <a:r>
              <a:rPr lang="en-US" sz="1600" b="1" dirty="0">
                <a:solidFill>
                  <a:schemeClr val="bg1">
                    <a:lumMod val="95000"/>
                  </a:schemeClr>
                </a:solidFill>
                <a:latin typeface="Calibri" pitchFamily="34" charset="0"/>
                <a:ea typeface="Calibri" pitchFamily="34" charset="-122"/>
                <a:cs typeface="Calibri" pitchFamily="34" charset="-120"/>
              </a:rPr>
              <a:t> 6 </a:t>
            </a:r>
            <a:r>
              <a:rPr lang="en-US" sz="1600" b="1" dirty="0" err="1">
                <a:solidFill>
                  <a:schemeClr val="bg1">
                    <a:lumMod val="95000"/>
                  </a:schemeClr>
                </a:solidFill>
                <a:latin typeface="Calibri" pitchFamily="34" charset="0"/>
                <a:ea typeface="Calibri" pitchFamily="34" charset="-122"/>
                <a:cs typeface="Calibri" pitchFamily="34" charset="-120"/>
              </a:rPr>
              <a:t>năm</a:t>
            </a:r>
            <a:r>
              <a:rPr lang="en-US" sz="1600" b="1" dirty="0">
                <a:solidFill>
                  <a:schemeClr val="bg1">
                    <a:lumMod val="95000"/>
                  </a:schemeClr>
                </a:solidFill>
                <a:latin typeface="Calibri" pitchFamily="34" charset="0"/>
                <a:ea typeface="Calibri" pitchFamily="34" charset="-122"/>
                <a:cs typeface="Calibri" pitchFamily="34" charset="-120"/>
              </a:rPr>
              <a:t> 2026</a:t>
            </a:r>
            <a:endParaRPr lang="en-US" sz="1600" b="1" dirty="0">
              <a:solidFill>
                <a:schemeClr val="bg1">
                  <a:lumMod val="95000"/>
                </a:schemeClr>
              </a:solidFill>
            </a:endParaRPr>
          </a:p>
        </p:txBody>
      </p:sp>
      <p:pic>
        <p:nvPicPr>
          <p:cNvPr id="18" name="Picture 17">
            <a:extLst>
              <a:ext uri="{FF2B5EF4-FFF2-40B4-BE49-F238E27FC236}">
                <a16:creationId xmlns:a16="http://schemas.microsoft.com/office/drawing/2014/main" id="{BA5B753A-28C1-0C18-DB31-597A21B95588}"/>
              </a:ext>
            </a:extLst>
          </p:cNvPr>
          <p:cNvPicPr>
            <a:picLocks noChangeAspect="1"/>
          </p:cNvPicPr>
          <p:nvPr/>
        </p:nvPicPr>
        <p:blipFill>
          <a:blip r:embed="rId3"/>
          <a:stretch>
            <a:fillRect/>
          </a:stretch>
        </p:blipFill>
        <p:spPr>
          <a:xfrm>
            <a:off x="7146587" y="129575"/>
            <a:ext cx="1221307" cy="1013425"/>
          </a:xfrm>
          <a:prstGeom prst="ellipse">
            <a:avLst/>
          </a:prstGeom>
        </p:spPr>
      </p:pic>
      <p:pic>
        <p:nvPicPr>
          <p:cNvPr id="16" name="Picture 15" descr="Bộ sưu tập hình ảnh cánh đồng lúa đẹp nhất với hơn 999+ ảnh chất lượng 4K.">
            <a:extLst>
              <a:ext uri="{FF2B5EF4-FFF2-40B4-BE49-F238E27FC236}">
                <a16:creationId xmlns:a16="http://schemas.microsoft.com/office/drawing/2014/main" id="{24897063-FA00-3178-2D52-FB40F16EA704}"/>
              </a:ext>
            </a:extLst>
          </p:cNvPr>
          <p:cNvPicPr>
            <a:picLocks noChangeAspect="1"/>
          </p:cNvPicPr>
          <p:nvPr/>
        </p:nvPicPr>
        <p:blipFill>
          <a:blip r:embed="rId4"/>
          <a:stretch>
            <a:fillRect/>
          </a:stretch>
        </p:blipFill>
        <p:spPr>
          <a:xfrm>
            <a:off x="6332812" y="2428430"/>
            <a:ext cx="3432515" cy="3001216"/>
          </a:xfrm>
          <a:prstGeom prst="ellipse">
            <a:avLst/>
          </a:prstGeom>
          <a:ln>
            <a:noFill/>
          </a:ln>
          <a:effectLst>
            <a:softEdge rad="11250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4332"/>
          </a:solidFill>
          <a:ln w="12700">
            <a:solidFill>
              <a:srgbClr val="1B4332"/>
            </a:solidFill>
            <a:prstDash val="solid"/>
          </a:ln>
        </p:spPr>
      </p:sp>
      <p:sp>
        <p:nvSpPr>
          <p:cNvPr id="3" name="Shape 1"/>
          <p:cNvSpPr/>
          <p:nvPr/>
        </p:nvSpPr>
        <p:spPr>
          <a:xfrm>
            <a:off x="0" y="685800"/>
            <a:ext cx="9144000" cy="45720"/>
          </a:xfrm>
          <a:prstGeom prst="rect">
            <a:avLst/>
          </a:prstGeom>
          <a:solidFill>
            <a:srgbClr val="74C69D"/>
          </a:solidFill>
          <a:ln w="12700">
            <a:solidFill>
              <a:srgbClr val="74C69D"/>
            </a:solidFill>
            <a:prstDash val="solid"/>
          </a:ln>
        </p:spPr>
      </p:sp>
      <p:sp>
        <p:nvSpPr>
          <p:cNvPr id="4" name="Text 2"/>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Phần Mở Đầu</a:t>
            </a:r>
            <a:endParaRPr lang="en-US" sz="2000" dirty="0"/>
          </a:p>
        </p:txBody>
      </p:sp>
      <p:sp>
        <p:nvSpPr>
          <p:cNvPr id="5" name="Shape 3"/>
          <p:cNvSpPr/>
          <p:nvPr/>
        </p:nvSpPr>
        <p:spPr>
          <a:xfrm>
            <a:off x="0" y="4869180"/>
            <a:ext cx="9144000" cy="274320"/>
          </a:xfrm>
          <a:prstGeom prst="rect">
            <a:avLst/>
          </a:prstGeom>
          <a:solidFill>
            <a:srgbClr val="D8F3DC"/>
          </a:solidFill>
          <a:ln w="12700">
            <a:solidFill>
              <a:srgbClr val="D8F3DC"/>
            </a:solidFill>
            <a:prstDash val="solid"/>
          </a:ln>
        </p:spPr>
      </p:sp>
      <p:sp>
        <p:nvSpPr>
          <p:cNvPr id="6" name="Text 4"/>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sp>
        <p:nvSpPr>
          <p:cNvPr id="7" name="Shape 5"/>
          <p:cNvSpPr/>
          <p:nvPr/>
        </p:nvSpPr>
        <p:spPr>
          <a:xfrm>
            <a:off x="63306" y="868680"/>
            <a:ext cx="2096085" cy="3794760"/>
          </a:xfrm>
          <a:prstGeom prst="rect">
            <a:avLst/>
          </a:prstGeom>
          <a:solidFill>
            <a:srgbClr val="D8F3DC"/>
          </a:solidFill>
          <a:ln w="12700">
            <a:solidFill>
              <a:srgbClr val="40916C"/>
            </a:solidFill>
            <a:prstDash val="solid"/>
          </a:ln>
          <a:effectLst>
            <a:outerShdw blurRad="63500" dist="25400" dir="8100000" algn="bl" rotWithShape="0">
              <a:srgbClr val="AAAAAA">
                <a:alpha val="25000"/>
              </a:srgbClr>
            </a:outerShdw>
          </a:effectLst>
        </p:spPr>
      </p:sp>
      <p:sp>
        <p:nvSpPr>
          <p:cNvPr id="8" name="Text 6"/>
          <p:cNvSpPr/>
          <p:nvPr/>
        </p:nvSpPr>
        <p:spPr>
          <a:xfrm>
            <a:off x="166345" y="960120"/>
            <a:ext cx="1948991" cy="502920"/>
          </a:xfrm>
          <a:prstGeom prst="rect">
            <a:avLst/>
          </a:prstGeom>
          <a:noFill/>
          <a:ln/>
        </p:spPr>
        <p:txBody>
          <a:bodyPr wrap="square" rtlCol="0" anchor="ctr"/>
          <a:lstStyle/>
          <a:p>
            <a:pPr marL="0" indent="0">
              <a:buNone/>
            </a:pPr>
            <a:r>
              <a:rPr lang="en-US" sz="1300" b="1" dirty="0">
                <a:solidFill>
                  <a:srgbClr val="1B4332"/>
                </a:solidFill>
                <a:latin typeface="Calibri" pitchFamily="34" charset="0"/>
                <a:ea typeface="Calibri" pitchFamily="34" charset="-122"/>
                <a:cs typeface="Calibri" pitchFamily="34" charset="-120"/>
              </a:rPr>
              <a:t>🌱 Lý Do Chọn Đề Tài</a:t>
            </a:r>
            <a:endParaRPr lang="en-US" sz="1300" dirty="0"/>
          </a:p>
        </p:txBody>
      </p:sp>
      <p:sp>
        <p:nvSpPr>
          <p:cNvPr id="9" name="Shape 7"/>
          <p:cNvSpPr/>
          <p:nvPr/>
        </p:nvSpPr>
        <p:spPr>
          <a:xfrm>
            <a:off x="166345" y="1463040"/>
            <a:ext cx="1948991" cy="27432"/>
          </a:xfrm>
          <a:prstGeom prst="rect">
            <a:avLst/>
          </a:prstGeom>
          <a:solidFill>
            <a:srgbClr val="40916C"/>
          </a:solidFill>
          <a:ln w="12700">
            <a:solidFill>
              <a:srgbClr val="40916C"/>
            </a:solidFill>
            <a:prstDash val="solid"/>
          </a:ln>
        </p:spPr>
      </p:sp>
      <p:sp>
        <p:nvSpPr>
          <p:cNvPr id="10" name="Text 8"/>
          <p:cNvSpPr/>
          <p:nvPr/>
        </p:nvSpPr>
        <p:spPr>
          <a:xfrm>
            <a:off x="166345" y="1581912"/>
            <a:ext cx="1948991" cy="2880360"/>
          </a:xfrm>
          <a:prstGeom prst="rect">
            <a:avLst/>
          </a:prstGeom>
          <a:noFill/>
          <a:ln/>
        </p:spPr>
        <p:txBody>
          <a:bodyPr wrap="square" rtlCol="0" anchor="t"/>
          <a:lstStyle/>
          <a:p>
            <a:r>
              <a:rPr lang="vi-VN" sz="1050" dirty="0">
                <a:latin typeface="Calibri" panose="020F0502020204030204" pitchFamily="34" charset="0"/>
                <a:ea typeface="Calibri" panose="020F0502020204030204" pitchFamily="34" charset="0"/>
                <a:cs typeface="Times New Roman" panose="02020603050405020304" pitchFamily="18" charset="0"/>
              </a:rPr>
              <a:t>Dịch bệnh cây trồng gây ảnh hưởng lớn đến năng suất nông nghiệp. </a:t>
            </a:r>
            <a:endParaRPr lang="en-US" sz="1050" dirty="0">
              <a:latin typeface="Calibri" panose="020F0502020204030204" pitchFamily="34" charset="0"/>
              <a:ea typeface="Calibri" panose="020F0502020204030204" pitchFamily="34" charset="0"/>
              <a:cs typeface="Times New Roman" panose="02020603050405020304" pitchFamily="18" charset="0"/>
            </a:endParaRPr>
          </a:p>
          <a:p>
            <a:r>
              <a:rPr lang="vi-VN" sz="1050" dirty="0">
                <a:latin typeface="Calibri" panose="020F0502020204030204" pitchFamily="34" charset="0"/>
                <a:ea typeface="Calibri" panose="020F0502020204030204" pitchFamily="34" charset="0"/>
                <a:cs typeface="Times New Roman" panose="02020603050405020304" pitchFamily="18" charset="0"/>
              </a:rPr>
              <a:t>Các mô hình AI truyền thống thiếu khả năng giải thích, trong khi mức độ bệnh thường có ranh giới mờ và khó biểu diễn bằng logic nhị phân. </a:t>
            </a:r>
            <a:endParaRPr lang="en-US" sz="1050" dirty="0">
              <a:latin typeface="Calibri" panose="020F0502020204030204" pitchFamily="34" charset="0"/>
              <a:ea typeface="Calibri" panose="020F0502020204030204" pitchFamily="34" charset="0"/>
              <a:cs typeface="Times New Roman" panose="02020603050405020304" pitchFamily="18" charset="0"/>
            </a:endParaRPr>
          </a:p>
          <a:p>
            <a:r>
              <a:rPr lang="vi-VN" sz="1050" dirty="0">
                <a:latin typeface="Calibri" panose="020F0502020204030204" pitchFamily="34" charset="0"/>
                <a:ea typeface="Calibri" panose="020F0502020204030204" pitchFamily="34" charset="0"/>
                <a:cs typeface="Times New Roman" panose="02020603050405020304" pitchFamily="18" charset="0"/>
              </a:rPr>
              <a:t>Vì vậy, đề tài lựa chọn hướng tiếp cận kết hợp AI và Fuzzy Inference để xây dựng hệ thống đánh giá bệnh cây có khả năng giải thích</a:t>
            </a:r>
            <a:r>
              <a:rPr lang="en-US" sz="1050" dirty="0">
                <a:solidFill>
                  <a:srgbClr val="1A1A2E"/>
                </a:solidFill>
                <a:latin typeface="Calibri" pitchFamily="34" charset="0"/>
                <a:ea typeface="Calibri" pitchFamily="34" charset="-122"/>
                <a:cs typeface="Calibri" pitchFamily="34" charset="-120"/>
              </a:rPr>
              <a:t>.</a:t>
            </a:r>
            <a:endParaRPr lang="en-US" sz="1050" dirty="0"/>
          </a:p>
        </p:txBody>
      </p:sp>
      <p:sp>
        <p:nvSpPr>
          <p:cNvPr id="11" name="Shape 9"/>
          <p:cNvSpPr/>
          <p:nvPr/>
        </p:nvSpPr>
        <p:spPr>
          <a:xfrm>
            <a:off x="2262431" y="868680"/>
            <a:ext cx="3301342" cy="3794760"/>
          </a:xfrm>
          <a:prstGeom prst="rect">
            <a:avLst/>
          </a:prstGeom>
          <a:solidFill>
            <a:srgbClr val="E8F5E9"/>
          </a:solidFill>
          <a:ln w="12700">
            <a:solidFill>
              <a:srgbClr val="40916C"/>
            </a:solidFill>
            <a:prstDash val="solid"/>
          </a:ln>
          <a:effectLst>
            <a:outerShdw blurRad="63500" dist="25400" dir="8100000" algn="bl" rotWithShape="0">
              <a:srgbClr val="AAAAAA">
                <a:alpha val="25000"/>
              </a:srgbClr>
            </a:outerShdw>
          </a:effectLst>
        </p:spPr>
      </p:sp>
      <p:sp>
        <p:nvSpPr>
          <p:cNvPr id="12" name="Text 10"/>
          <p:cNvSpPr/>
          <p:nvPr/>
        </p:nvSpPr>
        <p:spPr>
          <a:xfrm>
            <a:off x="2403652" y="960120"/>
            <a:ext cx="3069668" cy="502920"/>
          </a:xfrm>
          <a:prstGeom prst="rect">
            <a:avLst/>
          </a:prstGeom>
          <a:noFill/>
          <a:ln/>
        </p:spPr>
        <p:txBody>
          <a:bodyPr wrap="square" rtlCol="0" anchor="ctr"/>
          <a:lstStyle/>
          <a:p>
            <a:pPr marL="0" indent="0">
              <a:buNone/>
            </a:pPr>
            <a:r>
              <a:rPr lang="en-US" sz="1300" b="1" dirty="0">
                <a:solidFill>
                  <a:srgbClr val="1B4332"/>
                </a:solidFill>
                <a:latin typeface="Calibri" pitchFamily="34" charset="0"/>
                <a:ea typeface="Calibri" pitchFamily="34" charset="-122"/>
                <a:cs typeface="Calibri" pitchFamily="34" charset="-120"/>
              </a:rPr>
              <a:t>🎯 Mục Tiêu Hệ Thống</a:t>
            </a:r>
            <a:endParaRPr lang="en-US" sz="1300" dirty="0"/>
          </a:p>
        </p:txBody>
      </p:sp>
      <p:sp>
        <p:nvSpPr>
          <p:cNvPr id="13" name="Shape 11"/>
          <p:cNvSpPr/>
          <p:nvPr/>
        </p:nvSpPr>
        <p:spPr>
          <a:xfrm>
            <a:off x="2403652" y="1463040"/>
            <a:ext cx="3069668" cy="27432"/>
          </a:xfrm>
          <a:prstGeom prst="rect">
            <a:avLst/>
          </a:prstGeom>
          <a:solidFill>
            <a:srgbClr val="40916C"/>
          </a:solidFill>
          <a:ln w="12700">
            <a:solidFill>
              <a:srgbClr val="40916C"/>
            </a:solidFill>
            <a:prstDash val="solid"/>
          </a:ln>
        </p:spPr>
      </p:sp>
      <p:sp>
        <p:nvSpPr>
          <p:cNvPr id="14" name="Text 12"/>
          <p:cNvSpPr/>
          <p:nvPr/>
        </p:nvSpPr>
        <p:spPr>
          <a:xfrm>
            <a:off x="2403652" y="1581912"/>
            <a:ext cx="3069668" cy="3004156"/>
          </a:xfrm>
          <a:prstGeom prst="rect">
            <a:avLst/>
          </a:prstGeom>
          <a:noFill/>
          <a:ln/>
        </p:spPr>
        <p:txBody>
          <a:bodyPr wrap="square" rtlCol="0" anchor="t"/>
          <a:lstStyle/>
          <a:p>
            <a:r>
              <a:rPr lang="en-US" sz="1050" b="1" dirty="0" err="1">
                <a:latin typeface="Calibri" panose="020F0502020204030204" pitchFamily="34" charset="0"/>
                <a:ea typeface="Calibri" panose="020F0502020204030204" pitchFamily="34" charset="0"/>
                <a:cs typeface="Calibri" panose="020F0502020204030204" pitchFamily="34" charset="0"/>
              </a:rPr>
              <a:t>Mục</a:t>
            </a:r>
            <a:r>
              <a:rPr lang="en-US" sz="1050" b="1" dirty="0">
                <a:latin typeface="Calibri" panose="020F0502020204030204" pitchFamily="34" charset="0"/>
                <a:ea typeface="Calibri" panose="020F0502020204030204" pitchFamily="34" charset="0"/>
                <a:cs typeface="Calibri" panose="020F0502020204030204" pitchFamily="34" charset="0"/>
              </a:rPr>
              <a:t> </a:t>
            </a:r>
            <a:r>
              <a:rPr lang="en-US" sz="1050" b="1" dirty="0" err="1">
                <a:latin typeface="Calibri" panose="020F0502020204030204" pitchFamily="34" charset="0"/>
                <a:ea typeface="Calibri" panose="020F0502020204030204" pitchFamily="34" charset="0"/>
                <a:cs typeface="Calibri" panose="020F0502020204030204" pitchFamily="34" charset="0"/>
              </a:rPr>
              <a:t>tiêu</a:t>
            </a:r>
            <a:r>
              <a:rPr lang="en-US" sz="1050" b="1" dirty="0">
                <a:latin typeface="Calibri" panose="020F0502020204030204" pitchFamily="34" charset="0"/>
                <a:ea typeface="Calibri" panose="020F0502020204030204" pitchFamily="34" charset="0"/>
                <a:cs typeface="Calibri" panose="020F0502020204030204" pitchFamily="34" charset="0"/>
              </a:rPr>
              <a:t> </a:t>
            </a:r>
            <a:r>
              <a:rPr lang="en-US" sz="1050" b="1" dirty="0" err="1">
                <a:latin typeface="Calibri" panose="020F0502020204030204" pitchFamily="34" charset="0"/>
                <a:ea typeface="Calibri" panose="020F0502020204030204" pitchFamily="34" charset="0"/>
                <a:cs typeface="Calibri" panose="020F0502020204030204" pitchFamily="34" charset="0"/>
              </a:rPr>
              <a:t>chung</a:t>
            </a:r>
            <a:r>
              <a:rPr lang="en-US" sz="1050" b="1" dirty="0">
                <a:latin typeface="Calibri" panose="020F0502020204030204" pitchFamily="34" charset="0"/>
                <a:ea typeface="Calibri" panose="020F0502020204030204" pitchFamily="34" charset="0"/>
                <a:cs typeface="Calibri" panose="020F0502020204030204" pitchFamily="34" charset="0"/>
              </a:rPr>
              <a:t>: </a:t>
            </a:r>
            <a:r>
              <a:rPr lang="vi-VN" sz="1050" dirty="0">
                <a:latin typeface="Calibri" panose="020F0502020204030204" pitchFamily="34" charset="0"/>
                <a:ea typeface="Calibri" panose="020F0502020204030204" pitchFamily="34" charset="0"/>
                <a:cs typeface="Calibri" panose="020F0502020204030204" pitchFamily="34" charset="0"/>
              </a:rPr>
              <a:t>Xây dựng hệ thống thông minh có khả năng giải thích để đánh giá mức độ nghiêm trọng của bệnh cây, kết hợp nhận dạng bằng AI và suy luận mờ (Fuzzy Inference).</a:t>
            </a:r>
          </a:p>
          <a:p>
            <a:r>
              <a:rPr lang="en-US" sz="1050" b="1" dirty="0" err="1">
                <a:latin typeface="Calibri" panose="020F0502020204030204" pitchFamily="34" charset="0"/>
                <a:ea typeface="Calibri" panose="020F0502020204030204" pitchFamily="34" charset="0"/>
                <a:cs typeface="Calibri" panose="020F0502020204030204" pitchFamily="34" charset="0"/>
              </a:rPr>
              <a:t>Mục</a:t>
            </a:r>
            <a:r>
              <a:rPr lang="en-US" sz="1050" b="1" dirty="0">
                <a:latin typeface="Calibri" panose="020F0502020204030204" pitchFamily="34" charset="0"/>
                <a:ea typeface="Calibri" panose="020F0502020204030204" pitchFamily="34" charset="0"/>
                <a:cs typeface="Calibri" panose="020F0502020204030204" pitchFamily="34" charset="0"/>
              </a:rPr>
              <a:t> </a:t>
            </a:r>
            <a:r>
              <a:rPr lang="en-US" sz="1050" b="1" dirty="0" err="1">
                <a:latin typeface="Calibri" panose="020F0502020204030204" pitchFamily="34" charset="0"/>
                <a:ea typeface="Calibri" panose="020F0502020204030204" pitchFamily="34" charset="0"/>
                <a:cs typeface="Calibri" panose="020F0502020204030204" pitchFamily="34" charset="0"/>
              </a:rPr>
              <a:t>tiêu</a:t>
            </a:r>
            <a:r>
              <a:rPr lang="en-US" sz="1050" b="1" dirty="0">
                <a:latin typeface="Calibri" panose="020F0502020204030204" pitchFamily="34" charset="0"/>
                <a:ea typeface="Calibri" panose="020F0502020204030204" pitchFamily="34" charset="0"/>
                <a:cs typeface="Calibri" panose="020F0502020204030204" pitchFamily="34" charset="0"/>
              </a:rPr>
              <a:t> </a:t>
            </a:r>
            <a:r>
              <a:rPr lang="en-US" sz="1050" b="1" dirty="0" err="1">
                <a:latin typeface="Calibri" panose="020F0502020204030204" pitchFamily="34" charset="0"/>
                <a:ea typeface="Calibri" panose="020F0502020204030204" pitchFamily="34" charset="0"/>
                <a:cs typeface="Calibri" panose="020F0502020204030204" pitchFamily="34" charset="0"/>
              </a:rPr>
              <a:t>cụ</a:t>
            </a:r>
            <a:r>
              <a:rPr lang="en-US" sz="1050" b="1" dirty="0">
                <a:latin typeface="Calibri" panose="020F0502020204030204" pitchFamily="34" charset="0"/>
                <a:ea typeface="Calibri" panose="020F0502020204030204" pitchFamily="34" charset="0"/>
                <a:cs typeface="Calibri" panose="020F0502020204030204" pitchFamily="34" charset="0"/>
              </a:rPr>
              <a:t> </a:t>
            </a:r>
            <a:r>
              <a:rPr lang="en-US" sz="1050" b="1" dirty="0" err="1">
                <a:latin typeface="Calibri" panose="020F0502020204030204" pitchFamily="34" charset="0"/>
                <a:ea typeface="Calibri" panose="020F0502020204030204" pitchFamily="34" charset="0"/>
                <a:cs typeface="Calibri" panose="020F0502020204030204" pitchFamily="34" charset="0"/>
              </a:rPr>
              <a:t>thể</a:t>
            </a:r>
            <a:r>
              <a:rPr lang="en-US" sz="1050" b="1" dirty="0">
                <a:latin typeface="Calibri" panose="020F0502020204030204" pitchFamily="34" charset="0"/>
                <a:ea typeface="Calibri" panose="020F0502020204030204" pitchFamily="34" charset="0"/>
                <a:cs typeface="Calibri" panose="020F0502020204030204" pitchFamily="34" charset="0"/>
              </a:rPr>
              <a:t>:</a:t>
            </a:r>
          </a:p>
          <a:p>
            <a:pPr algn="just"/>
            <a:r>
              <a:rPr lang="vi-VN" sz="1050" dirty="0">
                <a:latin typeface="Calibri" panose="020F0502020204030204" pitchFamily="34" charset="0"/>
                <a:ea typeface="Calibri" panose="020F0502020204030204" pitchFamily="34" charset="0"/>
                <a:cs typeface="Calibri" panose="020F0502020204030204" pitchFamily="34" charset="0"/>
              </a:rPr>
              <a:t>• Số hóa tri thức chuyên gia dưới dạng tập mờ và luật suy luận.</a:t>
            </a:r>
          </a:p>
          <a:p>
            <a:pPr algn="just"/>
            <a:r>
              <a:rPr lang="vi-VN" sz="1050" dirty="0">
                <a:latin typeface="Calibri" panose="020F0502020204030204" pitchFamily="34" charset="0"/>
                <a:ea typeface="Calibri" panose="020F0502020204030204" pitchFamily="34" charset="0"/>
                <a:cs typeface="Calibri" panose="020F0502020204030204" pitchFamily="34" charset="0"/>
              </a:rPr>
              <a:t>• Xây dựng bộ suy diễn mờ đánh giá mức độ bệnh từ dữ liệu đầu vào.</a:t>
            </a:r>
          </a:p>
          <a:p>
            <a:pPr algn="just"/>
            <a:r>
              <a:rPr lang="vi-VN" sz="1050" dirty="0">
                <a:latin typeface="Calibri" panose="020F0502020204030204" pitchFamily="34" charset="0"/>
                <a:ea typeface="Calibri" panose="020F0502020204030204" pitchFamily="34" charset="0"/>
                <a:cs typeface="Calibri" panose="020F0502020204030204" pitchFamily="34" charset="0"/>
              </a:rPr>
              <a:t>• Giải thích kết quả thông qua các luật được kích hoạt và ngôn ngữ tự nhiên.</a:t>
            </a:r>
          </a:p>
          <a:p>
            <a:pPr algn="just"/>
            <a:r>
              <a:rPr lang="vi-VN" sz="1050" dirty="0">
                <a:latin typeface="Calibri" panose="020F0502020204030204" pitchFamily="34" charset="0"/>
                <a:ea typeface="Calibri" panose="020F0502020204030204" pitchFamily="34" charset="0"/>
                <a:cs typeface="Calibri" panose="020F0502020204030204" pitchFamily="34" charset="0"/>
              </a:rPr>
              <a:t>• Phát triển giao diện trực quan, dễ sử dụng và có khả năng mở rộng..</a:t>
            </a:r>
            <a:endParaRPr lang="en-US" sz="1050" dirty="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US" sz="1050" dirty="0">
              <a:latin typeface="Calibri" panose="020F0502020204030204" pitchFamily="34" charset="0"/>
              <a:ea typeface="Calibri" panose="020F0502020204030204" pitchFamily="34" charset="0"/>
              <a:cs typeface="Calibri" panose="020F0502020204030204" pitchFamily="34" charset="0"/>
            </a:endParaRPr>
          </a:p>
        </p:txBody>
      </p:sp>
      <p:sp>
        <p:nvSpPr>
          <p:cNvPr id="15" name="Shape 13"/>
          <p:cNvSpPr/>
          <p:nvPr/>
        </p:nvSpPr>
        <p:spPr>
          <a:xfrm>
            <a:off x="5666813" y="868680"/>
            <a:ext cx="3413881" cy="3794760"/>
          </a:xfrm>
          <a:prstGeom prst="rect">
            <a:avLst/>
          </a:prstGeom>
          <a:solidFill>
            <a:srgbClr val="FFF9C4"/>
          </a:solidFill>
          <a:ln w="12700">
            <a:solidFill>
              <a:srgbClr val="40916C"/>
            </a:solidFill>
            <a:prstDash val="solid"/>
          </a:ln>
          <a:effectLst>
            <a:outerShdw blurRad="63500" dist="25400" dir="8100000" algn="bl" rotWithShape="0">
              <a:srgbClr val="AAAAAA">
                <a:alpha val="25000"/>
              </a:srgbClr>
            </a:outerShdw>
          </a:effectLst>
        </p:spPr>
      </p:sp>
      <p:sp>
        <p:nvSpPr>
          <p:cNvPr id="16" name="Text 14"/>
          <p:cNvSpPr/>
          <p:nvPr/>
        </p:nvSpPr>
        <p:spPr>
          <a:xfrm>
            <a:off x="5761009" y="960120"/>
            <a:ext cx="3218802" cy="502920"/>
          </a:xfrm>
          <a:prstGeom prst="rect">
            <a:avLst/>
          </a:prstGeom>
          <a:noFill/>
          <a:ln/>
        </p:spPr>
        <p:txBody>
          <a:bodyPr wrap="square" rtlCol="0" anchor="ctr"/>
          <a:lstStyle/>
          <a:p>
            <a:pPr marL="0" indent="0">
              <a:buNone/>
            </a:pPr>
            <a:r>
              <a:rPr lang="en-US" sz="1300" b="1" dirty="0">
                <a:solidFill>
                  <a:srgbClr val="1B4332"/>
                </a:solidFill>
                <a:latin typeface="Calibri" pitchFamily="34" charset="0"/>
                <a:ea typeface="Calibri" pitchFamily="34" charset="-122"/>
                <a:cs typeface="Calibri" pitchFamily="34" charset="-120"/>
              </a:rPr>
              <a:t>🔬 Phạm Vi Nghiên Cứu</a:t>
            </a:r>
            <a:endParaRPr lang="en-US" sz="1300" dirty="0"/>
          </a:p>
        </p:txBody>
      </p:sp>
      <p:sp>
        <p:nvSpPr>
          <p:cNvPr id="17" name="Shape 15"/>
          <p:cNvSpPr/>
          <p:nvPr/>
        </p:nvSpPr>
        <p:spPr>
          <a:xfrm>
            <a:off x="5761009" y="1463040"/>
            <a:ext cx="3218802" cy="27432"/>
          </a:xfrm>
          <a:prstGeom prst="rect">
            <a:avLst/>
          </a:prstGeom>
          <a:solidFill>
            <a:srgbClr val="40916C"/>
          </a:solidFill>
          <a:ln w="12700">
            <a:solidFill>
              <a:srgbClr val="40916C"/>
            </a:solidFill>
            <a:prstDash val="solid"/>
          </a:ln>
        </p:spPr>
      </p:sp>
      <p:sp>
        <p:nvSpPr>
          <p:cNvPr id="18" name="Text 16"/>
          <p:cNvSpPr/>
          <p:nvPr/>
        </p:nvSpPr>
        <p:spPr>
          <a:xfrm>
            <a:off x="5761009" y="1581912"/>
            <a:ext cx="3218802" cy="2880360"/>
          </a:xfrm>
          <a:prstGeom prst="rect">
            <a:avLst/>
          </a:prstGeom>
          <a:noFill/>
          <a:ln/>
        </p:spPr>
        <p:txBody>
          <a:bodyPr wrap="square" rtlCol="0" anchor="t"/>
          <a:lstStyle/>
          <a:p>
            <a:r>
              <a:rPr lang="vi-VN" sz="1050" b="1" dirty="0">
                <a:latin typeface="Calibri" panose="020F0502020204030204" pitchFamily="34" charset="0"/>
                <a:ea typeface="Calibri" panose="020F0502020204030204" pitchFamily="34" charset="0"/>
                <a:cs typeface="Calibri" panose="020F0502020204030204" pitchFamily="34" charset="0"/>
              </a:rPr>
              <a:t>Đối tượng nghiên cứu:</a:t>
            </a:r>
            <a:r>
              <a:rPr lang="vi-VN" sz="1050" dirty="0">
                <a:latin typeface="Calibri" panose="020F0502020204030204" pitchFamily="34" charset="0"/>
                <a:ea typeface="Calibri" panose="020F0502020204030204" pitchFamily="34" charset="0"/>
                <a:cs typeface="Calibri" panose="020F0502020204030204" pitchFamily="34" charset="0"/>
              </a:rPr>
              <a:t> Bệnh trên lá lúa với các lớp: Healthy (Khỏe mạnh), Blast (Đạo ôn), Brownspot (Đốm nâu), Bacterial Blight (Bạc lá vi khuẩn) và Tungro (Bệnh vàng lùn Tungro).</a:t>
            </a:r>
            <a:endParaRPr lang="en-US" sz="1050" dirty="0">
              <a:latin typeface="Calibri" panose="020F0502020204030204" pitchFamily="34" charset="0"/>
              <a:ea typeface="Calibri" panose="020F0502020204030204" pitchFamily="34" charset="0"/>
              <a:cs typeface="Calibri" panose="020F0502020204030204" pitchFamily="34" charset="0"/>
            </a:endParaRPr>
          </a:p>
          <a:p>
            <a:r>
              <a:rPr lang="vi-VN" sz="1050" b="1" dirty="0">
                <a:latin typeface="Calibri" panose="020F0502020204030204" pitchFamily="34" charset="0"/>
                <a:ea typeface="Calibri" panose="020F0502020204030204" pitchFamily="34" charset="0"/>
                <a:cs typeface="Calibri" panose="020F0502020204030204" pitchFamily="34" charset="0"/>
              </a:rPr>
              <a:t>Dữ liệu đầu vào:</a:t>
            </a:r>
            <a:r>
              <a:rPr lang="en-US" sz="1050" b="1" dirty="0">
                <a:latin typeface="Calibri" panose="020F0502020204030204" pitchFamily="34" charset="0"/>
                <a:ea typeface="Calibri" panose="020F0502020204030204" pitchFamily="34" charset="0"/>
                <a:cs typeface="Calibri" panose="020F0502020204030204" pitchFamily="34" charset="0"/>
              </a:rPr>
              <a:t> </a:t>
            </a:r>
            <a:r>
              <a:rPr lang="vi-VN" sz="1050" dirty="0">
                <a:latin typeface="Calibri" panose="020F0502020204030204" pitchFamily="34" charset="0"/>
                <a:ea typeface="Calibri" panose="020F0502020204030204" pitchFamily="34" charset="0"/>
                <a:cs typeface="Calibri" panose="020F0502020204030204" pitchFamily="34" charset="0"/>
              </a:rPr>
              <a:t>Ảnh lá bệnh, độ tin cậy dự đoán từ CNN, nhiệt độ và độ ẩm môi trường.</a:t>
            </a:r>
          </a:p>
          <a:p>
            <a:r>
              <a:rPr lang="vi-VN" sz="1050" b="1" dirty="0">
                <a:latin typeface="Calibri" panose="020F0502020204030204" pitchFamily="34" charset="0"/>
                <a:ea typeface="Calibri" panose="020F0502020204030204" pitchFamily="34" charset="0"/>
                <a:cs typeface="Calibri" panose="020F0502020204030204" pitchFamily="34" charset="0"/>
              </a:rPr>
              <a:t>Dữ liệu đầu ra:</a:t>
            </a:r>
            <a:r>
              <a:rPr lang="en-US" sz="1050" b="1" dirty="0">
                <a:latin typeface="Calibri" panose="020F0502020204030204" pitchFamily="34" charset="0"/>
                <a:ea typeface="Calibri" panose="020F0502020204030204" pitchFamily="34" charset="0"/>
                <a:cs typeface="Calibri" panose="020F0502020204030204" pitchFamily="34" charset="0"/>
              </a:rPr>
              <a:t> </a:t>
            </a:r>
            <a:r>
              <a:rPr lang="vi-VN" sz="1050" dirty="0">
                <a:latin typeface="Calibri" panose="020F0502020204030204" pitchFamily="34" charset="0"/>
                <a:ea typeface="Calibri" panose="020F0502020204030204" pitchFamily="34" charset="0"/>
                <a:cs typeface="Calibri" panose="020F0502020204030204" pitchFamily="34" charset="0"/>
              </a:rPr>
              <a:t>Loại bệnh, mức độ nghiêm trọng (Severity Index), mức cảnh báo và báo cáo giải thích kết quả.</a:t>
            </a:r>
          </a:p>
          <a:p>
            <a:r>
              <a:rPr lang="vi-VN" sz="1050" b="1" dirty="0">
                <a:latin typeface="Calibri" panose="020F0502020204030204" pitchFamily="34" charset="0"/>
                <a:ea typeface="Calibri" panose="020F0502020204030204" pitchFamily="34" charset="0"/>
                <a:cs typeface="Calibri" panose="020F0502020204030204" pitchFamily="34" charset="0"/>
              </a:rPr>
              <a:t>Giới hạn công nghệ</a:t>
            </a:r>
            <a:r>
              <a:rPr lang="vi-VN" sz="1050" dirty="0">
                <a:latin typeface="Calibri" panose="020F0502020204030204" pitchFamily="34" charset="0"/>
                <a:ea typeface="Calibri" panose="020F0502020204030204" pitchFamily="34" charset="0"/>
                <a:cs typeface="Calibri" panose="020F0502020204030204" pitchFamily="34" charset="0"/>
              </a:rPr>
              <a:t>:</a:t>
            </a:r>
            <a:r>
              <a:rPr lang="en-US" sz="1050" dirty="0">
                <a:latin typeface="Calibri" panose="020F0502020204030204" pitchFamily="34" charset="0"/>
                <a:ea typeface="Calibri" panose="020F0502020204030204" pitchFamily="34" charset="0"/>
                <a:cs typeface="Calibri" panose="020F0502020204030204" pitchFamily="34" charset="0"/>
              </a:rPr>
              <a:t> </a:t>
            </a:r>
            <a:r>
              <a:rPr lang="vi-VN" sz="1050" dirty="0">
                <a:latin typeface="Calibri" panose="020F0502020204030204" pitchFamily="34" charset="0"/>
                <a:ea typeface="Calibri" panose="020F0502020204030204" pitchFamily="34" charset="0"/>
                <a:cs typeface="Calibri" panose="020F0502020204030204" pitchFamily="34" charset="0"/>
              </a:rPr>
              <a:t>Sử dụng CNN (EfficientNet-B0) kết hợp Fuzzy Logic Sugeno và giao diện Web Streamlit; chưa tích hợp cảm biến IoT và dữ liệu thời gian thực.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5702F00-F4D3-C3A2-A8DB-F69C57C4BD0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FAF295A-506C-89E0-8C7C-031ADDFDCEE5}"/>
              </a:ext>
            </a:extLst>
          </p:cNvPr>
          <p:cNvSpPr/>
          <p:nvPr/>
        </p:nvSpPr>
        <p:spPr>
          <a:xfrm>
            <a:off x="0" y="0"/>
            <a:ext cx="9144000" cy="685800"/>
          </a:xfrm>
          <a:prstGeom prst="rect">
            <a:avLst/>
          </a:prstGeom>
          <a:solidFill>
            <a:srgbClr val="1B4332"/>
          </a:solidFill>
          <a:ln w="12700">
            <a:solidFill>
              <a:srgbClr val="1B4332"/>
            </a:solidFill>
            <a:prstDash val="solid"/>
          </a:ln>
        </p:spPr>
      </p:sp>
      <p:sp>
        <p:nvSpPr>
          <p:cNvPr id="3" name="Shape 1">
            <a:extLst>
              <a:ext uri="{FF2B5EF4-FFF2-40B4-BE49-F238E27FC236}">
                <a16:creationId xmlns:a16="http://schemas.microsoft.com/office/drawing/2014/main" id="{7E0F87AC-3407-1E84-7868-920CED9FAD58}"/>
              </a:ext>
            </a:extLst>
          </p:cNvPr>
          <p:cNvSpPr/>
          <p:nvPr/>
        </p:nvSpPr>
        <p:spPr>
          <a:xfrm>
            <a:off x="0" y="685800"/>
            <a:ext cx="9144000" cy="45720"/>
          </a:xfrm>
          <a:prstGeom prst="rect">
            <a:avLst/>
          </a:prstGeom>
          <a:solidFill>
            <a:srgbClr val="74C69D"/>
          </a:solidFill>
          <a:ln w="12700">
            <a:solidFill>
              <a:srgbClr val="74C69D"/>
            </a:solidFill>
            <a:prstDash val="solid"/>
          </a:ln>
        </p:spPr>
      </p:sp>
      <p:sp>
        <p:nvSpPr>
          <p:cNvPr id="4" name="Text 2">
            <a:extLst>
              <a:ext uri="{FF2B5EF4-FFF2-40B4-BE49-F238E27FC236}">
                <a16:creationId xmlns:a16="http://schemas.microsoft.com/office/drawing/2014/main" id="{2B72AC3F-47B2-D753-327B-0F0B019B46B6}"/>
              </a:ext>
            </a:extLst>
          </p:cNvPr>
          <p:cNvSpPr/>
          <p:nvPr/>
        </p:nvSpPr>
        <p:spPr>
          <a:xfrm>
            <a:off x="117987" y="0"/>
            <a:ext cx="8955221" cy="685800"/>
          </a:xfrm>
          <a:prstGeom prst="rect">
            <a:avLst/>
          </a:prstGeom>
          <a:noFill/>
          <a:ln/>
        </p:spPr>
        <p:txBody>
          <a:bodyPr wrap="square" lIns="0" tIns="0" rIns="0" bIns="0" rtlCol="0" anchor="ctr"/>
          <a:lstStyle/>
          <a:p>
            <a:r>
              <a:rPr lang="en-US" sz="2000" b="1" dirty="0">
                <a:solidFill>
                  <a:srgbClr val="FFFFFF"/>
                </a:solidFill>
                <a:latin typeface="Calibri" pitchFamily="34" charset="0"/>
                <a:ea typeface="Calibri" pitchFamily="34" charset="-122"/>
                <a:cs typeface="Calibri" pitchFamily="34" charset="-120"/>
              </a:rPr>
              <a:t>Cơ Sở Lý </a:t>
            </a:r>
            <a:r>
              <a:rPr lang="en-US" sz="2000" b="1" dirty="0" err="1">
                <a:solidFill>
                  <a:srgbClr val="FFFFFF"/>
                </a:solidFill>
                <a:latin typeface="Calibri" pitchFamily="34" charset="0"/>
                <a:ea typeface="Calibri" pitchFamily="34" charset="-122"/>
                <a:cs typeface="Calibri" pitchFamily="34" charset="-120"/>
              </a:rPr>
              <a:t>Thuyết</a:t>
            </a:r>
            <a:r>
              <a:rPr lang="en-US" sz="2000" b="1" dirty="0">
                <a:solidFill>
                  <a:srgbClr val="FFFFFF"/>
                </a:solidFill>
                <a:latin typeface="Calibri" pitchFamily="34" charset="0"/>
                <a:ea typeface="Calibri" pitchFamily="34" charset="-122"/>
                <a:cs typeface="Calibri" pitchFamily="34" charset="-120"/>
              </a:rPr>
              <a:t> - </a:t>
            </a:r>
            <a:r>
              <a:rPr lang="en-US" sz="2000" dirty="0">
                <a:solidFill>
                  <a:schemeClr val="bg1"/>
                </a:solidFill>
              </a:rPr>
              <a:t>An Explainable Intelligent System for Plant Disease Severity Assessment using Fuzzy Inference</a:t>
            </a:r>
          </a:p>
        </p:txBody>
      </p:sp>
      <p:sp>
        <p:nvSpPr>
          <p:cNvPr id="5" name="Shape 3">
            <a:extLst>
              <a:ext uri="{FF2B5EF4-FFF2-40B4-BE49-F238E27FC236}">
                <a16:creationId xmlns:a16="http://schemas.microsoft.com/office/drawing/2014/main" id="{EA649CB1-F387-1DB8-12C1-7D1CBDCC8ACE}"/>
              </a:ext>
            </a:extLst>
          </p:cNvPr>
          <p:cNvSpPr/>
          <p:nvPr/>
        </p:nvSpPr>
        <p:spPr>
          <a:xfrm>
            <a:off x="0" y="4869180"/>
            <a:ext cx="9144000" cy="274320"/>
          </a:xfrm>
          <a:prstGeom prst="rect">
            <a:avLst/>
          </a:prstGeom>
          <a:solidFill>
            <a:srgbClr val="D8F3DC"/>
          </a:solidFill>
          <a:ln w="12700">
            <a:solidFill>
              <a:srgbClr val="D8F3DC"/>
            </a:solidFill>
            <a:prstDash val="solid"/>
          </a:ln>
        </p:spPr>
      </p:sp>
      <p:sp>
        <p:nvSpPr>
          <p:cNvPr id="6" name="Text 4">
            <a:extLst>
              <a:ext uri="{FF2B5EF4-FFF2-40B4-BE49-F238E27FC236}">
                <a16:creationId xmlns:a16="http://schemas.microsoft.com/office/drawing/2014/main" id="{81F51144-3C27-91D3-59AB-DC4556B2256C}"/>
              </a:ext>
            </a:extLst>
          </p:cNvPr>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sp>
        <p:nvSpPr>
          <p:cNvPr id="7" name="Shape 5">
            <a:extLst>
              <a:ext uri="{FF2B5EF4-FFF2-40B4-BE49-F238E27FC236}">
                <a16:creationId xmlns:a16="http://schemas.microsoft.com/office/drawing/2014/main" id="{27243018-548A-DEE2-75FB-750D5ED37592}"/>
              </a:ext>
            </a:extLst>
          </p:cNvPr>
          <p:cNvSpPr/>
          <p:nvPr/>
        </p:nvSpPr>
        <p:spPr>
          <a:xfrm>
            <a:off x="228600" y="868680"/>
            <a:ext cx="2651760" cy="1463040"/>
          </a:xfrm>
          <a:prstGeom prst="rect">
            <a:avLst/>
          </a:prstGeom>
          <a:solidFill>
            <a:srgbClr val="F8F9FA"/>
          </a:solidFill>
          <a:ln w="19050">
            <a:solidFill>
              <a:srgbClr val="74C69D"/>
            </a:solidFill>
            <a:prstDash val="solid"/>
          </a:ln>
          <a:effectLst>
            <a:outerShdw blurRad="50800" dist="25400" dir="8100000" algn="bl" rotWithShape="0">
              <a:srgbClr val="AAAAAA">
                <a:alpha val="20000"/>
              </a:srgbClr>
            </a:outerShdw>
          </a:effectLst>
        </p:spPr>
      </p:sp>
      <p:sp>
        <p:nvSpPr>
          <p:cNvPr id="8" name="Shape 6">
            <a:extLst>
              <a:ext uri="{FF2B5EF4-FFF2-40B4-BE49-F238E27FC236}">
                <a16:creationId xmlns:a16="http://schemas.microsoft.com/office/drawing/2014/main" id="{B9C99AB5-1F3E-FC58-FC3F-ECEAE6744721}"/>
              </a:ext>
            </a:extLst>
          </p:cNvPr>
          <p:cNvSpPr/>
          <p:nvPr/>
        </p:nvSpPr>
        <p:spPr>
          <a:xfrm>
            <a:off x="365760" y="1005840"/>
            <a:ext cx="457200" cy="457200"/>
          </a:xfrm>
          <a:prstGeom prst="ellipse">
            <a:avLst/>
          </a:prstGeom>
          <a:solidFill>
            <a:srgbClr val="1B4332"/>
          </a:solidFill>
          <a:ln w="12700">
            <a:solidFill>
              <a:srgbClr val="1B4332"/>
            </a:solidFill>
            <a:prstDash val="solid"/>
          </a:ln>
        </p:spPr>
      </p:sp>
      <p:sp>
        <p:nvSpPr>
          <p:cNvPr id="9" name="Text 7">
            <a:extLst>
              <a:ext uri="{FF2B5EF4-FFF2-40B4-BE49-F238E27FC236}">
                <a16:creationId xmlns:a16="http://schemas.microsoft.com/office/drawing/2014/main" id="{6F770A54-9772-0948-09CE-A6B05B8A53B3}"/>
              </a:ext>
            </a:extLst>
          </p:cNvPr>
          <p:cNvSpPr/>
          <p:nvPr/>
        </p:nvSpPr>
        <p:spPr>
          <a:xfrm>
            <a:off x="365760" y="1005840"/>
            <a:ext cx="45720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10" name="Text 8">
            <a:extLst>
              <a:ext uri="{FF2B5EF4-FFF2-40B4-BE49-F238E27FC236}">
                <a16:creationId xmlns:a16="http://schemas.microsoft.com/office/drawing/2014/main" id="{0FBC9DBB-C86D-6DFC-F05B-E55F0DA6BD1E}"/>
              </a:ext>
            </a:extLst>
          </p:cNvPr>
          <p:cNvSpPr/>
          <p:nvPr/>
        </p:nvSpPr>
        <p:spPr>
          <a:xfrm>
            <a:off x="914400" y="1005840"/>
            <a:ext cx="1828800" cy="502920"/>
          </a:xfrm>
          <a:prstGeom prst="rect">
            <a:avLst/>
          </a:prstGeom>
          <a:noFill/>
          <a:ln/>
        </p:spPr>
        <p:txBody>
          <a:bodyPr wrap="square" rtlCol="0" anchor="ctr"/>
          <a:lstStyle/>
          <a:p>
            <a:pPr marL="0" indent="0">
              <a:buNone/>
            </a:pPr>
            <a:r>
              <a:rPr lang="en-US" sz="1150" b="1" dirty="0">
                <a:solidFill>
                  <a:srgbClr val="1B4332"/>
                </a:solidFill>
                <a:latin typeface="Calibri" pitchFamily="34" charset="0"/>
                <a:ea typeface="Calibri" pitchFamily="34" charset="-122"/>
                <a:cs typeface="Calibri" pitchFamily="34" charset="-120"/>
              </a:rPr>
              <a:t>Hybrid Intelligent System </a:t>
            </a:r>
            <a:endParaRPr lang="en-US" sz="1150" dirty="0"/>
          </a:p>
        </p:txBody>
      </p:sp>
      <p:sp>
        <p:nvSpPr>
          <p:cNvPr id="11" name="Text 9">
            <a:extLst>
              <a:ext uri="{FF2B5EF4-FFF2-40B4-BE49-F238E27FC236}">
                <a16:creationId xmlns:a16="http://schemas.microsoft.com/office/drawing/2014/main" id="{7C3D5D3B-7AAD-9A0C-C8DA-5D43BABCA12C}"/>
              </a:ext>
            </a:extLst>
          </p:cNvPr>
          <p:cNvSpPr/>
          <p:nvPr/>
        </p:nvSpPr>
        <p:spPr>
          <a:xfrm>
            <a:off x="365760" y="1554480"/>
            <a:ext cx="2377440" cy="685800"/>
          </a:xfrm>
          <a:prstGeom prst="rect">
            <a:avLst/>
          </a:prstGeom>
          <a:noFill/>
          <a:ln/>
        </p:spPr>
        <p:txBody>
          <a:bodyPr wrap="square" rtlCol="0" anchor="ctr"/>
          <a:lstStyle/>
          <a:p>
            <a:r>
              <a:rPr lang="en-US" sz="1050" dirty="0" err="1">
                <a:solidFill>
                  <a:srgbClr val="1A1A2E"/>
                </a:solidFill>
                <a:latin typeface="Calibri" pitchFamily="34" charset="0"/>
                <a:ea typeface="Calibri" pitchFamily="34" charset="-122"/>
                <a:cs typeface="Calibri" pitchFamily="34" charset="-120"/>
              </a:rPr>
              <a:t>Kết</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hợp</a:t>
            </a:r>
            <a:r>
              <a:rPr lang="en-US" sz="1050" dirty="0">
                <a:solidFill>
                  <a:srgbClr val="1A1A2E"/>
                </a:solidFill>
                <a:latin typeface="Calibri" pitchFamily="34" charset="0"/>
                <a:ea typeface="Calibri" pitchFamily="34" charset="-122"/>
                <a:cs typeface="Calibri" pitchFamily="34" charset="-120"/>
              </a:rPr>
              <a:t> CNN, Fuzzy Logic </a:t>
            </a:r>
            <a:r>
              <a:rPr lang="en-US" sz="1050" dirty="0" err="1">
                <a:solidFill>
                  <a:srgbClr val="1A1A2E"/>
                </a:solidFill>
                <a:latin typeface="Calibri" pitchFamily="34" charset="0"/>
                <a:ea typeface="Calibri" pitchFamily="34" charset="-122"/>
                <a:cs typeface="Calibri" pitchFamily="34" charset="-120"/>
              </a:rPr>
              <a:t>và</a:t>
            </a:r>
            <a:r>
              <a:rPr lang="en-US" sz="1050" dirty="0">
                <a:solidFill>
                  <a:srgbClr val="1A1A2E"/>
                </a:solidFill>
                <a:latin typeface="Calibri" pitchFamily="34" charset="0"/>
                <a:ea typeface="Calibri" pitchFamily="34" charset="-122"/>
                <a:cs typeface="Calibri" pitchFamily="34" charset="-120"/>
              </a:rPr>
              <a:t> Expert Knowledge </a:t>
            </a:r>
            <a:r>
              <a:rPr lang="en-US" sz="1050" dirty="0" err="1">
                <a:solidFill>
                  <a:srgbClr val="1A1A2E"/>
                </a:solidFill>
                <a:latin typeface="Calibri" pitchFamily="34" charset="0"/>
                <a:ea typeface="Calibri" pitchFamily="34" charset="-122"/>
                <a:cs typeface="Calibri" pitchFamily="34" charset="-120"/>
              </a:rPr>
              <a:t>để</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hỗ</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trợ</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đánh</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giá</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mức</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độ</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bệnh</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trong</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điều</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kiện</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bất</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định</a:t>
            </a:r>
            <a:r>
              <a:rPr lang="en-US" sz="1050" dirty="0">
                <a:solidFill>
                  <a:srgbClr val="1A1A2E"/>
                </a:solidFill>
                <a:latin typeface="Calibri" pitchFamily="34" charset="0"/>
                <a:ea typeface="Calibri" pitchFamily="34" charset="-122"/>
                <a:cs typeface="Calibri" pitchFamily="34" charset="-120"/>
              </a:rPr>
              <a:t>.</a:t>
            </a:r>
            <a:endParaRPr lang="en-US" sz="1050" dirty="0"/>
          </a:p>
        </p:txBody>
      </p:sp>
      <p:sp>
        <p:nvSpPr>
          <p:cNvPr id="12" name="Shape 10">
            <a:extLst>
              <a:ext uri="{FF2B5EF4-FFF2-40B4-BE49-F238E27FC236}">
                <a16:creationId xmlns:a16="http://schemas.microsoft.com/office/drawing/2014/main" id="{BFA5D323-5F3B-D8D3-9AAE-B256626BA5FE}"/>
              </a:ext>
            </a:extLst>
          </p:cNvPr>
          <p:cNvSpPr/>
          <p:nvPr/>
        </p:nvSpPr>
        <p:spPr>
          <a:xfrm>
            <a:off x="3246120" y="868680"/>
            <a:ext cx="2651760" cy="1463040"/>
          </a:xfrm>
          <a:prstGeom prst="rect">
            <a:avLst/>
          </a:prstGeom>
          <a:solidFill>
            <a:srgbClr val="F8F9FA"/>
          </a:solidFill>
          <a:ln w="19050">
            <a:solidFill>
              <a:srgbClr val="74C69D"/>
            </a:solidFill>
            <a:prstDash val="solid"/>
          </a:ln>
          <a:effectLst>
            <a:outerShdw blurRad="50800" dist="25400" dir="8100000" algn="bl" rotWithShape="0">
              <a:srgbClr val="AAAAAA">
                <a:alpha val="20000"/>
              </a:srgbClr>
            </a:outerShdw>
          </a:effectLst>
        </p:spPr>
      </p:sp>
      <p:sp>
        <p:nvSpPr>
          <p:cNvPr id="13" name="Shape 11">
            <a:extLst>
              <a:ext uri="{FF2B5EF4-FFF2-40B4-BE49-F238E27FC236}">
                <a16:creationId xmlns:a16="http://schemas.microsoft.com/office/drawing/2014/main" id="{A94034F4-5972-BA96-601C-B1BE2C2271B0}"/>
              </a:ext>
            </a:extLst>
          </p:cNvPr>
          <p:cNvSpPr/>
          <p:nvPr/>
        </p:nvSpPr>
        <p:spPr>
          <a:xfrm>
            <a:off x="3383280" y="1005840"/>
            <a:ext cx="457200" cy="457200"/>
          </a:xfrm>
          <a:prstGeom prst="ellipse">
            <a:avLst/>
          </a:prstGeom>
          <a:solidFill>
            <a:srgbClr val="40916C"/>
          </a:solidFill>
          <a:ln w="12700">
            <a:solidFill>
              <a:srgbClr val="40916C"/>
            </a:solidFill>
            <a:prstDash val="solid"/>
          </a:ln>
        </p:spPr>
      </p:sp>
      <p:sp>
        <p:nvSpPr>
          <p:cNvPr id="14" name="Text 12">
            <a:extLst>
              <a:ext uri="{FF2B5EF4-FFF2-40B4-BE49-F238E27FC236}">
                <a16:creationId xmlns:a16="http://schemas.microsoft.com/office/drawing/2014/main" id="{B064134C-AF7A-4C1E-6B0A-DE7C8780D35B}"/>
              </a:ext>
            </a:extLst>
          </p:cNvPr>
          <p:cNvSpPr/>
          <p:nvPr/>
        </p:nvSpPr>
        <p:spPr>
          <a:xfrm>
            <a:off x="3383280" y="1005840"/>
            <a:ext cx="45720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a:extLst>
              <a:ext uri="{FF2B5EF4-FFF2-40B4-BE49-F238E27FC236}">
                <a16:creationId xmlns:a16="http://schemas.microsoft.com/office/drawing/2014/main" id="{6C53D441-AE49-D009-0A5B-76D13F0F6180}"/>
              </a:ext>
            </a:extLst>
          </p:cNvPr>
          <p:cNvSpPr/>
          <p:nvPr/>
        </p:nvSpPr>
        <p:spPr>
          <a:xfrm>
            <a:off x="3931920" y="1005840"/>
            <a:ext cx="1828800" cy="502920"/>
          </a:xfrm>
          <a:prstGeom prst="rect">
            <a:avLst/>
          </a:prstGeom>
          <a:noFill/>
          <a:ln/>
        </p:spPr>
        <p:txBody>
          <a:bodyPr wrap="square" rtlCol="0" anchor="ctr"/>
          <a:lstStyle/>
          <a:p>
            <a:pPr marL="0" indent="0">
              <a:buNone/>
            </a:pPr>
            <a:r>
              <a:rPr lang="en-US" sz="1150" b="1" dirty="0">
                <a:solidFill>
                  <a:srgbClr val="1B4332"/>
                </a:solidFill>
                <a:latin typeface="Calibri" pitchFamily="34" charset="0"/>
                <a:ea typeface="Calibri" pitchFamily="34" charset="-122"/>
                <a:cs typeface="Calibri" pitchFamily="34" charset="-120"/>
              </a:rPr>
              <a:t>Explainable AI (XAI)</a:t>
            </a:r>
            <a:endParaRPr lang="en-US" sz="1150" dirty="0"/>
          </a:p>
        </p:txBody>
      </p:sp>
      <p:sp>
        <p:nvSpPr>
          <p:cNvPr id="16" name="Text 14">
            <a:extLst>
              <a:ext uri="{FF2B5EF4-FFF2-40B4-BE49-F238E27FC236}">
                <a16:creationId xmlns:a16="http://schemas.microsoft.com/office/drawing/2014/main" id="{CD1BE56B-342C-BE73-1372-9CA7E399B64B}"/>
              </a:ext>
            </a:extLst>
          </p:cNvPr>
          <p:cNvSpPr/>
          <p:nvPr/>
        </p:nvSpPr>
        <p:spPr>
          <a:xfrm>
            <a:off x="3383279" y="1554480"/>
            <a:ext cx="2445283" cy="685800"/>
          </a:xfrm>
          <a:prstGeom prst="rect">
            <a:avLst/>
          </a:prstGeom>
          <a:noFill/>
          <a:ln/>
        </p:spPr>
        <p:txBody>
          <a:bodyPr wrap="square" rtlCol="0" anchor="ctr"/>
          <a:lstStyle/>
          <a:p>
            <a:r>
              <a:rPr lang="en-US" sz="1000" dirty="0" err="1">
                <a:solidFill>
                  <a:srgbClr val="1A1A2E"/>
                </a:solidFill>
                <a:latin typeface="Calibri" pitchFamily="34" charset="0"/>
                <a:ea typeface="Calibri" pitchFamily="34" charset="-122"/>
                <a:cs typeface="Calibri" pitchFamily="34" charset="-120"/>
              </a:rPr>
              <a:t>Giải</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thích</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quyết</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định</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bằng</a:t>
            </a:r>
            <a:r>
              <a:rPr lang="en-US" sz="1000" dirty="0">
                <a:solidFill>
                  <a:srgbClr val="1A1A2E"/>
                </a:solidFill>
                <a:latin typeface="Calibri" pitchFamily="34" charset="0"/>
                <a:ea typeface="Calibri" pitchFamily="34" charset="-122"/>
                <a:cs typeface="Calibri" pitchFamily="34" charset="-120"/>
              </a:rPr>
              <a:t>:</a:t>
            </a:r>
          </a:p>
          <a:p>
            <a:r>
              <a:rPr lang="en-US" sz="1000" dirty="0">
                <a:solidFill>
                  <a:srgbClr val="1A1A2E"/>
                </a:solidFill>
                <a:latin typeface="Calibri" pitchFamily="34" charset="0"/>
                <a:ea typeface="Calibri" pitchFamily="34" charset="-122"/>
                <a:cs typeface="Calibri" pitchFamily="34" charset="-120"/>
              </a:rPr>
              <a:t>• Rule Traceability - </a:t>
            </a:r>
            <a:r>
              <a:rPr lang="en-US" sz="1000" dirty="0" err="1">
                <a:solidFill>
                  <a:srgbClr val="1A1A2E"/>
                </a:solidFill>
                <a:latin typeface="Calibri" pitchFamily="34" charset="0"/>
                <a:ea typeface="Calibri" pitchFamily="34" charset="-122"/>
                <a:cs typeface="Calibri" pitchFamily="34" charset="-120"/>
              </a:rPr>
              <a:t>Truy</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vết</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Luật</a:t>
            </a:r>
            <a:endParaRPr lang="en-US" sz="1000" dirty="0">
              <a:solidFill>
                <a:srgbClr val="1A1A2E"/>
              </a:solidFill>
              <a:latin typeface="Calibri" pitchFamily="34" charset="0"/>
              <a:ea typeface="Calibri" pitchFamily="34" charset="-122"/>
              <a:cs typeface="Calibri" pitchFamily="34" charset="-120"/>
            </a:endParaRPr>
          </a:p>
          <a:p>
            <a:r>
              <a:rPr lang="en-US" sz="1000" dirty="0">
                <a:solidFill>
                  <a:srgbClr val="1A1A2E"/>
                </a:solidFill>
                <a:latin typeface="Calibri" pitchFamily="34" charset="0"/>
                <a:ea typeface="Calibri" pitchFamily="34" charset="-122"/>
                <a:cs typeface="Calibri" pitchFamily="34" charset="-120"/>
              </a:rPr>
              <a:t>• Entropy Analysis - </a:t>
            </a:r>
            <a:r>
              <a:rPr lang="en-US" sz="1000" dirty="0" err="1">
                <a:solidFill>
                  <a:srgbClr val="1A1A2E"/>
                </a:solidFill>
                <a:latin typeface="Calibri" pitchFamily="34" charset="0"/>
                <a:ea typeface="Calibri" pitchFamily="34" charset="-122"/>
                <a:cs typeface="Calibri" pitchFamily="34" charset="-120"/>
              </a:rPr>
              <a:t>Đánh</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giá</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độ</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bất</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định</a:t>
            </a:r>
            <a:endParaRPr lang="en-US" sz="1000" dirty="0">
              <a:solidFill>
                <a:srgbClr val="1A1A2E"/>
              </a:solidFill>
              <a:latin typeface="Calibri" pitchFamily="34" charset="0"/>
              <a:ea typeface="Calibri" pitchFamily="34" charset="-122"/>
              <a:cs typeface="Calibri" pitchFamily="34" charset="-120"/>
            </a:endParaRPr>
          </a:p>
          <a:p>
            <a:r>
              <a:rPr lang="en-US" sz="1000" dirty="0">
                <a:solidFill>
                  <a:srgbClr val="1A1A2E"/>
                </a:solidFill>
                <a:latin typeface="Calibri" pitchFamily="34" charset="0"/>
                <a:ea typeface="Calibri" pitchFamily="34" charset="-122"/>
                <a:cs typeface="Calibri" pitchFamily="34" charset="-120"/>
              </a:rPr>
              <a:t>• Natural Language Explanation – </a:t>
            </a:r>
            <a:r>
              <a:rPr lang="en-US" sz="1000" dirty="0" err="1">
                <a:solidFill>
                  <a:srgbClr val="1A1A2E"/>
                </a:solidFill>
                <a:latin typeface="Calibri" pitchFamily="34" charset="0"/>
                <a:ea typeface="Calibri" pitchFamily="34" charset="-122"/>
                <a:cs typeface="Calibri" pitchFamily="34" charset="-120"/>
              </a:rPr>
              <a:t>Giải</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thích</a:t>
            </a:r>
            <a:endParaRPr lang="en-US" sz="1000" dirty="0"/>
          </a:p>
        </p:txBody>
      </p:sp>
      <p:sp>
        <p:nvSpPr>
          <p:cNvPr id="17" name="Shape 15">
            <a:extLst>
              <a:ext uri="{FF2B5EF4-FFF2-40B4-BE49-F238E27FC236}">
                <a16:creationId xmlns:a16="http://schemas.microsoft.com/office/drawing/2014/main" id="{7A72C9B3-FA32-11E6-BAED-7A2FF85BAA7A}"/>
              </a:ext>
            </a:extLst>
          </p:cNvPr>
          <p:cNvSpPr/>
          <p:nvPr/>
        </p:nvSpPr>
        <p:spPr>
          <a:xfrm>
            <a:off x="6263640" y="868680"/>
            <a:ext cx="2651760" cy="1463040"/>
          </a:xfrm>
          <a:prstGeom prst="rect">
            <a:avLst/>
          </a:prstGeom>
          <a:solidFill>
            <a:srgbClr val="F8F9FA"/>
          </a:solidFill>
          <a:ln w="19050">
            <a:solidFill>
              <a:srgbClr val="74C69D"/>
            </a:solidFill>
            <a:prstDash val="solid"/>
          </a:ln>
          <a:effectLst>
            <a:outerShdw blurRad="50800" dist="25400" dir="8100000" algn="bl" rotWithShape="0">
              <a:srgbClr val="AAAAAA">
                <a:alpha val="20000"/>
              </a:srgbClr>
            </a:outerShdw>
          </a:effectLst>
        </p:spPr>
      </p:sp>
      <p:sp>
        <p:nvSpPr>
          <p:cNvPr id="18" name="Shape 16">
            <a:extLst>
              <a:ext uri="{FF2B5EF4-FFF2-40B4-BE49-F238E27FC236}">
                <a16:creationId xmlns:a16="http://schemas.microsoft.com/office/drawing/2014/main" id="{B81CFC0B-52D5-E21A-DBB6-A95ADE11037F}"/>
              </a:ext>
            </a:extLst>
          </p:cNvPr>
          <p:cNvSpPr/>
          <p:nvPr/>
        </p:nvSpPr>
        <p:spPr>
          <a:xfrm>
            <a:off x="6400800" y="1005840"/>
            <a:ext cx="457200" cy="457200"/>
          </a:xfrm>
          <a:prstGeom prst="ellipse">
            <a:avLst/>
          </a:prstGeom>
          <a:solidFill>
            <a:srgbClr val="F4A261"/>
          </a:solidFill>
          <a:ln w="12700">
            <a:solidFill>
              <a:srgbClr val="F4A261"/>
            </a:solidFill>
            <a:prstDash val="solid"/>
          </a:ln>
        </p:spPr>
      </p:sp>
      <p:sp>
        <p:nvSpPr>
          <p:cNvPr id="19" name="Text 17">
            <a:extLst>
              <a:ext uri="{FF2B5EF4-FFF2-40B4-BE49-F238E27FC236}">
                <a16:creationId xmlns:a16="http://schemas.microsoft.com/office/drawing/2014/main" id="{6555CFB1-23BA-65C0-844C-4FB1FE11A0CE}"/>
              </a:ext>
            </a:extLst>
          </p:cNvPr>
          <p:cNvSpPr/>
          <p:nvPr/>
        </p:nvSpPr>
        <p:spPr>
          <a:xfrm>
            <a:off x="6400800" y="1005840"/>
            <a:ext cx="45720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0" name="Text 18">
            <a:extLst>
              <a:ext uri="{FF2B5EF4-FFF2-40B4-BE49-F238E27FC236}">
                <a16:creationId xmlns:a16="http://schemas.microsoft.com/office/drawing/2014/main" id="{013E16C2-6C08-4E35-A7CE-D4B497CE3472}"/>
              </a:ext>
            </a:extLst>
          </p:cNvPr>
          <p:cNvSpPr/>
          <p:nvPr/>
        </p:nvSpPr>
        <p:spPr>
          <a:xfrm>
            <a:off x="6949440" y="1005840"/>
            <a:ext cx="1828800" cy="502920"/>
          </a:xfrm>
          <a:prstGeom prst="rect">
            <a:avLst/>
          </a:prstGeom>
          <a:noFill/>
          <a:ln/>
        </p:spPr>
        <p:txBody>
          <a:bodyPr wrap="square" rtlCol="0" anchor="ctr"/>
          <a:lstStyle/>
          <a:p>
            <a:pPr marL="0" indent="0">
              <a:buNone/>
            </a:pPr>
            <a:r>
              <a:rPr lang="en-US" sz="1150" b="1" dirty="0">
                <a:solidFill>
                  <a:srgbClr val="1B4332"/>
                </a:solidFill>
                <a:latin typeface="Calibri" pitchFamily="34" charset="0"/>
                <a:ea typeface="Calibri" pitchFamily="34" charset="-122"/>
                <a:cs typeface="Calibri" pitchFamily="34" charset="-120"/>
              </a:rPr>
              <a:t>Fuzzy Inference System (FIS)</a:t>
            </a:r>
            <a:endParaRPr lang="en-US" sz="1150" dirty="0"/>
          </a:p>
        </p:txBody>
      </p:sp>
      <p:sp>
        <p:nvSpPr>
          <p:cNvPr id="21" name="Text 19">
            <a:extLst>
              <a:ext uri="{FF2B5EF4-FFF2-40B4-BE49-F238E27FC236}">
                <a16:creationId xmlns:a16="http://schemas.microsoft.com/office/drawing/2014/main" id="{2D2C4A5D-06ED-566C-B53E-973E30DA7E88}"/>
              </a:ext>
            </a:extLst>
          </p:cNvPr>
          <p:cNvSpPr/>
          <p:nvPr/>
        </p:nvSpPr>
        <p:spPr>
          <a:xfrm>
            <a:off x="6400800" y="1554480"/>
            <a:ext cx="2377440" cy="685800"/>
          </a:xfrm>
          <a:prstGeom prst="rect">
            <a:avLst/>
          </a:prstGeom>
          <a:noFill/>
          <a:ln/>
        </p:spPr>
        <p:txBody>
          <a:bodyPr wrap="square" rtlCol="0" anchor="ctr"/>
          <a:lstStyle/>
          <a:p>
            <a:r>
              <a:rPr lang="vi-VN" sz="1050" dirty="0">
                <a:solidFill>
                  <a:srgbClr val="1A1A2E"/>
                </a:solidFill>
                <a:latin typeface="Calibri" pitchFamily="34" charset="0"/>
                <a:ea typeface="Calibri" pitchFamily="34" charset="-122"/>
                <a:cs typeface="Calibri" pitchFamily="34" charset="-120"/>
              </a:rPr>
              <a:t>Chuyển CNN Probability và dữ liệu môi trường thành</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Chỉ</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số</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mức</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độ</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bệnh</a:t>
            </a:r>
            <a:r>
              <a:rPr lang="vi-VN" sz="1050" dirty="0">
                <a:solidFill>
                  <a:srgbClr val="1A1A2E"/>
                </a:solidFill>
                <a:latin typeface="Calibri" pitchFamily="34" charset="0"/>
                <a:ea typeface="Calibri" pitchFamily="34" charset="-122"/>
                <a:cs typeface="Calibri" pitchFamily="34" charset="-120"/>
              </a:rPr>
              <a:t> </a:t>
            </a:r>
            <a:r>
              <a:rPr lang="en-US" sz="1050" dirty="0">
                <a:solidFill>
                  <a:srgbClr val="1A1A2E"/>
                </a:solidFill>
                <a:latin typeface="Calibri" pitchFamily="34" charset="0"/>
                <a:ea typeface="Calibri" pitchFamily="34" charset="-122"/>
                <a:cs typeface="Calibri" pitchFamily="34" charset="-120"/>
              </a:rPr>
              <a:t>(VSI)</a:t>
            </a:r>
            <a:r>
              <a:rPr lang="vi-VN" sz="1050" dirty="0">
                <a:solidFill>
                  <a:srgbClr val="1A1A2E"/>
                </a:solidFill>
                <a:latin typeface="Calibri" pitchFamily="34" charset="0"/>
                <a:ea typeface="Calibri" pitchFamily="34" charset="-122"/>
                <a:cs typeface="Calibri" pitchFamily="34" charset="-120"/>
              </a:rPr>
              <a:t> thông qua luật IF-THEN.</a:t>
            </a:r>
            <a:endParaRPr lang="en-US" sz="1050" dirty="0"/>
          </a:p>
        </p:txBody>
      </p:sp>
      <p:sp>
        <p:nvSpPr>
          <p:cNvPr id="22" name="Text 20">
            <a:extLst>
              <a:ext uri="{FF2B5EF4-FFF2-40B4-BE49-F238E27FC236}">
                <a16:creationId xmlns:a16="http://schemas.microsoft.com/office/drawing/2014/main" id="{C8176FAD-E9CA-1DD1-0252-63785BC05AB4}"/>
              </a:ext>
            </a:extLst>
          </p:cNvPr>
          <p:cNvSpPr/>
          <p:nvPr/>
        </p:nvSpPr>
        <p:spPr>
          <a:xfrm>
            <a:off x="228600" y="2468880"/>
            <a:ext cx="8686800" cy="365760"/>
          </a:xfrm>
          <a:prstGeom prst="rect">
            <a:avLst/>
          </a:prstGeom>
          <a:noFill/>
          <a:ln/>
        </p:spPr>
        <p:txBody>
          <a:bodyPr wrap="square" rtlCol="0" anchor="ctr"/>
          <a:lstStyle/>
          <a:p>
            <a:r>
              <a:rPr lang="en-US" sz="1300" b="1" dirty="0">
                <a:solidFill>
                  <a:srgbClr val="1B4332"/>
                </a:solidFill>
                <a:latin typeface="Calibri" pitchFamily="34" charset="0"/>
                <a:ea typeface="Calibri" pitchFamily="34" charset="-122"/>
                <a:cs typeface="Calibri" pitchFamily="34" charset="-120"/>
              </a:rPr>
              <a:t>Quy </a:t>
            </a:r>
            <a:r>
              <a:rPr lang="en-US" sz="1300" b="1" dirty="0" err="1">
                <a:solidFill>
                  <a:srgbClr val="1B4332"/>
                </a:solidFill>
                <a:latin typeface="Calibri" pitchFamily="34" charset="0"/>
                <a:ea typeface="Calibri" pitchFamily="34" charset="-122"/>
                <a:cs typeface="Calibri" pitchFamily="34" charset="-120"/>
              </a:rPr>
              <a:t>Trình</a:t>
            </a:r>
            <a:r>
              <a:rPr lang="en-US" sz="1300" b="1" dirty="0">
                <a:solidFill>
                  <a:srgbClr val="1B4332"/>
                </a:solidFill>
                <a:latin typeface="Calibri" pitchFamily="34" charset="0"/>
                <a:ea typeface="Calibri" pitchFamily="34" charset="-122"/>
                <a:cs typeface="Calibri" pitchFamily="34" charset="-120"/>
              </a:rPr>
              <a:t> Zero-order </a:t>
            </a:r>
            <a:r>
              <a:rPr lang="en-US" sz="1300" b="1" dirty="0" err="1">
                <a:solidFill>
                  <a:srgbClr val="1B4332"/>
                </a:solidFill>
                <a:latin typeface="Calibri" pitchFamily="34" charset="0"/>
                <a:ea typeface="Calibri" pitchFamily="34" charset="-122"/>
                <a:cs typeface="Calibri" pitchFamily="34" charset="-120"/>
              </a:rPr>
              <a:t>Sugeno</a:t>
            </a:r>
            <a:r>
              <a:rPr lang="en-US" sz="1300" b="1" dirty="0">
                <a:solidFill>
                  <a:srgbClr val="1B4332"/>
                </a:solidFill>
                <a:latin typeface="Calibri" pitchFamily="34" charset="0"/>
                <a:ea typeface="Calibri" pitchFamily="34" charset="-122"/>
                <a:cs typeface="Calibri" pitchFamily="34" charset="-120"/>
              </a:rPr>
              <a:t> Fuzzy Inference System: </a:t>
            </a:r>
            <a:r>
              <a:rPr lang="en-US" sz="1300" b="1" dirty="0" err="1">
                <a:solidFill>
                  <a:srgbClr val="1B4332"/>
                </a:solidFill>
                <a:latin typeface="Calibri" pitchFamily="34" charset="0"/>
                <a:ea typeface="Calibri" pitchFamily="34" charset="-122"/>
                <a:cs typeface="Calibri" pitchFamily="34" charset="-120"/>
              </a:rPr>
              <a:t>Luật</a:t>
            </a:r>
            <a:r>
              <a:rPr lang="en-US" sz="1300" b="1" dirty="0">
                <a:solidFill>
                  <a:srgbClr val="1B4332"/>
                </a:solidFill>
                <a:latin typeface="Calibri" pitchFamily="34" charset="0"/>
                <a:ea typeface="Calibri" pitchFamily="34" charset="-122"/>
                <a:cs typeface="Calibri" pitchFamily="34" charset="-120"/>
              </a:rPr>
              <a:t> (</a:t>
            </a:r>
            <a:r>
              <a:rPr lang="en-US" sz="1300" b="1" dirty="0" err="1">
                <a:solidFill>
                  <a:srgbClr val="1B4332"/>
                </a:solidFill>
                <a:latin typeface="Calibri" pitchFamily="34" charset="0"/>
                <a:ea typeface="Calibri" pitchFamily="34" charset="-122"/>
                <a:cs typeface="Calibri" pitchFamily="34" charset="-120"/>
              </a:rPr>
              <a:t>tham</a:t>
            </a:r>
            <a:r>
              <a:rPr lang="en-US" sz="1300" b="1" dirty="0">
                <a:solidFill>
                  <a:srgbClr val="1B4332"/>
                </a:solidFill>
                <a:latin typeface="Calibri" pitchFamily="34" charset="0"/>
                <a:ea typeface="Calibri" pitchFamily="34" charset="-122"/>
                <a:cs typeface="Calibri" pitchFamily="34" charset="-120"/>
              </a:rPr>
              <a:t> </a:t>
            </a:r>
            <a:r>
              <a:rPr lang="en-US" sz="1300" b="1" dirty="0" err="1">
                <a:solidFill>
                  <a:srgbClr val="1B4332"/>
                </a:solidFill>
                <a:latin typeface="Calibri" pitchFamily="34" charset="0"/>
                <a:ea typeface="Calibri" pitchFamily="34" charset="-122"/>
                <a:cs typeface="Calibri" pitchFamily="34" charset="-120"/>
              </a:rPr>
              <a:t>số</a:t>
            </a:r>
            <a:r>
              <a:rPr lang="en-US" sz="1300" b="1" dirty="0">
                <a:solidFill>
                  <a:srgbClr val="1B4332"/>
                </a:solidFill>
                <a:latin typeface="Calibri" pitchFamily="34" charset="0"/>
                <a:ea typeface="Calibri" pitchFamily="34" charset="-122"/>
                <a:cs typeface="Calibri" pitchFamily="34" charset="-120"/>
              </a:rPr>
              <a:t> </a:t>
            </a:r>
            <a:r>
              <a:rPr lang="en-US" sz="1300" b="1" dirty="0" err="1">
                <a:solidFill>
                  <a:srgbClr val="1B4332"/>
                </a:solidFill>
                <a:latin typeface="Calibri" pitchFamily="34" charset="0"/>
                <a:ea typeface="Calibri" pitchFamily="34" charset="-122"/>
                <a:cs typeface="Calibri" pitchFamily="34" charset="-120"/>
              </a:rPr>
              <a:t>đầu</a:t>
            </a:r>
            <a:r>
              <a:rPr lang="en-US" sz="1300" b="1" dirty="0">
                <a:solidFill>
                  <a:srgbClr val="1B4332"/>
                </a:solidFill>
                <a:latin typeface="Calibri" pitchFamily="34" charset="0"/>
                <a:ea typeface="Calibri" pitchFamily="34" charset="-122"/>
                <a:cs typeface="Calibri" pitchFamily="34" charset="-120"/>
              </a:rPr>
              <a:t> </a:t>
            </a:r>
            <a:r>
              <a:rPr lang="en-US" sz="1300" b="1" dirty="0" err="1">
                <a:solidFill>
                  <a:srgbClr val="1B4332"/>
                </a:solidFill>
                <a:latin typeface="Calibri" pitchFamily="34" charset="0"/>
                <a:ea typeface="Calibri" pitchFamily="34" charset="-122"/>
                <a:cs typeface="Calibri" pitchFamily="34" charset="-120"/>
              </a:rPr>
              <a:t>vào</a:t>
            </a:r>
            <a:r>
              <a:rPr lang="en-US" sz="1300" b="1" dirty="0">
                <a:solidFill>
                  <a:srgbClr val="1B4332"/>
                </a:solidFill>
                <a:latin typeface="Calibri" pitchFamily="34" charset="0"/>
                <a:ea typeface="Calibri" pitchFamily="34" charset="-122"/>
                <a:cs typeface="Calibri" pitchFamily="34" charset="-120"/>
              </a:rPr>
              <a:t>) </a:t>
            </a:r>
            <a:r>
              <a:rPr lang="en-US" sz="1300" b="1" dirty="0">
                <a:solidFill>
                  <a:srgbClr val="1B4332"/>
                </a:solidFill>
                <a:latin typeface="Calibri" pitchFamily="34" charset="0"/>
                <a:ea typeface="Calibri" pitchFamily="34" charset="-122"/>
                <a:cs typeface="Calibri" pitchFamily="34" charset="-120"/>
                <a:sym typeface="Wingdings" panose="05000000000000000000" pitchFamily="2" charset="2"/>
              </a:rPr>
              <a:t> </a:t>
            </a:r>
            <a:r>
              <a:rPr lang="en-US" sz="1300" b="1" dirty="0" err="1">
                <a:solidFill>
                  <a:srgbClr val="1B4332"/>
                </a:solidFill>
                <a:latin typeface="Calibri" pitchFamily="34" charset="0"/>
                <a:ea typeface="Calibri" pitchFamily="34" charset="-122"/>
                <a:cs typeface="Calibri" pitchFamily="34" charset="-120"/>
                <a:sym typeface="Wingdings" panose="05000000000000000000" pitchFamily="2" charset="2"/>
              </a:rPr>
              <a:t>Chỉ</a:t>
            </a:r>
            <a:r>
              <a:rPr lang="en-US" sz="1300" b="1" dirty="0">
                <a:solidFill>
                  <a:srgbClr val="1B4332"/>
                </a:solidFill>
                <a:latin typeface="Calibri" pitchFamily="34" charset="0"/>
                <a:ea typeface="Calibri" pitchFamily="34" charset="-122"/>
                <a:cs typeface="Calibri" pitchFamily="34" charset="-120"/>
                <a:sym typeface="Wingdings" panose="05000000000000000000" pitchFamily="2" charset="2"/>
              </a:rPr>
              <a:t> </a:t>
            </a:r>
            <a:r>
              <a:rPr lang="en-US" sz="1300" b="1" dirty="0" err="1">
                <a:solidFill>
                  <a:srgbClr val="1B4332"/>
                </a:solidFill>
                <a:latin typeface="Calibri" pitchFamily="34" charset="0"/>
                <a:ea typeface="Calibri" pitchFamily="34" charset="-122"/>
                <a:cs typeface="Calibri" pitchFamily="34" charset="-120"/>
                <a:sym typeface="Wingdings" panose="05000000000000000000" pitchFamily="2" charset="2"/>
              </a:rPr>
              <a:t>số</a:t>
            </a:r>
            <a:r>
              <a:rPr lang="en-US" sz="1300" b="1" dirty="0">
                <a:solidFill>
                  <a:srgbClr val="1B4332"/>
                </a:solidFill>
                <a:latin typeface="Calibri" pitchFamily="34" charset="0"/>
                <a:ea typeface="Calibri" pitchFamily="34" charset="-122"/>
                <a:cs typeface="Calibri" pitchFamily="34" charset="-120"/>
                <a:sym typeface="Wingdings" panose="05000000000000000000" pitchFamily="2" charset="2"/>
              </a:rPr>
              <a:t> </a:t>
            </a:r>
            <a:r>
              <a:rPr lang="en-US" sz="1300" b="1" dirty="0" err="1">
                <a:solidFill>
                  <a:srgbClr val="1B4332"/>
                </a:solidFill>
                <a:latin typeface="Calibri" pitchFamily="34" charset="0"/>
                <a:ea typeface="Calibri" pitchFamily="34" charset="-122"/>
                <a:cs typeface="Calibri" pitchFamily="34" charset="-120"/>
                <a:sym typeface="Wingdings" panose="05000000000000000000" pitchFamily="2" charset="2"/>
              </a:rPr>
              <a:t>phản</a:t>
            </a:r>
            <a:r>
              <a:rPr lang="en-US" sz="1300" b="1" dirty="0">
                <a:solidFill>
                  <a:srgbClr val="1B4332"/>
                </a:solidFill>
                <a:latin typeface="Calibri" pitchFamily="34" charset="0"/>
                <a:ea typeface="Calibri" pitchFamily="34" charset="-122"/>
                <a:cs typeface="Calibri" pitchFamily="34" charset="-120"/>
                <a:sym typeface="Wingdings" panose="05000000000000000000" pitchFamily="2" charset="2"/>
              </a:rPr>
              <a:t> </a:t>
            </a:r>
            <a:r>
              <a:rPr lang="en-US" sz="1300" b="1" dirty="0" err="1">
                <a:solidFill>
                  <a:srgbClr val="1B4332"/>
                </a:solidFill>
                <a:latin typeface="Calibri" pitchFamily="34" charset="0"/>
                <a:ea typeface="Calibri" pitchFamily="34" charset="-122"/>
                <a:cs typeface="Calibri" pitchFamily="34" charset="-120"/>
                <a:sym typeface="Wingdings" panose="05000000000000000000" pitchFamily="2" charset="2"/>
              </a:rPr>
              <a:t>ánh</a:t>
            </a:r>
            <a:r>
              <a:rPr lang="en-US" sz="1300" b="1" dirty="0">
                <a:solidFill>
                  <a:srgbClr val="1B4332"/>
                </a:solidFill>
                <a:latin typeface="Calibri" pitchFamily="34" charset="0"/>
                <a:ea typeface="Calibri" pitchFamily="34" charset="-122"/>
                <a:cs typeface="Calibri" pitchFamily="34" charset="-120"/>
                <a:sym typeface="Wingdings" panose="05000000000000000000" pitchFamily="2" charset="2"/>
              </a:rPr>
              <a:t> </a:t>
            </a:r>
            <a:r>
              <a:rPr lang="en-US" sz="1300" b="1" dirty="0" err="1">
                <a:solidFill>
                  <a:srgbClr val="1B4332"/>
                </a:solidFill>
                <a:latin typeface="Calibri" pitchFamily="34" charset="0"/>
                <a:ea typeface="Calibri" pitchFamily="34" charset="-122"/>
                <a:cs typeface="Calibri" pitchFamily="34" charset="-120"/>
                <a:sym typeface="Wingdings" panose="05000000000000000000" pitchFamily="2" charset="2"/>
              </a:rPr>
              <a:t>mức</a:t>
            </a:r>
            <a:r>
              <a:rPr lang="en-US" sz="1300" b="1" dirty="0">
                <a:solidFill>
                  <a:srgbClr val="1B4332"/>
                </a:solidFill>
                <a:latin typeface="Calibri" pitchFamily="34" charset="0"/>
                <a:ea typeface="Calibri" pitchFamily="34" charset="-122"/>
                <a:cs typeface="Calibri" pitchFamily="34" charset="-120"/>
                <a:sym typeface="Wingdings" panose="05000000000000000000" pitchFamily="2" charset="2"/>
              </a:rPr>
              <a:t> </a:t>
            </a:r>
            <a:r>
              <a:rPr lang="en-US" sz="1300" b="1" dirty="0" err="1">
                <a:solidFill>
                  <a:srgbClr val="1B4332"/>
                </a:solidFill>
                <a:latin typeface="Calibri" pitchFamily="34" charset="0"/>
                <a:ea typeface="Calibri" pitchFamily="34" charset="-122"/>
                <a:cs typeface="Calibri" pitchFamily="34" charset="-120"/>
                <a:sym typeface="Wingdings" panose="05000000000000000000" pitchFamily="2" charset="2"/>
              </a:rPr>
              <a:t>độ</a:t>
            </a:r>
            <a:endParaRPr lang="en-US" sz="1300" dirty="0"/>
          </a:p>
        </p:txBody>
      </p:sp>
      <p:sp>
        <p:nvSpPr>
          <p:cNvPr id="23" name="Shape 21">
            <a:extLst>
              <a:ext uri="{FF2B5EF4-FFF2-40B4-BE49-F238E27FC236}">
                <a16:creationId xmlns:a16="http://schemas.microsoft.com/office/drawing/2014/main" id="{A63CE021-C9E3-3E1D-6D0C-D2AD1114E6CD}"/>
              </a:ext>
            </a:extLst>
          </p:cNvPr>
          <p:cNvSpPr/>
          <p:nvPr/>
        </p:nvSpPr>
        <p:spPr>
          <a:xfrm>
            <a:off x="228600" y="2880360"/>
            <a:ext cx="1920240" cy="1280160"/>
          </a:xfrm>
          <a:prstGeom prst="rect">
            <a:avLst/>
          </a:prstGeom>
          <a:solidFill>
            <a:srgbClr val="D8F3DC"/>
          </a:solidFill>
          <a:ln w="12700">
            <a:solidFill>
              <a:srgbClr val="40916C"/>
            </a:solidFill>
            <a:prstDash val="solid"/>
          </a:ln>
          <a:effectLst>
            <a:outerShdw blurRad="38100" dist="25400" dir="8100000" algn="bl" rotWithShape="0">
              <a:srgbClr val="AAAAAA">
                <a:alpha val="20000"/>
              </a:srgbClr>
            </a:outerShdw>
          </a:effectLst>
        </p:spPr>
      </p:sp>
      <p:sp>
        <p:nvSpPr>
          <p:cNvPr id="24" name="Text 22">
            <a:extLst>
              <a:ext uri="{FF2B5EF4-FFF2-40B4-BE49-F238E27FC236}">
                <a16:creationId xmlns:a16="http://schemas.microsoft.com/office/drawing/2014/main" id="{11A756C9-EE65-3328-D447-B70F2637D704}"/>
              </a:ext>
            </a:extLst>
          </p:cNvPr>
          <p:cNvSpPr/>
          <p:nvPr/>
        </p:nvSpPr>
        <p:spPr>
          <a:xfrm>
            <a:off x="320040" y="2971800"/>
            <a:ext cx="1737360" cy="502920"/>
          </a:xfrm>
          <a:prstGeom prst="rect">
            <a:avLst/>
          </a:prstGeom>
          <a:noFill/>
          <a:ln/>
        </p:spPr>
        <p:txBody>
          <a:bodyPr wrap="square" rtlCol="0" anchor="ctr"/>
          <a:lstStyle/>
          <a:p>
            <a:pPr marL="0" indent="0">
              <a:buNone/>
            </a:pPr>
            <a:r>
              <a:rPr lang="en-US" sz="1200" b="1" dirty="0">
                <a:solidFill>
                  <a:srgbClr val="1B4332"/>
                </a:solidFill>
                <a:latin typeface="Calibri" pitchFamily="34" charset="0"/>
                <a:ea typeface="Calibri" pitchFamily="34" charset="-122"/>
                <a:cs typeface="Calibri" pitchFamily="34" charset="-120"/>
              </a:rPr>
              <a:t>① Fuzzification</a:t>
            </a:r>
            <a:endParaRPr lang="en-US" sz="1200" dirty="0"/>
          </a:p>
        </p:txBody>
      </p:sp>
      <p:sp>
        <p:nvSpPr>
          <p:cNvPr id="25" name="Text 23">
            <a:extLst>
              <a:ext uri="{FF2B5EF4-FFF2-40B4-BE49-F238E27FC236}">
                <a16:creationId xmlns:a16="http://schemas.microsoft.com/office/drawing/2014/main" id="{A5F79FD1-7C4F-F362-C94B-6963BC2735BB}"/>
              </a:ext>
            </a:extLst>
          </p:cNvPr>
          <p:cNvSpPr/>
          <p:nvPr/>
        </p:nvSpPr>
        <p:spPr>
          <a:xfrm>
            <a:off x="320040" y="3474720"/>
            <a:ext cx="1755648" cy="594360"/>
          </a:xfrm>
          <a:prstGeom prst="rect">
            <a:avLst/>
          </a:prstGeom>
          <a:noFill/>
          <a:ln/>
        </p:spPr>
        <p:txBody>
          <a:bodyPr wrap="square" rtlCol="0" anchor="ctr"/>
          <a:lstStyle/>
          <a:p>
            <a:r>
              <a:rPr lang="en-US" sz="1000" dirty="0">
                <a:solidFill>
                  <a:srgbClr val="1A1A2E"/>
                </a:solidFill>
                <a:latin typeface="Calibri" pitchFamily="34" charset="0"/>
                <a:ea typeface="Calibri" pitchFamily="34" charset="-122"/>
                <a:cs typeface="Calibri" pitchFamily="34" charset="-120"/>
              </a:rPr>
              <a:t>CNN Probability, Temperature, Humidity --&gt; </a:t>
            </a:r>
            <a:r>
              <a:rPr lang="en-US" sz="1000" dirty="0" err="1"/>
              <a:t>Mức</a:t>
            </a:r>
            <a:r>
              <a:rPr lang="en-US" sz="1000" dirty="0"/>
              <a:t> </a:t>
            </a:r>
            <a:r>
              <a:rPr lang="en-US" sz="1000" dirty="0" err="1"/>
              <a:t>độ</a:t>
            </a:r>
            <a:r>
              <a:rPr lang="en-US" sz="1000" dirty="0"/>
              <a:t> </a:t>
            </a:r>
            <a:r>
              <a:rPr lang="en-US" sz="1000" dirty="0" err="1"/>
              <a:t>phù</a:t>
            </a:r>
            <a:r>
              <a:rPr lang="en-US" sz="1000" dirty="0"/>
              <a:t> </a:t>
            </a:r>
            <a:r>
              <a:rPr lang="en-US" sz="1000" dirty="0" err="1"/>
              <a:t>hợp</a:t>
            </a:r>
            <a:r>
              <a:rPr lang="en-US" sz="1000" dirty="0"/>
              <a:t> (</a:t>
            </a:r>
            <a:r>
              <a:rPr lang="en-US" sz="1000" dirty="0" err="1"/>
              <a:t>độ</a:t>
            </a:r>
            <a:r>
              <a:rPr lang="en-US" sz="1000" dirty="0"/>
              <a:t> </a:t>
            </a:r>
            <a:r>
              <a:rPr lang="en-US" sz="1000" dirty="0" err="1"/>
              <a:t>thuộc</a:t>
            </a:r>
            <a:r>
              <a:rPr lang="en-US" sz="1000" dirty="0"/>
              <a:t> -</a:t>
            </a:r>
            <a:r>
              <a:rPr lang="el-GR" sz="1000" dirty="0"/>
              <a:t>μ)</a:t>
            </a:r>
            <a:r>
              <a:rPr lang="en-US" sz="1000" dirty="0">
                <a:solidFill>
                  <a:srgbClr val="1A1A2E"/>
                </a:solidFill>
                <a:latin typeface="Calibri" pitchFamily="34" charset="0"/>
                <a:ea typeface="Calibri" pitchFamily="34" charset="-122"/>
                <a:cs typeface="Calibri" pitchFamily="34" charset="-120"/>
              </a:rPr>
              <a:t> </a:t>
            </a:r>
            <a:endParaRPr lang="en-US" sz="1000" dirty="0"/>
          </a:p>
        </p:txBody>
      </p:sp>
      <p:sp>
        <p:nvSpPr>
          <p:cNvPr id="26" name="Shape 24">
            <a:extLst>
              <a:ext uri="{FF2B5EF4-FFF2-40B4-BE49-F238E27FC236}">
                <a16:creationId xmlns:a16="http://schemas.microsoft.com/office/drawing/2014/main" id="{81ED8462-5B23-104A-F409-D51D60B755C9}"/>
              </a:ext>
            </a:extLst>
          </p:cNvPr>
          <p:cNvSpPr/>
          <p:nvPr/>
        </p:nvSpPr>
        <p:spPr>
          <a:xfrm>
            <a:off x="2167128" y="3493008"/>
            <a:ext cx="192024" cy="54864"/>
          </a:xfrm>
          <a:prstGeom prst="rect">
            <a:avLst/>
          </a:prstGeom>
          <a:solidFill>
            <a:srgbClr val="2D6A4F"/>
          </a:solidFill>
          <a:ln w="12700">
            <a:solidFill>
              <a:srgbClr val="2D6A4F"/>
            </a:solidFill>
            <a:prstDash val="solid"/>
          </a:ln>
        </p:spPr>
      </p:sp>
      <p:sp>
        <p:nvSpPr>
          <p:cNvPr id="27" name="Shape 25">
            <a:extLst>
              <a:ext uri="{FF2B5EF4-FFF2-40B4-BE49-F238E27FC236}">
                <a16:creationId xmlns:a16="http://schemas.microsoft.com/office/drawing/2014/main" id="{6009DABB-445A-71E7-5425-DBC0477DA204}"/>
              </a:ext>
            </a:extLst>
          </p:cNvPr>
          <p:cNvSpPr/>
          <p:nvPr/>
        </p:nvSpPr>
        <p:spPr>
          <a:xfrm>
            <a:off x="2377440" y="2880360"/>
            <a:ext cx="1920240" cy="1280160"/>
          </a:xfrm>
          <a:prstGeom prst="rect">
            <a:avLst/>
          </a:prstGeom>
          <a:solidFill>
            <a:srgbClr val="E3F2FD"/>
          </a:solidFill>
          <a:ln w="12700">
            <a:solidFill>
              <a:srgbClr val="40916C"/>
            </a:solidFill>
            <a:prstDash val="solid"/>
          </a:ln>
          <a:effectLst>
            <a:outerShdw blurRad="38100" dist="25400" dir="8100000" algn="bl" rotWithShape="0">
              <a:srgbClr val="AAAAAA">
                <a:alpha val="20000"/>
              </a:srgbClr>
            </a:outerShdw>
          </a:effectLst>
        </p:spPr>
      </p:sp>
      <p:sp>
        <p:nvSpPr>
          <p:cNvPr id="28" name="Text 26">
            <a:extLst>
              <a:ext uri="{FF2B5EF4-FFF2-40B4-BE49-F238E27FC236}">
                <a16:creationId xmlns:a16="http://schemas.microsoft.com/office/drawing/2014/main" id="{C6240E00-FBF2-CCF3-2C21-74A20D3E735B}"/>
              </a:ext>
            </a:extLst>
          </p:cNvPr>
          <p:cNvSpPr/>
          <p:nvPr/>
        </p:nvSpPr>
        <p:spPr>
          <a:xfrm>
            <a:off x="2468880" y="2971800"/>
            <a:ext cx="1737360" cy="502920"/>
          </a:xfrm>
          <a:prstGeom prst="rect">
            <a:avLst/>
          </a:prstGeom>
          <a:noFill/>
          <a:ln/>
        </p:spPr>
        <p:txBody>
          <a:bodyPr wrap="square" rtlCol="0" anchor="ctr"/>
          <a:lstStyle/>
          <a:p>
            <a:pPr marL="0" indent="0">
              <a:buNone/>
            </a:pPr>
            <a:r>
              <a:rPr lang="en-US" sz="1200" b="1" dirty="0">
                <a:solidFill>
                  <a:srgbClr val="1B4332"/>
                </a:solidFill>
                <a:latin typeface="Calibri" pitchFamily="34" charset="0"/>
                <a:ea typeface="Calibri" pitchFamily="34" charset="-122"/>
                <a:cs typeface="Calibri" pitchFamily="34" charset="-120"/>
              </a:rPr>
              <a:t>② Rule Evaluation</a:t>
            </a:r>
            <a:endParaRPr lang="en-US" sz="1200" dirty="0"/>
          </a:p>
        </p:txBody>
      </p:sp>
      <p:sp>
        <p:nvSpPr>
          <p:cNvPr id="29" name="Text 27">
            <a:extLst>
              <a:ext uri="{FF2B5EF4-FFF2-40B4-BE49-F238E27FC236}">
                <a16:creationId xmlns:a16="http://schemas.microsoft.com/office/drawing/2014/main" id="{D1458E97-A5EB-A7D0-D96F-F6EC949A5953}"/>
              </a:ext>
            </a:extLst>
          </p:cNvPr>
          <p:cNvSpPr/>
          <p:nvPr/>
        </p:nvSpPr>
        <p:spPr>
          <a:xfrm>
            <a:off x="2468880" y="3360420"/>
            <a:ext cx="1737360" cy="594360"/>
          </a:xfrm>
          <a:prstGeom prst="rect">
            <a:avLst/>
          </a:prstGeom>
          <a:noFill/>
          <a:ln/>
        </p:spPr>
        <p:txBody>
          <a:bodyPr wrap="square" rtlCol="0" anchor="ctr"/>
          <a:lstStyle/>
          <a:p>
            <a:r>
              <a:rPr lang="en-US" sz="1050" dirty="0" err="1">
                <a:solidFill>
                  <a:srgbClr val="1A1A2E"/>
                </a:solidFill>
                <a:latin typeface="Calibri" pitchFamily="34" charset="0"/>
                <a:ea typeface="Calibri" pitchFamily="34" charset="-122"/>
                <a:cs typeface="Calibri" pitchFamily="34" charset="-120"/>
              </a:rPr>
              <a:t>Áp</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dụng</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luật</a:t>
            </a:r>
            <a:r>
              <a:rPr lang="en-US" sz="1050" dirty="0">
                <a:solidFill>
                  <a:srgbClr val="1A1A2E"/>
                </a:solidFill>
                <a:latin typeface="Calibri" pitchFamily="34" charset="0"/>
                <a:ea typeface="Calibri" pitchFamily="34" charset="-122"/>
                <a:cs typeface="Calibri" pitchFamily="34" charset="-120"/>
              </a:rPr>
              <a:t> IF-THEN -&gt;</a:t>
            </a:r>
          </a:p>
          <a:p>
            <a:r>
              <a:rPr lang="en-US" sz="1050" dirty="0" err="1">
                <a:solidFill>
                  <a:srgbClr val="1A1A2E"/>
                </a:solidFill>
                <a:latin typeface="Calibri" pitchFamily="34" charset="0"/>
                <a:ea typeface="Calibri" pitchFamily="34" charset="-122"/>
                <a:cs typeface="Calibri" pitchFamily="34" charset="-120"/>
              </a:rPr>
              <a:t>Độ</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kích</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hoạt</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Luật</a:t>
            </a:r>
            <a:r>
              <a:rPr lang="en-US" sz="1050" dirty="0">
                <a:solidFill>
                  <a:srgbClr val="1A1A2E"/>
                </a:solidFill>
                <a:latin typeface="Calibri" pitchFamily="34" charset="0"/>
                <a:ea typeface="Calibri" pitchFamily="34" charset="-122"/>
                <a:cs typeface="Calibri" pitchFamily="34" charset="-120"/>
              </a:rPr>
              <a:t> (Firing strength (</a:t>
            </a:r>
            <a:r>
              <a:rPr lang="en-US" sz="1050" dirty="0" err="1">
                <a:solidFill>
                  <a:srgbClr val="1A1A2E"/>
                </a:solidFill>
                <a:latin typeface="Calibri" pitchFamily="34" charset="0"/>
                <a:ea typeface="Calibri" pitchFamily="34" charset="-122"/>
                <a:cs typeface="Calibri" pitchFamily="34" charset="-120"/>
              </a:rPr>
              <a:t>wi</a:t>
            </a:r>
            <a:r>
              <a:rPr lang="en-US" sz="1050" dirty="0">
                <a:solidFill>
                  <a:srgbClr val="1A1A2E"/>
                </a:solidFill>
                <a:latin typeface="Calibri" pitchFamily="34" charset="0"/>
                <a:ea typeface="Calibri" pitchFamily="34" charset="-122"/>
                <a:cs typeface="Calibri" pitchFamily="34" charset="-120"/>
              </a:rPr>
              <a:t>))</a:t>
            </a:r>
            <a:endParaRPr lang="en-US" sz="1050" dirty="0"/>
          </a:p>
        </p:txBody>
      </p:sp>
      <p:sp>
        <p:nvSpPr>
          <p:cNvPr id="30" name="Shape 28">
            <a:extLst>
              <a:ext uri="{FF2B5EF4-FFF2-40B4-BE49-F238E27FC236}">
                <a16:creationId xmlns:a16="http://schemas.microsoft.com/office/drawing/2014/main" id="{B5607D6B-2477-DF80-BA2D-E8290A205081}"/>
              </a:ext>
            </a:extLst>
          </p:cNvPr>
          <p:cNvSpPr/>
          <p:nvPr/>
        </p:nvSpPr>
        <p:spPr>
          <a:xfrm>
            <a:off x="4315968" y="3493008"/>
            <a:ext cx="192024" cy="54864"/>
          </a:xfrm>
          <a:prstGeom prst="rect">
            <a:avLst/>
          </a:prstGeom>
          <a:solidFill>
            <a:srgbClr val="2D6A4F"/>
          </a:solidFill>
          <a:ln w="12700">
            <a:solidFill>
              <a:srgbClr val="2D6A4F"/>
            </a:solidFill>
            <a:prstDash val="solid"/>
          </a:ln>
        </p:spPr>
      </p:sp>
      <p:sp>
        <p:nvSpPr>
          <p:cNvPr id="31" name="Shape 29">
            <a:extLst>
              <a:ext uri="{FF2B5EF4-FFF2-40B4-BE49-F238E27FC236}">
                <a16:creationId xmlns:a16="http://schemas.microsoft.com/office/drawing/2014/main" id="{066568F4-EEFB-AB83-9578-0C260CB90071}"/>
              </a:ext>
            </a:extLst>
          </p:cNvPr>
          <p:cNvSpPr/>
          <p:nvPr/>
        </p:nvSpPr>
        <p:spPr>
          <a:xfrm>
            <a:off x="4526280" y="2880360"/>
            <a:ext cx="1920240" cy="1280160"/>
          </a:xfrm>
          <a:prstGeom prst="rect">
            <a:avLst/>
          </a:prstGeom>
          <a:solidFill>
            <a:srgbClr val="FFF9C4"/>
          </a:solidFill>
          <a:ln w="12700">
            <a:solidFill>
              <a:srgbClr val="40916C"/>
            </a:solidFill>
            <a:prstDash val="solid"/>
          </a:ln>
          <a:effectLst>
            <a:outerShdw blurRad="38100" dist="25400" dir="8100000" algn="bl" rotWithShape="0">
              <a:srgbClr val="AAAAAA">
                <a:alpha val="20000"/>
              </a:srgbClr>
            </a:outerShdw>
          </a:effectLst>
        </p:spPr>
      </p:sp>
      <p:sp>
        <p:nvSpPr>
          <p:cNvPr id="32" name="Text 30">
            <a:extLst>
              <a:ext uri="{FF2B5EF4-FFF2-40B4-BE49-F238E27FC236}">
                <a16:creationId xmlns:a16="http://schemas.microsoft.com/office/drawing/2014/main" id="{91461B1E-142C-3544-C8BD-A8E1E7682953}"/>
              </a:ext>
            </a:extLst>
          </p:cNvPr>
          <p:cNvSpPr/>
          <p:nvPr/>
        </p:nvSpPr>
        <p:spPr>
          <a:xfrm>
            <a:off x="4617720" y="2971800"/>
            <a:ext cx="1737360" cy="502920"/>
          </a:xfrm>
          <a:prstGeom prst="rect">
            <a:avLst/>
          </a:prstGeom>
          <a:noFill/>
          <a:ln/>
        </p:spPr>
        <p:txBody>
          <a:bodyPr wrap="square" rtlCol="0" anchor="ctr"/>
          <a:lstStyle/>
          <a:p>
            <a:pPr marL="0" indent="0">
              <a:buNone/>
            </a:pPr>
            <a:r>
              <a:rPr lang="en-US" sz="1200" b="1" dirty="0">
                <a:solidFill>
                  <a:srgbClr val="1B4332"/>
                </a:solidFill>
                <a:latin typeface="Calibri" pitchFamily="34" charset="0"/>
                <a:ea typeface="Calibri" pitchFamily="34" charset="-122"/>
                <a:cs typeface="Calibri" pitchFamily="34" charset="-120"/>
              </a:rPr>
              <a:t>③ Rule Output</a:t>
            </a:r>
            <a:endParaRPr lang="en-US" sz="1200" dirty="0"/>
          </a:p>
        </p:txBody>
      </p:sp>
      <p:sp>
        <p:nvSpPr>
          <p:cNvPr id="33" name="Text 31">
            <a:extLst>
              <a:ext uri="{FF2B5EF4-FFF2-40B4-BE49-F238E27FC236}">
                <a16:creationId xmlns:a16="http://schemas.microsoft.com/office/drawing/2014/main" id="{B7F1DE17-866E-B217-C131-336B644CAB0D}"/>
              </a:ext>
            </a:extLst>
          </p:cNvPr>
          <p:cNvSpPr/>
          <p:nvPr/>
        </p:nvSpPr>
        <p:spPr>
          <a:xfrm>
            <a:off x="4572000" y="3474720"/>
            <a:ext cx="1874520" cy="594360"/>
          </a:xfrm>
          <a:prstGeom prst="rect">
            <a:avLst/>
          </a:prstGeom>
          <a:noFill/>
          <a:ln/>
        </p:spPr>
        <p:txBody>
          <a:bodyPr wrap="square" rtlCol="0" anchor="ctr"/>
          <a:lstStyle/>
          <a:p>
            <a:r>
              <a:rPr lang="en-US" sz="1000" dirty="0" err="1"/>
              <a:t>Đánh</a:t>
            </a:r>
            <a:r>
              <a:rPr lang="en-US" sz="1000" dirty="0"/>
              <a:t> </a:t>
            </a:r>
            <a:r>
              <a:rPr lang="en-US" sz="1000" dirty="0" err="1"/>
              <a:t>giá</a:t>
            </a:r>
            <a:r>
              <a:rPr lang="en-US" sz="1000" dirty="0"/>
              <a:t> </a:t>
            </a:r>
            <a:r>
              <a:rPr lang="en-US" sz="1000" dirty="0" err="1"/>
              <a:t>bệnh</a:t>
            </a:r>
            <a:r>
              <a:rPr lang="en-US" sz="1000" dirty="0"/>
              <a:t> </a:t>
            </a:r>
            <a:r>
              <a:rPr lang="en-US" sz="1000" dirty="0" err="1"/>
              <a:t>tương</a:t>
            </a:r>
            <a:r>
              <a:rPr lang="en-US" sz="1000" dirty="0"/>
              <a:t> </a:t>
            </a:r>
            <a:r>
              <a:rPr lang="en-US" sz="1000" dirty="0" err="1"/>
              <a:t>ứng</a:t>
            </a:r>
            <a:r>
              <a:rPr lang="en-US" sz="1000" dirty="0"/>
              <a:t>:</a:t>
            </a:r>
          </a:p>
          <a:p>
            <a:r>
              <a:rPr lang="en-US" sz="1000" dirty="0" err="1"/>
              <a:t>Mức</a:t>
            </a:r>
            <a:r>
              <a:rPr lang="en-US" sz="1000" dirty="0"/>
              <a:t> </a:t>
            </a:r>
            <a:r>
              <a:rPr lang="en-US" sz="1000" dirty="0" err="1"/>
              <a:t>độ</a:t>
            </a:r>
            <a:r>
              <a:rPr lang="en-US" sz="1000" dirty="0"/>
              <a:t> </a:t>
            </a:r>
            <a:r>
              <a:rPr lang="en-US" sz="1000" dirty="0" err="1"/>
              <a:t>bệnh</a:t>
            </a:r>
            <a:r>
              <a:rPr lang="en-US" sz="1000" dirty="0"/>
              <a:t> do </a:t>
            </a:r>
            <a:r>
              <a:rPr lang="en-US" sz="1000" dirty="0" err="1"/>
              <a:t>luật</a:t>
            </a:r>
            <a:r>
              <a:rPr lang="en-US" sz="1000" dirty="0"/>
              <a:t> </a:t>
            </a:r>
            <a:r>
              <a:rPr lang="en-US" sz="1000" dirty="0" err="1"/>
              <a:t>đề</a:t>
            </a:r>
            <a:r>
              <a:rPr lang="en-US" sz="1000" dirty="0"/>
              <a:t> </a:t>
            </a:r>
            <a:r>
              <a:rPr lang="en-US" sz="1000" dirty="0" err="1"/>
              <a:t>xuất</a:t>
            </a:r>
            <a:r>
              <a:rPr lang="en-US" sz="1000" dirty="0"/>
              <a:t>(zi) </a:t>
            </a:r>
          </a:p>
          <a:p>
            <a:r>
              <a:rPr lang="en-US" sz="1000" dirty="0" err="1"/>
              <a:t>Nhẹ</a:t>
            </a:r>
            <a:r>
              <a:rPr lang="en-US" sz="1000" dirty="0"/>
              <a:t>/Trung </a:t>
            </a:r>
            <a:r>
              <a:rPr lang="en-US" sz="1000" dirty="0" err="1"/>
              <a:t>bình</a:t>
            </a:r>
            <a:r>
              <a:rPr lang="en-US" sz="1000" dirty="0"/>
              <a:t>/ </a:t>
            </a:r>
            <a:r>
              <a:rPr lang="en-US" sz="1000" dirty="0" err="1"/>
              <a:t>Nặng</a:t>
            </a:r>
            <a:endParaRPr lang="en-US" sz="1050" dirty="0"/>
          </a:p>
        </p:txBody>
      </p:sp>
      <p:sp>
        <p:nvSpPr>
          <p:cNvPr id="34" name="Shape 32">
            <a:extLst>
              <a:ext uri="{FF2B5EF4-FFF2-40B4-BE49-F238E27FC236}">
                <a16:creationId xmlns:a16="http://schemas.microsoft.com/office/drawing/2014/main" id="{C644E8E5-F784-DE4C-6DF6-A810EE306F67}"/>
              </a:ext>
            </a:extLst>
          </p:cNvPr>
          <p:cNvSpPr/>
          <p:nvPr/>
        </p:nvSpPr>
        <p:spPr>
          <a:xfrm>
            <a:off x="6464808" y="3493008"/>
            <a:ext cx="192024" cy="54864"/>
          </a:xfrm>
          <a:prstGeom prst="rect">
            <a:avLst/>
          </a:prstGeom>
          <a:solidFill>
            <a:srgbClr val="2D6A4F"/>
          </a:solidFill>
          <a:ln w="12700">
            <a:solidFill>
              <a:srgbClr val="2D6A4F"/>
            </a:solidFill>
            <a:prstDash val="solid"/>
          </a:ln>
        </p:spPr>
      </p:sp>
      <p:sp>
        <p:nvSpPr>
          <p:cNvPr id="35" name="Shape 33">
            <a:extLst>
              <a:ext uri="{FF2B5EF4-FFF2-40B4-BE49-F238E27FC236}">
                <a16:creationId xmlns:a16="http://schemas.microsoft.com/office/drawing/2014/main" id="{01D05E6C-E8B5-6DCE-4867-632F189A7598}"/>
              </a:ext>
            </a:extLst>
          </p:cNvPr>
          <p:cNvSpPr/>
          <p:nvPr/>
        </p:nvSpPr>
        <p:spPr>
          <a:xfrm>
            <a:off x="6675120" y="2880360"/>
            <a:ext cx="1920240" cy="1280160"/>
          </a:xfrm>
          <a:prstGeom prst="rect">
            <a:avLst/>
          </a:prstGeom>
          <a:solidFill>
            <a:srgbClr val="FCE4EC"/>
          </a:solidFill>
          <a:ln w="12700">
            <a:solidFill>
              <a:srgbClr val="40916C"/>
            </a:solidFill>
            <a:prstDash val="solid"/>
          </a:ln>
          <a:effectLst>
            <a:outerShdw blurRad="38100" dist="25400" dir="8100000" algn="bl" rotWithShape="0">
              <a:srgbClr val="AAAAAA">
                <a:alpha val="20000"/>
              </a:srgbClr>
            </a:outerShdw>
          </a:effectLst>
        </p:spPr>
      </p:sp>
      <p:sp>
        <p:nvSpPr>
          <p:cNvPr id="36" name="Text 34">
            <a:extLst>
              <a:ext uri="{FF2B5EF4-FFF2-40B4-BE49-F238E27FC236}">
                <a16:creationId xmlns:a16="http://schemas.microsoft.com/office/drawing/2014/main" id="{DEBC64EA-6E65-18BE-2443-4D1C5DFD6A1E}"/>
              </a:ext>
            </a:extLst>
          </p:cNvPr>
          <p:cNvSpPr/>
          <p:nvPr/>
        </p:nvSpPr>
        <p:spPr>
          <a:xfrm>
            <a:off x="6766560" y="2971800"/>
            <a:ext cx="1737360" cy="502920"/>
          </a:xfrm>
          <a:prstGeom prst="rect">
            <a:avLst/>
          </a:prstGeom>
          <a:noFill/>
          <a:ln/>
        </p:spPr>
        <p:txBody>
          <a:bodyPr wrap="square" rtlCol="0" anchor="ctr"/>
          <a:lstStyle/>
          <a:p>
            <a:pPr marL="0" indent="0">
              <a:buNone/>
            </a:pPr>
            <a:r>
              <a:rPr lang="en-US" sz="1200" b="1" dirty="0">
                <a:solidFill>
                  <a:srgbClr val="1B4332"/>
                </a:solidFill>
                <a:latin typeface="Calibri" pitchFamily="34" charset="0"/>
                <a:ea typeface="Calibri" pitchFamily="34" charset="-122"/>
                <a:cs typeface="Calibri" pitchFamily="34" charset="-120"/>
              </a:rPr>
              <a:t>④ Defuzzification</a:t>
            </a:r>
            <a:endParaRPr lang="en-US" sz="1200" dirty="0"/>
          </a:p>
        </p:txBody>
      </p:sp>
      <p:sp>
        <p:nvSpPr>
          <p:cNvPr id="37" name="Text 35">
            <a:extLst>
              <a:ext uri="{FF2B5EF4-FFF2-40B4-BE49-F238E27FC236}">
                <a16:creationId xmlns:a16="http://schemas.microsoft.com/office/drawing/2014/main" id="{31745D95-F7DF-78E0-0836-BCF31AED9339}"/>
              </a:ext>
            </a:extLst>
          </p:cNvPr>
          <p:cNvSpPr/>
          <p:nvPr/>
        </p:nvSpPr>
        <p:spPr>
          <a:xfrm>
            <a:off x="6766560" y="3474720"/>
            <a:ext cx="1737360" cy="594360"/>
          </a:xfrm>
          <a:prstGeom prst="rect">
            <a:avLst/>
          </a:prstGeom>
          <a:noFill/>
          <a:ln/>
        </p:spPr>
        <p:txBody>
          <a:bodyPr wrap="square" rtlCol="0" anchor="ctr"/>
          <a:lstStyle/>
          <a:p>
            <a:r>
              <a:rPr lang="en-US" sz="1050" dirty="0" err="1"/>
              <a:t>Tổng</a:t>
            </a:r>
            <a:r>
              <a:rPr lang="en-US" sz="1050" dirty="0"/>
              <a:t> </a:t>
            </a:r>
            <a:r>
              <a:rPr lang="en-US" sz="1050" dirty="0" err="1"/>
              <a:t>hợp</a:t>
            </a:r>
            <a:r>
              <a:rPr lang="en-US" sz="1050" dirty="0"/>
              <a:t> </a:t>
            </a:r>
            <a:r>
              <a:rPr lang="en-US" sz="1050" dirty="0" err="1"/>
              <a:t>trọng</a:t>
            </a:r>
            <a:r>
              <a:rPr lang="en-US" sz="1050" dirty="0"/>
              <a:t> </a:t>
            </a:r>
            <a:r>
              <a:rPr lang="en-US" sz="1050" dirty="0" err="1"/>
              <a:t>số</a:t>
            </a:r>
            <a:r>
              <a:rPr lang="en-US" sz="1050" dirty="0"/>
              <a:t> </a:t>
            </a:r>
            <a:r>
              <a:rPr lang="en-US" sz="1050" dirty="0">
                <a:sym typeface="Wingdings" panose="05000000000000000000" pitchFamily="2" charset="2"/>
              </a:rPr>
              <a:t> </a:t>
            </a:r>
            <a:r>
              <a:rPr lang="en-US" sz="1050" dirty="0" err="1">
                <a:sym typeface="Wingdings" panose="05000000000000000000" pitchFamily="2" charset="2"/>
              </a:rPr>
              <a:t>Chỉ</a:t>
            </a:r>
            <a:r>
              <a:rPr lang="en-US" sz="1050" dirty="0">
                <a:sym typeface="Wingdings" panose="05000000000000000000" pitchFamily="2" charset="2"/>
              </a:rPr>
              <a:t> </a:t>
            </a:r>
            <a:r>
              <a:rPr lang="en-US" sz="1050" dirty="0" err="1">
                <a:sym typeface="Wingdings" panose="05000000000000000000" pitchFamily="2" charset="2"/>
              </a:rPr>
              <a:t>số</a:t>
            </a:r>
            <a:r>
              <a:rPr lang="en-US" sz="1050" dirty="0">
                <a:sym typeface="Wingdings" panose="05000000000000000000" pitchFamily="2" charset="2"/>
              </a:rPr>
              <a:t> </a:t>
            </a:r>
          </a:p>
          <a:p>
            <a:r>
              <a:rPr lang="en-US" sz="1050" dirty="0"/>
              <a:t>VSI -Vegetation Severity Index</a:t>
            </a:r>
          </a:p>
          <a:p>
            <a:endParaRPr lang="en-US" sz="1050" dirty="0"/>
          </a:p>
        </p:txBody>
      </p:sp>
      <p:sp>
        <p:nvSpPr>
          <p:cNvPr id="38" name="Text 36">
            <a:extLst>
              <a:ext uri="{FF2B5EF4-FFF2-40B4-BE49-F238E27FC236}">
                <a16:creationId xmlns:a16="http://schemas.microsoft.com/office/drawing/2014/main" id="{E3A3FAE9-3124-71B7-B925-FBE53C45B8D7}"/>
              </a:ext>
            </a:extLst>
          </p:cNvPr>
          <p:cNvSpPr/>
          <p:nvPr/>
        </p:nvSpPr>
        <p:spPr>
          <a:xfrm>
            <a:off x="228600" y="4251960"/>
            <a:ext cx="8686800" cy="525780"/>
          </a:xfrm>
          <a:prstGeom prst="rect">
            <a:avLst/>
          </a:prstGeom>
          <a:noFill/>
          <a:ln/>
        </p:spPr>
        <p:txBody>
          <a:bodyPr wrap="square" rtlCol="0" anchor="ctr"/>
          <a:lstStyle/>
          <a:p>
            <a:r>
              <a:rPr lang="vi-VN" sz="800" b="1" dirty="0"/>
              <a:t>Zero-order Sugeno FIS là lõi suy luận của hệ thống, chuyển xác suất CNN và dữ liệu môi trường thành chỉ số mức độ bệnh (VSI), đồng thời hỗ trợ truy vết luật và giải thích quyết định.</a:t>
            </a:r>
            <a:endParaRPr lang="en-US" sz="700" b="1" i="1" dirty="0"/>
          </a:p>
        </p:txBody>
      </p:sp>
    </p:spTree>
    <p:extLst>
      <p:ext uri="{BB962C8B-B14F-4D97-AF65-F5344CB8AC3E}">
        <p14:creationId xmlns:p14="http://schemas.microsoft.com/office/powerpoint/2010/main" val="4050107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03D644A-A0D3-EADF-9E06-B3660F0585C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8EF59A2-17A1-90E3-7512-A88FEBCCBA48}"/>
              </a:ext>
            </a:extLst>
          </p:cNvPr>
          <p:cNvSpPr/>
          <p:nvPr/>
        </p:nvSpPr>
        <p:spPr>
          <a:xfrm>
            <a:off x="0" y="0"/>
            <a:ext cx="9144000" cy="685800"/>
          </a:xfrm>
          <a:prstGeom prst="rect">
            <a:avLst/>
          </a:prstGeom>
          <a:solidFill>
            <a:srgbClr val="1B4332"/>
          </a:solidFill>
          <a:ln w="12700">
            <a:solidFill>
              <a:srgbClr val="1B4332"/>
            </a:solidFill>
            <a:prstDash val="solid"/>
          </a:ln>
        </p:spPr>
      </p:sp>
      <p:sp>
        <p:nvSpPr>
          <p:cNvPr id="3" name="Shape 1">
            <a:extLst>
              <a:ext uri="{FF2B5EF4-FFF2-40B4-BE49-F238E27FC236}">
                <a16:creationId xmlns:a16="http://schemas.microsoft.com/office/drawing/2014/main" id="{85179E4B-2DCA-6129-2D81-09615133A9DB}"/>
              </a:ext>
            </a:extLst>
          </p:cNvPr>
          <p:cNvSpPr/>
          <p:nvPr/>
        </p:nvSpPr>
        <p:spPr>
          <a:xfrm>
            <a:off x="0" y="685800"/>
            <a:ext cx="9144000" cy="45720"/>
          </a:xfrm>
          <a:prstGeom prst="rect">
            <a:avLst/>
          </a:prstGeom>
          <a:solidFill>
            <a:srgbClr val="74C69D"/>
          </a:solidFill>
          <a:ln w="12700">
            <a:solidFill>
              <a:srgbClr val="74C69D"/>
            </a:solidFill>
            <a:prstDash val="solid"/>
          </a:ln>
        </p:spPr>
      </p:sp>
      <p:sp>
        <p:nvSpPr>
          <p:cNvPr id="4" name="Text 2">
            <a:extLst>
              <a:ext uri="{FF2B5EF4-FFF2-40B4-BE49-F238E27FC236}">
                <a16:creationId xmlns:a16="http://schemas.microsoft.com/office/drawing/2014/main" id="{D3C53929-3A23-7DB1-4C7D-274CD158B85A}"/>
              </a:ext>
            </a:extLst>
          </p:cNvPr>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err="1">
                <a:solidFill>
                  <a:srgbClr val="FFFFFF"/>
                </a:solidFill>
                <a:latin typeface="Calibri" pitchFamily="34" charset="0"/>
                <a:ea typeface="Calibri" pitchFamily="34" charset="-122"/>
                <a:cs typeface="Calibri" pitchFamily="34" charset="-120"/>
              </a:rPr>
              <a:t>Kiến</a:t>
            </a:r>
            <a:r>
              <a:rPr lang="en-US" sz="2000" b="1" dirty="0">
                <a:solidFill>
                  <a:srgbClr val="FFFFFF"/>
                </a:solidFill>
                <a:latin typeface="Calibri" pitchFamily="34" charset="0"/>
                <a:ea typeface="Calibri" pitchFamily="34" charset="-122"/>
                <a:cs typeface="Calibri" pitchFamily="34" charset="-120"/>
              </a:rPr>
              <a:t> Trúc </a:t>
            </a:r>
            <a:r>
              <a:rPr lang="en-US" sz="2000" b="1" dirty="0" err="1">
                <a:solidFill>
                  <a:srgbClr val="FFFFFF"/>
                </a:solidFill>
                <a:latin typeface="Calibri" pitchFamily="34" charset="0"/>
                <a:ea typeface="Calibri" pitchFamily="34" charset="-122"/>
                <a:cs typeface="Calibri" pitchFamily="34" charset="-120"/>
              </a:rPr>
              <a:t>Tổng</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Thể</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Bài</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Toán</a:t>
            </a:r>
            <a:endParaRPr lang="en-US" sz="2000" dirty="0"/>
          </a:p>
        </p:txBody>
      </p:sp>
      <p:sp>
        <p:nvSpPr>
          <p:cNvPr id="5" name="Shape 3">
            <a:extLst>
              <a:ext uri="{FF2B5EF4-FFF2-40B4-BE49-F238E27FC236}">
                <a16:creationId xmlns:a16="http://schemas.microsoft.com/office/drawing/2014/main" id="{39A67A20-C0DD-D204-B2D9-07E875C2D3DC}"/>
              </a:ext>
            </a:extLst>
          </p:cNvPr>
          <p:cNvSpPr/>
          <p:nvPr/>
        </p:nvSpPr>
        <p:spPr>
          <a:xfrm>
            <a:off x="0" y="4869180"/>
            <a:ext cx="9144000" cy="274320"/>
          </a:xfrm>
          <a:prstGeom prst="rect">
            <a:avLst/>
          </a:prstGeom>
          <a:solidFill>
            <a:srgbClr val="D8F3DC"/>
          </a:solidFill>
          <a:ln w="12700">
            <a:solidFill>
              <a:srgbClr val="D8F3DC"/>
            </a:solidFill>
            <a:prstDash val="solid"/>
          </a:ln>
        </p:spPr>
      </p:sp>
      <p:sp>
        <p:nvSpPr>
          <p:cNvPr id="6" name="Text 4">
            <a:extLst>
              <a:ext uri="{FF2B5EF4-FFF2-40B4-BE49-F238E27FC236}">
                <a16:creationId xmlns:a16="http://schemas.microsoft.com/office/drawing/2014/main" id="{B4DE1823-A85A-C379-6EF0-E1F99832C7B0}"/>
              </a:ext>
            </a:extLst>
          </p:cNvPr>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pic>
        <p:nvPicPr>
          <p:cNvPr id="39" name="Picture 38">
            <a:extLst>
              <a:ext uri="{FF2B5EF4-FFF2-40B4-BE49-F238E27FC236}">
                <a16:creationId xmlns:a16="http://schemas.microsoft.com/office/drawing/2014/main" id="{5D68215F-4029-E286-D5B4-C97FBF1A37E5}"/>
              </a:ext>
            </a:extLst>
          </p:cNvPr>
          <p:cNvPicPr>
            <a:picLocks noChangeAspect="1"/>
          </p:cNvPicPr>
          <p:nvPr/>
        </p:nvPicPr>
        <p:blipFill>
          <a:blip r:embed="rId3"/>
          <a:srcRect/>
          <a:stretch/>
        </p:blipFill>
        <p:spPr>
          <a:xfrm>
            <a:off x="274320" y="770433"/>
            <a:ext cx="2757668" cy="3969208"/>
          </a:xfrm>
          <a:prstGeom prst="rect">
            <a:avLst/>
          </a:prstGeom>
        </p:spPr>
      </p:pic>
      <p:sp>
        <p:nvSpPr>
          <p:cNvPr id="7" name="TextBox 6">
            <a:extLst>
              <a:ext uri="{FF2B5EF4-FFF2-40B4-BE49-F238E27FC236}">
                <a16:creationId xmlns:a16="http://schemas.microsoft.com/office/drawing/2014/main" id="{384B37ED-8350-774B-37AD-D6E0079F30E3}"/>
              </a:ext>
            </a:extLst>
          </p:cNvPr>
          <p:cNvSpPr txBox="1"/>
          <p:nvPr/>
        </p:nvSpPr>
        <p:spPr>
          <a:xfrm>
            <a:off x="6496048" y="886405"/>
            <a:ext cx="1830707" cy="1061829"/>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vi-VN" sz="900" b="1" dirty="0"/>
              <a:t>Hệ thống không chỉ dự đoán bệnh mà còn giải thích được quá trình ra quyết định, giúp tăng tính minh bạch, độ tin cậy và khả năng hỗ trợ ra quyết định trong nông nghiệp thông minh.</a:t>
            </a:r>
          </a:p>
        </p:txBody>
      </p:sp>
    </p:spTree>
    <p:extLst>
      <p:ext uri="{BB962C8B-B14F-4D97-AF65-F5344CB8AC3E}">
        <p14:creationId xmlns:p14="http://schemas.microsoft.com/office/powerpoint/2010/main" val="2046642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8377A95-AABE-6598-9CD9-F2EE6895248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33688C7-CD62-1E7D-7D5B-88020F2CA241}"/>
              </a:ext>
            </a:extLst>
          </p:cNvPr>
          <p:cNvSpPr/>
          <p:nvPr/>
        </p:nvSpPr>
        <p:spPr>
          <a:xfrm>
            <a:off x="0" y="0"/>
            <a:ext cx="9144000" cy="685800"/>
          </a:xfrm>
          <a:prstGeom prst="rect">
            <a:avLst/>
          </a:prstGeom>
          <a:solidFill>
            <a:srgbClr val="1B4332"/>
          </a:solidFill>
          <a:ln w="12700">
            <a:solidFill>
              <a:srgbClr val="1B4332"/>
            </a:solidFill>
            <a:prstDash val="solid"/>
          </a:ln>
        </p:spPr>
      </p:sp>
      <p:sp>
        <p:nvSpPr>
          <p:cNvPr id="3" name="Shape 1">
            <a:extLst>
              <a:ext uri="{FF2B5EF4-FFF2-40B4-BE49-F238E27FC236}">
                <a16:creationId xmlns:a16="http://schemas.microsoft.com/office/drawing/2014/main" id="{422BAF62-B2B3-59D4-FE24-A06D929E3D92}"/>
              </a:ext>
            </a:extLst>
          </p:cNvPr>
          <p:cNvSpPr/>
          <p:nvPr/>
        </p:nvSpPr>
        <p:spPr>
          <a:xfrm>
            <a:off x="0" y="685800"/>
            <a:ext cx="9144000" cy="45720"/>
          </a:xfrm>
          <a:prstGeom prst="rect">
            <a:avLst/>
          </a:prstGeom>
          <a:solidFill>
            <a:srgbClr val="74C69D"/>
          </a:solidFill>
          <a:ln w="12700">
            <a:solidFill>
              <a:srgbClr val="74C69D"/>
            </a:solidFill>
            <a:prstDash val="solid"/>
          </a:ln>
        </p:spPr>
      </p:sp>
      <p:sp>
        <p:nvSpPr>
          <p:cNvPr id="4" name="Text 2">
            <a:extLst>
              <a:ext uri="{FF2B5EF4-FFF2-40B4-BE49-F238E27FC236}">
                <a16:creationId xmlns:a16="http://schemas.microsoft.com/office/drawing/2014/main" id="{3968D72B-4E9D-0773-DBA5-29094A4AA369}"/>
              </a:ext>
            </a:extLst>
          </p:cNvPr>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err="1">
                <a:solidFill>
                  <a:srgbClr val="FFFFFF"/>
                </a:solidFill>
                <a:latin typeface="Calibri" pitchFamily="34" charset="0"/>
                <a:ea typeface="Calibri" pitchFamily="34" charset="-122"/>
                <a:cs typeface="Calibri" pitchFamily="34" charset="-120"/>
              </a:rPr>
              <a:t>Kiến</a:t>
            </a:r>
            <a:r>
              <a:rPr lang="en-US" sz="2000" b="1" dirty="0">
                <a:solidFill>
                  <a:srgbClr val="FFFFFF"/>
                </a:solidFill>
                <a:latin typeface="Calibri" pitchFamily="34" charset="0"/>
                <a:ea typeface="Calibri" pitchFamily="34" charset="-122"/>
                <a:cs typeface="Calibri" pitchFamily="34" charset="-120"/>
              </a:rPr>
              <a:t> Trúc </a:t>
            </a:r>
            <a:r>
              <a:rPr lang="en-US" sz="2000" b="1" dirty="0" err="1">
                <a:solidFill>
                  <a:srgbClr val="FFFFFF"/>
                </a:solidFill>
                <a:latin typeface="Calibri" pitchFamily="34" charset="0"/>
                <a:ea typeface="Calibri" pitchFamily="34" charset="-122"/>
                <a:cs typeface="Calibri" pitchFamily="34" charset="-120"/>
              </a:rPr>
              <a:t>Tổng</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Thể</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Bài</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Toán</a:t>
            </a:r>
            <a:endParaRPr lang="en-US" sz="2000" dirty="0"/>
          </a:p>
        </p:txBody>
      </p:sp>
      <p:sp>
        <p:nvSpPr>
          <p:cNvPr id="5" name="Shape 3">
            <a:extLst>
              <a:ext uri="{FF2B5EF4-FFF2-40B4-BE49-F238E27FC236}">
                <a16:creationId xmlns:a16="http://schemas.microsoft.com/office/drawing/2014/main" id="{EF07A680-6CC7-4889-F407-A45FA93EF68E}"/>
              </a:ext>
            </a:extLst>
          </p:cNvPr>
          <p:cNvSpPr/>
          <p:nvPr/>
        </p:nvSpPr>
        <p:spPr>
          <a:xfrm>
            <a:off x="0" y="4869180"/>
            <a:ext cx="9144000" cy="274320"/>
          </a:xfrm>
          <a:prstGeom prst="rect">
            <a:avLst/>
          </a:prstGeom>
          <a:solidFill>
            <a:srgbClr val="D8F3DC"/>
          </a:solidFill>
          <a:ln w="12700">
            <a:solidFill>
              <a:srgbClr val="D8F3DC"/>
            </a:solidFill>
            <a:prstDash val="solid"/>
          </a:ln>
        </p:spPr>
      </p:sp>
      <p:sp>
        <p:nvSpPr>
          <p:cNvPr id="6" name="Text 4">
            <a:extLst>
              <a:ext uri="{FF2B5EF4-FFF2-40B4-BE49-F238E27FC236}">
                <a16:creationId xmlns:a16="http://schemas.microsoft.com/office/drawing/2014/main" id="{00FF990A-8B72-AF80-267B-78FF98640C3B}"/>
              </a:ext>
            </a:extLst>
          </p:cNvPr>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pic>
        <p:nvPicPr>
          <p:cNvPr id="39" name="Picture 38">
            <a:extLst>
              <a:ext uri="{FF2B5EF4-FFF2-40B4-BE49-F238E27FC236}">
                <a16:creationId xmlns:a16="http://schemas.microsoft.com/office/drawing/2014/main" id="{965E44B9-ABEF-66A2-805D-18F31CFDDE61}"/>
              </a:ext>
            </a:extLst>
          </p:cNvPr>
          <p:cNvPicPr>
            <a:picLocks noChangeAspect="1"/>
          </p:cNvPicPr>
          <p:nvPr/>
        </p:nvPicPr>
        <p:blipFill>
          <a:blip r:embed="rId3"/>
          <a:srcRect/>
          <a:stretch/>
        </p:blipFill>
        <p:spPr>
          <a:xfrm>
            <a:off x="381949" y="848002"/>
            <a:ext cx="5953812" cy="3969208"/>
          </a:xfrm>
          <a:prstGeom prst="rect">
            <a:avLst/>
          </a:prstGeom>
        </p:spPr>
      </p:pic>
      <p:sp>
        <p:nvSpPr>
          <p:cNvPr id="7" name="TextBox 6">
            <a:extLst>
              <a:ext uri="{FF2B5EF4-FFF2-40B4-BE49-F238E27FC236}">
                <a16:creationId xmlns:a16="http://schemas.microsoft.com/office/drawing/2014/main" id="{184DA0E1-865C-315E-95E9-62B806DE973A}"/>
              </a:ext>
            </a:extLst>
          </p:cNvPr>
          <p:cNvSpPr txBox="1"/>
          <p:nvPr/>
        </p:nvSpPr>
        <p:spPr>
          <a:xfrm>
            <a:off x="6496048" y="886405"/>
            <a:ext cx="1830707" cy="1061829"/>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vi-VN" sz="900" b="1" dirty="0"/>
              <a:t>Hệ thống không chỉ dự đoán bệnh mà còn giải thích được quá trình ra quyết định, giúp tăng tính minh bạch, độ tin cậy và khả năng hỗ trợ ra quyết định trong nông nghiệp thông minh.</a:t>
            </a:r>
          </a:p>
        </p:txBody>
      </p:sp>
      <p:pic>
        <p:nvPicPr>
          <p:cNvPr id="9" name="Picture 8">
            <a:extLst>
              <a:ext uri="{FF2B5EF4-FFF2-40B4-BE49-F238E27FC236}">
                <a16:creationId xmlns:a16="http://schemas.microsoft.com/office/drawing/2014/main" id="{27C26CDB-9096-774F-427C-87DF65E08383}"/>
              </a:ext>
            </a:extLst>
          </p:cNvPr>
          <p:cNvPicPr>
            <a:picLocks noChangeAspect="1"/>
          </p:cNvPicPr>
          <p:nvPr/>
        </p:nvPicPr>
        <p:blipFill>
          <a:blip r:embed="rId4"/>
          <a:srcRect/>
          <a:stretch/>
        </p:blipFill>
        <p:spPr>
          <a:xfrm>
            <a:off x="6496049" y="2037715"/>
            <a:ext cx="1830707" cy="1220472"/>
          </a:xfrm>
          <a:prstGeom prst="rect">
            <a:avLst/>
          </a:prstGeom>
          <a:ln>
            <a:no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381227C2-FFC4-EBA7-7CA1-DB85F8744777}"/>
              </a:ext>
            </a:extLst>
          </p:cNvPr>
          <p:cNvPicPr>
            <a:picLocks noChangeAspect="1"/>
          </p:cNvPicPr>
          <p:nvPr/>
        </p:nvPicPr>
        <p:blipFill>
          <a:blip r:embed="rId5"/>
          <a:srcRect/>
          <a:stretch/>
        </p:blipFill>
        <p:spPr>
          <a:xfrm>
            <a:off x="6496049" y="3389630"/>
            <a:ext cx="1830708" cy="122047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803040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2C60E31-5EED-D12B-D08D-49D65D015FD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6D269E7-4433-8A1E-96B7-66EAD4A2BD55}"/>
              </a:ext>
            </a:extLst>
          </p:cNvPr>
          <p:cNvSpPr/>
          <p:nvPr/>
        </p:nvSpPr>
        <p:spPr>
          <a:xfrm>
            <a:off x="0" y="0"/>
            <a:ext cx="9144000" cy="685800"/>
          </a:xfrm>
          <a:prstGeom prst="rect">
            <a:avLst/>
          </a:prstGeom>
          <a:solidFill>
            <a:srgbClr val="1B4332"/>
          </a:solidFill>
          <a:ln w="12700">
            <a:solidFill>
              <a:srgbClr val="1B4332"/>
            </a:solidFill>
            <a:prstDash val="solid"/>
          </a:ln>
        </p:spPr>
      </p:sp>
      <p:sp>
        <p:nvSpPr>
          <p:cNvPr id="3" name="Shape 1">
            <a:extLst>
              <a:ext uri="{FF2B5EF4-FFF2-40B4-BE49-F238E27FC236}">
                <a16:creationId xmlns:a16="http://schemas.microsoft.com/office/drawing/2014/main" id="{FB75C856-547A-616D-2BA8-6FDAF6A0D107}"/>
              </a:ext>
            </a:extLst>
          </p:cNvPr>
          <p:cNvSpPr/>
          <p:nvPr/>
        </p:nvSpPr>
        <p:spPr>
          <a:xfrm>
            <a:off x="0" y="685800"/>
            <a:ext cx="9144000" cy="45720"/>
          </a:xfrm>
          <a:prstGeom prst="rect">
            <a:avLst/>
          </a:prstGeom>
          <a:solidFill>
            <a:srgbClr val="74C69D"/>
          </a:solidFill>
          <a:ln w="12700">
            <a:solidFill>
              <a:srgbClr val="74C69D"/>
            </a:solidFill>
            <a:prstDash val="solid"/>
          </a:ln>
        </p:spPr>
      </p:sp>
      <p:sp>
        <p:nvSpPr>
          <p:cNvPr id="4" name="Text 2">
            <a:extLst>
              <a:ext uri="{FF2B5EF4-FFF2-40B4-BE49-F238E27FC236}">
                <a16:creationId xmlns:a16="http://schemas.microsoft.com/office/drawing/2014/main" id="{FA1DB68C-4E28-2A53-BBF4-3306DDF972A2}"/>
              </a:ext>
            </a:extLst>
          </p:cNvPr>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err="1">
                <a:solidFill>
                  <a:srgbClr val="FFFFFF"/>
                </a:solidFill>
                <a:latin typeface="Calibri" pitchFamily="34" charset="0"/>
                <a:ea typeface="Calibri" pitchFamily="34" charset="-122"/>
                <a:cs typeface="Calibri" pitchFamily="34" charset="-120"/>
              </a:rPr>
              <a:t>Kiến</a:t>
            </a:r>
            <a:r>
              <a:rPr lang="en-US" sz="2000" b="1" dirty="0">
                <a:solidFill>
                  <a:srgbClr val="FFFFFF"/>
                </a:solidFill>
                <a:latin typeface="Calibri" pitchFamily="34" charset="0"/>
                <a:ea typeface="Calibri" pitchFamily="34" charset="-122"/>
                <a:cs typeface="Calibri" pitchFamily="34" charset="-120"/>
              </a:rPr>
              <a:t> Trúc </a:t>
            </a:r>
            <a:r>
              <a:rPr lang="en-US" sz="2000" b="1" dirty="0" err="1">
                <a:solidFill>
                  <a:srgbClr val="FFFFFF"/>
                </a:solidFill>
                <a:latin typeface="Calibri" pitchFamily="34" charset="0"/>
                <a:ea typeface="Calibri" pitchFamily="34" charset="-122"/>
                <a:cs typeface="Calibri" pitchFamily="34" charset="-120"/>
              </a:rPr>
              <a:t>Tổng</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Thể</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Bài</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Toán</a:t>
            </a:r>
            <a:endParaRPr lang="en-US" sz="2000" dirty="0"/>
          </a:p>
        </p:txBody>
      </p:sp>
      <p:sp>
        <p:nvSpPr>
          <p:cNvPr id="5" name="Shape 3">
            <a:extLst>
              <a:ext uri="{FF2B5EF4-FFF2-40B4-BE49-F238E27FC236}">
                <a16:creationId xmlns:a16="http://schemas.microsoft.com/office/drawing/2014/main" id="{1C1C4B34-6FFD-35F6-902B-FCE432B4E8C3}"/>
              </a:ext>
            </a:extLst>
          </p:cNvPr>
          <p:cNvSpPr/>
          <p:nvPr/>
        </p:nvSpPr>
        <p:spPr>
          <a:xfrm>
            <a:off x="0" y="4869180"/>
            <a:ext cx="9144000" cy="274320"/>
          </a:xfrm>
          <a:prstGeom prst="rect">
            <a:avLst/>
          </a:prstGeom>
          <a:solidFill>
            <a:srgbClr val="D8F3DC"/>
          </a:solidFill>
          <a:ln w="12700">
            <a:solidFill>
              <a:srgbClr val="D8F3DC"/>
            </a:solidFill>
            <a:prstDash val="solid"/>
          </a:ln>
        </p:spPr>
      </p:sp>
      <p:sp>
        <p:nvSpPr>
          <p:cNvPr id="6" name="Text 4">
            <a:extLst>
              <a:ext uri="{FF2B5EF4-FFF2-40B4-BE49-F238E27FC236}">
                <a16:creationId xmlns:a16="http://schemas.microsoft.com/office/drawing/2014/main" id="{935E9601-AAC6-1174-11E3-444C7DD82D3C}"/>
              </a:ext>
            </a:extLst>
          </p:cNvPr>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pic>
        <p:nvPicPr>
          <p:cNvPr id="39" name="Picture 38">
            <a:extLst>
              <a:ext uri="{FF2B5EF4-FFF2-40B4-BE49-F238E27FC236}">
                <a16:creationId xmlns:a16="http://schemas.microsoft.com/office/drawing/2014/main" id="{69C005DC-6814-C72B-B464-E17EC9155A20}"/>
              </a:ext>
            </a:extLst>
          </p:cNvPr>
          <p:cNvPicPr>
            <a:picLocks noChangeAspect="1"/>
          </p:cNvPicPr>
          <p:nvPr/>
        </p:nvPicPr>
        <p:blipFill>
          <a:blip r:embed="rId3"/>
          <a:srcRect/>
          <a:stretch/>
        </p:blipFill>
        <p:spPr>
          <a:xfrm>
            <a:off x="140649" y="790852"/>
            <a:ext cx="5953812" cy="3969208"/>
          </a:xfrm>
          <a:prstGeom prst="rect">
            <a:avLst/>
          </a:prstGeom>
        </p:spPr>
      </p:pic>
      <p:pic>
        <p:nvPicPr>
          <p:cNvPr id="8" name="Picture 7">
            <a:extLst>
              <a:ext uri="{FF2B5EF4-FFF2-40B4-BE49-F238E27FC236}">
                <a16:creationId xmlns:a16="http://schemas.microsoft.com/office/drawing/2014/main" id="{A2A7DADE-F90F-6D0A-8AE4-B22E685181D8}"/>
              </a:ext>
            </a:extLst>
          </p:cNvPr>
          <p:cNvPicPr>
            <a:picLocks noChangeAspect="1"/>
          </p:cNvPicPr>
          <p:nvPr/>
        </p:nvPicPr>
        <p:blipFill>
          <a:blip r:embed="rId4"/>
          <a:stretch>
            <a:fillRect/>
          </a:stretch>
        </p:blipFill>
        <p:spPr>
          <a:xfrm>
            <a:off x="6191134" y="1080770"/>
            <a:ext cx="1853046" cy="3576190"/>
          </a:xfrm>
          <a:prstGeom prst="rect">
            <a:avLst/>
          </a:prstGeom>
          <a:ln>
            <a:noFill/>
          </a:ln>
          <a:effectLst>
            <a:outerShdw blurRad="190500" algn="tl" rotWithShape="0">
              <a:srgbClr val="000000">
                <a:alpha val="70000"/>
              </a:srgbClr>
            </a:outerShdw>
          </a:effectLst>
        </p:spPr>
      </p:pic>
      <p:sp>
        <p:nvSpPr>
          <p:cNvPr id="7" name="TextBox 6">
            <a:extLst>
              <a:ext uri="{FF2B5EF4-FFF2-40B4-BE49-F238E27FC236}">
                <a16:creationId xmlns:a16="http://schemas.microsoft.com/office/drawing/2014/main" id="{5E644E08-E7E3-98FE-2A3C-ACC484DF8522}"/>
              </a:ext>
            </a:extLst>
          </p:cNvPr>
          <p:cNvSpPr txBox="1"/>
          <p:nvPr/>
        </p:nvSpPr>
        <p:spPr>
          <a:xfrm>
            <a:off x="8140853" y="1087785"/>
            <a:ext cx="865987" cy="3046988"/>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vi-VN" sz="800" b="1" dirty="0"/>
              <a:t>Perception Layer:</a:t>
            </a:r>
            <a:r>
              <a:rPr lang="vi-VN" sz="800" dirty="0"/>
              <a:t> CNN (EfficientNet-B0) nhận dạng bệnh.</a:t>
            </a:r>
            <a:endParaRPr lang="en-US" sz="800" dirty="0"/>
          </a:p>
          <a:p>
            <a:endParaRPr lang="vi-VN" sz="800" dirty="0"/>
          </a:p>
          <a:p>
            <a:r>
              <a:rPr lang="vi-VN" sz="800" b="1" dirty="0"/>
              <a:t>Reasoning Layer:</a:t>
            </a:r>
            <a:r>
              <a:rPr lang="vi-VN" sz="800" dirty="0"/>
              <a:t> Fuzzy Inference đánh giá mức độ nghiêm trọng.</a:t>
            </a:r>
          </a:p>
          <a:p>
            <a:endParaRPr lang="en-US" sz="800" dirty="0"/>
          </a:p>
          <a:p>
            <a:r>
              <a:rPr lang="vi-VN" sz="800" b="1" dirty="0"/>
              <a:t>Uncertainty Handling:</a:t>
            </a:r>
            <a:r>
              <a:rPr lang="vi-VN" sz="800" dirty="0"/>
              <a:t> Entropy/Margin + Expert-Guided Mode.</a:t>
            </a:r>
          </a:p>
          <a:p>
            <a:endParaRPr lang="en-US" sz="800" dirty="0"/>
          </a:p>
          <a:p>
            <a:r>
              <a:rPr lang="vi-VN" sz="800" b="1" dirty="0"/>
              <a:t>Explainability Layer:</a:t>
            </a:r>
            <a:r>
              <a:rPr lang="vi-VN" sz="800" dirty="0"/>
              <a:t> Truy xuất luật mờ và sinh báo cáo XAI.</a:t>
            </a:r>
          </a:p>
        </p:txBody>
      </p:sp>
    </p:spTree>
    <p:extLst>
      <p:ext uri="{BB962C8B-B14F-4D97-AF65-F5344CB8AC3E}">
        <p14:creationId xmlns:p14="http://schemas.microsoft.com/office/powerpoint/2010/main" val="11753235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81E101E-B868-8431-8A3A-95CE213C57C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0375CE-0F64-994D-D71C-0CF425F517A3}"/>
              </a:ext>
            </a:extLst>
          </p:cNvPr>
          <p:cNvSpPr/>
          <p:nvPr/>
        </p:nvSpPr>
        <p:spPr>
          <a:xfrm>
            <a:off x="0" y="0"/>
            <a:ext cx="9144000" cy="685800"/>
          </a:xfrm>
          <a:prstGeom prst="rect">
            <a:avLst/>
          </a:prstGeom>
          <a:solidFill>
            <a:srgbClr val="1B4332"/>
          </a:solidFill>
          <a:ln w="12700">
            <a:solidFill>
              <a:srgbClr val="1B4332"/>
            </a:solidFill>
            <a:prstDash val="solid"/>
          </a:ln>
        </p:spPr>
      </p:sp>
      <p:sp>
        <p:nvSpPr>
          <p:cNvPr id="3" name="Shape 1">
            <a:extLst>
              <a:ext uri="{FF2B5EF4-FFF2-40B4-BE49-F238E27FC236}">
                <a16:creationId xmlns:a16="http://schemas.microsoft.com/office/drawing/2014/main" id="{09067BEB-55E2-7195-4EFD-1EBC8B10385B}"/>
              </a:ext>
            </a:extLst>
          </p:cNvPr>
          <p:cNvSpPr/>
          <p:nvPr/>
        </p:nvSpPr>
        <p:spPr>
          <a:xfrm>
            <a:off x="0" y="685800"/>
            <a:ext cx="9144000" cy="45720"/>
          </a:xfrm>
          <a:prstGeom prst="rect">
            <a:avLst/>
          </a:prstGeom>
          <a:solidFill>
            <a:srgbClr val="74C69D"/>
          </a:solidFill>
          <a:ln w="12700">
            <a:solidFill>
              <a:srgbClr val="74C69D"/>
            </a:solidFill>
            <a:prstDash val="solid"/>
          </a:ln>
        </p:spPr>
      </p:sp>
      <p:sp>
        <p:nvSpPr>
          <p:cNvPr id="4" name="Text 2">
            <a:extLst>
              <a:ext uri="{FF2B5EF4-FFF2-40B4-BE49-F238E27FC236}">
                <a16:creationId xmlns:a16="http://schemas.microsoft.com/office/drawing/2014/main" id="{D15358E1-A2AE-9810-6F43-F001026ABD8F}"/>
              </a:ext>
            </a:extLst>
          </p:cNvPr>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err="1">
                <a:solidFill>
                  <a:srgbClr val="FFFFFF"/>
                </a:solidFill>
                <a:latin typeface="Calibri" pitchFamily="34" charset="0"/>
                <a:ea typeface="Calibri" pitchFamily="34" charset="-122"/>
                <a:cs typeface="Calibri" pitchFamily="34" charset="-120"/>
              </a:rPr>
              <a:t>Kiến</a:t>
            </a:r>
            <a:r>
              <a:rPr lang="en-US" sz="2000" b="1" dirty="0">
                <a:solidFill>
                  <a:srgbClr val="FFFFFF"/>
                </a:solidFill>
                <a:latin typeface="Calibri" pitchFamily="34" charset="0"/>
                <a:ea typeface="Calibri" pitchFamily="34" charset="-122"/>
                <a:cs typeface="Calibri" pitchFamily="34" charset="-120"/>
              </a:rPr>
              <a:t> Trúc </a:t>
            </a:r>
            <a:r>
              <a:rPr lang="en-US" sz="2000" b="1" dirty="0" err="1">
                <a:solidFill>
                  <a:srgbClr val="FFFFFF"/>
                </a:solidFill>
                <a:latin typeface="Calibri" pitchFamily="34" charset="0"/>
                <a:ea typeface="Calibri" pitchFamily="34" charset="-122"/>
                <a:cs typeface="Calibri" pitchFamily="34" charset="-120"/>
              </a:rPr>
              <a:t>Tổng</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Thể</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Bài</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Toán</a:t>
            </a:r>
            <a:endParaRPr lang="en-US" sz="2000" dirty="0"/>
          </a:p>
        </p:txBody>
      </p:sp>
      <p:sp>
        <p:nvSpPr>
          <p:cNvPr id="5" name="Shape 3">
            <a:extLst>
              <a:ext uri="{FF2B5EF4-FFF2-40B4-BE49-F238E27FC236}">
                <a16:creationId xmlns:a16="http://schemas.microsoft.com/office/drawing/2014/main" id="{A6E29A89-DCEB-0D3A-9BCB-790A379C9335}"/>
              </a:ext>
            </a:extLst>
          </p:cNvPr>
          <p:cNvSpPr/>
          <p:nvPr/>
        </p:nvSpPr>
        <p:spPr>
          <a:xfrm>
            <a:off x="0" y="4869180"/>
            <a:ext cx="9144000" cy="274320"/>
          </a:xfrm>
          <a:prstGeom prst="rect">
            <a:avLst/>
          </a:prstGeom>
          <a:solidFill>
            <a:srgbClr val="D8F3DC"/>
          </a:solidFill>
          <a:ln w="12700">
            <a:solidFill>
              <a:srgbClr val="D8F3DC"/>
            </a:solidFill>
            <a:prstDash val="solid"/>
          </a:ln>
        </p:spPr>
      </p:sp>
      <p:sp>
        <p:nvSpPr>
          <p:cNvPr id="6" name="Text 4">
            <a:extLst>
              <a:ext uri="{FF2B5EF4-FFF2-40B4-BE49-F238E27FC236}">
                <a16:creationId xmlns:a16="http://schemas.microsoft.com/office/drawing/2014/main" id="{429486FE-48F6-72C2-A56B-F3FC9488F8E7}"/>
              </a:ext>
            </a:extLst>
          </p:cNvPr>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pic>
        <p:nvPicPr>
          <p:cNvPr id="39" name="Picture 38">
            <a:extLst>
              <a:ext uri="{FF2B5EF4-FFF2-40B4-BE49-F238E27FC236}">
                <a16:creationId xmlns:a16="http://schemas.microsoft.com/office/drawing/2014/main" id="{D3B553A2-DBAE-AE80-E2F3-8C4859FDC986}"/>
              </a:ext>
            </a:extLst>
          </p:cNvPr>
          <p:cNvPicPr>
            <a:picLocks noChangeAspect="1"/>
          </p:cNvPicPr>
          <p:nvPr/>
        </p:nvPicPr>
        <p:blipFill>
          <a:blip r:embed="rId3"/>
          <a:srcRect/>
          <a:stretch/>
        </p:blipFill>
        <p:spPr>
          <a:xfrm>
            <a:off x="375599" y="790852"/>
            <a:ext cx="5953812" cy="3969208"/>
          </a:xfrm>
          <a:prstGeom prst="rect">
            <a:avLst/>
          </a:prstGeom>
        </p:spPr>
      </p:pic>
      <p:pic>
        <p:nvPicPr>
          <p:cNvPr id="8" name="Picture 7">
            <a:extLst>
              <a:ext uri="{FF2B5EF4-FFF2-40B4-BE49-F238E27FC236}">
                <a16:creationId xmlns:a16="http://schemas.microsoft.com/office/drawing/2014/main" id="{49EFF2E7-C391-C0BC-CC7D-6CC9169E513C}"/>
              </a:ext>
            </a:extLst>
          </p:cNvPr>
          <p:cNvPicPr>
            <a:picLocks noChangeAspect="1"/>
          </p:cNvPicPr>
          <p:nvPr/>
        </p:nvPicPr>
        <p:blipFill>
          <a:blip r:embed="rId4"/>
          <a:stretch>
            <a:fillRect/>
          </a:stretch>
        </p:blipFill>
        <p:spPr>
          <a:xfrm>
            <a:off x="6459053" y="1226820"/>
            <a:ext cx="2410627" cy="1421130"/>
          </a:xfrm>
          <a:prstGeom prst="rect">
            <a:avLst/>
          </a:prstGeom>
          <a:ln>
            <a:noFill/>
          </a:ln>
          <a:effectLst>
            <a:outerShdw blurRad="190500" algn="tl" rotWithShape="0">
              <a:srgbClr val="000000">
                <a:alpha val="70000"/>
              </a:srgbClr>
            </a:outerShdw>
          </a:effectLst>
        </p:spPr>
      </p:pic>
      <p:sp>
        <p:nvSpPr>
          <p:cNvPr id="7" name="TextBox 6">
            <a:extLst>
              <a:ext uri="{FF2B5EF4-FFF2-40B4-BE49-F238E27FC236}">
                <a16:creationId xmlns:a16="http://schemas.microsoft.com/office/drawing/2014/main" id="{F66FE141-BECB-31CA-183F-54F9FED9EA5C}"/>
              </a:ext>
            </a:extLst>
          </p:cNvPr>
          <p:cNvSpPr txBox="1"/>
          <p:nvPr/>
        </p:nvSpPr>
        <p:spPr>
          <a:xfrm>
            <a:off x="6459053" y="2973735"/>
            <a:ext cx="2240601" cy="1569660"/>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vi-VN" sz="1200" dirty="0"/>
              <a:t>Hệ thống cung cấp khả năng giải thích ở ba mức: minh bạch hóa suy luận (Reasoning Transparency), truy vết luật mờ (Rule Traceability) và giải thích bằng ngôn ngữ tự nhiên (Natural Language Explanation)</a:t>
            </a:r>
          </a:p>
        </p:txBody>
      </p:sp>
    </p:spTree>
    <p:extLst>
      <p:ext uri="{BB962C8B-B14F-4D97-AF65-F5344CB8AC3E}">
        <p14:creationId xmlns:p14="http://schemas.microsoft.com/office/powerpoint/2010/main" val="698016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33F9540-8DB9-4C71-D61D-36C850C3786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2861C74-D544-007C-1A60-55C69333CA34}"/>
              </a:ext>
            </a:extLst>
          </p:cNvPr>
          <p:cNvSpPr/>
          <p:nvPr/>
        </p:nvSpPr>
        <p:spPr>
          <a:xfrm>
            <a:off x="0" y="0"/>
            <a:ext cx="9144000" cy="685800"/>
          </a:xfrm>
          <a:prstGeom prst="rect">
            <a:avLst/>
          </a:prstGeom>
          <a:solidFill>
            <a:srgbClr val="1B4332"/>
          </a:solidFill>
          <a:ln w="12700">
            <a:solidFill>
              <a:srgbClr val="1B4332"/>
            </a:solidFill>
            <a:prstDash val="solid"/>
          </a:ln>
        </p:spPr>
      </p:sp>
      <p:sp>
        <p:nvSpPr>
          <p:cNvPr id="3" name="Shape 1">
            <a:extLst>
              <a:ext uri="{FF2B5EF4-FFF2-40B4-BE49-F238E27FC236}">
                <a16:creationId xmlns:a16="http://schemas.microsoft.com/office/drawing/2014/main" id="{0AD80817-F95F-F5A2-EFDD-75EC738D74B3}"/>
              </a:ext>
            </a:extLst>
          </p:cNvPr>
          <p:cNvSpPr/>
          <p:nvPr/>
        </p:nvSpPr>
        <p:spPr>
          <a:xfrm>
            <a:off x="0" y="685800"/>
            <a:ext cx="9144000" cy="45720"/>
          </a:xfrm>
          <a:prstGeom prst="rect">
            <a:avLst/>
          </a:prstGeom>
          <a:solidFill>
            <a:srgbClr val="74C69D"/>
          </a:solidFill>
          <a:ln w="12700">
            <a:solidFill>
              <a:srgbClr val="74C69D"/>
            </a:solidFill>
            <a:prstDash val="solid"/>
          </a:ln>
        </p:spPr>
      </p:sp>
      <p:sp>
        <p:nvSpPr>
          <p:cNvPr id="4" name="Text 2">
            <a:extLst>
              <a:ext uri="{FF2B5EF4-FFF2-40B4-BE49-F238E27FC236}">
                <a16:creationId xmlns:a16="http://schemas.microsoft.com/office/drawing/2014/main" id="{751E7A65-5FF8-CB0F-8D92-0637AFEA7DFC}"/>
              </a:ext>
            </a:extLst>
          </p:cNvPr>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err="1">
                <a:solidFill>
                  <a:srgbClr val="FFFFFF"/>
                </a:solidFill>
                <a:latin typeface="Calibri" pitchFamily="34" charset="0"/>
                <a:ea typeface="Calibri" pitchFamily="34" charset="-122"/>
                <a:cs typeface="Calibri" pitchFamily="34" charset="-120"/>
              </a:rPr>
              <a:t>Kiến</a:t>
            </a:r>
            <a:r>
              <a:rPr lang="en-US" sz="2000" b="1" dirty="0">
                <a:solidFill>
                  <a:srgbClr val="FFFFFF"/>
                </a:solidFill>
                <a:latin typeface="Calibri" pitchFamily="34" charset="0"/>
                <a:ea typeface="Calibri" pitchFamily="34" charset="-122"/>
                <a:cs typeface="Calibri" pitchFamily="34" charset="-120"/>
              </a:rPr>
              <a:t> Trúc </a:t>
            </a:r>
            <a:r>
              <a:rPr lang="en-US" sz="2000" b="1" dirty="0" err="1">
                <a:solidFill>
                  <a:srgbClr val="FFFFFF"/>
                </a:solidFill>
                <a:latin typeface="Calibri" pitchFamily="34" charset="0"/>
                <a:ea typeface="Calibri" pitchFamily="34" charset="-122"/>
                <a:cs typeface="Calibri" pitchFamily="34" charset="-120"/>
              </a:rPr>
              <a:t>Tổng</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Thể</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Bài</a:t>
            </a:r>
            <a:r>
              <a:rPr lang="en-US" sz="2000" b="1" dirty="0">
                <a:solidFill>
                  <a:srgbClr val="FFFFFF"/>
                </a:solidFill>
                <a:latin typeface="Calibri" pitchFamily="34" charset="0"/>
                <a:ea typeface="Calibri" pitchFamily="34" charset="-122"/>
                <a:cs typeface="Calibri" pitchFamily="34" charset="-120"/>
              </a:rPr>
              <a:t> </a:t>
            </a:r>
            <a:r>
              <a:rPr lang="en-US" sz="2000" b="1" dirty="0" err="1">
                <a:solidFill>
                  <a:srgbClr val="FFFFFF"/>
                </a:solidFill>
                <a:latin typeface="Calibri" pitchFamily="34" charset="0"/>
                <a:ea typeface="Calibri" pitchFamily="34" charset="-122"/>
                <a:cs typeface="Calibri" pitchFamily="34" charset="-120"/>
              </a:rPr>
              <a:t>Toán</a:t>
            </a:r>
            <a:endParaRPr lang="en-US" sz="2000" dirty="0"/>
          </a:p>
        </p:txBody>
      </p:sp>
      <p:sp>
        <p:nvSpPr>
          <p:cNvPr id="5" name="Shape 3">
            <a:extLst>
              <a:ext uri="{FF2B5EF4-FFF2-40B4-BE49-F238E27FC236}">
                <a16:creationId xmlns:a16="http://schemas.microsoft.com/office/drawing/2014/main" id="{E26313C2-8A14-3C7A-B284-E8BCBD4DDD3B}"/>
              </a:ext>
            </a:extLst>
          </p:cNvPr>
          <p:cNvSpPr/>
          <p:nvPr/>
        </p:nvSpPr>
        <p:spPr>
          <a:xfrm>
            <a:off x="0" y="4869180"/>
            <a:ext cx="9144000" cy="274320"/>
          </a:xfrm>
          <a:prstGeom prst="rect">
            <a:avLst/>
          </a:prstGeom>
          <a:solidFill>
            <a:srgbClr val="D8F3DC"/>
          </a:solidFill>
          <a:ln w="12700">
            <a:solidFill>
              <a:srgbClr val="D8F3DC"/>
            </a:solidFill>
            <a:prstDash val="solid"/>
          </a:ln>
        </p:spPr>
      </p:sp>
      <p:sp>
        <p:nvSpPr>
          <p:cNvPr id="6" name="Text 4">
            <a:extLst>
              <a:ext uri="{FF2B5EF4-FFF2-40B4-BE49-F238E27FC236}">
                <a16:creationId xmlns:a16="http://schemas.microsoft.com/office/drawing/2014/main" id="{8085CE0C-2C36-1005-B165-06448EE41177}"/>
              </a:ext>
            </a:extLst>
          </p:cNvPr>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pic>
        <p:nvPicPr>
          <p:cNvPr id="39" name="Picture 38">
            <a:extLst>
              <a:ext uri="{FF2B5EF4-FFF2-40B4-BE49-F238E27FC236}">
                <a16:creationId xmlns:a16="http://schemas.microsoft.com/office/drawing/2014/main" id="{8F34030E-BAB4-D72C-DED9-2A732DD147DB}"/>
              </a:ext>
            </a:extLst>
          </p:cNvPr>
          <p:cNvPicPr>
            <a:picLocks noChangeAspect="1"/>
          </p:cNvPicPr>
          <p:nvPr/>
        </p:nvPicPr>
        <p:blipFill>
          <a:blip r:embed="rId3"/>
          <a:srcRect/>
          <a:stretch/>
        </p:blipFill>
        <p:spPr>
          <a:xfrm>
            <a:off x="6459468" y="851535"/>
            <a:ext cx="2410212" cy="1606808"/>
          </a:xfrm>
          <a:prstGeom prst="rect">
            <a:avLst/>
          </a:prstGeom>
          <a:ln>
            <a:noFill/>
          </a:ln>
          <a:effectLst>
            <a:outerShdw blurRad="292100" dist="139700" dir="2700000" algn="tl" rotWithShape="0">
              <a:srgbClr val="333333">
                <a:alpha val="65000"/>
              </a:srgbClr>
            </a:outerShdw>
          </a:effectLst>
        </p:spPr>
      </p:pic>
      <p:sp>
        <p:nvSpPr>
          <p:cNvPr id="42" name="TextBox 41">
            <a:extLst>
              <a:ext uri="{FF2B5EF4-FFF2-40B4-BE49-F238E27FC236}">
                <a16:creationId xmlns:a16="http://schemas.microsoft.com/office/drawing/2014/main" id="{01B52954-39A9-A698-D54D-DAAD1710F1B3}"/>
              </a:ext>
            </a:extLst>
          </p:cNvPr>
          <p:cNvSpPr txBox="1"/>
          <p:nvPr/>
        </p:nvSpPr>
        <p:spPr>
          <a:xfrm>
            <a:off x="70340" y="768448"/>
            <a:ext cx="6112184" cy="3567387"/>
          </a:xfrm>
          <a:prstGeom prst="rect">
            <a:avLst/>
          </a:prstGeom>
          <a:noFill/>
        </p:spPr>
        <p:txBody>
          <a:bodyPr wrap="square">
            <a:spAutoFit/>
          </a:bodyPr>
          <a:lstStyle/>
          <a:p>
            <a:pPr marL="0" marR="0">
              <a:lnSpc>
                <a:spcPct val="107000"/>
              </a:lnSpc>
              <a:spcAft>
                <a:spcPts val="800"/>
              </a:spcAft>
              <a:buNone/>
            </a:pPr>
            <a:r>
              <a:rPr lang="en-US" sz="1000" b="1" dirty="0">
                <a:effectLst/>
                <a:latin typeface="+mj-lt"/>
                <a:ea typeface="Calibri" panose="020F0502020204030204" pitchFamily="34" charset="0"/>
                <a:cs typeface="Times New Roman" panose="02020603050405020304" pitchFamily="18" charset="0"/>
              </a:rPr>
              <a:t>Quy </a:t>
            </a:r>
            <a:r>
              <a:rPr lang="en-US" sz="1000" b="1" dirty="0" err="1">
                <a:effectLst/>
                <a:latin typeface="+mj-lt"/>
                <a:ea typeface="Calibri" panose="020F0502020204030204" pitchFamily="34" charset="0"/>
                <a:cs typeface="Times New Roman" panose="02020603050405020304" pitchFamily="18" charset="0"/>
              </a:rPr>
              <a:t>trình</a:t>
            </a:r>
            <a:r>
              <a:rPr lang="en-US" sz="1000" b="1" dirty="0">
                <a:effectLst/>
                <a:latin typeface="+mj-lt"/>
                <a:ea typeface="Calibri" panose="020F0502020204030204" pitchFamily="34" charset="0"/>
                <a:cs typeface="Times New Roman" panose="02020603050405020304" pitchFamily="18" charset="0"/>
              </a:rPr>
              <a:t> </a:t>
            </a:r>
            <a:r>
              <a:rPr lang="en-US" sz="1000" b="1" dirty="0" err="1">
                <a:effectLst/>
                <a:latin typeface="+mj-lt"/>
                <a:ea typeface="Calibri" panose="020F0502020204030204" pitchFamily="34" charset="0"/>
                <a:cs typeface="Times New Roman" panose="02020603050405020304" pitchFamily="18" charset="0"/>
              </a:rPr>
              <a:t>luồng</a:t>
            </a:r>
            <a:r>
              <a:rPr lang="en-US" sz="1000" b="1" dirty="0">
                <a:effectLst/>
                <a:latin typeface="+mj-lt"/>
                <a:ea typeface="Calibri" panose="020F0502020204030204" pitchFamily="34" charset="0"/>
                <a:cs typeface="Times New Roman" panose="02020603050405020304" pitchFamily="18" charset="0"/>
              </a:rPr>
              <a:t> 5 </a:t>
            </a:r>
            <a:r>
              <a:rPr lang="en-US" sz="1000" b="1" dirty="0" err="1">
                <a:effectLst/>
                <a:latin typeface="+mj-lt"/>
                <a:ea typeface="Calibri" panose="020F0502020204030204" pitchFamily="34" charset="0"/>
                <a:cs typeface="Times New Roman" panose="02020603050405020304" pitchFamily="18" charset="0"/>
              </a:rPr>
              <a:t>bước</a:t>
            </a:r>
            <a:r>
              <a:rPr lang="en-US" sz="1000" b="1" dirty="0">
                <a:effectLst/>
                <a:latin typeface="+mj-lt"/>
                <a:ea typeface="Calibri" panose="020F0502020204030204" pitchFamily="34" charset="0"/>
                <a:cs typeface="Times New Roman" panose="02020603050405020304" pitchFamily="18" charset="0"/>
              </a:rPr>
              <a:t> :</a:t>
            </a:r>
          </a:p>
          <a:p>
            <a:pPr marL="342900" marR="0" lvl="0" indent="-342900">
              <a:lnSpc>
                <a:spcPct val="150000"/>
              </a:lnSpc>
              <a:buNone/>
              <a:tabLst>
                <a:tab pos="457200" algn="l"/>
              </a:tabLst>
            </a:pPr>
            <a:r>
              <a:rPr lang="en-US" sz="1000" b="1" dirty="0" err="1">
                <a:effectLst/>
                <a:latin typeface="+mj-lt"/>
                <a:ea typeface="Times New Roman" panose="02020603050405020304" pitchFamily="18" charset="0"/>
              </a:rPr>
              <a:t>Bước</a:t>
            </a:r>
            <a:r>
              <a:rPr lang="en-US" sz="1000" b="1" dirty="0">
                <a:effectLst/>
                <a:latin typeface="+mj-lt"/>
                <a:ea typeface="Times New Roman" panose="02020603050405020304" pitchFamily="18" charset="0"/>
              </a:rPr>
              <a:t> 1: </a:t>
            </a:r>
            <a:r>
              <a:rPr lang="en-US" sz="1000" b="1" dirty="0" err="1">
                <a:effectLst/>
                <a:latin typeface="+mj-lt"/>
                <a:ea typeface="Times New Roman" panose="02020603050405020304" pitchFamily="18" charset="0"/>
              </a:rPr>
              <a:t>Tiếp</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nhận</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dữ</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liệu</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đầu</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vào</a:t>
            </a:r>
            <a:r>
              <a:rPr lang="en-US" sz="1000" b="1" dirty="0">
                <a:effectLst/>
                <a:latin typeface="+mj-lt"/>
                <a:ea typeface="Times New Roman" panose="02020603050405020304" pitchFamily="18" charset="0"/>
              </a:rPr>
              <a:t> (Input):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Hệ</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thống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tiếp</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nhận</a:t>
            </a:r>
            <a:r>
              <a:rPr lang="en-US" sz="1000" dirty="0">
                <a:effectLst/>
                <a:latin typeface="+mj-lt"/>
                <a:ea typeface="Times New Roman" panose="02020603050405020304" pitchFamily="18" charset="0"/>
              </a:rPr>
              <a:t> 1 ca </a:t>
            </a:r>
            <a:r>
              <a:rPr lang="en-US" sz="1000" dirty="0" err="1">
                <a:effectLst/>
                <a:latin typeface="+mj-lt"/>
                <a:ea typeface="Times New Roman" panose="02020603050405020304" pitchFamily="18" charset="0"/>
              </a:rPr>
              <a:t>kiểm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nghiệm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gồm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hai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nguồn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dữ</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liệu</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độc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lập</a:t>
            </a:r>
            <a:r>
              <a:rPr lang="en-US" sz="1000" dirty="0">
                <a:effectLst/>
                <a:latin typeface="+mj-lt"/>
                <a:ea typeface="Times New Roman" panose="02020603050405020304" pitchFamily="18" charset="0"/>
              </a:rPr>
              <a:t>:</a:t>
            </a:r>
          </a:p>
          <a:p>
            <a:pPr marL="742950" marR="0" lvl="1" indent="-285750">
              <a:lnSpc>
                <a:spcPct val="150000"/>
              </a:lnSpc>
              <a:buSzPts val="1000"/>
              <a:buFont typeface="Courier New" panose="02070309020205020404" pitchFamily="49" charset="0"/>
              <a:buChar char="o"/>
              <a:tabLst>
                <a:tab pos="914400" algn="l"/>
              </a:tabLst>
            </a:pPr>
            <a:r>
              <a:rPr lang="en-US" sz="1000" i="1" dirty="0" err="1">
                <a:effectLst/>
                <a:latin typeface="+mj-lt"/>
                <a:ea typeface="Times New Roman" panose="02020603050405020304" pitchFamily="18" charset="0"/>
                <a:cs typeface="Times New Roman" panose="02020603050405020304" pitchFamily="18" charset="0"/>
              </a:rPr>
              <a:t>Dữ</a:t>
            </a:r>
            <a:r>
              <a:rPr lang="en-US" sz="1000" i="1" dirty="0">
                <a:effectLst/>
                <a:latin typeface="+mj-lt"/>
                <a:ea typeface="Times New Roman" panose="02020603050405020304" pitchFamily="18" charset="0"/>
                <a:cs typeface="Times New Roman" panose="02020603050405020304" pitchFamily="18" charset="0"/>
              </a:rPr>
              <a:t> </a:t>
            </a:r>
            <a:r>
              <a:rPr lang="en-US" sz="1000" i="1" dirty="0" err="1">
                <a:effectLst/>
                <a:latin typeface="+mj-lt"/>
                <a:ea typeface="Times New Roman" panose="02020603050405020304" pitchFamily="18" charset="0"/>
                <a:cs typeface="Times New Roman" panose="02020603050405020304" pitchFamily="18" charset="0"/>
              </a:rPr>
              <a:t>liệu</a:t>
            </a:r>
            <a:r>
              <a:rPr lang="en-US" sz="1000" i="1" dirty="0">
                <a:effectLst/>
                <a:latin typeface="+mj-lt"/>
                <a:ea typeface="Times New Roman" panose="02020603050405020304" pitchFamily="18" charset="0"/>
                <a:cs typeface="Times New Roman" panose="02020603050405020304" pitchFamily="18" charset="0"/>
              </a:rPr>
              <a:t> </a:t>
            </a:r>
            <a:r>
              <a:rPr lang="en-US" sz="1000" i="1" dirty="0" err="1">
                <a:effectLst/>
                <a:latin typeface="+mj-lt"/>
                <a:ea typeface="Times New Roman" panose="02020603050405020304" pitchFamily="18" charset="0"/>
                <a:cs typeface="Times New Roman" panose="02020603050405020304" pitchFamily="18" charset="0"/>
              </a:rPr>
              <a:t>hình</a:t>
            </a:r>
            <a:r>
              <a:rPr lang="en-US" sz="1000" i="1" dirty="0">
                <a:effectLst/>
                <a:latin typeface="+mj-lt"/>
                <a:ea typeface="Times New Roman" panose="02020603050405020304" pitchFamily="18" charset="0"/>
                <a:cs typeface="Times New Roman" panose="02020603050405020304" pitchFamily="18" charset="0"/>
              </a:rPr>
              <a:t> </a:t>
            </a:r>
            <a:r>
              <a:rPr lang="en-US" sz="1000" i="1" dirty="0" err="1">
                <a:effectLst/>
                <a:latin typeface="+mj-lt"/>
                <a:ea typeface="Times New Roman" panose="02020603050405020304" pitchFamily="18" charset="0"/>
                <a:cs typeface="Times New Roman" panose="02020603050405020304" pitchFamily="18" charset="0"/>
              </a:rPr>
              <a:t>ảnh</a:t>
            </a:r>
            <a:r>
              <a:rPr lang="en-US" sz="1000" i="1" dirty="0">
                <a:effectLst/>
                <a:latin typeface="+mj-lt"/>
                <a:ea typeface="Times New Roman" panose="02020603050405020304" pitchFamily="18" charset="0"/>
                <a:cs typeface="Times New Roman" panose="02020603050405020304" pitchFamily="18" charset="0"/>
              </a:rPr>
              <a:t>:</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Ảnh</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chụp</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bề</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mặt</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lá</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cây</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bị</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bệnh</a:t>
            </a:r>
            <a:r>
              <a:rPr lang="en-US" sz="1000" dirty="0">
                <a:effectLst/>
                <a:latin typeface="+mj-lt"/>
                <a:ea typeface="Times New Roman" panose="02020603050405020304" pitchFamily="18" charset="0"/>
                <a:cs typeface="Times New Roman" panose="02020603050405020304" pitchFamily="18" charset="0"/>
              </a:rPr>
              <a:t> </a:t>
            </a:r>
          </a:p>
          <a:p>
            <a:pPr marL="742950" marR="0" lvl="1" indent="-285750">
              <a:lnSpc>
                <a:spcPct val="150000"/>
              </a:lnSpc>
              <a:buSzPts val="1000"/>
              <a:buFont typeface="Courier New" panose="02070309020205020404" pitchFamily="49" charset="0"/>
              <a:buChar char="o"/>
              <a:tabLst>
                <a:tab pos="914400" algn="l"/>
              </a:tabLst>
            </a:pPr>
            <a:r>
              <a:rPr lang="en-US" sz="1000" i="1" dirty="0">
                <a:effectLst/>
                <a:latin typeface="+mj-lt"/>
                <a:ea typeface="Times New Roman" panose="02020603050405020304" pitchFamily="18" charset="0"/>
                <a:cs typeface="Times New Roman" panose="02020603050405020304" pitchFamily="18" charset="0"/>
              </a:rPr>
              <a:t>Thông tin </a:t>
            </a:r>
            <a:r>
              <a:rPr lang="en-US" sz="1000" i="1" dirty="0" err="1">
                <a:effectLst/>
                <a:latin typeface="+mj-lt"/>
                <a:ea typeface="Times New Roman" panose="02020603050405020304" pitchFamily="18" charset="0"/>
                <a:cs typeface="Times New Roman" panose="02020603050405020304" pitchFamily="18" charset="0"/>
              </a:rPr>
              <a:t>môi</a:t>
            </a:r>
            <a:r>
              <a:rPr lang="en-US" sz="1000" i="1" dirty="0">
                <a:effectLst/>
                <a:latin typeface="+mj-lt"/>
                <a:ea typeface="Times New Roman" panose="02020603050405020304" pitchFamily="18" charset="0"/>
                <a:cs typeface="Times New Roman" panose="02020603050405020304" pitchFamily="18" charset="0"/>
              </a:rPr>
              <a:t> </a:t>
            </a:r>
            <a:r>
              <a:rPr lang="en-US" sz="1000" i="1" dirty="0" err="1">
                <a:effectLst/>
                <a:latin typeface="+mj-lt"/>
                <a:ea typeface="Times New Roman" panose="02020603050405020304" pitchFamily="18" charset="0"/>
                <a:cs typeface="Times New Roman" panose="02020603050405020304" pitchFamily="18" charset="0"/>
              </a:rPr>
              <a:t>trường</a:t>
            </a:r>
            <a:r>
              <a:rPr lang="en-US" sz="1000" i="1" dirty="0">
                <a:effectLst/>
                <a:latin typeface="+mj-lt"/>
                <a:ea typeface="Times New Roman" panose="02020603050405020304" pitchFamily="18" charset="0"/>
                <a:cs typeface="Times New Roman" panose="02020603050405020304" pitchFamily="18" charset="0"/>
              </a:rPr>
              <a:t> </a:t>
            </a:r>
            <a:r>
              <a:rPr lang="en-US" sz="1000" i="1" dirty="0" err="1">
                <a:effectLst/>
                <a:latin typeface="+mj-lt"/>
                <a:ea typeface="Times New Roman" panose="02020603050405020304" pitchFamily="18" charset="0"/>
                <a:cs typeface="Times New Roman" panose="02020603050405020304" pitchFamily="18" charset="0"/>
              </a:rPr>
              <a:t>thực</a:t>
            </a:r>
            <a:r>
              <a:rPr lang="en-US" sz="1000" i="1" dirty="0">
                <a:effectLst/>
                <a:latin typeface="+mj-lt"/>
                <a:ea typeface="Times New Roman" panose="02020603050405020304" pitchFamily="18" charset="0"/>
                <a:cs typeface="Times New Roman" panose="02020603050405020304" pitchFamily="18" charset="0"/>
              </a:rPr>
              <a:t> </a:t>
            </a:r>
            <a:r>
              <a:rPr lang="en-US" sz="1000" i="1" dirty="0" err="1">
                <a:effectLst/>
                <a:latin typeface="+mj-lt"/>
                <a:ea typeface="Times New Roman" panose="02020603050405020304" pitchFamily="18" charset="0"/>
                <a:cs typeface="Times New Roman" panose="02020603050405020304" pitchFamily="18" charset="0"/>
              </a:rPr>
              <a:t>địa</a:t>
            </a:r>
            <a:r>
              <a:rPr lang="en-US" sz="1000" i="1" dirty="0">
                <a:effectLst/>
                <a:latin typeface="+mj-lt"/>
                <a:ea typeface="Times New Roman" panose="02020603050405020304" pitchFamily="18" charset="0"/>
                <a:cs typeface="Times New Roman" panose="02020603050405020304" pitchFamily="18" charset="0"/>
              </a:rPr>
              <a:t>:</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Độ</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ẩm</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Nhiệt</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độ</a:t>
            </a:r>
            <a:r>
              <a:rPr lang="en-US" sz="1000" dirty="0">
                <a:effectLst/>
                <a:latin typeface="+mj-lt"/>
                <a:ea typeface="Times New Roman" panose="02020603050405020304" pitchFamily="18" charset="0"/>
                <a:cs typeface="Times New Roman" panose="02020603050405020304" pitchFamily="18" charset="0"/>
              </a:rPr>
              <a:t> , </a:t>
            </a:r>
            <a:r>
              <a:rPr lang="en-US" sz="1000" dirty="0" err="1">
                <a:effectLst/>
                <a:latin typeface="+mj-lt"/>
                <a:ea typeface="Times New Roman" panose="02020603050405020304" pitchFamily="18" charset="0"/>
                <a:cs typeface="Times New Roman" panose="02020603050405020304" pitchFamily="18" charset="0"/>
              </a:rPr>
              <a:t>Lượng</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mưa</a:t>
            </a:r>
            <a:r>
              <a:rPr lang="en-US" sz="1000" dirty="0">
                <a:effectLst/>
                <a:latin typeface="+mj-lt"/>
                <a:ea typeface="Times New Roman" panose="02020603050405020304" pitchFamily="18" charset="0"/>
                <a:cs typeface="Times New Roman" panose="02020603050405020304" pitchFamily="18" charset="0"/>
              </a:rPr>
              <a:t> 24h, </a:t>
            </a:r>
            <a:r>
              <a:rPr lang="en-US" sz="1000" dirty="0" err="1">
                <a:effectLst/>
                <a:latin typeface="+mj-lt"/>
                <a:ea typeface="Times New Roman" panose="02020603050405020304" pitchFamily="18" charset="0"/>
                <a:cs typeface="Times New Roman" panose="02020603050405020304" pitchFamily="18" charset="0"/>
              </a:rPr>
              <a:t>Mùa</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vụ</a:t>
            </a:r>
            <a:r>
              <a:rPr lang="en-US" sz="1000" dirty="0">
                <a:effectLst/>
                <a:latin typeface="+mj-lt"/>
                <a:ea typeface="Times New Roman" panose="02020603050405020304" pitchFamily="18" charset="0"/>
                <a:cs typeface="Times New Roman" panose="02020603050405020304" pitchFamily="18" charset="0"/>
              </a:rPr>
              <a:t> , </a:t>
            </a:r>
            <a:r>
              <a:rPr lang="en-US" sz="1000" dirty="0" err="1">
                <a:effectLst/>
                <a:latin typeface="+mj-lt"/>
                <a:ea typeface="Times New Roman" panose="02020603050405020304" pitchFamily="18" charset="0"/>
                <a:cs typeface="Times New Roman" panose="02020603050405020304" pitchFamily="18" charset="0"/>
              </a:rPr>
              <a:t>Vị</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trí</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và</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Thời</a:t>
            </a:r>
            <a:r>
              <a:rPr lang="en-US" sz="1000" dirty="0">
                <a:effectLst/>
                <a:latin typeface="+mj-lt"/>
                <a:ea typeface="Times New Roman" panose="02020603050405020304" pitchFamily="18" charset="0"/>
                <a:cs typeface="Times New Roman" panose="02020603050405020304" pitchFamily="18" charset="0"/>
              </a:rPr>
              <a:t> </a:t>
            </a:r>
            <a:r>
              <a:rPr lang="en-US" sz="1000" dirty="0" err="1">
                <a:effectLst/>
                <a:latin typeface="+mj-lt"/>
                <a:ea typeface="Times New Roman" panose="02020603050405020304" pitchFamily="18" charset="0"/>
                <a:cs typeface="Times New Roman" panose="02020603050405020304" pitchFamily="18" charset="0"/>
              </a:rPr>
              <a:t>gian</a:t>
            </a:r>
            <a:r>
              <a:rPr lang="en-US" sz="1000" dirty="0">
                <a:effectLst/>
                <a:latin typeface="+mj-lt"/>
                <a:ea typeface="Times New Roman" panose="02020603050405020304" pitchFamily="18" charset="0"/>
                <a:cs typeface="Times New Roman" panose="02020603050405020304" pitchFamily="18" charset="0"/>
              </a:rPr>
              <a:t>…</a:t>
            </a:r>
          </a:p>
          <a:p>
            <a:pPr marL="342900" marR="0" lvl="0" indent="-342900">
              <a:lnSpc>
                <a:spcPct val="150000"/>
              </a:lnSpc>
              <a:buNone/>
              <a:tabLst>
                <a:tab pos="457200" algn="l"/>
              </a:tabLst>
            </a:pPr>
            <a:r>
              <a:rPr lang="en-US" sz="1000" b="1" dirty="0" err="1">
                <a:effectLst/>
                <a:latin typeface="+mj-lt"/>
                <a:ea typeface="Times New Roman" panose="02020603050405020304" pitchFamily="18" charset="0"/>
              </a:rPr>
              <a:t>Bước</a:t>
            </a:r>
            <a:r>
              <a:rPr lang="en-US" sz="1000" b="1" dirty="0">
                <a:effectLst/>
                <a:latin typeface="+mj-lt"/>
                <a:ea typeface="Times New Roman" panose="02020603050405020304" pitchFamily="18" charset="0"/>
              </a:rPr>
              <a:t> 2: </a:t>
            </a:r>
            <a:r>
              <a:rPr lang="en-US" sz="1000" b="1" dirty="0" err="1">
                <a:effectLst/>
                <a:latin typeface="+mj-lt"/>
                <a:ea typeface="Times New Roman" panose="02020603050405020304" pitchFamily="18" charset="0"/>
              </a:rPr>
              <a:t>Dự</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đoán</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từ</a:t>
            </a:r>
            <a:r>
              <a:rPr lang="en-US" sz="1000" b="1" dirty="0">
                <a:effectLst/>
                <a:latin typeface="+mj-lt"/>
                <a:ea typeface="Times New Roman" panose="02020603050405020304" pitchFamily="18" charset="0"/>
              </a:rPr>
              <a:t> CNN (CNN Inference):</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Hình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ảnh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được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đưa</a:t>
            </a:r>
            <a:r>
              <a:rPr lang="en-US" sz="1000" dirty="0">
                <a:effectLst/>
                <a:latin typeface="+mj-lt"/>
                <a:ea typeface="Times New Roman" panose="02020603050405020304" pitchFamily="18" charset="0"/>
              </a:rPr>
              <a:t> qua </a:t>
            </a:r>
            <a:r>
              <a:rPr lang="en-US" sz="1000" dirty="0" err="1">
                <a:effectLst/>
                <a:latin typeface="+mj-lt"/>
                <a:ea typeface="Times New Roman" panose="02020603050405020304" pitchFamily="18" charset="0"/>
              </a:rPr>
              <a:t>mô</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hình</a:t>
            </a:r>
            <a:r>
              <a:rPr lang="en-US" sz="1000" dirty="0">
                <a:effectLst/>
                <a:latin typeface="+mj-lt"/>
                <a:ea typeface="Times New Roman" panose="02020603050405020304" pitchFamily="18" charset="0"/>
              </a:rPr>
              <a:t> CNN, </a:t>
            </a:r>
            <a:r>
              <a:rPr lang="en-US" sz="1000" dirty="0" err="1">
                <a:effectLst/>
                <a:latin typeface="+mj-lt"/>
                <a:ea typeface="Times New Roman" panose="02020603050405020304" pitchFamily="18" charset="0"/>
              </a:rPr>
              <a:t>Mô</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hình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thực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hiện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trích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xuất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đặc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trưng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thị</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giác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và</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trả</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về</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điểm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số</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xác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suất</a:t>
            </a:r>
            <a:r>
              <a:rPr lang="en-US" sz="1000" dirty="0">
                <a:effectLst/>
                <a:latin typeface="+mj-lt"/>
                <a:ea typeface="Times New Roman" panose="02020603050405020304" pitchFamily="18" charset="0"/>
              </a:rPr>
              <a:t> (Output </a:t>
            </a:r>
            <a:r>
              <a:rPr lang="en-US" sz="1000" dirty="0" err="1">
                <a:effectLst/>
                <a:latin typeface="+mj-lt"/>
                <a:ea typeface="Times New Roman" panose="02020603050405020304" pitchFamily="18" charset="0"/>
              </a:rPr>
              <a:t>từ</a:t>
            </a:r>
            <a:r>
              <a:rPr lang="en-US" sz="1000" dirty="0">
                <a:effectLst/>
                <a:latin typeface="+mj-lt"/>
                <a:ea typeface="Times New Roman" panose="02020603050405020304" pitchFamily="18" charset="0"/>
              </a:rPr>
              <a:t> CNN) </a:t>
            </a:r>
            <a:r>
              <a:rPr lang="en-US" sz="1000" dirty="0" err="1">
                <a:effectLst/>
                <a:latin typeface="+mj-lt"/>
                <a:ea typeface="Times New Roman" panose="02020603050405020304" pitchFamily="18" charset="0"/>
              </a:rPr>
              <a:t>của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loại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bệnh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hoặc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triệu</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chứng</a:t>
            </a:r>
            <a:r>
              <a:rPr lang="en-US" sz="1000" dirty="0">
                <a:effectLst/>
                <a:latin typeface="+mj-lt"/>
                <a:ea typeface="Times New Roman" panose="02020603050405020304" pitchFamily="18" charset="0"/>
              </a:rPr>
              <a:t>.</a:t>
            </a:r>
            <a:endParaRPr lang="en-US" sz="1000" dirty="0">
              <a:latin typeface="+mj-lt"/>
              <a:ea typeface="Times New Roman" panose="02020603050405020304" pitchFamily="18" charset="0"/>
            </a:endParaRPr>
          </a:p>
          <a:p>
            <a:pPr marL="342900" marR="0" lvl="0" indent="-342900">
              <a:lnSpc>
                <a:spcPct val="150000"/>
              </a:lnSpc>
              <a:buNone/>
              <a:tabLst>
                <a:tab pos="457200" algn="l"/>
              </a:tabLst>
            </a:pPr>
            <a:r>
              <a:rPr lang="en-US" sz="1000" b="1" dirty="0" err="1">
                <a:effectLst/>
                <a:latin typeface="+mj-lt"/>
                <a:ea typeface="Times New Roman" panose="02020603050405020304" pitchFamily="18" charset="0"/>
              </a:rPr>
              <a:t>Bước</a:t>
            </a:r>
            <a:r>
              <a:rPr lang="en-US" sz="1000" b="1" dirty="0">
                <a:effectLst/>
                <a:latin typeface="+mj-lt"/>
                <a:ea typeface="Times New Roman" panose="02020603050405020304" pitchFamily="18" charset="0"/>
              </a:rPr>
              <a:t> 3: </a:t>
            </a:r>
            <a:r>
              <a:rPr lang="en-US" sz="1000" b="1" dirty="0" err="1">
                <a:effectLst/>
                <a:latin typeface="+mj-lt"/>
                <a:ea typeface="Times New Roman" panose="02020603050405020304" pitchFamily="18" charset="0"/>
              </a:rPr>
              <a:t>Tầng</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suy</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diễn</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mờ</a:t>
            </a:r>
            <a:r>
              <a:rPr lang="en-US" sz="1000" b="1" dirty="0">
                <a:effectLst/>
                <a:latin typeface="+mj-lt"/>
                <a:ea typeface="Times New Roman" panose="02020603050405020304" pitchFamily="18" charset="0"/>
              </a:rPr>
              <a:t> (Fuzzy Reasoning Layer):</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Đây</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là</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lõi</a:t>
            </a:r>
            <a:r>
              <a:rPr lang="en-US" sz="1000" dirty="0">
                <a:effectLst/>
                <a:latin typeface="+mj-lt"/>
                <a:ea typeface="Times New Roman" panose="02020603050405020304" pitchFamily="18" charset="0"/>
              </a:rPr>
              <a:t> tri </a:t>
            </a:r>
            <a:r>
              <a:rPr lang="en-US" sz="1000" dirty="0" err="1">
                <a:effectLst/>
                <a:latin typeface="+mj-lt"/>
                <a:ea typeface="Times New Roman" panose="02020603050405020304" pitchFamily="18" charset="0"/>
              </a:rPr>
              <a:t>thức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chuyên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gia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của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hệ</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thống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Tầng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này</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tiếp</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nhận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điểm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số</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từ</a:t>
            </a:r>
            <a:r>
              <a:rPr lang="en-US" sz="1000" dirty="0">
                <a:effectLst/>
                <a:latin typeface="+mj-lt"/>
                <a:ea typeface="Times New Roman" panose="02020603050405020304" pitchFamily="18" charset="0"/>
              </a:rPr>
              <a:t> CNN (</a:t>
            </a:r>
            <a:r>
              <a:rPr lang="en-US" sz="1000" dirty="0" err="1">
                <a:effectLst/>
                <a:latin typeface="+mj-lt"/>
                <a:ea typeface="Times New Roman" panose="02020603050405020304" pitchFamily="18" charset="0"/>
              </a:rPr>
              <a:t>triệu</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chứng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thị</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giác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cùng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thông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số</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môi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trường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để</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đưa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vào</a:t>
            </a:r>
            <a:r>
              <a:rPr lang="en-US" sz="1000"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Nền</a:t>
            </a:r>
            <a:r>
              <a:rPr lang="en-US" sz="1000" b="1" dirty="0">
                <a:effectLst/>
                <a:latin typeface="+mj-lt"/>
                <a:ea typeface="Times New Roman" panose="02020603050405020304" pitchFamily="18" charset="0"/>
              </a:rPr>
              <a:t> tri </a:t>
            </a:r>
            <a:r>
              <a:rPr lang="en-US" sz="1000" b="1" dirty="0" err="1">
                <a:effectLst/>
                <a:latin typeface="+mj-lt"/>
                <a:ea typeface="Times New Roman" panose="02020603050405020304" pitchFamily="18" charset="0"/>
              </a:rPr>
              <a:t>thức</a:t>
            </a:r>
            <a:r>
              <a:rPr lang="en-US" sz="1000" b="1" dirty="0">
                <a:effectLst/>
                <a:latin typeface="+mj-lt"/>
                <a:ea typeface="Times New Roman" panose="02020603050405020304" pitchFamily="18" charset="0"/>
              </a:rPr>
              <a:t> (Fuzzy Knowledge Base)</a:t>
            </a:r>
            <a:r>
              <a:rPr lang="en-US" sz="1000" dirty="0">
                <a:effectLst/>
                <a:latin typeface="+mj-lt"/>
                <a:ea typeface="Times New Roman" panose="02020603050405020304" pitchFamily="18" charset="0"/>
              </a:rPr>
              <a:t> bao </a:t>
            </a:r>
            <a:r>
              <a:rPr lang="en-US" sz="1000" dirty="0" err="1">
                <a:effectLst/>
                <a:latin typeface="+mj-lt"/>
                <a:ea typeface="Times New Roman" panose="02020603050405020304" pitchFamily="18" charset="0"/>
              </a:rPr>
              <a:t>gồm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biến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ngôn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ngữ</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hàm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thuộc</a:t>
            </a:r>
            <a:r>
              <a:rPr lang="en-US" sz="1000" dirty="0">
                <a:effectLst/>
                <a:latin typeface="+mj-lt"/>
                <a:ea typeface="Times New Roman" panose="02020603050405020304" pitchFamily="18" charset="0"/>
              </a:rPr>
              <a:t> (Membership Functions) </a:t>
            </a:r>
            <a:r>
              <a:rPr lang="en-US" sz="1000" dirty="0" err="1">
                <a:effectLst/>
                <a:latin typeface="+mj-lt"/>
                <a:ea typeface="Times New Roman" panose="02020603050405020304" pitchFamily="18" charset="0"/>
              </a:rPr>
              <a:t>và</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tập</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luật</a:t>
            </a:r>
            <a:r>
              <a:rPr lang="en-US" sz="1000" dirty="0">
                <a:effectLst/>
                <a:latin typeface="+mj-lt"/>
                <a:ea typeface="Times New Roman" panose="02020603050405020304" pitchFamily="18" charset="0"/>
              </a:rPr>
              <a:t> </a:t>
            </a:r>
            <a:r>
              <a:rPr lang="en-US" sz="1000" dirty="0">
                <a:effectLst/>
                <a:latin typeface="+mj-lt"/>
                <a:ea typeface="Times New Roman" panose="02020603050405020304" pitchFamily="18" charset="0"/>
                <a:cs typeface="Courier New" panose="02070309020205020404" pitchFamily="49" charset="0"/>
              </a:rPr>
              <a:t>IF - THEN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Quá</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trình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suy</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luận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mờ</a:t>
            </a:r>
            <a:r>
              <a:rPr lang="en-US" sz="1000" dirty="0">
                <a:effectLst/>
                <a:latin typeface="+mj-lt"/>
                <a:ea typeface="Times New Roman" panose="02020603050405020304" pitchFamily="18" charset="0"/>
              </a:rPr>
              <a:t> </a:t>
            </a:r>
            <a:r>
              <a:rPr lang="en-US" sz="1000" dirty="0">
                <a:latin typeface="+mj-lt"/>
                <a:ea typeface="Times New Roman" panose="02020603050405020304" pitchFamily="18" charset="0"/>
              </a:rPr>
              <a:t> </a:t>
            </a:r>
            <a:r>
              <a:rPr lang="en-US" sz="1000" dirty="0" err="1">
                <a:effectLst/>
                <a:latin typeface="+mj-lt"/>
                <a:ea typeface="Times New Roman" panose="02020603050405020304" pitchFamily="18" charset="0"/>
              </a:rPr>
              <a:t>và</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thực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hiện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giải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mờ</a:t>
            </a:r>
            <a:r>
              <a:rPr lang="en-US" sz="1000" dirty="0">
                <a:effectLst/>
                <a:latin typeface="+mj-lt"/>
                <a:ea typeface="Times New Roman" panose="02020603050405020304" pitchFamily="18" charset="0"/>
              </a:rPr>
              <a:t> (Defuzzification).</a:t>
            </a:r>
          </a:p>
          <a:p>
            <a:pPr marL="342900" marR="0" lvl="0" indent="-342900">
              <a:lnSpc>
                <a:spcPct val="150000"/>
              </a:lnSpc>
              <a:buNone/>
              <a:tabLst>
                <a:tab pos="457200" algn="l"/>
              </a:tabLst>
            </a:pPr>
            <a:r>
              <a:rPr lang="en-US" sz="1000" b="1" dirty="0" err="1">
                <a:effectLst/>
                <a:latin typeface="+mj-lt"/>
                <a:ea typeface="Times New Roman" panose="02020603050405020304" pitchFamily="18" charset="0"/>
              </a:rPr>
              <a:t>Bước</a:t>
            </a:r>
            <a:r>
              <a:rPr lang="en-US" sz="1000" b="1" dirty="0">
                <a:effectLst/>
                <a:latin typeface="+mj-lt"/>
                <a:ea typeface="Times New Roman" panose="02020603050405020304" pitchFamily="18" charset="0"/>
              </a:rPr>
              <a:t> 4: Ra </a:t>
            </a:r>
            <a:r>
              <a:rPr lang="en-US" sz="1000" b="1" dirty="0" err="1">
                <a:effectLst/>
                <a:latin typeface="+mj-lt"/>
                <a:ea typeface="Times New Roman" panose="02020603050405020304" pitchFamily="18" charset="0"/>
              </a:rPr>
              <a:t>quyết</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định</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kết</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hợp</a:t>
            </a:r>
            <a:r>
              <a:rPr lang="en-US" sz="1000" b="1" dirty="0">
                <a:effectLst/>
                <a:latin typeface="+mj-lt"/>
                <a:ea typeface="Times New Roman" panose="02020603050405020304" pitchFamily="18" charset="0"/>
              </a:rPr>
              <a:t> (Hybrid Decision):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Hệ</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thống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thực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hiện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kết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hợp</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trọng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số</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giữa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kết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quả</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của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mạng</a:t>
            </a:r>
            <a:r>
              <a:rPr lang="en-US" sz="1000" dirty="0">
                <a:effectLst/>
                <a:latin typeface="+mj-lt"/>
                <a:ea typeface="Times New Roman" panose="02020603050405020304" pitchFamily="18" charset="0"/>
              </a:rPr>
              <a:t> CNN </a:t>
            </a:r>
            <a:r>
              <a:rPr lang="en-US" sz="1000" dirty="0" err="1">
                <a:effectLst/>
                <a:latin typeface="+mj-lt"/>
                <a:ea typeface="Times New Roman" panose="02020603050405020304" pitchFamily="18" charset="0"/>
              </a:rPr>
              <a:t>và</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kết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quả</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từ</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bộ</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suy</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diễn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mờ</a:t>
            </a:r>
            <a:r>
              <a:rPr lang="en-US" sz="1000" dirty="0">
                <a:effectLst/>
                <a:latin typeface="+mj-lt"/>
                <a:ea typeface="Times New Roman" panose="02020603050405020304" pitchFamily="18" charset="0"/>
              </a:rPr>
              <a:t> </a:t>
            </a:r>
            <a:r>
              <a:rPr lang="en-US" sz="1000" dirty="0" err="1">
                <a:latin typeface="+mj-lt"/>
                <a:ea typeface="Calibri" panose="020F0502020204030204" pitchFamily="34" charset="0"/>
                <a:cs typeface="Times New Roman" panose="02020603050405020304" pitchFamily="18" charset="0"/>
              </a:rPr>
              <a:t>t</a:t>
            </a:r>
            <a:r>
              <a:rPr lang="en-US" sz="1000" dirty="0" err="1">
                <a:effectLst/>
                <a:latin typeface="+mj-lt"/>
                <a:ea typeface="Times New Roman" panose="02020603050405020304" pitchFamily="18" charset="0"/>
              </a:rPr>
              <a:t>ừ</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đó</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đưa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ra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điểm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số</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hiệu</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chỉnh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cuối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cùng</a:t>
            </a:r>
            <a:r>
              <a:rPr lang="en-US" sz="1000" dirty="0">
                <a:latin typeface="+mj-lt"/>
                <a:ea typeface="Times New Roman" panose="02020603050405020304" pitchFamily="18" charset="0"/>
              </a:rPr>
              <a:t>.</a:t>
            </a:r>
            <a:endParaRPr lang="en-US" sz="1000" dirty="0">
              <a:effectLst/>
              <a:latin typeface="+mj-lt"/>
              <a:ea typeface="Times New Roman" panose="02020603050405020304" pitchFamily="18" charset="0"/>
            </a:endParaRPr>
          </a:p>
          <a:p>
            <a:pPr marL="342900" marR="0" lvl="0" indent="-342900">
              <a:lnSpc>
                <a:spcPct val="150000"/>
              </a:lnSpc>
              <a:buNone/>
              <a:tabLst>
                <a:tab pos="457200" algn="l"/>
              </a:tabLst>
            </a:pPr>
            <a:r>
              <a:rPr lang="en-US" sz="1000" b="1" dirty="0" err="1">
                <a:effectLst/>
                <a:latin typeface="+mj-lt"/>
                <a:ea typeface="Times New Roman" panose="02020603050405020304" pitchFamily="18" charset="0"/>
              </a:rPr>
              <a:t>Bước</a:t>
            </a:r>
            <a:r>
              <a:rPr lang="en-US" sz="1000" b="1" dirty="0">
                <a:effectLst/>
                <a:latin typeface="+mj-lt"/>
                <a:ea typeface="Times New Roman" panose="02020603050405020304" pitchFamily="18" charset="0"/>
              </a:rPr>
              <a:t> 5: </a:t>
            </a:r>
            <a:r>
              <a:rPr lang="en-US" sz="1000" b="1" dirty="0" err="1">
                <a:effectLst/>
                <a:latin typeface="+mj-lt"/>
                <a:ea typeface="Times New Roman" panose="02020603050405020304" pitchFamily="18" charset="0"/>
              </a:rPr>
              <a:t>Kết</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luận</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và</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Giải</a:t>
            </a:r>
            <a:r>
              <a:rPr lang="en-US" sz="1000" b="1" dirty="0">
                <a:effectLst/>
                <a:latin typeface="+mj-lt"/>
                <a:ea typeface="Times New Roman" panose="02020603050405020304" pitchFamily="18" charset="0"/>
              </a:rPr>
              <a:t> </a:t>
            </a:r>
            <a:r>
              <a:rPr lang="en-US" sz="1000" b="1" dirty="0" err="1">
                <a:effectLst/>
                <a:latin typeface="+mj-lt"/>
                <a:ea typeface="Times New Roman" panose="02020603050405020304" pitchFamily="18" charset="0"/>
              </a:rPr>
              <a:t>thích</a:t>
            </a:r>
            <a:r>
              <a:rPr lang="en-US" sz="1000" b="1" dirty="0">
                <a:effectLst/>
                <a:latin typeface="+mj-lt"/>
                <a:ea typeface="Times New Roman" panose="02020603050405020304" pitchFamily="18" charset="0"/>
              </a:rPr>
              <a:t> (Output + XAI):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Hệ</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thống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trả</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về</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kết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luận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bệnh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kèm</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độ</a:t>
            </a:r>
            <a:r>
              <a:rPr lang="en-US" sz="1000" dirty="0">
                <a:effectLst/>
                <a:latin typeface="+mj-lt"/>
                <a:ea typeface="Times New Roman" panose="02020603050405020304" pitchFamily="18" charset="0"/>
              </a:rPr>
              <a:t> tin </a:t>
            </a:r>
            <a:r>
              <a:rPr lang="en-US" sz="1000" dirty="0" err="1">
                <a:effectLst/>
                <a:latin typeface="+mj-lt"/>
                <a:ea typeface="Times New Roman" panose="02020603050405020304" pitchFamily="18" charset="0"/>
              </a:rPr>
              <a:t>cậy</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Đồng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thời</a:t>
            </a:r>
            <a:r>
              <a:rPr lang="en-US" sz="1000" dirty="0">
                <a:effectLst/>
                <a:latin typeface="+mj-lt"/>
                <a:ea typeface="Times New Roman" panose="02020603050405020304" pitchFamily="18" charset="0"/>
              </a:rPr>
              <a:t>, module XAI </a:t>
            </a:r>
            <a:r>
              <a:rPr lang="en-US" sz="1000" dirty="0" err="1">
                <a:effectLst/>
                <a:latin typeface="+mj-lt"/>
                <a:ea typeface="Times New Roman" panose="02020603050405020304" pitchFamily="18" charset="0"/>
              </a:rPr>
              <a:t>hiển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thị</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báo</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cáo</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giải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thích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bằng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ngôn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ngữ</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tự</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nhiên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dựa</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trên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các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luật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mờ</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được</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kích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hoạt</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mạnh</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để</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người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nông</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dân</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đối</a:t>
            </a:r>
            <a:r>
              <a:rPr lang="en-US" sz="1000" dirty="0">
                <a:effectLst/>
                <a:latin typeface="+mj-lt"/>
                <a:ea typeface="Times New Roman" panose="02020603050405020304" pitchFamily="18" charset="0"/>
              </a:rPr>
              <a:t> </a:t>
            </a:r>
            <a:r>
              <a:rPr lang="en-US" sz="1000" dirty="0" err="1">
                <a:effectLst/>
                <a:latin typeface="+mj-lt"/>
                <a:ea typeface="Times New Roman" panose="02020603050405020304" pitchFamily="18" charset="0"/>
              </a:rPr>
              <a:t>chiếu</a:t>
            </a:r>
            <a:r>
              <a:rPr lang="en-US" sz="1000" dirty="0">
                <a:effectLst/>
                <a:latin typeface="+mj-lt"/>
                <a:ea typeface="Times New Roman" panose="02020603050405020304" pitchFamily="18" charset="0"/>
              </a:rPr>
              <a:t>.</a:t>
            </a:r>
          </a:p>
        </p:txBody>
      </p:sp>
      <p:pic>
        <p:nvPicPr>
          <p:cNvPr id="7" name="Picture 6">
            <a:extLst>
              <a:ext uri="{FF2B5EF4-FFF2-40B4-BE49-F238E27FC236}">
                <a16:creationId xmlns:a16="http://schemas.microsoft.com/office/drawing/2014/main" id="{C1175B46-5181-97B4-C025-EAA12B7789AC}"/>
              </a:ext>
            </a:extLst>
          </p:cNvPr>
          <p:cNvPicPr>
            <a:picLocks noChangeAspect="1"/>
          </p:cNvPicPr>
          <p:nvPr/>
        </p:nvPicPr>
        <p:blipFill>
          <a:blip r:embed="rId4"/>
          <a:srcRect/>
          <a:stretch/>
        </p:blipFill>
        <p:spPr>
          <a:xfrm>
            <a:off x="6459468" y="2739739"/>
            <a:ext cx="2410212" cy="160680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753241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4332"/>
          </a:solidFill>
          <a:ln w="12700">
            <a:solidFill>
              <a:srgbClr val="1B4332"/>
            </a:solidFill>
            <a:prstDash val="solid"/>
          </a:ln>
        </p:spPr>
      </p:sp>
      <p:sp>
        <p:nvSpPr>
          <p:cNvPr id="3" name="Shape 1"/>
          <p:cNvSpPr/>
          <p:nvPr/>
        </p:nvSpPr>
        <p:spPr>
          <a:xfrm>
            <a:off x="0" y="685800"/>
            <a:ext cx="9144000" cy="45720"/>
          </a:xfrm>
          <a:prstGeom prst="rect">
            <a:avLst/>
          </a:prstGeom>
          <a:solidFill>
            <a:srgbClr val="74C69D"/>
          </a:solidFill>
          <a:ln w="12700">
            <a:solidFill>
              <a:srgbClr val="74C69D"/>
            </a:solidFill>
            <a:prstDash val="solid"/>
          </a:ln>
        </p:spPr>
      </p:sp>
      <p:sp>
        <p:nvSpPr>
          <p:cNvPr id="4" name="Text 2"/>
          <p:cNvSpPr/>
          <p:nvPr/>
        </p:nvSpPr>
        <p:spPr>
          <a:xfrm>
            <a:off x="274320" y="0"/>
            <a:ext cx="8595360" cy="685800"/>
          </a:xfrm>
          <a:prstGeom prst="rect">
            <a:avLst/>
          </a:prstGeom>
          <a:noFill/>
          <a:ln/>
        </p:spPr>
        <p:txBody>
          <a:bodyPr wrap="square" lIns="0" tIns="0" rIns="0" bIns="0" rtlCol="0" anchor="ctr"/>
          <a:lstStyle/>
          <a:p>
            <a:r>
              <a:rPr lang="en-US" sz="2000" b="1" dirty="0">
                <a:solidFill>
                  <a:srgbClr val="FFFFFF"/>
                </a:solidFill>
                <a:latin typeface="Calibri" pitchFamily="34" charset="0"/>
                <a:ea typeface="Calibri" pitchFamily="34" charset="-122"/>
                <a:cs typeface="Calibri" pitchFamily="34" charset="-120"/>
              </a:rPr>
              <a:t>Nguồn </a:t>
            </a:r>
            <a:r>
              <a:rPr lang="en-US" sz="2000" b="1" dirty="0" err="1">
                <a:solidFill>
                  <a:srgbClr val="FFFFFF"/>
                </a:solidFill>
                <a:latin typeface="Calibri" pitchFamily="34" charset="0"/>
                <a:ea typeface="Calibri" pitchFamily="34" charset="-122"/>
                <a:cs typeface="Calibri" pitchFamily="34" charset="-120"/>
              </a:rPr>
              <a:t>Dữ</a:t>
            </a:r>
            <a:r>
              <a:rPr lang="en-US" sz="2000" b="1" dirty="0">
                <a:solidFill>
                  <a:srgbClr val="FFFFFF"/>
                </a:solidFill>
                <a:latin typeface="Calibri" pitchFamily="34" charset="0"/>
                <a:ea typeface="Calibri" pitchFamily="34" charset="-122"/>
                <a:cs typeface="Calibri" pitchFamily="34" charset="-120"/>
              </a:rPr>
              <a:t> Liệu: Kaggle Severity-Based Rice Disease Classification</a:t>
            </a:r>
            <a:endParaRPr lang="en-US" sz="2000" dirty="0"/>
          </a:p>
        </p:txBody>
      </p:sp>
      <p:sp>
        <p:nvSpPr>
          <p:cNvPr id="5" name="Shape 3"/>
          <p:cNvSpPr/>
          <p:nvPr/>
        </p:nvSpPr>
        <p:spPr>
          <a:xfrm>
            <a:off x="0" y="4869180"/>
            <a:ext cx="9144000" cy="274320"/>
          </a:xfrm>
          <a:prstGeom prst="rect">
            <a:avLst/>
          </a:prstGeom>
          <a:solidFill>
            <a:srgbClr val="D8F3DC"/>
          </a:solidFill>
          <a:ln w="12700">
            <a:solidFill>
              <a:srgbClr val="D8F3DC"/>
            </a:solidFill>
            <a:prstDash val="solid"/>
          </a:ln>
        </p:spPr>
      </p:sp>
      <p:sp>
        <p:nvSpPr>
          <p:cNvPr id="6" name="Text 4"/>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sp>
        <p:nvSpPr>
          <p:cNvPr id="7" name="Shape 5"/>
          <p:cNvSpPr/>
          <p:nvPr/>
        </p:nvSpPr>
        <p:spPr>
          <a:xfrm>
            <a:off x="228600" y="868680"/>
            <a:ext cx="4754880" cy="594360"/>
          </a:xfrm>
          <a:prstGeom prst="rect">
            <a:avLst/>
          </a:prstGeom>
          <a:solidFill>
            <a:srgbClr val="D8F3DC"/>
          </a:solidFill>
          <a:ln w="10160">
            <a:solidFill>
              <a:srgbClr val="74C69D"/>
            </a:solidFill>
            <a:prstDash val="solid"/>
          </a:ln>
        </p:spPr>
      </p:sp>
      <p:sp>
        <p:nvSpPr>
          <p:cNvPr id="8" name="Text 6"/>
          <p:cNvSpPr/>
          <p:nvPr/>
        </p:nvSpPr>
        <p:spPr>
          <a:xfrm>
            <a:off x="320040" y="932688"/>
            <a:ext cx="1463040" cy="457200"/>
          </a:xfrm>
          <a:prstGeom prst="rect">
            <a:avLst/>
          </a:prstGeom>
          <a:noFill/>
          <a:ln/>
        </p:spPr>
        <p:txBody>
          <a:bodyPr wrap="square" rtlCol="0" anchor="ctr"/>
          <a:lstStyle/>
          <a:p>
            <a:pPr marL="0" indent="0">
              <a:buNone/>
            </a:pPr>
            <a:r>
              <a:rPr lang="en-US" sz="1050" b="1" dirty="0">
                <a:solidFill>
                  <a:srgbClr val="1B4332"/>
                </a:solidFill>
                <a:latin typeface="Calibri" pitchFamily="34" charset="0"/>
                <a:ea typeface="Calibri" pitchFamily="34" charset="-122"/>
                <a:cs typeface="Calibri" pitchFamily="34" charset="-120"/>
              </a:rPr>
              <a:t>🗂  Tên Dataset:</a:t>
            </a:r>
            <a:endParaRPr lang="en-US" sz="1050" dirty="0"/>
          </a:p>
        </p:txBody>
      </p:sp>
      <p:sp>
        <p:nvSpPr>
          <p:cNvPr id="9" name="Text 7"/>
          <p:cNvSpPr/>
          <p:nvPr/>
        </p:nvSpPr>
        <p:spPr>
          <a:xfrm>
            <a:off x="1783080" y="932688"/>
            <a:ext cx="3108960" cy="457200"/>
          </a:xfrm>
          <a:prstGeom prst="rect">
            <a:avLst/>
          </a:prstGeom>
          <a:noFill/>
          <a:ln/>
        </p:spPr>
        <p:txBody>
          <a:bodyPr wrap="square" rtlCol="0" anchor="ctr"/>
          <a:lstStyle/>
          <a:p>
            <a:pPr marL="0" indent="0">
              <a:buNone/>
            </a:pPr>
            <a:r>
              <a:rPr lang="en-US" sz="1050" dirty="0">
                <a:solidFill>
                  <a:srgbClr val="1A1A2E"/>
                </a:solidFill>
                <a:latin typeface="Calibri" pitchFamily="34" charset="0"/>
                <a:ea typeface="Calibri" pitchFamily="34" charset="-122"/>
                <a:cs typeface="Calibri" pitchFamily="34" charset="-120"/>
              </a:rPr>
              <a:t>Severity-Based Rice Leaf Diseases</a:t>
            </a:r>
            <a:endParaRPr lang="en-US" sz="1050" dirty="0"/>
          </a:p>
        </p:txBody>
      </p:sp>
      <p:sp>
        <p:nvSpPr>
          <p:cNvPr id="10" name="Shape 8"/>
          <p:cNvSpPr/>
          <p:nvPr/>
        </p:nvSpPr>
        <p:spPr>
          <a:xfrm>
            <a:off x="228600" y="1581912"/>
            <a:ext cx="4754880" cy="594360"/>
          </a:xfrm>
          <a:prstGeom prst="rect">
            <a:avLst/>
          </a:prstGeom>
          <a:solidFill>
            <a:srgbClr val="F8F9FA"/>
          </a:solidFill>
          <a:ln w="10160">
            <a:solidFill>
              <a:srgbClr val="74C69D"/>
            </a:solidFill>
            <a:prstDash val="solid"/>
          </a:ln>
        </p:spPr>
      </p:sp>
      <p:sp>
        <p:nvSpPr>
          <p:cNvPr id="11" name="Text 9"/>
          <p:cNvSpPr/>
          <p:nvPr/>
        </p:nvSpPr>
        <p:spPr>
          <a:xfrm>
            <a:off x="320040" y="1645920"/>
            <a:ext cx="1463040" cy="457200"/>
          </a:xfrm>
          <a:prstGeom prst="rect">
            <a:avLst/>
          </a:prstGeom>
          <a:noFill/>
          <a:ln/>
        </p:spPr>
        <p:txBody>
          <a:bodyPr wrap="square" rtlCol="0" anchor="ctr"/>
          <a:lstStyle/>
          <a:p>
            <a:pPr marL="0" indent="0">
              <a:buNone/>
            </a:pPr>
            <a:r>
              <a:rPr lang="en-US" sz="1050" b="1" dirty="0">
                <a:solidFill>
                  <a:srgbClr val="1B4332"/>
                </a:solidFill>
                <a:latin typeface="Calibri" pitchFamily="34" charset="0"/>
                <a:ea typeface="Calibri" pitchFamily="34" charset="-122"/>
                <a:cs typeface="Calibri" pitchFamily="34" charset="-120"/>
              </a:rPr>
              <a:t>🌾  Đối tượng:</a:t>
            </a:r>
            <a:endParaRPr lang="en-US" sz="1050" dirty="0"/>
          </a:p>
        </p:txBody>
      </p:sp>
      <p:sp>
        <p:nvSpPr>
          <p:cNvPr id="12" name="Text 10"/>
          <p:cNvSpPr/>
          <p:nvPr/>
        </p:nvSpPr>
        <p:spPr>
          <a:xfrm>
            <a:off x="2188660" y="1645920"/>
            <a:ext cx="2703379" cy="457200"/>
          </a:xfrm>
          <a:prstGeom prst="rect">
            <a:avLst/>
          </a:prstGeom>
          <a:noFill/>
          <a:ln/>
        </p:spPr>
        <p:txBody>
          <a:bodyPr wrap="square" rtlCol="0" anchor="ctr"/>
          <a:lstStyle/>
          <a:p>
            <a:pPr marL="0" indent="0">
              <a:buNone/>
            </a:pPr>
            <a:r>
              <a:rPr lang="en-US" sz="1050" dirty="0">
                <a:solidFill>
                  <a:srgbClr val="1A1A2E"/>
                </a:solidFill>
                <a:latin typeface="Calibri" pitchFamily="34" charset="0"/>
                <a:ea typeface="Calibri" pitchFamily="34" charset="-122"/>
                <a:cs typeface="Calibri" pitchFamily="34" charset="-120"/>
              </a:rPr>
              <a:t>Lúa (Rice)</a:t>
            </a:r>
            <a:endParaRPr lang="en-US" sz="1050" dirty="0"/>
          </a:p>
        </p:txBody>
      </p:sp>
      <p:sp>
        <p:nvSpPr>
          <p:cNvPr id="13" name="Shape 11"/>
          <p:cNvSpPr/>
          <p:nvPr/>
        </p:nvSpPr>
        <p:spPr>
          <a:xfrm>
            <a:off x="228600" y="2295144"/>
            <a:ext cx="4754880" cy="594360"/>
          </a:xfrm>
          <a:prstGeom prst="rect">
            <a:avLst/>
          </a:prstGeom>
          <a:solidFill>
            <a:srgbClr val="D8F3DC"/>
          </a:solidFill>
          <a:ln w="10160">
            <a:solidFill>
              <a:srgbClr val="74C69D"/>
            </a:solidFill>
            <a:prstDash val="solid"/>
          </a:ln>
        </p:spPr>
      </p:sp>
      <p:sp>
        <p:nvSpPr>
          <p:cNvPr id="14" name="Text 12"/>
          <p:cNvSpPr/>
          <p:nvPr/>
        </p:nvSpPr>
        <p:spPr>
          <a:xfrm>
            <a:off x="320040" y="2359152"/>
            <a:ext cx="1463040" cy="457200"/>
          </a:xfrm>
          <a:prstGeom prst="rect">
            <a:avLst/>
          </a:prstGeom>
          <a:noFill/>
          <a:ln/>
        </p:spPr>
        <p:txBody>
          <a:bodyPr wrap="square" rtlCol="0" anchor="ctr"/>
          <a:lstStyle/>
          <a:p>
            <a:pPr marL="0" indent="0">
              <a:buNone/>
            </a:pPr>
            <a:r>
              <a:rPr lang="en-US" sz="1050" b="1" dirty="0">
                <a:solidFill>
                  <a:srgbClr val="1B4332"/>
                </a:solidFill>
                <a:latin typeface="Calibri" pitchFamily="34" charset="0"/>
                <a:ea typeface="Calibri" pitchFamily="34" charset="-122"/>
                <a:cs typeface="Calibri" pitchFamily="34" charset="-120"/>
              </a:rPr>
              <a:t>📸  Số lượng lớp:</a:t>
            </a:r>
            <a:endParaRPr lang="en-US" sz="1050" dirty="0"/>
          </a:p>
        </p:txBody>
      </p:sp>
      <p:sp>
        <p:nvSpPr>
          <p:cNvPr id="15" name="Text 13"/>
          <p:cNvSpPr/>
          <p:nvPr/>
        </p:nvSpPr>
        <p:spPr>
          <a:xfrm>
            <a:off x="2247654" y="2359152"/>
            <a:ext cx="2644386" cy="457200"/>
          </a:xfrm>
          <a:prstGeom prst="rect">
            <a:avLst/>
          </a:prstGeom>
          <a:noFill/>
          <a:ln/>
        </p:spPr>
        <p:txBody>
          <a:bodyPr wrap="square" rtlCol="0" anchor="ctr"/>
          <a:lstStyle/>
          <a:p>
            <a:pPr marL="0" indent="0">
              <a:buNone/>
            </a:pPr>
            <a:r>
              <a:rPr lang="en-US" sz="1050" dirty="0">
                <a:solidFill>
                  <a:srgbClr val="1A1A2E"/>
                </a:solidFill>
                <a:latin typeface="Calibri" pitchFamily="34" charset="0"/>
                <a:ea typeface="Calibri" pitchFamily="34" charset="-122"/>
                <a:cs typeface="Calibri" pitchFamily="34" charset="-120"/>
              </a:rPr>
              <a:t>9 </a:t>
            </a:r>
            <a:r>
              <a:rPr lang="en-US" sz="1050" dirty="0" err="1">
                <a:solidFill>
                  <a:srgbClr val="1A1A2E"/>
                </a:solidFill>
                <a:latin typeface="Calibri" pitchFamily="34" charset="0"/>
                <a:ea typeface="Calibri" pitchFamily="34" charset="-122"/>
                <a:cs typeface="Calibri" pitchFamily="34" charset="-120"/>
              </a:rPr>
              <a:t>lớp</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nhãn</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phân</a:t>
            </a:r>
            <a:r>
              <a:rPr lang="en-US" sz="1050" dirty="0">
                <a:solidFill>
                  <a:srgbClr val="1A1A2E"/>
                </a:solidFill>
                <a:latin typeface="Calibri" pitchFamily="34" charset="0"/>
                <a:ea typeface="Calibri" pitchFamily="34" charset="-122"/>
                <a:cs typeface="Calibri" pitchFamily="34" charset="-120"/>
              </a:rPr>
              <a:t> </a:t>
            </a:r>
            <a:r>
              <a:rPr lang="en-US" sz="1050" dirty="0" err="1">
                <a:solidFill>
                  <a:srgbClr val="1A1A2E"/>
                </a:solidFill>
                <a:latin typeface="Calibri" pitchFamily="34" charset="0"/>
                <a:ea typeface="Calibri" pitchFamily="34" charset="-122"/>
                <a:cs typeface="Calibri" pitchFamily="34" charset="-120"/>
              </a:rPr>
              <a:t>loại</a:t>
            </a:r>
            <a:endParaRPr lang="en-US" sz="1050" dirty="0"/>
          </a:p>
        </p:txBody>
      </p:sp>
      <p:sp>
        <p:nvSpPr>
          <p:cNvPr id="16" name="Shape 14"/>
          <p:cNvSpPr/>
          <p:nvPr/>
        </p:nvSpPr>
        <p:spPr>
          <a:xfrm>
            <a:off x="228600" y="3008376"/>
            <a:ext cx="4754880" cy="594360"/>
          </a:xfrm>
          <a:prstGeom prst="rect">
            <a:avLst/>
          </a:prstGeom>
          <a:solidFill>
            <a:srgbClr val="F8F9FA"/>
          </a:solidFill>
          <a:ln w="10160">
            <a:solidFill>
              <a:srgbClr val="74C69D"/>
            </a:solidFill>
            <a:prstDash val="solid"/>
          </a:ln>
        </p:spPr>
      </p:sp>
      <p:sp>
        <p:nvSpPr>
          <p:cNvPr id="17" name="Text 15"/>
          <p:cNvSpPr/>
          <p:nvPr/>
        </p:nvSpPr>
        <p:spPr>
          <a:xfrm>
            <a:off x="320040" y="3072384"/>
            <a:ext cx="1463040" cy="457200"/>
          </a:xfrm>
          <a:prstGeom prst="rect">
            <a:avLst/>
          </a:prstGeom>
          <a:noFill/>
          <a:ln/>
        </p:spPr>
        <p:txBody>
          <a:bodyPr wrap="square" rtlCol="0" anchor="ctr"/>
          <a:lstStyle/>
          <a:p>
            <a:pPr marL="0" indent="0">
              <a:buNone/>
            </a:pPr>
            <a:r>
              <a:rPr lang="en-US" sz="1050" b="1" dirty="0">
                <a:solidFill>
                  <a:srgbClr val="1B4332"/>
                </a:solidFill>
                <a:latin typeface="Calibri" pitchFamily="34" charset="0"/>
                <a:ea typeface="Calibri" pitchFamily="34" charset="-122"/>
                <a:cs typeface="Calibri" pitchFamily="34" charset="-120"/>
              </a:rPr>
              <a:t>🤖  Mô hình CNN:</a:t>
            </a:r>
            <a:endParaRPr lang="en-US" sz="1050" dirty="0"/>
          </a:p>
        </p:txBody>
      </p:sp>
      <p:sp>
        <p:nvSpPr>
          <p:cNvPr id="18" name="Text 16"/>
          <p:cNvSpPr/>
          <p:nvPr/>
        </p:nvSpPr>
        <p:spPr>
          <a:xfrm>
            <a:off x="2247654" y="3072384"/>
            <a:ext cx="2644386" cy="457200"/>
          </a:xfrm>
          <a:prstGeom prst="rect">
            <a:avLst/>
          </a:prstGeom>
          <a:noFill/>
          <a:ln/>
        </p:spPr>
        <p:txBody>
          <a:bodyPr wrap="square" rtlCol="0" anchor="ctr"/>
          <a:lstStyle/>
          <a:p>
            <a:pPr marL="0" indent="0">
              <a:buNone/>
            </a:pPr>
            <a:r>
              <a:rPr lang="en-US" sz="1050" dirty="0">
                <a:solidFill>
                  <a:srgbClr val="1A1A2E"/>
                </a:solidFill>
                <a:latin typeface="Calibri" pitchFamily="34" charset="0"/>
                <a:ea typeface="Calibri" pitchFamily="34" charset="-122"/>
                <a:cs typeface="Calibri" pitchFamily="34" charset="-120"/>
              </a:rPr>
              <a:t>EfficientNet-B0 (Transfer Learning)</a:t>
            </a:r>
            <a:endParaRPr lang="en-US" sz="1050" dirty="0"/>
          </a:p>
        </p:txBody>
      </p:sp>
      <p:sp>
        <p:nvSpPr>
          <p:cNvPr id="19" name="Shape 17"/>
          <p:cNvSpPr/>
          <p:nvPr/>
        </p:nvSpPr>
        <p:spPr>
          <a:xfrm>
            <a:off x="228600" y="3721608"/>
            <a:ext cx="4754880" cy="594360"/>
          </a:xfrm>
          <a:prstGeom prst="rect">
            <a:avLst/>
          </a:prstGeom>
          <a:solidFill>
            <a:srgbClr val="D8F3DC"/>
          </a:solidFill>
          <a:ln w="10160">
            <a:solidFill>
              <a:srgbClr val="74C69D"/>
            </a:solidFill>
            <a:prstDash val="solid"/>
          </a:ln>
        </p:spPr>
      </p:sp>
      <p:sp>
        <p:nvSpPr>
          <p:cNvPr id="20" name="Text 18"/>
          <p:cNvSpPr/>
          <p:nvPr/>
        </p:nvSpPr>
        <p:spPr>
          <a:xfrm>
            <a:off x="320039" y="3785616"/>
            <a:ext cx="1511711" cy="457200"/>
          </a:xfrm>
          <a:prstGeom prst="rect">
            <a:avLst/>
          </a:prstGeom>
          <a:noFill/>
          <a:ln/>
        </p:spPr>
        <p:txBody>
          <a:bodyPr wrap="square" rtlCol="0" anchor="ctr"/>
          <a:lstStyle/>
          <a:p>
            <a:pPr marL="0" indent="0">
              <a:buNone/>
            </a:pPr>
            <a:r>
              <a:rPr lang="en-US" sz="1050" b="1" dirty="0">
                <a:solidFill>
                  <a:srgbClr val="1B4332"/>
                </a:solidFill>
                <a:latin typeface="Calibri" pitchFamily="34" charset="0"/>
                <a:ea typeface="Calibri" pitchFamily="34" charset="-122"/>
                <a:cs typeface="Calibri" pitchFamily="34" charset="-120"/>
              </a:rPr>
              <a:t>📡  Dữ liệu </a:t>
            </a:r>
            <a:r>
              <a:rPr lang="en-US" sz="1050" b="1" dirty="0" err="1">
                <a:solidFill>
                  <a:srgbClr val="1B4332"/>
                </a:solidFill>
                <a:latin typeface="Calibri" pitchFamily="34" charset="0"/>
                <a:ea typeface="Calibri" pitchFamily="34" charset="-122"/>
                <a:cs typeface="Calibri" pitchFamily="34" charset="-120"/>
              </a:rPr>
              <a:t>môi</a:t>
            </a:r>
            <a:r>
              <a:rPr lang="en-US" sz="1050" b="1" dirty="0">
                <a:solidFill>
                  <a:srgbClr val="1B4332"/>
                </a:solidFill>
                <a:latin typeface="Calibri" pitchFamily="34" charset="0"/>
                <a:ea typeface="Calibri" pitchFamily="34" charset="-122"/>
                <a:cs typeface="Calibri" pitchFamily="34" charset="-120"/>
              </a:rPr>
              <a:t> </a:t>
            </a:r>
            <a:r>
              <a:rPr lang="en-US" sz="1050" b="1" dirty="0" err="1">
                <a:solidFill>
                  <a:srgbClr val="1B4332"/>
                </a:solidFill>
                <a:latin typeface="Calibri" pitchFamily="34" charset="0"/>
                <a:ea typeface="Calibri" pitchFamily="34" charset="-122"/>
                <a:cs typeface="Calibri" pitchFamily="34" charset="-120"/>
              </a:rPr>
              <a:t>trường</a:t>
            </a:r>
            <a:r>
              <a:rPr lang="en-US" sz="1050" b="1" dirty="0">
                <a:solidFill>
                  <a:srgbClr val="1B4332"/>
                </a:solidFill>
                <a:latin typeface="Calibri" pitchFamily="34" charset="0"/>
                <a:ea typeface="Calibri" pitchFamily="34" charset="-122"/>
                <a:cs typeface="Calibri" pitchFamily="34" charset="-120"/>
              </a:rPr>
              <a:t> </a:t>
            </a:r>
            <a:r>
              <a:rPr lang="en-US" sz="1050" b="1" dirty="0" err="1">
                <a:solidFill>
                  <a:srgbClr val="1B4332"/>
                </a:solidFill>
                <a:latin typeface="Calibri" pitchFamily="34" charset="0"/>
                <a:ea typeface="Calibri" pitchFamily="34" charset="-122"/>
                <a:cs typeface="Calibri" pitchFamily="34" charset="-120"/>
              </a:rPr>
              <a:t>bổ</a:t>
            </a:r>
            <a:r>
              <a:rPr lang="en-US" sz="1050" b="1" dirty="0">
                <a:solidFill>
                  <a:srgbClr val="1B4332"/>
                </a:solidFill>
                <a:latin typeface="Calibri" pitchFamily="34" charset="0"/>
                <a:ea typeface="Calibri" pitchFamily="34" charset="-122"/>
                <a:cs typeface="Calibri" pitchFamily="34" charset="-120"/>
              </a:rPr>
              <a:t> sung </a:t>
            </a:r>
            <a:r>
              <a:rPr lang="en-US" sz="1050" b="1" dirty="0" err="1">
                <a:solidFill>
                  <a:srgbClr val="1B4332"/>
                </a:solidFill>
                <a:latin typeface="Calibri" pitchFamily="34" charset="0"/>
                <a:ea typeface="Calibri" pitchFamily="34" charset="-122"/>
                <a:cs typeface="Calibri" pitchFamily="34" charset="-120"/>
              </a:rPr>
              <a:t>cho</a:t>
            </a:r>
            <a:r>
              <a:rPr lang="en-US" sz="1050" b="1" dirty="0">
                <a:solidFill>
                  <a:srgbClr val="1B4332"/>
                </a:solidFill>
                <a:latin typeface="Calibri" pitchFamily="34" charset="0"/>
                <a:ea typeface="Calibri" pitchFamily="34" charset="-122"/>
                <a:cs typeface="Calibri" pitchFamily="34" charset="-120"/>
              </a:rPr>
              <a:t> Fuzzy Inference</a:t>
            </a:r>
            <a:endParaRPr lang="en-US" sz="1050" dirty="0"/>
          </a:p>
        </p:txBody>
      </p:sp>
      <p:sp>
        <p:nvSpPr>
          <p:cNvPr id="21" name="Text 19"/>
          <p:cNvSpPr/>
          <p:nvPr/>
        </p:nvSpPr>
        <p:spPr>
          <a:xfrm>
            <a:off x="2336144" y="3785616"/>
            <a:ext cx="2555895" cy="457200"/>
          </a:xfrm>
          <a:prstGeom prst="rect">
            <a:avLst/>
          </a:prstGeom>
          <a:noFill/>
          <a:ln/>
        </p:spPr>
        <p:txBody>
          <a:bodyPr wrap="square" rtlCol="0" anchor="ctr"/>
          <a:lstStyle/>
          <a:p>
            <a:pPr marL="0" indent="0">
              <a:buNone/>
            </a:pPr>
            <a:r>
              <a:rPr lang="en-US" sz="1050" dirty="0">
                <a:solidFill>
                  <a:srgbClr val="1A1A2E"/>
                </a:solidFill>
                <a:latin typeface="Calibri" pitchFamily="34" charset="0"/>
                <a:ea typeface="Calibri" pitchFamily="34" charset="-122"/>
                <a:cs typeface="Calibri" pitchFamily="34" charset="-120"/>
              </a:rPr>
              <a:t>Nhiệt độ (°C), Độ </a:t>
            </a:r>
            <a:r>
              <a:rPr lang="en-US" sz="1050" dirty="0" err="1">
                <a:solidFill>
                  <a:srgbClr val="1A1A2E"/>
                </a:solidFill>
                <a:latin typeface="Calibri" pitchFamily="34" charset="0"/>
                <a:ea typeface="Calibri" pitchFamily="34" charset="-122"/>
                <a:cs typeface="Calibri" pitchFamily="34" charset="-120"/>
              </a:rPr>
              <a:t>ẩm</a:t>
            </a:r>
            <a:r>
              <a:rPr lang="en-US" sz="1050" dirty="0">
                <a:solidFill>
                  <a:srgbClr val="1A1A2E"/>
                </a:solidFill>
                <a:latin typeface="Calibri" pitchFamily="34" charset="0"/>
                <a:ea typeface="Calibri" pitchFamily="34" charset="-122"/>
                <a:cs typeface="Calibri" pitchFamily="34" charset="-120"/>
              </a:rPr>
              <a:t> (%)</a:t>
            </a:r>
            <a:endParaRPr lang="en-US" sz="1050" dirty="0"/>
          </a:p>
        </p:txBody>
      </p:sp>
      <p:sp>
        <p:nvSpPr>
          <p:cNvPr id="22" name="Shape 20"/>
          <p:cNvSpPr/>
          <p:nvPr/>
        </p:nvSpPr>
        <p:spPr>
          <a:xfrm>
            <a:off x="5257800" y="868680"/>
            <a:ext cx="3611880" cy="411480"/>
          </a:xfrm>
          <a:prstGeom prst="rect">
            <a:avLst/>
          </a:prstGeom>
          <a:solidFill>
            <a:srgbClr val="1B4332"/>
          </a:solidFill>
          <a:ln w="12700">
            <a:solidFill>
              <a:srgbClr val="1B4332"/>
            </a:solidFill>
            <a:prstDash val="solid"/>
          </a:ln>
        </p:spPr>
      </p:sp>
      <p:sp>
        <p:nvSpPr>
          <p:cNvPr id="23" name="Text 21"/>
          <p:cNvSpPr/>
          <p:nvPr/>
        </p:nvSpPr>
        <p:spPr>
          <a:xfrm>
            <a:off x="5257800" y="868680"/>
            <a:ext cx="3611880" cy="411480"/>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9 </a:t>
            </a:r>
            <a:r>
              <a:rPr lang="en-US" sz="1200" b="1" dirty="0" err="1">
                <a:solidFill>
                  <a:srgbClr val="FFFFFF"/>
                </a:solidFill>
                <a:latin typeface="Calibri" pitchFamily="34" charset="0"/>
                <a:ea typeface="Calibri" pitchFamily="34" charset="-122"/>
                <a:cs typeface="Calibri" pitchFamily="34" charset="-120"/>
              </a:rPr>
              <a:t>nhãn</a:t>
            </a:r>
            <a:r>
              <a:rPr lang="en-US" sz="1200" b="1" dirty="0">
                <a:solidFill>
                  <a:srgbClr val="FFFFFF"/>
                </a:solidFill>
                <a:latin typeface="Calibri" pitchFamily="34" charset="0"/>
                <a:ea typeface="Calibri" pitchFamily="34" charset="-122"/>
                <a:cs typeface="Calibri" pitchFamily="34" charset="-120"/>
              </a:rPr>
              <a:t> </a:t>
            </a:r>
            <a:r>
              <a:rPr lang="en-US" sz="1200" b="1" dirty="0" err="1">
                <a:solidFill>
                  <a:srgbClr val="FFFFFF"/>
                </a:solidFill>
                <a:latin typeface="Calibri" pitchFamily="34" charset="0"/>
                <a:ea typeface="Calibri" pitchFamily="34" charset="-122"/>
                <a:cs typeface="Calibri" pitchFamily="34" charset="-120"/>
              </a:rPr>
              <a:t>phân</a:t>
            </a:r>
            <a:r>
              <a:rPr lang="en-US" sz="1200" b="1" dirty="0">
                <a:solidFill>
                  <a:srgbClr val="FFFFFF"/>
                </a:solidFill>
                <a:latin typeface="Calibri" pitchFamily="34" charset="0"/>
                <a:ea typeface="Calibri" pitchFamily="34" charset="-122"/>
                <a:cs typeface="Calibri" pitchFamily="34" charset="-120"/>
              </a:rPr>
              <a:t> </a:t>
            </a:r>
            <a:r>
              <a:rPr lang="en-US" sz="1200" b="1" dirty="0" err="1">
                <a:solidFill>
                  <a:srgbClr val="FFFFFF"/>
                </a:solidFill>
                <a:latin typeface="Calibri" pitchFamily="34" charset="0"/>
                <a:ea typeface="Calibri" pitchFamily="34" charset="-122"/>
                <a:cs typeface="Calibri" pitchFamily="34" charset="-120"/>
              </a:rPr>
              <a:t>loại</a:t>
            </a:r>
            <a:r>
              <a:rPr lang="en-US" sz="1200" b="1" dirty="0">
                <a:solidFill>
                  <a:srgbClr val="FFFFFF"/>
                </a:solidFill>
                <a:latin typeface="Calibri" pitchFamily="34" charset="0"/>
                <a:ea typeface="Calibri" pitchFamily="34" charset="-122"/>
                <a:cs typeface="Calibri" pitchFamily="34" charset="-120"/>
              </a:rPr>
              <a:t> (4 </a:t>
            </a:r>
            <a:r>
              <a:rPr lang="en-US" sz="1200" b="1" dirty="0" err="1">
                <a:solidFill>
                  <a:srgbClr val="FFFFFF"/>
                </a:solidFill>
                <a:latin typeface="Calibri" pitchFamily="34" charset="0"/>
                <a:ea typeface="Calibri" pitchFamily="34" charset="-122"/>
                <a:cs typeface="Calibri" pitchFamily="34" charset="-120"/>
              </a:rPr>
              <a:t>bệnh</a:t>
            </a:r>
            <a:r>
              <a:rPr lang="en-US" sz="1200" b="1" dirty="0">
                <a:solidFill>
                  <a:srgbClr val="FFFFFF"/>
                </a:solidFill>
                <a:latin typeface="Calibri" pitchFamily="34" charset="0"/>
                <a:ea typeface="Calibri" pitchFamily="34" charset="-122"/>
                <a:cs typeface="Calibri" pitchFamily="34" charset="-120"/>
              </a:rPr>
              <a:t> </a:t>
            </a:r>
            <a:r>
              <a:rPr lang="en-US" sz="1200" b="1" dirty="0" err="1">
                <a:solidFill>
                  <a:srgbClr val="FFFFFF"/>
                </a:solidFill>
                <a:latin typeface="Calibri" pitchFamily="34" charset="0"/>
                <a:ea typeface="Calibri" pitchFamily="34" charset="-122"/>
                <a:cs typeface="Calibri" pitchFamily="34" charset="-120"/>
              </a:rPr>
              <a:t>chính</a:t>
            </a:r>
            <a:r>
              <a:rPr lang="en-US" sz="1200" b="1" dirty="0">
                <a:solidFill>
                  <a:srgbClr val="FFFFFF"/>
                </a:solidFill>
                <a:latin typeface="Calibri" pitchFamily="34" charset="0"/>
                <a:ea typeface="Calibri" pitchFamily="34" charset="-122"/>
                <a:cs typeface="Calibri" pitchFamily="34" charset="-120"/>
              </a:rPr>
              <a:t> </a:t>
            </a:r>
            <a:r>
              <a:rPr lang="en-US" sz="1200" b="1" dirty="0" err="1">
                <a:solidFill>
                  <a:srgbClr val="FFFFFF"/>
                </a:solidFill>
                <a:latin typeface="Calibri" pitchFamily="34" charset="0"/>
                <a:ea typeface="Calibri" pitchFamily="34" charset="-122"/>
                <a:cs typeface="Calibri" pitchFamily="34" charset="-120"/>
              </a:rPr>
              <a:t>nhẹ</a:t>
            </a:r>
            <a:r>
              <a:rPr lang="en-US" sz="1200" b="1" dirty="0">
                <a:solidFill>
                  <a:srgbClr val="FFFFFF"/>
                </a:solidFill>
                <a:latin typeface="Calibri" pitchFamily="34" charset="0"/>
                <a:ea typeface="Calibri" pitchFamily="34" charset="-122"/>
                <a:cs typeface="Calibri" pitchFamily="34" charset="-120"/>
              </a:rPr>
              <a:t>/</a:t>
            </a:r>
            <a:r>
              <a:rPr lang="en-US" sz="1200" b="1" dirty="0" err="1">
                <a:solidFill>
                  <a:srgbClr val="FFFFFF"/>
                </a:solidFill>
                <a:latin typeface="Calibri" pitchFamily="34" charset="0"/>
                <a:ea typeface="Calibri" pitchFamily="34" charset="-122"/>
                <a:cs typeface="Calibri" pitchFamily="34" charset="-120"/>
              </a:rPr>
              <a:t>nặng</a:t>
            </a: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Shape 22"/>
          <p:cNvSpPr/>
          <p:nvPr/>
        </p:nvSpPr>
        <p:spPr>
          <a:xfrm>
            <a:off x="5257800" y="1280160"/>
            <a:ext cx="3611880" cy="347472"/>
          </a:xfrm>
          <a:prstGeom prst="rect">
            <a:avLst/>
          </a:prstGeom>
          <a:solidFill>
            <a:srgbClr val="F1F8F4"/>
          </a:solidFill>
          <a:ln w="6350">
            <a:solidFill>
              <a:srgbClr val="DDDDDD"/>
            </a:solidFill>
            <a:prstDash val="solid"/>
          </a:ln>
        </p:spPr>
      </p:sp>
      <p:sp>
        <p:nvSpPr>
          <p:cNvPr id="25" name="Text 23"/>
          <p:cNvSpPr/>
          <p:nvPr/>
        </p:nvSpPr>
        <p:spPr>
          <a:xfrm>
            <a:off x="5349240" y="131673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Healthy – </a:t>
            </a:r>
            <a:r>
              <a:rPr lang="en-US" sz="1000" dirty="0" err="1">
                <a:solidFill>
                  <a:srgbClr val="1A1A2E"/>
                </a:solidFill>
                <a:latin typeface="Calibri" pitchFamily="34" charset="0"/>
                <a:ea typeface="Calibri" pitchFamily="34" charset="-122"/>
                <a:cs typeface="Calibri" pitchFamily="34" charset="-120"/>
              </a:rPr>
              <a:t>Khỏe</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mạnh</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bình</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thường</a:t>
            </a:r>
            <a:endParaRPr lang="en-US" sz="1000" dirty="0"/>
          </a:p>
        </p:txBody>
      </p:sp>
      <p:sp>
        <p:nvSpPr>
          <p:cNvPr id="26" name="Shape 24"/>
          <p:cNvSpPr/>
          <p:nvPr/>
        </p:nvSpPr>
        <p:spPr>
          <a:xfrm>
            <a:off x="5257800" y="1645920"/>
            <a:ext cx="3611880" cy="347472"/>
          </a:xfrm>
          <a:prstGeom prst="rect">
            <a:avLst/>
          </a:prstGeom>
          <a:solidFill>
            <a:srgbClr val="FFFFFF"/>
          </a:solidFill>
          <a:ln w="6350">
            <a:solidFill>
              <a:srgbClr val="DDDDDD"/>
            </a:solidFill>
            <a:prstDash val="solid"/>
          </a:ln>
        </p:spPr>
        <p:txBody>
          <a:bodyPr/>
          <a:lstStyle/>
          <a:p>
            <a:endParaRPr lang="en-US" dirty="0"/>
          </a:p>
        </p:txBody>
      </p:sp>
      <p:sp>
        <p:nvSpPr>
          <p:cNvPr id="27" name="Text 25"/>
          <p:cNvSpPr/>
          <p:nvPr/>
        </p:nvSpPr>
        <p:spPr>
          <a:xfrm>
            <a:off x="5349240" y="168249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Mild Blast  - </a:t>
            </a:r>
            <a:r>
              <a:rPr lang="en-US" sz="1000" dirty="0" err="1">
                <a:solidFill>
                  <a:srgbClr val="1A1A2E"/>
                </a:solidFill>
                <a:latin typeface="Calibri" pitchFamily="34" charset="0"/>
                <a:ea typeface="Calibri" pitchFamily="34" charset="-122"/>
                <a:cs typeface="Calibri" pitchFamily="34" charset="-120"/>
              </a:rPr>
              <a:t>Đạo</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ôn</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nhẹ</a:t>
            </a:r>
            <a:endParaRPr lang="en-US" sz="1000" dirty="0"/>
          </a:p>
        </p:txBody>
      </p:sp>
      <p:sp>
        <p:nvSpPr>
          <p:cNvPr id="28" name="Shape 26"/>
          <p:cNvSpPr/>
          <p:nvPr/>
        </p:nvSpPr>
        <p:spPr>
          <a:xfrm>
            <a:off x="5257800" y="2011680"/>
            <a:ext cx="3611880" cy="347472"/>
          </a:xfrm>
          <a:prstGeom prst="rect">
            <a:avLst/>
          </a:prstGeom>
          <a:solidFill>
            <a:srgbClr val="F1F8F4"/>
          </a:solidFill>
          <a:ln w="6350">
            <a:solidFill>
              <a:srgbClr val="DDDDDD"/>
            </a:solidFill>
            <a:prstDash val="solid"/>
          </a:ln>
        </p:spPr>
      </p:sp>
      <p:sp>
        <p:nvSpPr>
          <p:cNvPr id="29" name="Text 27"/>
          <p:cNvSpPr/>
          <p:nvPr/>
        </p:nvSpPr>
        <p:spPr>
          <a:xfrm>
            <a:off x="5349240" y="204825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Severe Blast – </a:t>
            </a:r>
            <a:r>
              <a:rPr lang="en-US" sz="1000" dirty="0" err="1">
                <a:solidFill>
                  <a:srgbClr val="1A1A2E"/>
                </a:solidFill>
                <a:latin typeface="Calibri" pitchFamily="34" charset="0"/>
                <a:ea typeface="Calibri" pitchFamily="34" charset="-122"/>
                <a:cs typeface="Calibri" pitchFamily="34" charset="-120"/>
              </a:rPr>
              <a:t>Đạo</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ôn</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nặng</a:t>
            </a:r>
            <a:endParaRPr lang="en-US" sz="1000" dirty="0"/>
          </a:p>
        </p:txBody>
      </p:sp>
      <p:sp>
        <p:nvSpPr>
          <p:cNvPr id="30" name="Shape 28"/>
          <p:cNvSpPr/>
          <p:nvPr/>
        </p:nvSpPr>
        <p:spPr>
          <a:xfrm>
            <a:off x="5257800" y="2377440"/>
            <a:ext cx="3611880" cy="347472"/>
          </a:xfrm>
          <a:prstGeom prst="rect">
            <a:avLst/>
          </a:prstGeom>
          <a:solidFill>
            <a:srgbClr val="FFFFFF"/>
          </a:solidFill>
          <a:ln w="6350">
            <a:solidFill>
              <a:srgbClr val="DDDDDD"/>
            </a:solidFill>
            <a:prstDash val="solid"/>
          </a:ln>
        </p:spPr>
      </p:sp>
      <p:sp>
        <p:nvSpPr>
          <p:cNvPr id="31" name="Text 29"/>
          <p:cNvSpPr/>
          <p:nvPr/>
        </p:nvSpPr>
        <p:spPr>
          <a:xfrm>
            <a:off x="5349240" y="241401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Mild Bacterial Blight – </a:t>
            </a:r>
            <a:r>
              <a:rPr lang="en-US" sz="1000" dirty="0" err="1">
                <a:solidFill>
                  <a:srgbClr val="1A1A2E"/>
                </a:solidFill>
                <a:latin typeface="Calibri" pitchFamily="34" charset="0"/>
                <a:ea typeface="Calibri" pitchFamily="34" charset="-122"/>
                <a:cs typeface="Calibri" pitchFamily="34" charset="-120"/>
              </a:rPr>
              <a:t>Bạc</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lá</a:t>
            </a:r>
            <a:endParaRPr lang="en-US" sz="1000" dirty="0"/>
          </a:p>
        </p:txBody>
      </p:sp>
      <p:sp>
        <p:nvSpPr>
          <p:cNvPr id="32" name="Shape 30"/>
          <p:cNvSpPr/>
          <p:nvPr/>
        </p:nvSpPr>
        <p:spPr>
          <a:xfrm>
            <a:off x="5257800" y="2743200"/>
            <a:ext cx="3611880" cy="347472"/>
          </a:xfrm>
          <a:prstGeom prst="rect">
            <a:avLst/>
          </a:prstGeom>
          <a:solidFill>
            <a:srgbClr val="F1F8F4"/>
          </a:solidFill>
          <a:ln w="6350">
            <a:solidFill>
              <a:srgbClr val="DDDDDD"/>
            </a:solidFill>
            <a:prstDash val="solid"/>
          </a:ln>
        </p:spPr>
      </p:sp>
      <p:sp>
        <p:nvSpPr>
          <p:cNvPr id="33" name="Text 31"/>
          <p:cNvSpPr/>
          <p:nvPr/>
        </p:nvSpPr>
        <p:spPr>
          <a:xfrm>
            <a:off x="5349240" y="277977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Severe Bacterial Blight</a:t>
            </a:r>
            <a:endParaRPr lang="en-US" sz="1000" dirty="0"/>
          </a:p>
        </p:txBody>
      </p:sp>
      <p:sp>
        <p:nvSpPr>
          <p:cNvPr id="34" name="Shape 32"/>
          <p:cNvSpPr/>
          <p:nvPr/>
        </p:nvSpPr>
        <p:spPr>
          <a:xfrm>
            <a:off x="5257800" y="3108960"/>
            <a:ext cx="3611880" cy="347472"/>
          </a:xfrm>
          <a:prstGeom prst="rect">
            <a:avLst/>
          </a:prstGeom>
          <a:solidFill>
            <a:srgbClr val="FFFFFF"/>
          </a:solidFill>
          <a:ln w="6350">
            <a:solidFill>
              <a:srgbClr val="DDDDDD"/>
            </a:solidFill>
            <a:prstDash val="solid"/>
          </a:ln>
        </p:spPr>
      </p:sp>
      <p:sp>
        <p:nvSpPr>
          <p:cNvPr id="35" name="Text 33"/>
          <p:cNvSpPr/>
          <p:nvPr/>
        </p:nvSpPr>
        <p:spPr>
          <a:xfrm>
            <a:off x="5349240" y="314553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Mild </a:t>
            </a:r>
            <a:r>
              <a:rPr lang="en-US" sz="1000" dirty="0" err="1">
                <a:solidFill>
                  <a:srgbClr val="1A1A2E"/>
                </a:solidFill>
                <a:latin typeface="Calibri" pitchFamily="34" charset="0"/>
                <a:ea typeface="Calibri" pitchFamily="34" charset="-122"/>
                <a:cs typeface="Calibri" pitchFamily="34" charset="-120"/>
              </a:rPr>
              <a:t>Brownspot</a:t>
            </a:r>
            <a:r>
              <a:rPr lang="en-US" sz="1000" dirty="0">
                <a:solidFill>
                  <a:srgbClr val="1A1A2E"/>
                </a:solidFill>
                <a:latin typeface="Calibri" pitchFamily="34" charset="0"/>
                <a:ea typeface="Calibri" pitchFamily="34" charset="-122"/>
                <a:cs typeface="Calibri" pitchFamily="34" charset="-120"/>
              </a:rPr>
              <a:t> – </a:t>
            </a:r>
            <a:r>
              <a:rPr lang="en-US" sz="1000" dirty="0" err="1">
                <a:solidFill>
                  <a:srgbClr val="1A1A2E"/>
                </a:solidFill>
                <a:latin typeface="Calibri" pitchFamily="34" charset="0"/>
                <a:ea typeface="Calibri" pitchFamily="34" charset="-122"/>
                <a:cs typeface="Calibri" pitchFamily="34" charset="-120"/>
              </a:rPr>
              <a:t>Đốm</a:t>
            </a:r>
            <a:r>
              <a:rPr lang="en-US" sz="1000" dirty="0">
                <a:solidFill>
                  <a:srgbClr val="1A1A2E"/>
                </a:solidFill>
                <a:latin typeface="Calibri" pitchFamily="34" charset="0"/>
                <a:ea typeface="Calibri" pitchFamily="34" charset="-122"/>
                <a:cs typeface="Calibri" pitchFamily="34" charset="-120"/>
              </a:rPr>
              <a:t> </a:t>
            </a:r>
            <a:r>
              <a:rPr lang="en-US" sz="1000" dirty="0" err="1">
                <a:solidFill>
                  <a:srgbClr val="1A1A2E"/>
                </a:solidFill>
                <a:latin typeface="Calibri" pitchFamily="34" charset="0"/>
                <a:ea typeface="Calibri" pitchFamily="34" charset="-122"/>
                <a:cs typeface="Calibri" pitchFamily="34" charset="-120"/>
              </a:rPr>
              <a:t>nâu</a:t>
            </a:r>
            <a:endParaRPr lang="en-US" sz="1000" dirty="0"/>
          </a:p>
        </p:txBody>
      </p:sp>
      <p:sp>
        <p:nvSpPr>
          <p:cNvPr id="36" name="Shape 34"/>
          <p:cNvSpPr/>
          <p:nvPr/>
        </p:nvSpPr>
        <p:spPr>
          <a:xfrm>
            <a:off x="5257800" y="3474720"/>
            <a:ext cx="3611880" cy="347472"/>
          </a:xfrm>
          <a:prstGeom prst="rect">
            <a:avLst/>
          </a:prstGeom>
          <a:solidFill>
            <a:srgbClr val="F1F8F4"/>
          </a:solidFill>
          <a:ln w="6350">
            <a:solidFill>
              <a:srgbClr val="DDDDDD"/>
            </a:solidFill>
            <a:prstDash val="solid"/>
          </a:ln>
        </p:spPr>
      </p:sp>
      <p:sp>
        <p:nvSpPr>
          <p:cNvPr id="37" name="Text 35"/>
          <p:cNvSpPr/>
          <p:nvPr/>
        </p:nvSpPr>
        <p:spPr>
          <a:xfrm>
            <a:off x="5349240" y="351129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Severe Brownspot</a:t>
            </a:r>
            <a:endParaRPr lang="en-US" sz="1000" dirty="0"/>
          </a:p>
        </p:txBody>
      </p:sp>
      <p:sp>
        <p:nvSpPr>
          <p:cNvPr id="38" name="Shape 36"/>
          <p:cNvSpPr/>
          <p:nvPr/>
        </p:nvSpPr>
        <p:spPr>
          <a:xfrm>
            <a:off x="5257800" y="3840480"/>
            <a:ext cx="3611880" cy="347472"/>
          </a:xfrm>
          <a:prstGeom prst="rect">
            <a:avLst/>
          </a:prstGeom>
          <a:solidFill>
            <a:srgbClr val="FFFFFF"/>
          </a:solidFill>
          <a:ln w="6350">
            <a:solidFill>
              <a:srgbClr val="DDDDDD"/>
            </a:solidFill>
            <a:prstDash val="solid"/>
          </a:ln>
        </p:spPr>
      </p:sp>
      <p:sp>
        <p:nvSpPr>
          <p:cNvPr id="39" name="Text 37"/>
          <p:cNvSpPr/>
          <p:nvPr/>
        </p:nvSpPr>
        <p:spPr>
          <a:xfrm>
            <a:off x="5349240" y="387705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Mild Tungro</a:t>
            </a:r>
            <a:endParaRPr lang="en-US" sz="1000" dirty="0"/>
          </a:p>
        </p:txBody>
      </p:sp>
      <p:sp>
        <p:nvSpPr>
          <p:cNvPr id="40" name="Shape 38"/>
          <p:cNvSpPr/>
          <p:nvPr/>
        </p:nvSpPr>
        <p:spPr>
          <a:xfrm>
            <a:off x="5257800" y="4206240"/>
            <a:ext cx="3611880" cy="347472"/>
          </a:xfrm>
          <a:prstGeom prst="rect">
            <a:avLst/>
          </a:prstGeom>
          <a:solidFill>
            <a:srgbClr val="F1F8F4"/>
          </a:solidFill>
          <a:ln w="6350">
            <a:solidFill>
              <a:srgbClr val="DDDDDD"/>
            </a:solidFill>
            <a:prstDash val="solid"/>
          </a:ln>
        </p:spPr>
      </p:sp>
      <p:sp>
        <p:nvSpPr>
          <p:cNvPr id="41" name="Text 39"/>
          <p:cNvSpPr/>
          <p:nvPr/>
        </p:nvSpPr>
        <p:spPr>
          <a:xfrm>
            <a:off x="5349240" y="4242816"/>
            <a:ext cx="3429000" cy="27432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Severe Tungro</a:t>
            </a:r>
            <a:endParaRPr lang="en-US" sz="1000" dirty="0"/>
          </a:p>
        </p:txBody>
      </p:sp>
      <p:sp>
        <p:nvSpPr>
          <p:cNvPr id="42" name="TextBox 41">
            <a:extLst>
              <a:ext uri="{FF2B5EF4-FFF2-40B4-BE49-F238E27FC236}">
                <a16:creationId xmlns:a16="http://schemas.microsoft.com/office/drawing/2014/main" id="{90116A98-3B1A-6801-0C8E-E623143BC372}"/>
              </a:ext>
            </a:extLst>
          </p:cNvPr>
          <p:cNvSpPr txBox="1"/>
          <p:nvPr/>
        </p:nvSpPr>
        <p:spPr>
          <a:xfrm>
            <a:off x="274320" y="4517136"/>
            <a:ext cx="4892040" cy="230832"/>
          </a:xfrm>
          <a:prstGeom prst="rect">
            <a:avLst/>
          </a:prstGeom>
          <a:noFill/>
        </p:spPr>
        <p:txBody>
          <a:bodyPr wrap="square" rtlCol="0">
            <a:spAutoFit/>
          </a:bodyPr>
          <a:lstStyle/>
          <a:p>
            <a:r>
              <a:rPr lang="en-US" sz="900" dirty="0">
                <a:hlinkClick r:id="rId3"/>
              </a:rPr>
              <a:t>https://www.kaggle.com/datasets/isaacritharson/severity-based-rice-leaf-diseases-dataset</a:t>
            </a:r>
            <a:r>
              <a:rPr lang="en-US" sz="900" dirty="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4332"/>
          </a:solidFill>
          <a:ln w="12700">
            <a:solidFill>
              <a:srgbClr val="1B4332"/>
            </a:solidFill>
            <a:prstDash val="solid"/>
          </a:ln>
        </p:spPr>
      </p:sp>
      <p:sp>
        <p:nvSpPr>
          <p:cNvPr id="3" name="Shape 1"/>
          <p:cNvSpPr/>
          <p:nvPr/>
        </p:nvSpPr>
        <p:spPr>
          <a:xfrm>
            <a:off x="0" y="685800"/>
            <a:ext cx="9144000" cy="45720"/>
          </a:xfrm>
          <a:prstGeom prst="rect">
            <a:avLst/>
          </a:prstGeom>
          <a:solidFill>
            <a:srgbClr val="74C69D"/>
          </a:solidFill>
          <a:ln w="12700">
            <a:solidFill>
              <a:srgbClr val="74C69D"/>
            </a:solidFill>
            <a:prstDash val="solid"/>
          </a:ln>
        </p:spPr>
      </p:sp>
      <p:sp>
        <p:nvSpPr>
          <p:cNvPr id="4" name="Text 2"/>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Tiền Xử Lý Dữ Liệu</a:t>
            </a:r>
            <a:endParaRPr lang="en-US" sz="2000" dirty="0"/>
          </a:p>
        </p:txBody>
      </p:sp>
      <p:sp>
        <p:nvSpPr>
          <p:cNvPr id="5" name="Shape 3"/>
          <p:cNvSpPr/>
          <p:nvPr/>
        </p:nvSpPr>
        <p:spPr>
          <a:xfrm>
            <a:off x="0" y="4869180"/>
            <a:ext cx="9144000" cy="274320"/>
          </a:xfrm>
          <a:prstGeom prst="rect">
            <a:avLst/>
          </a:prstGeom>
          <a:solidFill>
            <a:srgbClr val="D8F3DC"/>
          </a:solidFill>
          <a:ln w="12700">
            <a:solidFill>
              <a:srgbClr val="D8F3DC"/>
            </a:solidFill>
            <a:prstDash val="solid"/>
          </a:ln>
        </p:spPr>
      </p:sp>
      <p:sp>
        <p:nvSpPr>
          <p:cNvPr id="6" name="Text 4"/>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sp>
        <p:nvSpPr>
          <p:cNvPr id="7" name="Shape 5"/>
          <p:cNvSpPr/>
          <p:nvPr/>
        </p:nvSpPr>
        <p:spPr>
          <a:xfrm>
            <a:off x="228600" y="841248"/>
            <a:ext cx="4160520" cy="384048"/>
          </a:xfrm>
          <a:prstGeom prst="rect">
            <a:avLst/>
          </a:prstGeom>
          <a:solidFill>
            <a:srgbClr val="1B4332"/>
          </a:solidFill>
          <a:ln w="12700">
            <a:solidFill>
              <a:srgbClr val="1B4332"/>
            </a:solidFill>
            <a:prstDash val="solid"/>
          </a:ln>
        </p:spPr>
      </p:sp>
      <p:sp>
        <p:nvSpPr>
          <p:cNvPr id="8" name="Text 6"/>
          <p:cNvSpPr/>
          <p:nvPr/>
        </p:nvSpPr>
        <p:spPr>
          <a:xfrm>
            <a:off x="228600" y="841248"/>
            <a:ext cx="4160520"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Xử Lý Ảnh (CNN Input)</a:t>
            </a:r>
            <a:endParaRPr lang="en-US" sz="1300" dirty="0"/>
          </a:p>
        </p:txBody>
      </p:sp>
      <p:sp>
        <p:nvSpPr>
          <p:cNvPr id="9" name="Shape 7"/>
          <p:cNvSpPr/>
          <p:nvPr/>
        </p:nvSpPr>
        <p:spPr>
          <a:xfrm>
            <a:off x="320040" y="1344168"/>
            <a:ext cx="384048" cy="384048"/>
          </a:xfrm>
          <a:prstGeom prst="ellipse">
            <a:avLst/>
          </a:prstGeom>
          <a:solidFill>
            <a:srgbClr val="40916C"/>
          </a:solidFill>
          <a:ln w="12700">
            <a:solidFill>
              <a:srgbClr val="40916C"/>
            </a:solidFill>
            <a:prstDash val="solid"/>
          </a:ln>
        </p:spPr>
      </p:sp>
      <p:sp>
        <p:nvSpPr>
          <p:cNvPr id="10" name="Text 8"/>
          <p:cNvSpPr/>
          <p:nvPr/>
        </p:nvSpPr>
        <p:spPr>
          <a:xfrm>
            <a:off x="320040" y="1344168"/>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804672" y="1335024"/>
            <a:ext cx="3474720" cy="274320"/>
          </a:xfrm>
          <a:prstGeom prst="rect">
            <a:avLst/>
          </a:prstGeom>
          <a:noFill/>
          <a:ln/>
        </p:spPr>
        <p:txBody>
          <a:bodyPr wrap="square" rtlCol="0" anchor="ctr"/>
          <a:lstStyle/>
          <a:p>
            <a:pPr marL="0" indent="0">
              <a:buNone/>
            </a:pPr>
            <a:r>
              <a:rPr lang="en-US" sz="1150" b="1" dirty="0">
                <a:solidFill>
                  <a:srgbClr val="1B4332"/>
                </a:solidFill>
                <a:latin typeface="Calibri" pitchFamily="34" charset="0"/>
                <a:ea typeface="Calibri" pitchFamily="34" charset="-122"/>
                <a:cs typeface="Calibri" pitchFamily="34" charset="-120"/>
              </a:rPr>
              <a:t>Resize</a:t>
            </a:r>
            <a:endParaRPr lang="en-US" sz="1150" dirty="0"/>
          </a:p>
        </p:txBody>
      </p:sp>
      <p:sp>
        <p:nvSpPr>
          <p:cNvPr id="12" name="Text 10"/>
          <p:cNvSpPr/>
          <p:nvPr/>
        </p:nvSpPr>
        <p:spPr>
          <a:xfrm>
            <a:off x="804672" y="1618488"/>
            <a:ext cx="3474720" cy="320040"/>
          </a:xfrm>
          <a:prstGeom prst="rect">
            <a:avLst/>
          </a:prstGeom>
          <a:noFill/>
          <a:ln/>
        </p:spPr>
        <p:txBody>
          <a:bodyPr wrap="square" rtlCol="0" anchor="ctr"/>
          <a:lstStyle/>
          <a:p>
            <a:pPr marL="0" indent="0">
              <a:buNone/>
            </a:pPr>
            <a:r>
              <a:rPr lang="en-US" sz="1000" dirty="0">
                <a:solidFill>
                  <a:srgbClr val="6C757D"/>
                </a:solidFill>
                <a:latin typeface="Calibri" pitchFamily="34" charset="0"/>
                <a:ea typeface="Calibri" pitchFamily="34" charset="-122"/>
                <a:cs typeface="Calibri" pitchFamily="34" charset="-120"/>
              </a:rPr>
              <a:t>Resize ảnh về 224×224 px (EfficientNet-B0)</a:t>
            </a:r>
            <a:endParaRPr lang="en-US" sz="1000" dirty="0"/>
          </a:p>
        </p:txBody>
      </p:sp>
      <p:sp>
        <p:nvSpPr>
          <p:cNvPr id="13" name="Shape 11"/>
          <p:cNvSpPr/>
          <p:nvPr/>
        </p:nvSpPr>
        <p:spPr>
          <a:xfrm>
            <a:off x="320040" y="2057400"/>
            <a:ext cx="384048" cy="384048"/>
          </a:xfrm>
          <a:prstGeom prst="ellipse">
            <a:avLst/>
          </a:prstGeom>
          <a:solidFill>
            <a:srgbClr val="40916C"/>
          </a:solidFill>
          <a:ln w="12700">
            <a:solidFill>
              <a:srgbClr val="40916C"/>
            </a:solidFill>
            <a:prstDash val="solid"/>
          </a:ln>
        </p:spPr>
      </p:sp>
      <p:sp>
        <p:nvSpPr>
          <p:cNvPr id="14" name="Text 12"/>
          <p:cNvSpPr/>
          <p:nvPr/>
        </p:nvSpPr>
        <p:spPr>
          <a:xfrm>
            <a:off x="320040" y="2057400"/>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804672" y="2048256"/>
            <a:ext cx="3474720" cy="274320"/>
          </a:xfrm>
          <a:prstGeom prst="rect">
            <a:avLst/>
          </a:prstGeom>
          <a:noFill/>
          <a:ln/>
        </p:spPr>
        <p:txBody>
          <a:bodyPr wrap="square" rtlCol="0" anchor="ctr"/>
          <a:lstStyle/>
          <a:p>
            <a:pPr marL="0" indent="0">
              <a:buNone/>
            </a:pPr>
            <a:r>
              <a:rPr lang="en-US" sz="1150" b="1" dirty="0">
                <a:solidFill>
                  <a:srgbClr val="1B4332"/>
                </a:solidFill>
                <a:latin typeface="Calibri" pitchFamily="34" charset="0"/>
                <a:ea typeface="Calibri" pitchFamily="34" charset="-122"/>
                <a:cs typeface="Calibri" pitchFamily="34" charset="-120"/>
              </a:rPr>
              <a:t>Normalize</a:t>
            </a:r>
            <a:endParaRPr lang="en-US" sz="1150" dirty="0"/>
          </a:p>
        </p:txBody>
      </p:sp>
      <p:sp>
        <p:nvSpPr>
          <p:cNvPr id="16" name="Text 14"/>
          <p:cNvSpPr/>
          <p:nvPr/>
        </p:nvSpPr>
        <p:spPr>
          <a:xfrm>
            <a:off x="804672" y="2331720"/>
            <a:ext cx="3474720" cy="320040"/>
          </a:xfrm>
          <a:prstGeom prst="rect">
            <a:avLst/>
          </a:prstGeom>
          <a:noFill/>
          <a:ln/>
        </p:spPr>
        <p:txBody>
          <a:bodyPr wrap="square" rtlCol="0" anchor="ctr"/>
          <a:lstStyle/>
          <a:p>
            <a:pPr marL="0" indent="0">
              <a:buNone/>
            </a:pPr>
            <a:r>
              <a:rPr lang="en-US" sz="1000" dirty="0">
                <a:solidFill>
                  <a:srgbClr val="6C757D"/>
                </a:solidFill>
                <a:latin typeface="Calibri" pitchFamily="34" charset="0"/>
                <a:ea typeface="Calibri" pitchFamily="34" charset="-122"/>
                <a:cs typeface="Calibri" pitchFamily="34" charset="-120"/>
              </a:rPr>
              <a:t>Chuẩn hóa pixel về [0,1] theo ImageNet mean/std</a:t>
            </a:r>
            <a:endParaRPr lang="en-US" sz="1000" dirty="0"/>
          </a:p>
        </p:txBody>
      </p:sp>
      <p:sp>
        <p:nvSpPr>
          <p:cNvPr id="17" name="Shape 15"/>
          <p:cNvSpPr/>
          <p:nvPr/>
        </p:nvSpPr>
        <p:spPr>
          <a:xfrm>
            <a:off x="320040" y="2770632"/>
            <a:ext cx="384048" cy="384048"/>
          </a:xfrm>
          <a:prstGeom prst="ellipse">
            <a:avLst/>
          </a:prstGeom>
          <a:solidFill>
            <a:srgbClr val="40916C"/>
          </a:solidFill>
          <a:ln w="12700">
            <a:solidFill>
              <a:srgbClr val="40916C"/>
            </a:solidFill>
            <a:prstDash val="solid"/>
          </a:ln>
        </p:spPr>
      </p:sp>
      <p:sp>
        <p:nvSpPr>
          <p:cNvPr id="18" name="Text 16"/>
          <p:cNvSpPr/>
          <p:nvPr/>
        </p:nvSpPr>
        <p:spPr>
          <a:xfrm>
            <a:off x="320040" y="2770632"/>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804672" y="2761488"/>
            <a:ext cx="3474720" cy="274320"/>
          </a:xfrm>
          <a:prstGeom prst="rect">
            <a:avLst/>
          </a:prstGeom>
          <a:noFill/>
          <a:ln/>
        </p:spPr>
        <p:txBody>
          <a:bodyPr wrap="square" rtlCol="0" anchor="ctr"/>
          <a:lstStyle/>
          <a:p>
            <a:pPr marL="0" indent="0">
              <a:buNone/>
            </a:pPr>
            <a:r>
              <a:rPr lang="en-US" sz="1150" b="1" dirty="0">
                <a:solidFill>
                  <a:srgbClr val="1B4332"/>
                </a:solidFill>
                <a:latin typeface="Calibri" pitchFamily="34" charset="0"/>
                <a:ea typeface="Calibri" pitchFamily="34" charset="-122"/>
                <a:cs typeface="Calibri" pitchFamily="34" charset="-120"/>
              </a:rPr>
              <a:t>Data Augmentation</a:t>
            </a:r>
            <a:endParaRPr lang="en-US" sz="1150" dirty="0"/>
          </a:p>
        </p:txBody>
      </p:sp>
      <p:sp>
        <p:nvSpPr>
          <p:cNvPr id="20" name="Text 18"/>
          <p:cNvSpPr/>
          <p:nvPr/>
        </p:nvSpPr>
        <p:spPr>
          <a:xfrm>
            <a:off x="804672" y="3044952"/>
            <a:ext cx="3474720" cy="320040"/>
          </a:xfrm>
          <a:prstGeom prst="rect">
            <a:avLst/>
          </a:prstGeom>
          <a:noFill/>
          <a:ln/>
        </p:spPr>
        <p:txBody>
          <a:bodyPr wrap="square" rtlCol="0" anchor="ctr"/>
          <a:lstStyle/>
          <a:p>
            <a:pPr marL="0" indent="0">
              <a:buNone/>
            </a:pPr>
            <a:r>
              <a:rPr lang="en-US" sz="1000" dirty="0">
                <a:solidFill>
                  <a:srgbClr val="6C757D"/>
                </a:solidFill>
                <a:latin typeface="Calibri" pitchFamily="34" charset="0"/>
                <a:ea typeface="Calibri" pitchFamily="34" charset="-122"/>
                <a:cs typeface="Calibri" pitchFamily="34" charset="-120"/>
              </a:rPr>
              <a:t>Random flip, rotation, color jitter để tăng dữ liệu</a:t>
            </a:r>
            <a:endParaRPr lang="en-US" sz="1000" dirty="0"/>
          </a:p>
        </p:txBody>
      </p:sp>
      <p:sp>
        <p:nvSpPr>
          <p:cNvPr id="21" name="Shape 19"/>
          <p:cNvSpPr/>
          <p:nvPr/>
        </p:nvSpPr>
        <p:spPr>
          <a:xfrm>
            <a:off x="320040" y="3483864"/>
            <a:ext cx="384048" cy="384048"/>
          </a:xfrm>
          <a:prstGeom prst="ellipse">
            <a:avLst/>
          </a:prstGeom>
          <a:solidFill>
            <a:srgbClr val="40916C"/>
          </a:solidFill>
          <a:ln w="12700">
            <a:solidFill>
              <a:srgbClr val="40916C"/>
            </a:solidFill>
            <a:prstDash val="solid"/>
          </a:ln>
        </p:spPr>
      </p:sp>
      <p:sp>
        <p:nvSpPr>
          <p:cNvPr id="22" name="Text 20"/>
          <p:cNvSpPr/>
          <p:nvPr/>
        </p:nvSpPr>
        <p:spPr>
          <a:xfrm>
            <a:off x="320040" y="3483864"/>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804672" y="3474720"/>
            <a:ext cx="3474720" cy="274320"/>
          </a:xfrm>
          <a:prstGeom prst="rect">
            <a:avLst/>
          </a:prstGeom>
          <a:noFill/>
          <a:ln/>
        </p:spPr>
        <p:txBody>
          <a:bodyPr wrap="square" rtlCol="0" anchor="ctr"/>
          <a:lstStyle/>
          <a:p>
            <a:pPr marL="0" indent="0">
              <a:buNone/>
            </a:pPr>
            <a:r>
              <a:rPr lang="en-US" sz="1150" b="1" dirty="0">
                <a:solidFill>
                  <a:srgbClr val="1B4332"/>
                </a:solidFill>
                <a:latin typeface="Calibri" pitchFamily="34" charset="0"/>
                <a:ea typeface="Calibri" pitchFamily="34" charset="-122"/>
                <a:cs typeface="Calibri" pitchFamily="34" charset="-120"/>
              </a:rPr>
              <a:t>ToTensor</a:t>
            </a:r>
            <a:endParaRPr lang="en-US" sz="1150" dirty="0"/>
          </a:p>
        </p:txBody>
      </p:sp>
      <p:sp>
        <p:nvSpPr>
          <p:cNvPr id="24" name="Text 22"/>
          <p:cNvSpPr/>
          <p:nvPr/>
        </p:nvSpPr>
        <p:spPr>
          <a:xfrm>
            <a:off x="804672" y="3758184"/>
            <a:ext cx="3474720" cy="320040"/>
          </a:xfrm>
          <a:prstGeom prst="rect">
            <a:avLst/>
          </a:prstGeom>
          <a:noFill/>
          <a:ln/>
        </p:spPr>
        <p:txBody>
          <a:bodyPr wrap="square" rtlCol="0" anchor="ctr"/>
          <a:lstStyle/>
          <a:p>
            <a:pPr marL="0" indent="0">
              <a:buNone/>
            </a:pPr>
            <a:r>
              <a:rPr lang="en-US" sz="1000" dirty="0">
                <a:solidFill>
                  <a:srgbClr val="6C757D"/>
                </a:solidFill>
                <a:latin typeface="Calibri" pitchFamily="34" charset="0"/>
                <a:ea typeface="Calibri" pitchFamily="34" charset="-122"/>
                <a:cs typeface="Calibri" pitchFamily="34" charset="-120"/>
              </a:rPr>
              <a:t>Chuyển ảnh PIL sang PyTorch Tensor</a:t>
            </a:r>
            <a:endParaRPr lang="en-US" sz="1000" dirty="0"/>
          </a:p>
        </p:txBody>
      </p:sp>
      <p:sp>
        <p:nvSpPr>
          <p:cNvPr id="25" name="Shape 23"/>
          <p:cNvSpPr/>
          <p:nvPr/>
        </p:nvSpPr>
        <p:spPr>
          <a:xfrm>
            <a:off x="4663440" y="841248"/>
            <a:ext cx="4206240" cy="384048"/>
          </a:xfrm>
          <a:prstGeom prst="rect">
            <a:avLst/>
          </a:prstGeom>
          <a:solidFill>
            <a:srgbClr val="2D6A4F"/>
          </a:solidFill>
          <a:ln w="12700">
            <a:solidFill>
              <a:srgbClr val="2D6A4F"/>
            </a:solidFill>
            <a:prstDash val="solid"/>
          </a:ln>
        </p:spPr>
      </p:sp>
      <p:sp>
        <p:nvSpPr>
          <p:cNvPr id="26" name="Text 24"/>
          <p:cNvSpPr/>
          <p:nvPr/>
        </p:nvSpPr>
        <p:spPr>
          <a:xfrm>
            <a:off x="4663440" y="841248"/>
            <a:ext cx="4206240"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Xử Lý Dữ Liệu Mờ (Fuzzy Input)</a:t>
            </a:r>
            <a:endParaRPr lang="en-US" sz="1300" dirty="0"/>
          </a:p>
        </p:txBody>
      </p:sp>
      <p:sp>
        <p:nvSpPr>
          <p:cNvPr id="27" name="Shape 25"/>
          <p:cNvSpPr/>
          <p:nvPr/>
        </p:nvSpPr>
        <p:spPr>
          <a:xfrm>
            <a:off x="4754880" y="1335024"/>
            <a:ext cx="347472" cy="347472"/>
          </a:xfrm>
          <a:prstGeom prst="ellipse">
            <a:avLst/>
          </a:prstGeom>
          <a:solidFill>
            <a:srgbClr val="F4A261"/>
          </a:solidFill>
          <a:ln w="12700">
            <a:solidFill>
              <a:srgbClr val="F4A261"/>
            </a:solidFill>
            <a:prstDash val="solid"/>
          </a:ln>
        </p:spPr>
      </p:sp>
      <p:sp>
        <p:nvSpPr>
          <p:cNvPr id="28" name="Text 26"/>
          <p:cNvSpPr/>
          <p:nvPr/>
        </p:nvSpPr>
        <p:spPr>
          <a:xfrm>
            <a:off x="4754880" y="133502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9" name="Text 27"/>
          <p:cNvSpPr/>
          <p:nvPr/>
        </p:nvSpPr>
        <p:spPr>
          <a:xfrm>
            <a:off x="5193792" y="1325880"/>
            <a:ext cx="3566160" cy="256032"/>
          </a:xfrm>
          <a:prstGeom prst="rect">
            <a:avLst/>
          </a:prstGeom>
          <a:noFill/>
          <a:ln/>
        </p:spPr>
        <p:txBody>
          <a:bodyPr wrap="square" rtlCol="0" anchor="ctr"/>
          <a:lstStyle/>
          <a:p>
            <a:pPr marL="0" indent="0">
              <a:buNone/>
            </a:pPr>
            <a:r>
              <a:rPr lang="en-US" sz="1100" b="1" dirty="0" err="1">
                <a:solidFill>
                  <a:srgbClr val="1B4332"/>
                </a:solidFill>
                <a:latin typeface="Calibri" pitchFamily="34" charset="0"/>
                <a:ea typeface="Calibri" pitchFamily="34" charset="-122"/>
                <a:cs typeface="Calibri" pitchFamily="34" charset="-120"/>
              </a:rPr>
              <a:t>Nhập</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dữ</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liệu</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môi</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trường</a:t>
            </a:r>
            <a:endParaRPr lang="en-US" sz="1100" dirty="0"/>
          </a:p>
        </p:txBody>
      </p:sp>
      <p:sp>
        <p:nvSpPr>
          <p:cNvPr id="30" name="Text 28"/>
          <p:cNvSpPr/>
          <p:nvPr/>
        </p:nvSpPr>
        <p:spPr>
          <a:xfrm>
            <a:off x="5193792" y="1572768"/>
            <a:ext cx="356616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Nhiệt độ, Độ ẩm, Lượng mưa, Mùa vụ</a:t>
            </a:r>
            <a:endParaRPr lang="en-US" sz="950" dirty="0"/>
          </a:p>
        </p:txBody>
      </p:sp>
      <p:sp>
        <p:nvSpPr>
          <p:cNvPr id="31" name="Shape 29"/>
          <p:cNvSpPr/>
          <p:nvPr/>
        </p:nvSpPr>
        <p:spPr>
          <a:xfrm>
            <a:off x="4754880" y="1911096"/>
            <a:ext cx="347472" cy="347472"/>
          </a:xfrm>
          <a:prstGeom prst="ellipse">
            <a:avLst/>
          </a:prstGeom>
          <a:solidFill>
            <a:srgbClr val="F4A261"/>
          </a:solidFill>
          <a:ln w="12700">
            <a:solidFill>
              <a:srgbClr val="F4A261"/>
            </a:solidFill>
            <a:prstDash val="solid"/>
          </a:ln>
        </p:spPr>
      </p:sp>
      <p:sp>
        <p:nvSpPr>
          <p:cNvPr id="32" name="Text 30"/>
          <p:cNvSpPr/>
          <p:nvPr/>
        </p:nvSpPr>
        <p:spPr>
          <a:xfrm>
            <a:off x="4754880" y="191109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1"/>
          <p:cNvSpPr/>
          <p:nvPr/>
        </p:nvSpPr>
        <p:spPr>
          <a:xfrm>
            <a:off x="5193792" y="1901952"/>
            <a:ext cx="3566160" cy="256032"/>
          </a:xfrm>
          <a:prstGeom prst="rect">
            <a:avLst/>
          </a:prstGeom>
          <a:noFill/>
          <a:ln/>
        </p:spPr>
        <p:txBody>
          <a:bodyPr wrap="square" rtlCol="0" anchor="ctr"/>
          <a:lstStyle/>
          <a:p>
            <a:pPr marL="0" indent="0">
              <a:buNone/>
            </a:pPr>
            <a:r>
              <a:rPr lang="en-US" sz="1100" b="1" dirty="0">
                <a:solidFill>
                  <a:srgbClr val="1B4332"/>
                </a:solidFill>
                <a:latin typeface="Calibri" pitchFamily="34" charset="0"/>
                <a:ea typeface="Calibri" pitchFamily="34" charset="-122"/>
                <a:cs typeface="Calibri" pitchFamily="34" charset="-120"/>
              </a:rPr>
              <a:t>Kiểm </a:t>
            </a:r>
            <a:r>
              <a:rPr lang="en-US" sz="1100" b="1" dirty="0" err="1">
                <a:solidFill>
                  <a:srgbClr val="1B4332"/>
                </a:solidFill>
                <a:latin typeface="Calibri" pitchFamily="34" charset="0"/>
                <a:ea typeface="Calibri" pitchFamily="34" charset="-122"/>
                <a:cs typeface="Calibri" pitchFamily="34" charset="-120"/>
              </a:rPr>
              <a:t>tra</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phạm</a:t>
            </a:r>
            <a:r>
              <a:rPr lang="en-US" sz="1100" b="1" dirty="0">
                <a:solidFill>
                  <a:srgbClr val="1B4332"/>
                </a:solidFill>
                <a:latin typeface="Calibri" pitchFamily="34" charset="0"/>
                <a:ea typeface="Calibri" pitchFamily="34" charset="-122"/>
                <a:cs typeface="Calibri" pitchFamily="34" charset="-120"/>
              </a:rPr>
              <a:t> vi </a:t>
            </a:r>
            <a:r>
              <a:rPr lang="en-US" sz="1100" b="1" dirty="0" err="1">
                <a:solidFill>
                  <a:srgbClr val="1B4332"/>
                </a:solidFill>
                <a:latin typeface="Calibri" pitchFamily="34" charset="0"/>
                <a:ea typeface="Calibri" pitchFamily="34" charset="-122"/>
                <a:cs typeface="Calibri" pitchFamily="34" charset="-120"/>
              </a:rPr>
              <a:t>hợp</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lệ</a:t>
            </a:r>
            <a:endParaRPr lang="en-US" sz="1100" dirty="0"/>
          </a:p>
        </p:txBody>
      </p:sp>
      <p:sp>
        <p:nvSpPr>
          <p:cNvPr id="34" name="Text 32"/>
          <p:cNvSpPr/>
          <p:nvPr/>
        </p:nvSpPr>
        <p:spPr>
          <a:xfrm>
            <a:off x="5193792" y="2148840"/>
            <a:ext cx="3566160" cy="256032"/>
          </a:xfrm>
          <a:prstGeom prst="rect">
            <a:avLst/>
          </a:prstGeom>
          <a:noFill/>
          <a:ln/>
        </p:spPr>
        <p:txBody>
          <a:bodyPr wrap="square" rtlCol="0" anchor="ctr"/>
          <a:lstStyle/>
          <a:p>
            <a:r>
              <a:rPr lang="en-US" sz="950" dirty="0">
                <a:solidFill>
                  <a:srgbClr val="6C757D"/>
                </a:solidFill>
                <a:latin typeface="Calibri" pitchFamily="34" charset="0"/>
                <a:ea typeface="Calibri" pitchFamily="34" charset="-122"/>
                <a:cs typeface="Calibri" pitchFamily="34" charset="-120"/>
              </a:rPr>
              <a:t>Temperature ∈ [0,45]</a:t>
            </a:r>
          </a:p>
          <a:p>
            <a:r>
              <a:rPr lang="en-US" sz="950" dirty="0">
                <a:solidFill>
                  <a:srgbClr val="6C757D"/>
                </a:solidFill>
                <a:latin typeface="Calibri" pitchFamily="34" charset="0"/>
                <a:ea typeface="Calibri" pitchFamily="34" charset="-122"/>
                <a:cs typeface="Calibri" pitchFamily="34" charset="-120"/>
              </a:rPr>
              <a:t>Humidity ∈ [0,100]</a:t>
            </a:r>
            <a:endParaRPr lang="en-US" sz="950" dirty="0"/>
          </a:p>
        </p:txBody>
      </p:sp>
      <p:sp>
        <p:nvSpPr>
          <p:cNvPr id="35" name="Shape 33"/>
          <p:cNvSpPr/>
          <p:nvPr/>
        </p:nvSpPr>
        <p:spPr>
          <a:xfrm>
            <a:off x="4754880" y="2487168"/>
            <a:ext cx="347472" cy="347472"/>
          </a:xfrm>
          <a:prstGeom prst="ellipse">
            <a:avLst/>
          </a:prstGeom>
          <a:solidFill>
            <a:srgbClr val="F4A261"/>
          </a:solidFill>
          <a:ln w="12700">
            <a:solidFill>
              <a:srgbClr val="F4A261"/>
            </a:solidFill>
            <a:prstDash val="solid"/>
          </a:ln>
        </p:spPr>
      </p:sp>
      <p:sp>
        <p:nvSpPr>
          <p:cNvPr id="36" name="Text 34"/>
          <p:cNvSpPr/>
          <p:nvPr/>
        </p:nvSpPr>
        <p:spPr>
          <a:xfrm>
            <a:off x="4754880" y="248716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7" name="Text 35"/>
          <p:cNvSpPr/>
          <p:nvPr/>
        </p:nvSpPr>
        <p:spPr>
          <a:xfrm>
            <a:off x="5193792" y="2478024"/>
            <a:ext cx="3566160" cy="256032"/>
          </a:xfrm>
          <a:prstGeom prst="rect">
            <a:avLst/>
          </a:prstGeom>
          <a:noFill/>
          <a:ln/>
        </p:spPr>
        <p:txBody>
          <a:bodyPr wrap="square" rtlCol="0" anchor="ctr"/>
          <a:lstStyle/>
          <a:p>
            <a:pPr marL="0" indent="0">
              <a:buNone/>
            </a:pPr>
            <a:r>
              <a:rPr lang="en-US" sz="1100" b="1" dirty="0" err="1">
                <a:solidFill>
                  <a:srgbClr val="1B4332"/>
                </a:solidFill>
                <a:latin typeface="Calibri" pitchFamily="34" charset="0"/>
                <a:ea typeface="Calibri" pitchFamily="34" charset="-122"/>
                <a:cs typeface="Calibri" pitchFamily="34" charset="-120"/>
              </a:rPr>
              <a:t>Xác</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định</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miền</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giá</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trị</a:t>
            </a:r>
            <a:endParaRPr lang="en-US" sz="1100" dirty="0"/>
          </a:p>
        </p:txBody>
      </p:sp>
      <p:sp>
        <p:nvSpPr>
          <p:cNvPr id="38" name="Text 36"/>
          <p:cNvSpPr/>
          <p:nvPr/>
        </p:nvSpPr>
        <p:spPr>
          <a:xfrm>
            <a:off x="5193792" y="2724912"/>
            <a:ext cx="356616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Độ ẩm [0–100%], Nhiệt độ [0–45°C]…</a:t>
            </a:r>
            <a:endParaRPr lang="en-US" sz="950" dirty="0"/>
          </a:p>
        </p:txBody>
      </p:sp>
      <p:sp>
        <p:nvSpPr>
          <p:cNvPr id="39" name="Shape 37"/>
          <p:cNvSpPr/>
          <p:nvPr/>
        </p:nvSpPr>
        <p:spPr>
          <a:xfrm>
            <a:off x="4754880" y="3063240"/>
            <a:ext cx="347472" cy="347472"/>
          </a:xfrm>
          <a:prstGeom prst="ellipse">
            <a:avLst/>
          </a:prstGeom>
          <a:solidFill>
            <a:srgbClr val="F4A261"/>
          </a:solidFill>
          <a:ln w="12700">
            <a:solidFill>
              <a:srgbClr val="F4A261"/>
            </a:solidFill>
            <a:prstDash val="solid"/>
          </a:ln>
        </p:spPr>
      </p:sp>
      <p:sp>
        <p:nvSpPr>
          <p:cNvPr id="40" name="Text 38"/>
          <p:cNvSpPr/>
          <p:nvPr/>
        </p:nvSpPr>
        <p:spPr>
          <a:xfrm>
            <a:off x="4754880" y="306324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1" name="Text 39"/>
          <p:cNvSpPr/>
          <p:nvPr/>
        </p:nvSpPr>
        <p:spPr>
          <a:xfrm>
            <a:off x="5193792" y="3054096"/>
            <a:ext cx="3566160" cy="256032"/>
          </a:xfrm>
          <a:prstGeom prst="rect">
            <a:avLst/>
          </a:prstGeom>
          <a:noFill/>
          <a:ln/>
        </p:spPr>
        <p:txBody>
          <a:bodyPr wrap="square" rtlCol="0" anchor="ctr"/>
          <a:lstStyle/>
          <a:p>
            <a:pPr marL="0" indent="0">
              <a:buNone/>
            </a:pPr>
            <a:r>
              <a:rPr lang="en-US" sz="1100" b="1" dirty="0">
                <a:solidFill>
                  <a:srgbClr val="1B4332"/>
                </a:solidFill>
                <a:latin typeface="Calibri" pitchFamily="34" charset="0"/>
                <a:ea typeface="Calibri" pitchFamily="34" charset="-122"/>
                <a:cs typeface="Calibri" pitchFamily="34" charset="-120"/>
              </a:rPr>
              <a:t>Mờ hóa (Fuzzification)</a:t>
            </a:r>
            <a:endParaRPr lang="en-US" sz="1100" dirty="0"/>
          </a:p>
        </p:txBody>
      </p:sp>
      <p:sp>
        <p:nvSpPr>
          <p:cNvPr id="42" name="Text 40"/>
          <p:cNvSpPr/>
          <p:nvPr/>
        </p:nvSpPr>
        <p:spPr>
          <a:xfrm>
            <a:off x="5193792" y="3300984"/>
            <a:ext cx="356616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Ánh xạ giá trị rõ → mức độ thuộc tập mờ μ ∈ [0,1]</a:t>
            </a:r>
            <a:endParaRPr lang="en-US" sz="950" dirty="0"/>
          </a:p>
        </p:txBody>
      </p:sp>
      <p:sp>
        <p:nvSpPr>
          <p:cNvPr id="43" name="Shape 41"/>
          <p:cNvSpPr/>
          <p:nvPr/>
        </p:nvSpPr>
        <p:spPr>
          <a:xfrm>
            <a:off x="4754880" y="3639312"/>
            <a:ext cx="347472" cy="347472"/>
          </a:xfrm>
          <a:prstGeom prst="ellipse">
            <a:avLst/>
          </a:prstGeom>
          <a:solidFill>
            <a:srgbClr val="F4A261"/>
          </a:solidFill>
          <a:ln w="12700">
            <a:solidFill>
              <a:srgbClr val="F4A261"/>
            </a:solidFill>
            <a:prstDash val="solid"/>
          </a:ln>
        </p:spPr>
      </p:sp>
      <p:sp>
        <p:nvSpPr>
          <p:cNvPr id="44" name="Text 42"/>
          <p:cNvSpPr/>
          <p:nvPr/>
        </p:nvSpPr>
        <p:spPr>
          <a:xfrm>
            <a:off x="4754880" y="363931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45" name="Text 43"/>
          <p:cNvSpPr/>
          <p:nvPr/>
        </p:nvSpPr>
        <p:spPr>
          <a:xfrm>
            <a:off x="5193792" y="3630168"/>
            <a:ext cx="3566160" cy="256032"/>
          </a:xfrm>
          <a:prstGeom prst="rect">
            <a:avLst/>
          </a:prstGeom>
          <a:noFill/>
          <a:ln/>
        </p:spPr>
        <p:txBody>
          <a:bodyPr wrap="square" rtlCol="0" anchor="ctr"/>
          <a:lstStyle/>
          <a:p>
            <a:pPr marL="0" indent="0">
              <a:buNone/>
            </a:pPr>
            <a:r>
              <a:rPr lang="en-US" sz="1100" b="1" dirty="0" err="1">
                <a:solidFill>
                  <a:srgbClr val="1B4332"/>
                </a:solidFill>
                <a:latin typeface="Calibri" pitchFamily="34" charset="0"/>
                <a:ea typeface="Calibri" pitchFamily="34" charset="-122"/>
                <a:cs typeface="Calibri" pitchFamily="34" charset="-120"/>
              </a:rPr>
              <a:t>Gán</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nhãn</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ngôn</a:t>
            </a:r>
            <a:r>
              <a:rPr lang="en-US" sz="1100" b="1" dirty="0">
                <a:solidFill>
                  <a:srgbClr val="1B4332"/>
                </a:solidFill>
                <a:latin typeface="Calibri" pitchFamily="34" charset="0"/>
                <a:ea typeface="Calibri" pitchFamily="34" charset="-122"/>
                <a:cs typeface="Calibri" pitchFamily="34" charset="-120"/>
              </a:rPr>
              <a:t> </a:t>
            </a:r>
            <a:r>
              <a:rPr lang="en-US" sz="1100" b="1" dirty="0" err="1">
                <a:solidFill>
                  <a:srgbClr val="1B4332"/>
                </a:solidFill>
                <a:latin typeface="Calibri" pitchFamily="34" charset="0"/>
                <a:ea typeface="Calibri" pitchFamily="34" charset="-122"/>
                <a:cs typeface="Calibri" pitchFamily="34" charset="-120"/>
              </a:rPr>
              <a:t>ngữ</a:t>
            </a:r>
            <a:endParaRPr lang="en-US" sz="1100" dirty="0"/>
          </a:p>
        </p:txBody>
      </p:sp>
      <p:sp>
        <p:nvSpPr>
          <p:cNvPr id="46" name="Text 44"/>
          <p:cNvSpPr/>
          <p:nvPr/>
        </p:nvSpPr>
        <p:spPr>
          <a:xfrm>
            <a:off x="5193792" y="3877056"/>
            <a:ext cx="356616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LOW / MEDIUM / HIGH</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4332"/>
          </a:solidFill>
          <a:ln w="12700">
            <a:solidFill>
              <a:srgbClr val="1B4332"/>
            </a:solidFill>
            <a:prstDash val="solid"/>
          </a:ln>
        </p:spPr>
      </p:sp>
      <p:sp>
        <p:nvSpPr>
          <p:cNvPr id="3" name="Shape 1"/>
          <p:cNvSpPr/>
          <p:nvPr/>
        </p:nvSpPr>
        <p:spPr>
          <a:xfrm>
            <a:off x="0" y="685800"/>
            <a:ext cx="9144000" cy="45720"/>
          </a:xfrm>
          <a:prstGeom prst="rect">
            <a:avLst/>
          </a:prstGeom>
          <a:solidFill>
            <a:srgbClr val="74C69D"/>
          </a:solidFill>
          <a:ln w="12700">
            <a:solidFill>
              <a:srgbClr val="74C69D"/>
            </a:solidFill>
            <a:prstDash val="solid"/>
          </a:ln>
        </p:spPr>
      </p:sp>
      <p:sp>
        <p:nvSpPr>
          <p:cNvPr id="4" name="Text 2"/>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Demo – Giao Diện Hệ Thống</a:t>
            </a:r>
            <a:endParaRPr lang="en-US" sz="2000" dirty="0"/>
          </a:p>
        </p:txBody>
      </p:sp>
      <p:sp>
        <p:nvSpPr>
          <p:cNvPr id="5" name="Shape 3"/>
          <p:cNvSpPr/>
          <p:nvPr/>
        </p:nvSpPr>
        <p:spPr>
          <a:xfrm>
            <a:off x="0" y="4869180"/>
            <a:ext cx="9144000" cy="274320"/>
          </a:xfrm>
          <a:prstGeom prst="rect">
            <a:avLst/>
          </a:prstGeom>
          <a:solidFill>
            <a:srgbClr val="D8F3DC"/>
          </a:solidFill>
          <a:ln w="12700">
            <a:solidFill>
              <a:srgbClr val="D8F3DC"/>
            </a:solidFill>
            <a:prstDash val="solid"/>
          </a:ln>
        </p:spPr>
      </p:sp>
      <p:sp>
        <p:nvSpPr>
          <p:cNvPr id="6" name="Text 4"/>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sp>
        <p:nvSpPr>
          <p:cNvPr id="7" name="Shape 5"/>
          <p:cNvSpPr/>
          <p:nvPr/>
        </p:nvSpPr>
        <p:spPr>
          <a:xfrm>
            <a:off x="228600" y="841248"/>
            <a:ext cx="5943600" cy="3749040"/>
          </a:xfrm>
          <a:prstGeom prst="rect">
            <a:avLst/>
          </a:prstGeom>
          <a:solidFill>
            <a:srgbClr val="1A1A2E"/>
          </a:solidFill>
          <a:ln w="25400">
            <a:solidFill>
              <a:srgbClr val="74C69D"/>
            </a:solidFill>
            <a:prstDash val="solid"/>
          </a:ln>
        </p:spPr>
      </p:sp>
      <p:sp>
        <p:nvSpPr>
          <p:cNvPr id="8" name="Text 6"/>
          <p:cNvSpPr/>
          <p:nvPr/>
        </p:nvSpPr>
        <p:spPr>
          <a:xfrm>
            <a:off x="228600" y="841248"/>
            <a:ext cx="5943600" cy="411480"/>
          </a:xfrm>
          <a:prstGeom prst="rect">
            <a:avLst/>
          </a:prstGeom>
          <a:noFill/>
          <a:ln/>
        </p:spPr>
        <p:txBody>
          <a:bodyPr wrap="square" rtlCol="0" anchor="ctr"/>
          <a:lstStyle/>
          <a:p>
            <a:pPr marL="0" indent="0" algn="ctr">
              <a:buNone/>
            </a:pPr>
            <a:r>
              <a:rPr lang="en-US" sz="1300" b="1" dirty="0">
                <a:solidFill>
                  <a:srgbClr val="F4A261"/>
                </a:solidFill>
                <a:latin typeface="Calibri" pitchFamily="34" charset="0"/>
                <a:ea typeface="Calibri" pitchFamily="34" charset="-122"/>
                <a:cs typeface="Calibri" pitchFamily="34" charset="-120"/>
              </a:rPr>
              <a:t>[ DEMO STREAMLIT WEB APP ]</a:t>
            </a:r>
            <a:endParaRPr lang="en-US" sz="1300" dirty="0"/>
          </a:p>
        </p:txBody>
      </p:sp>
      <p:sp>
        <p:nvSpPr>
          <p:cNvPr id="9" name="Shape 7"/>
          <p:cNvSpPr/>
          <p:nvPr/>
        </p:nvSpPr>
        <p:spPr>
          <a:xfrm>
            <a:off x="365760" y="1325880"/>
            <a:ext cx="5669280" cy="347472"/>
          </a:xfrm>
          <a:prstGeom prst="rect">
            <a:avLst/>
          </a:prstGeom>
          <a:solidFill>
            <a:srgbClr val="2D6A4F">
              <a:alpha val="40000"/>
            </a:srgbClr>
          </a:solidFill>
          <a:ln w="6350">
            <a:solidFill>
              <a:srgbClr val="40916C"/>
            </a:solidFill>
            <a:prstDash val="solid"/>
          </a:ln>
        </p:spPr>
      </p:sp>
      <p:sp>
        <p:nvSpPr>
          <p:cNvPr id="10" name="Text 8"/>
          <p:cNvSpPr/>
          <p:nvPr/>
        </p:nvSpPr>
        <p:spPr>
          <a:xfrm>
            <a:off x="502920" y="1362456"/>
            <a:ext cx="5394960" cy="274320"/>
          </a:xfrm>
          <a:prstGeom prst="rect">
            <a:avLst/>
          </a:prstGeom>
          <a:noFill/>
          <a:ln/>
        </p:spPr>
        <p:txBody>
          <a:bodyPr wrap="square" rtlCol="0" anchor="ctr"/>
          <a:lstStyle/>
          <a:p>
            <a:pPr marL="0" indent="0">
              <a:buNone/>
            </a:pPr>
            <a:r>
              <a:rPr lang="en-US" sz="1050" dirty="0">
                <a:solidFill>
                  <a:srgbClr val="D8F3DC"/>
                </a:solidFill>
                <a:latin typeface="Calibri" pitchFamily="34" charset="0"/>
                <a:ea typeface="Calibri" pitchFamily="34" charset="-122"/>
                <a:cs typeface="Calibri" pitchFamily="34" charset="-120"/>
              </a:rPr>
              <a:t>📤  Upload Ảnh Lá Cây</a:t>
            </a:r>
            <a:endParaRPr lang="en-US" sz="1050" dirty="0"/>
          </a:p>
        </p:txBody>
      </p:sp>
      <p:sp>
        <p:nvSpPr>
          <p:cNvPr id="11" name="Shape 9"/>
          <p:cNvSpPr/>
          <p:nvPr/>
        </p:nvSpPr>
        <p:spPr>
          <a:xfrm>
            <a:off x="365760" y="1783080"/>
            <a:ext cx="5669280" cy="347472"/>
          </a:xfrm>
          <a:prstGeom prst="rect">
            <a:avLst/>
          </a:prstGeom>
          <a:solidFill>
            <a:srgbClr val="2D6A4F">
              <a:alpha val="40000"/>
            </a:srgbClr>
          </a:solidFill>
          <a:ln w="6350">
            <a:solidFill>
              <a:srgbClr val="40916C"/>
            </a:solidFill>
            <a:prstDash val="solid"/>
          </a:ln>
        </p:spPr>
      </p:sp>
      <p:sp>
        <p:nvSpPr>
          <p:cNvPr id="12" name="Text 10"/>
          <p:cNvSpPr/>
          <p:nvPr/>
        </p:nvSpPr>
        <p:spPr>
          <a:xfrm>
            <a:off x="502920" y="1819656"/>
            <a:ext cx="5394960" cy="274320"/>
          </a:xfrm>
          <a:prstGeom prst="rect">
            <a:avLst/>
          </a:prstGeom>
          <a:noFill/>
          <a:ln/>
        </p:spPr>
        <p:txBody>
          <a:bodyPr wrap="square" rtlCol="0" anchor="ctr"/>
          <a:lstStyle/>
          <a:p>
            <a:pPr marL="0" indent="0">
              <a:buNone/>
            </a:pPr>
            <a:r>
              <a:rPr lang="en-US" sz="1050" dirty="0">
                <a:solidFill>
                  <a:srgbClr val="D8F3DC"/>
                </a:solidFill>
                <a:latin typeface="Calibri" pitchFamily="34" charset="0"/>
                <a:ea typeface="Calibri" pitchFamily="34" charset="-122"/>
                <a:cs typeface="Calibri" pitchFamily="34" charset="-120"/>
              </a:rPr>
              <a:t>🌡  Nhập thông số môi trường (Nhiệt độ, Độ ẩm)</a:t>
            </a:r>
            <a:endParaRPr lang="en-US" sz="1050" dirty="0"/>
          </a:p>
        </p:txBody>
      </p:sp>
      <p:sp>
        <p:nvSpPr>
          <p:cNvPr id="13" name="Shape 11"/>
          <p:cNvSpPr/>
          <p:nvPr/>
        </p:nvSpPr>
        <p:spPr>
          <a:xfrm>
            <a:off x="365760" y="2240280"/>
            <a:ext cx="5669280" cy="347472"/>
          </a:xfrm>
          <a:prstGeom prst="rect">
            <a:avLst/>
          </a:prstGeom>
          <a:solidFill>
            <a:srgbClr val="2D6A4F">
              <a:alpha val="40000"/>
            </a:srgbClr>
          </a:solidFill>
          <a:ln w="6350">
            <a:solidFill>
              <a:srgbClr val="40916C"/>
            </a:solidFill>
            <a:prstDash val="solid"/>
          </a:ln>
        </p:spPr>
      </p:sp>
      <p:sp>
        <p:nvSpPr>
          <p:cNvPr id="14" name="Text 12"/>
          <p:cNvSpPr/>
          <p:nvPr/>
        </p:nvSpPr>
        <p:spPr>
          <a:xfrm>
            <a:off x="502920" y="2276856"/>
            <a:ext cx="5394960" cy="274320"/>
          </a:xfrm>
          <a:prstGeom prst="rect">
            <a:avLst/>
          </a:prstGeom>
          <a:noFill/>
          <a:ln/>
        </p:spPr>
        <p:txBody>
          <a:bodyPr wrap="square" rtlCol="0" anchor="ctr"/>
          <a:lstStyle/>
          <a:p>
            <a:pPr marL="0" indent="0">
              <a:buNone/>
            </a:pPr>
            <a:r>
              <a:rPr lang="en-US" sz="1050" dirty="0">
                <a:solidFill>
                  <a:srgbClr val="D8F3DC"/>
                </a:solidFill>
                <a:latin typeface="Calibri" pitchFamily="34" charset="0"/>
                <a:ea typeface="Calibri" pitchFamily="34" charset="-122"/>
                <a:cs typeface="Calibri" pitchFamily="34" charset="-120"/>
              </a:rPr>
              <a:t>▶  Chạy phân tích CNN + Fuzzy</a:t>
            </a:r>
            <a:endParaRPr lang="en-US" sz="1050" dirty="0"/>
          </a:p>
        </p:txBody>
      </p:sp>
      <p:sp>
        <p:nvSpPr>
          <p:cNvPr id="15" name="Shape 13"/>
          <p:cNvSpPr/>
          <p:nvPr/>
        </p:nvSpPr>
        <p:spPr>
          <a:xfrm>
            <a:off x="365760" y="2697480"/>
            <a:ext cx="5669280" cy="347472"/>
          </a:xfrm>
          <a:prstGeom prst="rect">
            <a:avLst/>
          </a:prstGeom>
          <a:solidFill>
            <a:srgbClr val="2D6A4F">
              <a:alpha val="40000"/>
            </a:srgbClr>
          </a:solidFill>
          <a:ln w="6350">
            <a:solidFill>
              <a:srgbClr val="40916C"/>
            </a:solidFill>
            <a:prstDash val="solid"/>
          </a:ln>
        </p:spPr>
      </p:sp>
      <p:sp>
        <p:nvSpPr>
          <p:cNvPr id="16" name="Text 14"/>
          <p:cNvSpPr/>
          <p:nvPr/>
        </p:nvSpPr>
        <p:spPr>
          <a:xfrm>
            <a:off x="502920" y="2734056"/>
            <a:ext cx="5394960" cy="274320"/>
          </a:xfrm>
          <a:prstGeom prst="rect">
            <a:avLst/>
          </a:prstGeom>
          <a:noFill/>
          <a:ln/>
        </p:spPr>
        <p:txBody>
          <a:bodyPr wrap="square" rtlCol="0" anchor="ctr"/>
          <a:lstStyle/>
          <a:p>
            <a:pPr marL="0" indent="0">
              <a:buNone/>
            </a:pPr>
            <a:r>
              <a:rPr lang="en-US" sz="1050" dirty="0">
                <a:solidFill>
                  <a:srgbClr val="D8F3DC"/>
                </a:solidFill>
                <a:latin typeface="Calibri" pitchFamily="34" charset="0"/>
                <a:ea typeface="Calibri" pitchFamily="34" charset="-122"/>
                <a:cs typeface="Calibri" pitchFamily="34" charset="-120"/>
              </a:rPr>
              <a:t>📋  Kết quả phân loại bệnh &amp; Độ tin cậy</a:t>
            </a:r>
            <a:endParaRPr lang="en-US" sz="1050" dirty="0"/>
          </a:p>
        </p:txBody>
      </p:sp>
      <p:sp>
        <p:nvSpPr>
          <p:cNvPr id="17" name="Shape 15"/>
          <p:cNvSpPr/>
          <p:nvPr/>
        </p:nvSpPr>
        <p:spPr>
          <a:xfrm>
            <a:off x="365760" y="3154680"/>
            <a:ext cx="5669280" cy="347472"/>
          </a:xfrm>
          <a:prstGeom prst="rect">
            <a:avLst/>
          </a:prstGeom>
          <a:solidFill>
            <a:srgbClr val="2D6A4F">
              <a:alpha val="40000"/>
            </a:srgbClr>
          </a:solidFill>
          <a:ln w="6350">
            <a:solidFill>
              <a:srgbClr val="40916C"/>
            </a:solidFill>
            <a:prstDash val="solid"/>
          </a:ln>
        </p:spPr>
      </p:sp>
      <p:sp>
        <p:nvSpPr>
          <p:cNvPr id="18" name="Text 16"/>
          <p:cNvSpPr/>
          <p:nvPr/>
        </p:nvSpPr>
        <p:spPr>
          <a:xfrm>
            <a:off x="502920" y="3191256"/>
            <a:ext cx="5394960" cy="274320"/>
          </a:xfrm>
          <a:prstGeom prst="rect">
            <a:avLst/>
          </a:prstGeom>
          <a:noFill/>
          <a:ln/>
        </p:spPr>
        <p:txBody>
          <a:bodyPr wrap="square" rtlCol="0" anchor="ctr"/>
          <a:lstStyle/>
          <a:p>
            <a:pPr marL="0" indent="0">
              <a:buNone/>
            </a:pPr>
            <a:r>
              <a:rPr lang="en-US" sz="1050" dirty="0">
                <a:solidFill>
                  <a:srgbClr val="D8F3DC"/>
                </a:solidFill>
                <a:latin typeface="Calibri" pitchFamily="34" charset="0"/>
                <a:ea typeface="Calibri" pitchFamily="34" charset="-122"/>
                <a:cs typeface="Calibri" pitchFamily="34" charset="-120"/>
              </a:rPr>
              <a:t>💡  Báo cáo XAI – Luật mờ kích hoạt</a:t>
            </a:r>
            <a:endParaRPr lang="en-US" sz="1050" dirty="0"/>
          </a:p>
        </p:txBody>
      </p:sp>
      <p:sp>
        <p:nvSpPr>
          <p:cNvPr id="19" name="Shape 17"/>
          <p:cNvSpPr/>
          <p:nvPr/>
        </p:nvSpPr>
        <p:spPr>
          <a:xfrm>
            <a:off x="365760" y="3611880"/>
            <a:ext cx="5669280" cy="347472"/>
          </a:xfrm>
          <a:prstGeom prst="rect">
            <a:avLst/>
          </a:prstGeom>
          <a:solidFill>
            <a:srgbClr val="2D6A4F">
              <a:alpha val="40000"/>
            </a:srgbClr>
          </a:solidFill>
          <a:ln w="6350">
            <a:solidFill>
              <a:srgbClr val="40916C"/>
            </a:solidFill>
            <a:prstDash val="solid"/>
          </a:ln>
        </p:spPr>
      </p:sp>
      <p:sp>
        <p:nvSpPr>
          <p:cNvPr id="20" name="Text 18"/>
          <p:cNvSpPr/>
          <p:nvPr/>
        </p:nvSpPr>
        <p:spPr>
          <a:xfrm>
            <a:off x="502920" y="3648456"/>
            <a:ext cx="5394960" cy="274320"/>
          </a:xfrm>
          <a:prstGeom prst="rect">
            <a:avLst/>
          </a:prstGeom>
          <a:noFill/>
          <a:ln/>
        </p:spPr>
        <p:txBody>
          <a:bodyPr wrap="square" rtlCol="0" anchor="ctr"/>
          <a:lstStyle/>
          <a:p>
            <a:pPr marL="0" indent="0">
              <a:buNone/>
            </a:pPr>
            <a:r>
              <a:rPr lang="en-US" sz="1050" dirty="0">
                <a:solidFill>
                  <a:srgbClr val="D8F3DC"/>
                </a:solidFill>
                <a:latin typeface="Calibri" pitchFamily="34" charset="0"/>
                <a:ea typeface="Calibri" pitchFamily="34" charset="-122"/>
                <a:cs typeface="Calibri" pitchFamily="34" charset="-120"/>
              </a:rPr>
              <a:t>📝  Khuyến nghị nông nghiệp tự động</a:t>
            </a:r>
            <a:endParaRPr lang="en-US" sz="1050" dirty="0"/>
          </a:p>
        </p:txBody>
      </p:sp>
      <p:sp>
        <p:nvSpPr>
          <p:cNvPr id="21" name="Text 19"/>
          <p:cNvSpPr/>
          <p:nvPr/>
        </p:nvSpPr>
        <p:spPr>
          <a:xfrm>
            <a:off x="6400800" y="841248"/>
            <a:ext cx="2514600" cy="384048"/>
          </a:xfrm>
          <a:prstGeom prst="rect">
            <a:avLst/>
          </a:prstGeom>
          <a:noFill/>
          <a:ln/>
        </p:spPr>
        <p:txBody>
          <a:bodyPr wrap="square" rtlCol="0" anchor="ctr"/>
          <a:lstStyle/>
          <a:p>
            <a:pPr marL="0" indent="0">
              <a:buNone/>
            </a:pPr>
            <a:r>
              <a:rPr lang="en-US" sz="1300" b="1" dirty="0">
                <a:solidFill>
                  <a:srgbClr val="1B4332"/>
                </a:solidFill>
                <a:latin typeface="Calibri" pitchFamily="34" charset="0"/>
                <a:ea typeface="Calibri" pitchFamily="34" charset="-122"/>
                <a:cs typeface="Calibri" pitchFamily="34" charset="-120"/>
              </a:rPr>
              <a:t>🛠  Công Nghệ Sử Dụng</a:t>
            </a:r>
            <a:endParaRPr lang="en-US" sz="1300" dirty="0"/>
          </a:p>
        </p:txBody>
      </p:sp>
      <p:sp>
        <p:nvSpPr>
          <p:cNvPr id="22" name="Shape 20"/>
          <p:cNvSpPr/>
          <p:nvPr/>
        </p:nvSpPr>
        <p:spPr>
          <a:xfrm>
            <a:off x="6400800" y="1298448"/>
            <a:ext cx="2514600" cy="329184"/>
          </a:xfrm>
          <a:prstGeom prst="rect">
            <a:avLst/>
          </a:prstGeom>
          <a:solidFill>
            <a:srgbClr val="D8F3DC"/>
          </a:solidFill>
          <a:ln w="6350">
            <a:solidFill>
              <a:srgbClr val="74C69D"/>
            </a:solidFill>
            <a:prstDash val="solid"/>
          </a:ln>
        </p:spPr>
      </p:sp>
      <p:sp>
        <p:nvSpPr>
          <p:cNvPr id="23" name="Text 21"/>
          <p:cNvSpPr/>
          <p:nvPr/>
        </p:nvSpPr>
        <p:spPr>
          <a:xfrm>
            <a:off x="6492240" y="133502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Python 3.10+</a:t>
            </a:r>
            <a:endParaRPr lang="en-US" sz="1000" dirty="0"/>
          </a:p>
        </p:txBody>
      </p:sp>
      <p:sp>
        <p:nvSpPr>
          <p:cNvPr id="24" name="Text 22"/>
          <p:cNvSpPr/>
          <p:nvPr/>
        </p:nvSpPr>
        <p:spPr>
          <a:xfrm>
            <a:off x="7589520" y="133502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Ngôn ngữ chính</a:t>
            </a:r>
            <a:endParaRPr lang="en-US" sz="950" dirty="0"/>
          </a:p>
        </p:txBody>
      </p:sp>
      <p:sp>
        <p:nvSpPr>
          <p:cNvPr id="25" name="Shape 23"/>
          <p:cNvSpPr/>
          <p:nvPr/>
        </p:nvSpPr>
        <p:spPr>
          <a:xfrm>
            <a:off x="6400800" y="1664208"/>
            <a:ext cx="2514600" cy="329184"/>
          </a:xfrm>
          <a:prstGeom prst="rect">
            <a:avLst/>
          </a:prstGeom>
          <a:solidFill>
            <a:srgbClr val="F8F9FA"/>
          </a:solidFill>
          <a:ln w="6350">
            <a:solidFill>
              <a:srgbClr val="74C69D"/>
            </a:solidFill>
            <a:prstDash val="solid"/>
          </a:ln>
        </p:spPr>
      </p:sp>
      <p:sp>
        <p:nvSpPr>
          <p:cNvPr id="26" name="Text 24"/>
          <p:cNvSpPr/>
          <p:nvPr/>
        </p:nvSpPr>
        <p:spPr>
          <a:xfrm>
            <a:off x="6492240" y="170078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PyTorch</a:t>
            </a:r>
            <a:endParaRPr lang="en-US" sz="1000" dirty="0"/>
          </a:p>
        </p:txBody>
      </p:sp>
      <p:sp>
        <p:nvSpPr>
          <p:cNvPr id="27" name="Text 25"/>
          <p:cNvSpPr/>
          <p:nvPr/>
        </p:nvSpPr>
        <p:spPr>
          <a:xfrm>
            <a:off x="7589520" y="170078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Xây dựng CNN</a:t>
            </a:r>
            <a:endParaRPr lang="en-US" sz="950" dirty="0"/>
          </a:p>
        </p:txBody>
      </p:sp>
      <p:sp>
        <p:nvSpPr>
          <p:cNvPr id="28" name="Shape 26"/>
          <p:cNvSpPr/>
          <p:nvPr/>
        </p:nvSpPr>
        <p:spPr>
          <a:xfrm>
            <a:off x="6400800" y="2029968"/>
            <a:ext cx="2514600" cy="329184"/>
          </a:xfrm>
          <a:prstGeom prst="rect">
            <a:avLst/>
          </a:prstGeom>
          <a:solidFill>
            <a:srgbClr val="D8F3DC"/>
          </a:solidFill>
          <a:ln w="6350">
            <a:solidFill>
              <a:srgbClr val="74C69D"/>
            </a:solidFill>
            <a:prstDash val="solid"/>
          </a:ln>
        </p:spPr>
      </p:sp>
      <p:sp>
        <p:nvSpPr>
          <p:cNvPr id="29" name="Text 27"/>
          <p:cNvSpPr/>
          <p:nvPr/>
        </p:nvSpPr>
        <p:spPr>
          <a:xfrm>
            <a:off x="6492240" y="206654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TorchVision</a:t>
            </a:r>
            <a:endParaRPr lang="en-US" sz="1000" dirty="0"/>
          </a:p>
        </p:txBody>
      </p:sp>
      <p:sp>
        <p:nvSpPr>
          <p:cNvPr id="30" name="Text 28"/>
          <p:cNvSpPr/>
          <p:nvPr/>
        </p:nvSpPr>
        <p:spPr>
          <a:xfrm>
            <a:off x="7589520" y="206654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EfficientNet-B0</a:t>
            </a:r>
            <a:endParaRPr lang="en-US" sz="950" dirty="0"/>
          </a:p>
        </p:txBody>
      </p:sp>
      <p:sp>
        <p:nvSpPr>
          <p:cNvPr id="31" name="Shape 29"/>
          <p:cNvSpPr/>
          <p:nvPr/>
        </p:nvSpPr>
        <p:spPr>
          <a:xfrm>
            <a:off x="6400800" y="2395728"/>
            <a:ext cx="2514600" cy="329184"/>
          </a:xfrm>
          <a:prstGeom prst="rect">
            <a:avLst/>
          </a:prstGeom>
          <a:solidFill>
            <a:srgbClr val="F8F9FA"/>
          </a:solidFill>
          <a:ln w="6350">
            <a:solidFill>
              <a:srgbClr val="74C69D"/>
            </a:solidFill>
            <a:prstDash val="solid"/>
          </a:ln>
        </p:spPr>
      </p:sp>
      <p:sp>
        <p:nvSpPr>
          <p:cNvPr id="32" name="Text 30"/>
          <p:cNvSpPr/>
          <p:nvPr/>
        </p:nvSpPr>
        <p:spPr>
          <a:xfrm>
            <a:off x="6492240" y="243230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scikit-learn</a:t>
            </a:r>
            <a:endParaRPr lang="en-US" sz="1000" dirty="0"/>
          </a:p>
        </p:txBody>
      </p:sp>
      <p:sp>
        <p:nvSpPr>
          <p:cNvPr id="33" name="Text 31"/>
          <p:cNvSpPr/>
          <p:nvPr/>
        </p:nvSpPr>
        <p:spPr>
          <a:xfrm>
            <a:off x="7589520" y="243230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Đánh giá mô hình</a:t>
            </a:r>
            <a:endParaRPr lang="en-US" sz="950" dirty="0"/>
          </a:p>
        </p:txBody>
      </p:sp>
      <p:sp>
        <p:nvSpPr>
          <p:cNvPr id="34" name="Shape 32"/>
          <p:cNvSpPr/>
          <p:nvPr/>
        </p:nvSpPr>
        <p:spPr>
          <a:xfrm>
            <a:off x="6400800" y="2761488"/>
            <a:ext cx="2514600" cy="329184"/>
          </a:xfrm>
          <a:prstGeom prst="rect">
            <a:avLst/>
          </a:prstGeom>
          <a:solidFill>
            <a:srgbClr val="D8F3DC"/>
          </a:solidFill>
          <a:ln w="6350">
            <a:solidFill>
              <a:srgbClr val="74C69D"/>
            </a:solidFill>
            <a:prstDash val="solid"/>
          </a:ln>
        </p:spPr>
      </p:sp>
      <p:sp>
        <p:nvSpPr>
          <p:cNvPr id="35" name="Text 33"/>
          <p:cNvSpPr/>
          <p:nvPr/>
        </p:nvSpPr>
        <p:spPr>
          <a:xfrm>
            <a:off x="6492240" y="279806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Streamlit</a:t>
            </a:r>
            <a:endParaRPr lang="en-US" sz="1000" dirty="0"/>
          </a:p>
        </p:txBody>
      </p:sp>
      <p:sp>
        <p:nvSpPr>
          <p:cNvPr id="36" name="Text 34"/>
          <p:cNvSpPr/>
          <p:nvPr/>
        </p:nvSpPr>
        <p:spPr>
          <a:xfrm>
            <a:off x="7589520" y="279806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Giao diện Web Demo</a:t>
            </a:r>
            <a:endParaRPr lang="en-US" sz="950" dirty="0"/>
          </a:p>
        </p:txBody>
      </p:sp>
      <p:sp>
        <p:nvSpPr>
          <p:cNvPr id="37" name="Shape 35"/>
          <p:cNvSpPr/>
          <p:nvPr/>
        </p:nvSpPr>
        <p:spPr>
          <a:xfrm>
            <a:off x="6400800" y="3127248"/>
            <a:ext cx="2514600" cy="329184"/>
          </a:xfrm>
          <a:prstGeom prst="rect">
            <a:avLst/>
          </a:prstGeom>
          <a:solidFill>
            <a:srgbClr val="F8F9FA"/>
          </a:solidFill>
          <a:ln w="6350">
            <a:solidFill>
              <a:srgbClr val="74C69D"/>
            </a:solidFill>
            <a:prstDash val="solid"/>
          </a:ln>
        </p:spPr>
      </p:sp>
      <p:sp>
        <p:nvSpPr>
          <p:cNvPr id="38" name="Text 36"/>
          <p:cNvSpPr/>
          <p:nvPr/>
        </p:nvSpPr>
        <p:spPr>
          <a:xfrm>
            <a:off x="6492240" y="316382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NumPy / Pandas</a:t>
            </a:r>
            <a:endParaRPr lang="en-US" sz="1000" dirty="0"/>
          </a:p>
        </p:txBody>
      </p:sp>
      <p:sp>
        <p:nvSpPr>
          <p:cNvPr id="39" name="Text 37"/>
          <p:cNvSpPr/>
          <p:nvPr/>
        </p:nvSpPr>
        <p:spPr>
          <a:xfrm>
            <a:off x="7589520" y="316382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Xử lý dữ liệu</a:t>
            </a:r>
            <a:endParaRPr lang="en-US" sz="950" dirty="0"/>
          </a:p>
        </p:txBody>
      </p:sp>
      <p:sp>
        <p:nvSpPr>
          <p:cNvPr id="40" name="Shape 38"/>
          <p:cNvSpPr/>
          <p:nvPr/>
        </p:nvSpPr>
        <p:spPr>
          <a:xfrm>
            <a:off x="6400800" y="3493008"/>
            <a:ext cx="2514600" cy="329184"/>
          </a:xfrm>
          <a:prstGeom prst="rect">
            <a:avLst/>
          </a:prstGeom>
          <a:solidFill>
            <a:srgbClr val="D8F3DC"/>
          </a:solidFill>
          <a:ln w="6350">
            <a:solidFill>
              <a:srgbClr val="74C69D"/>
            </a:solidFill>
            <a:prstDash val="solid"/>
          </a:ln>
        </p:spPr>
      </p:sp>
      <p:sp>
        <p:nvSpPr>
          <p:cNvPr id="41" name="Text 39"/>
          <p:cNvSpPr/>
          <p:nvPr/>
        </p:nvSpPr>
        <p:spPr>
          <a:xfrm>
            <a:off x="6492240" y="352958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Pillow (PIL)</a:t>
            </a:r>
            <a:endParaRPr lang="en-US" sz="1000" dirty="0"/>
          </a:p>
        </p:txBody>
      </p:sp>
      <p:sp>
        <p:nvSpPr>
          <p:cNvPr id="42" name="Text 40"/>
          <p:cNvSpPr/>
          <p:nvPr/>
        </p:nvSpPr>
        <p:spPr>
          <a:xfrm>
            <a:off x="7589520" y="352958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Xử lý ảnh đầu vào</a:t>
            </a:r>
            <a:endParaRPr lang="en-US" sz="950" dirty="0"/>
          </a:p>
        </p:txBody>
      </p:sp>
      <p:sp>
        <p:nvSpPr>
          <p:cNvPr id="43" name="Shape 41"/>
          <p:cNvSpPr/>
          <p:nvPr/>
        </p:nvSpPr>
        <p:spPr>
          <a:xfrm>
            <a:off x="6400800" y="3858768"/>
            <a:ext cx="2514600" cy="329184"/>
          </a:xfrm>
          <a:prstGeom prst="rect">
            <a:avLst/>
          </a:prstGeom>
          <a:solidFill>
            <a:srgbClr val="F8F9FA"/>
          </a:solidFill>
          <a:ln w="6350">
            <a:solidFill>
              <a:srgbClr val="74C69D"/>
            </a:solidFill>
            <a:prstDash val="solid"/>
          </a:ln>
        </p:spPr>
      </p:sp>
      <p:sp>
        <p:nvSpPr>
          <p:cNvPr id="44" name="Text 42"/>
          <p:cNvSpPr/>
          <p:nvPr/>
        </p:nvSpPr>
        <p:spPr>
          <a:xfrm>
            <a:off x="6492240" y="3895344"/>
            <a:ext cx="1097280" cy="256032"/>
          </a:xfrm>
          <a:prstGeom prst="rect">
            <a:avLst/>
          </a:prstGeom>
          <a:noFill/>
          <a:ln/>
        </p:spPr>
        <p:txBody>
          <a:bodyPr wrap="square" rtlCol="0" anchor="ctr"/>
          <a:lstStyle/>
          <a:p>
            <a:pPr marL="0" indent="0">
              <a:buNone/>
            </a:pPr>
            <a:r>
              <a:rPr lang="en-US" sz="1000" b="1" dirty="0">
                <a:solidFill>
                  <a:srgbClr val="1B4332"/>
                </a:solidFill>
                <a:latin typeface="Calibri" pitchFamily="34" charset="0"/>
                <a:ea typeface="Calibri" pitchFamily="34" charset="-122"/>
                <a:cs typeface="Calibri" pitchFamily="34" charset="-120"/>
              </a:rPr>
              <a:t>JSON</a:t>
            </a:r>
            <a:endParaRPr lang="en-US" sz="1000" dirty="0"/>
          </a:p>
        </p:txBody>
      </p:sp>
      <p:sp>
        <p:nvSpPr>
          <p:cNvPr id="45" name="Text 43"/>
          <p:cNvSpPr/>
          <p:nvPr/>
        </p:nvSpPr>
        <p:spPr>
          <a:xfrm>
            <a:off x="7589520" y="3895344"/>
            <a:ext cx="1234440" cy="256032"/>
          </a:xfrm>
          <a:prstGeom prst="rect">
            <a:avLst/>
          </a:prstGeom>
          <a:noFill/>
          <a:ln/>
        </p:spPr>
        <p:txBody>
          <a:bodyPr wrap="square" rtlCol="0" anchor="ctr"/>
          <a:lstStyle/>
          <a:p>
            <a:pPr marL="0" indent="0">
              <a:buNone/>
            </a:pPr>
            <a:r>
              <a:rPr lang="en-US" sz="950" dirty="0">
                <a:solidFill>
                  <a:srgbClr val="6C757D"/>
                </a:solidFill>
                <a:latin typeface="Calibri" pitchFamily="34" charset="0"/>
                <a:ea typeface="Calibri" pitchFamily="34" charset="-122"/>
                <a:cs typeface="Calibri" pitchFamily="34" charset="-120"/>
              </a:rPr>
              <a:t>Lưu báo cáo XAI</a:t>
            </a:r>
            <a:endParaRPr lang="en-US" sz="950" dirty="0"/>
          </a:p>
        </p:txBody>
      </p:sp>
      <p:sp>
        <p:nvSpPr>
          <p:cNvPr id="46" name="Shape 44"/>
          <p:cNvSpPr/>
          <p:nvPr/>
        </p:nvSpPr>
        <p:spPr>
          <a:xfrm>
            <a:off x="6400800" y="4224528"/>
            <a:ext cx="2514600" cy="365760"/>
          </a:xfrm>
          <a:prstGeom prst="rect">
            <a:avLst/>
          </a:prstGeom>
          <a:solidFill>
            <a:srgbClr val="1B4332"/>
          </a:solidFill>
          <a:ln w="12700">
            <a:solidFill>
              <a:srgbClr val="1B4332"/>
            </a:solidFill>
            <a:prstDash val="solid"/>
          </a:ln>
        </p:spPr>
      </p:sp>
      <p:sp>
        <p:nvSpPr>
          <p:cNvPr id="47" name="Text 45"/>
          <p:cNvSpPr/>
          <p:nvPr/>
        </p:nvSpPr>
        <p:spPr>
          <a:xfrm>
            <a:off x="6400800" y="4224528"/>
            <a:ext cx="2514600" cy="365760"/>
          </a:xfrm>
          <a:prstGeom prst="rect">
            <a:avLst/>
          </a:prstGeom>
          <a:noFill/>
          <a:ln/>
        </p:spPr>
        <p:txBody>
          <a:bodyPr wrap="square" rtlCol="0" anchor="ctr"/>
          <a:lstStyle/>
          <a:p>
            <a:pPr marL="0" indent="0" algn="ctr">
              <a:buNone/>
            </a:pPr>
            <a:r>
              <a:rPr lang="en-US" sz="1050" b="1" dirty="0">
                <a:solidFill>
                  <a:srgbClr val="F4A261"/>
                </a:solidFill>
                <a:latin typeface="Calibri" pitchFamily="34" charset="0"/>
                <a:ea typeface="Calibri" pitchFamily="34" charset="-122"/>
                <a:cs typeface="Calibri" pitchFamily="34" charset="-120"/>
              </a:rPr>
              <a:t>  Explainable AI (XAI) enabled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4332"/>
          </a:solidFill>
          <a:ln w="12700">
            <a:solidFill>
              <a:srgbClr val="1B4332"/>
            </a:solidFill>
            <a:prstDash val="solid"/>
          </a:ln>
        </p:spPr>
      </p:sp>
      <p:sp>
        <p:nvSpPr>
          <p:cNvPr id="3" name="Shape 1"/>
          <p:cNvSpPr/>
          <p:nvPr/>
        </p:nvSpPr>
        <p:spPr>
          <a:xfrm>
            <a:off x="0" y="685800"/>
            <a:ext cx="9144000" cy="45720"/>
          </a:xfrm>
          <a:prstGeom prst="rect">
            <a:avLst/>
          </a:prstGeom>
          <a:solidFill>
            <a:srgbClr val="74C69D"/>
          </a:solidFill>
          <a:ln w="12700">
            <a:solidFill>
              <a:srgbClr val="74C69D"/>
            </a:solidFill>
            <a:prstDash val="solid"/>
          </a:ln>
        </p:spPr>
      </p:sp>
      <p:sp>
        <p:nvSpPr>
          <p:cNvPr id="4" name="Text 2"/>
          <p:cNvSpPr/>
          <p:nvPr/>
        </p:nvSpPr>
        <p:spPr>
          <a:xfrm>
            <a:off x="274320" y="0"/>
            <a:ext cx="8595360" cy="685800"/>
          </a:xfrm>
          <a:prstGeom prst="rect">
            <a:avLst/>
          </a:prstGeom>
          <a:noFill/>
          <a:ln/>
        </p:spPr>
        <p:txBody>
          <a:bodyPr wrap="square" lIns="0" tIns="0" rIns="0" bIns="0" rtlCol="0" anchor="ctr"/>
          <a:lstStyle/>
          <a:p>
            <a:pPr marL="0" indent="0" algn="l">
              <a:buNone/>
            </a:pPr>
            <a:r>
              <a:rPr lang="en-US" sz="2000" b="1" dirty="0">
                <a:solidFill>
                  <a:srgbClr val="FFFFFF"/>
                </a:solidFill>
                <a:latin typeface="Calibri" pitchFamily="34" charset="0"/>
                <a:ea typeface="Calibri" pitchFamily="34" charset="-122"/>
                <a:cs typeface="Calibri" pitchFamily="34" charset="-120"/>
              </a:rPr>
              <a:t>Kết Quả – Đánh Giá Hệ Thống</a:t>
            </a:r>
            <a:endParaRPr lang="en-US" sz="2000" dirty="0"/>
          </a:p>
        </p:txBody>
      </p:sp>
      <p:sp>
        <p:nvSpPr>
          <p:cNvPr id="5" name="Shape 3"/>
          <p:cNvSpPr/>
          <p:nvPr/>
        </p:nvSpPr>
        <p:spPr>
          <a:xfrm>
            <a:off x="0" y="4869180"/>
            <a:ext cx="9144000" cy="274320"/>
          </a:xfrm>
          <a:prstGeom prst="rect">
            <a:avLst/>
          </a:prstGeom>
          <a:solidFill>
            <a:srgbClr val="D8F3DC"/>
          </a:solidFill>
          <a:ln w="12700">
            <a:solidFill>
              <a:srgbClr val="D8F3DC"/>
            </a:solidFill>
            <a:prstDash val="solid"/>
          </a:ln>
        </p:spPr>
      </p:sp>
      <p:sp>
        <p:nvSpPr>
          <p:cNvPr id="6" name="Text 4"/>
          <p:cNvSpPr/>
          <p:nvPr/>
        </p:nvSpPr>
        <p:spPr>
          <a:xfrm>
            <a:off x="274320" y="4869180"/>
            <a:ext cx="8595360" cy="274320"/>
          </a:xfrm>
          <a:prstGeom prst="rect">
            <a:avLst/>
          </a:prstGeom>
          <a:noFill/>
          <a:ln/>
        </p:spPr>
        <p:txBody>
          <a:bodyPr wrap="square" lIns="0" tIns="0" rIns="0" bIns="0" rtlCol="0" anchor="ctr"/>
          <a:lstStyle/>
          <a:p>
            <a:pPr marL="0" indent="0" algn="l">
              <a:buNone/>
            </a:pPr>
            <a:r>
              <a:rPr lang="en-US" sz="800" dirty="0">
                <a:solidFill>
                  <a:srgbClr val="6C757D"/>
                </a:solidFill>
                <a:latin typeface="Calibri" pitchFamily="34" charset="0"/>
                <a:ea typeface="Calibri" pitchFamily="34" charset="-122"/>
                <a:cs typeface="Calibri" pitchFamily="34" charset="-120"/>
              </a:rPr>
              <a:t>Nhóm 14 | Hệ Thống Thông Minh | ĐH Thủy Lợi</a:t>
            </a:r>
            <a:endParaRPr lang="en-US" sz="800" dirty="0"/>
          </a:p>
        </p:txBody>
      </p:sp>
      <p:sp>
        <p:nvSpPr>
          <p:cNvPr id="7" name="Text 5"/>
          <p:cNvSpPr/>
          <p:nvPr/>
        </p:nvSpPr>
        <p:spPr>
          <a:xfrm>
            <a:off x="228600" y="804672"/>
            <a:ext cx="4572000" cy="365760"/>
          </a:xfrm>
          <a:prstGeom prst="rect">
            <a:avLst/>
          </a:prstGeom>
          <a:noFill/>
          <a:ln/>
        </p:spPr>
        <p:txBody>
          <a:bodyPr wrap="square" rtlCol="0" anchor="ctr"/>
          <a:lstStyle/>
          <a:p>
            <a:pPr marL="0" indent="0">
              <a:buNone/>
            </a:pPr>
            <a:r>
              <a:rPr lang="en-US" sz="1300" b="1" dirty="0">
                <a:solidFill>
                  <a:srgbClr val="1B4332"/>
                </a:solidFill>
                <a:latin typeface="Calibri" pitchFamily="34" charset="0"/>
                <a:ea typeface="Calibri" pitchFamily="34" charset="-122"/>
                <a:cs typeface="Calibri" pitchFamily="34" charset="-120"/>
              </a:rPr>
              <a:t>📊 Hiệu Năng Mô Hình EfficientNet-B0</a:t>
            </a:r>
            <a:endParaRPr lang="en-US" sz="1300" dirty="0"/>
          </a:p>
        </p:txBody>
      </p:sp>
      <p:sp>
        <p:nvSpPr>
          <p:cNvPr id="8" name="Shape 6"/>
          <p:cNvSpPr/>
          <p:nvPr/>
        </p:nvSpPr>
        <p:spPr>
          <a:xfrm>
            <a:off x="228600" y="1207008"/>
            <a:ext cx="1417320" cy="1097280"/>
          </a:xfrm>
          <a:prstGeom prst="rect">
            <a:avLst/>
          </a:prstGeom>
          <a:solidFill>
            <a:srgbClr val="1B4332"/>
          </a:solidFill>
          <a:ln w="12700">
            <a:solidFill>
              <a:srgbClr val="1B4332"/>
            </a:solidFill>
            <a:prstDash val="solid"/>
          </a:ln>
          <a:effectLst>
            <a:outerShdw blurRad="76200" dist="25400" dir="8100000" algn="bl" rotWithShape="0">
              <a:srgbClr val="666666">
                <a:alpha val="30000"/>
              </a:srgbClr>
            </a:outerShdw>
          </a:effectLst>
        </p:spPr>
      </p:sp>
      <p:sp>
        <p:nvSpPr>
          <p:cNvPr id="9" name="Text 7"/>
          <p:cNvSpPr/>
          <p:nvPr/>
        </p:nvSpPr>
        <p:spPr>
          <a:xfrm>
            <a:off x="228600" y="1234440"/>
            <a:ext cx="1417320" cy="594360"/>
          </a:xfrm>
          <a:prstGeom prst="rect">
            <a:avLst/>
          </a:prstGeom>
          <a:noFill/>
          <a:ln/>
        </p:spPr>
        <p:txBody>
          <a:bodyPr wrap="square" rtlCol="0" anchor="ctr"/>
          <a:lstStyle/>
          <a:p>
            <a:pPr marL="0" indent="0" algn="ctr">
              <a:buNone/>
            </a:pPr>
            <a:r>
              <a:rPr lang="en-US" sz="2200" b="1" dirty="0">
                <a:solidFill>
                  <a:srgbClr val="F4A261"/>
                </a:solidFill>
                <a:latin typeface="Calibri" pitchFamily="34" charset="0"/>
                <a:ea typeface="Calibri" pitchFamily="34" charset="-122"/>
                <a:cs typeface="Calibri" pitchFamily="34" charset="-120"/>
              </a:rPr>
              <a:t>92.04%</a:t>
            </a:r>
            <a:endParaRPr lang="en-US" sz="2200" dirty="0"/>
          </a:p>
        </p:txBody>
      </p:sp>
      <p:sp>
        <p:nvSpPr>
          <p:cNvPr id="10" name="Text 8"/>
          <p:cNvSpPr/>
          <p:nvPr/>
        </p:nvSpPr>
        <p:spPr>
          <a:xfrm>
            <a:off x="228600" y="1783080"/>
            <a:ext cx="1417320" cy="475488"/>
          </a:xfrm>
          <a:prstGeom prst="rect">
            <a:avLst/>
          </a:prstGeom>
          <a:noFill/>
          <a:ln/>
        </p:spPr>
        <p:txBody>
          <a:bodyPr wrap="square" rtlCol="0" anchor="ctr"/>
          <a:lstStyle/>
          <a:p>
            <a:pPr marL="0" indent="0" algn="ctr">
              <a:buNone/>
            </a:pPr>
            <a:r>
              <a:rPr lang="en-US" sz="1000" dirty="0">
                <a:solidFill>
                  <a:srgbClr val="D8F3DC"/>
                </a:solidFill>
                <a:latin typeface="Calibri" pitchFamily="34" charset="0"/>
                <a:ea typeface="Calibri" pitchFamily="34" charset="-122"/>
                <a:cs typeface="Calibri" pitchFamily="34" charset="-120"/>
              </a:rPr>
              <a:t>Validation</a:t>
            </a:r>
            <a:endParaRPr lang="en-US" sz="1000" dirty="0"/>
          </a:p>
          <a:p>
            <a:pPr marL="0" indent="0" algn="ctr">
              <a:buNone/>
            </a:pPr>
            <a:r>
              <a:rPr lang="en-US" sz="1000" dirty="0">
                <a:solidFill>
                  <a:srgbClr val="D8F3DC"/>
                </a:solidFill>
                <a:latin typeface="Calibri" pitchFamily="34" charset="0"/>
                <a:ea typeface="Calibri" pitchFamily="34" charset="-122"/>
                <a:cs typeface="Calibri" pitchFamily="34" charset="-120"/>
              </a:rPr>
              <a:t>Accuracy</a:t>
            </a:r>
            <a:endParaRPr lang="en-US" sz="1000" dirty="0"/>
          </a:p>
        </p:txBody>
      </p:sp>
      <p:sp>
        <p:nvSpPr>
          <p:cNvPr id="11" name="Shape 9"/>
          <p:cNvSpPr/>
          <p:nvPr/>
        </p:nvSpPr>
        <p:spPr>
          <a:xfrm>
            <a:off x="1801368" y="1207008"/>
            <a:ext cx="1417320" cy="1097280"/>
          </a:xfrm>
          <a:prstGeom prst="rect">
            <a:avLst/>
          </a:prstGeom>
          <a:solidFill>
            <a:srgbClr val="1B4332"/>
          </a:solidFill>
          <a:ln w="12700">
            <a:solidFill>
              <a:srgbClr val="1B4332"/>
            </a:solidFill>
            <a:prstDash val="solid"/>
          </a:ln>
          <a:effectLst>
            <a:outerShdw blurRad="76200" dist="25400" dir="8100000" algn="bl" rotWithShape="0">
              <a:srgbClr val="666666">
                <a:alpha val="30000"/>
              </a:srgbClr>
            </a:outerShdw>
          </a:effectLst>
        </p:spPr>
      </p:sp>
      <p:sp>
        <p:nvSpPr>
          <p:cNvPr id="12" name="Text 10"/>
          <p:cNvSpPr/>
          <p:nvPr/>
        </p:nvSpPr>
        <p:spPr>
          <a:xfrm>
            <a:off x="1801368" y="1234440"/>
            <a:ext cx="1417320" cy="594360"/>
          </a:xfrm>
          <a:prstGeom prst="rect">
            <a:avLst/>
          </a:prstGeom>
          <a:noFill/>
          <a:ln/>
        </p:spPr>
        <p:txBody>
          <a:bodyPr wrap="square" rtlCol="0" anchor="ctr"/>
          <a:lstStyle/>
          <a:p>
            <a:pPr marL="0" indent="0" algn="ctr">
              <a:buNone/>
            </a:pPr>
            <a:r>
              <a:rPr lang="en-US" sz="2200" b="1" dirty="0">
                <a:solidFill>
                  <a:srgbClr val="F4A261"/>
                </a:solidFill>
                <a:latin typeface="Calibri" pitchFamily="34" charset="0"/>
                <a:ea typeface="Calibri" pitchFamily="34" charset="-122"/>
                <a:cs typeface="Calibri" pitchFamily="34" charset="-120"/>
              </a:rPr>
              <a:t>0.9190</a:t>
            </a:r>
            <a:endParaRPr lang="en-US" sz="2200" dirty="0"/>
          </a:p>
        </p:txBody>
      </p:sp>
      <p:sp>
        <p:nvSpPr>
          <p:cNvPr id="13" name="Text 11"/>
          <p:cNvSpPr/>
          <p:nvPr/>
        </p:nvSpPr>
        <p:spPr>
          <a:xfrm>
            <a:off x="1801368" y="1783080"/>
            <a:ext cx="1417320" cy="475488"/>
          </a:xfrm>
          <a:prstGeom prst="rect">
            <a:avLst/>
          </a:prstGeom>
          <a:noFill/>
          <a:ln/>
        </p:spPr>
        <p:txBody>
          <a:bodyPr wrap="square" rtlCol="0" anchor="ctr"/>
          <a:lstStyle/>
          <a:p>
            <a:pPr marL="0" indent="0" algn="ctr">
              <a:buNone/>
            </a:pPr>
            <a:r>
              <a:rPr lang="en-US" sz="1000" dirty="0">
                <a:solidFill>
                  <a:srgbClr val="D8F3DC"/>
                </a:solidFill>
                <a:latin typeface="Calibri" pitchFamily="34" charset="0"/>
                <a:ea typeface="Calibri" pitchFamily="34" charset="-122"/>
                <a:cs typeface="Calibri" pitchFamily="34" charset="-120"/>
              </a:rPr>
              <a:t>Macro</a:t>
            </a:r>
            <a:endParaRPr lang="en-US" sz="1000" dirty="0"/>
          </a:p>
          <a:p>
            <a:pPr marL="0" indent="0" algn="ctr">
              <a:buNone/>
            </a:pPr>
            <a:r>
              <a:rPr lang="en-US" sz="1000" dirty="0">
                <a:solidFill>
                  <a:srgbClr val="D8F3DC"/>
                </a:solidFill>
                <a:latin typeface="Calibri" pitchFamily="34" charset="0"/>
                <a:ea typeface="Calibri" pitchFamily="34" charset="-122"/>
                <a:cs typeface="Calibri" pitchFamily="34" charset="-120"/>
              </a:rPr>
              <a:t>F1-Score</a:t>
            </a:r>
            <a:endParaRPr lang="en-US" sz="1000" dirty="0"/>
          </a:p>
        </p:txBody>
      </p:sp>
      <p:sp>
        <p:nvSpPr>
          <p:cNvPr id="14" name="Shape 12"/>
          <p:cNvSpPr/>
          <p:nvPr/>
        </p:nvSpPr>
        <p:spPr>
          <a:xfrm>
            <a:off x="3374136" y="1207008"/>
            <a:ext cx="1417320" cy="1097280"/>
          </a:xfrm>
          <a:prstGeom prst="rect">
            <a:avLst/>
          </a:prstGeom>
          <a:solidFill>
            <a:srgbClr val="1B4332"/>
          </a:solidFill>
          <a:ln w="12700">
            <a:solidFill>
              <a:srgbClr val="1B4332"/>
            </a:solidFill>
            <a:prstDash val="solid"/>
          </a:ln>
          <a:effectLst>
            <a:outerShdw blurRad="76200" dist="25400" dir="8100000" algn="bl" rotWithShape="0">
              <a:srgbClr val="666666">
                <a:alpha val="30000"/>
              </a:srgbClr>
            </a:outerShdw>
          </a:effectLst>
        </p:spPr>
      </p:sp>
      <p:sp>
        <p:nvSpPr>
          <p:cNvPr id="15" name="Text 13"/>
          <p:cNvSpPr/>
          <p:nvPr/>
        </p:nvSpPr>
        <p:spPr>
          <a:xfrm>
            <a:off x="3374136" y="1234440"/>
            <a:ext cx="1417320" cy="594360"/>
          </a:xfrm>
          <a:prstGeom prst="rect">
            <a:avLst/>
          </a:prstGeom>
          <a:noFill/>
          <a:ln/>
        </p:spPr>
        <p:txBody>
          <a:bodyPr wrap="square" rtlCol="0" anchor="ctr"/>
          <a:lstStyle/>
          <a:p>
            <a:pPr marL="0" indent="0" algn="ctr">
              <a:buNone/>
            </a:pPr>
            <a:r>
              <a:rPr lang="en-US" sz="2200" b="1" dirty="0">
                <a:solidFill>
                  <a:srgbClr val="F4A261"/>
                </a:solidFill>
                <a:latin typeface="Calibri" pitchFamily="34" charset="0"/>
                <a:ea typeface="Calibri" pitchFamily="34" charset="-122"/>
                <a:cs typeface="Calibri" pitchFamily="34" charset="-120"/>
              </a:rPr>
              <a:t>0.9191</a:t>
            </a:r>
            <a:endParaRPr lang="en-US" sz="2200" dirty="0"/>
          </a:p>
        </p:txBody>
      </p:sp>
      <p:sp>
        <p:nvSpPr>
          <p:cNvPr id="16" name="Text 14"/>
          <p:cNvSpPr/>
          <p:nvPr/>
        </p:nvSpPr>
        <p:spPr>
          <a:xfrm>
            <a:off x="3374136" y="1783080"/>
            <a:ext cx="1417320" cy="475488"/>
          </a:xfrm>
          <a:prstGeom prst="rect">
            <a:avLst/>
          </a:prstGeom>
          <a:noFill/>
          <a:ln/>
        </p:spPr>
        <p:txBody>
          <a:bodyPr wrap="square" rtlCol="0" anchor="ctr"/>
          <a:lstStyle/>
          <a:p>
            <a:pPr marL="0" indent="0" algn="ctr">
              <a:buNone/>
            </a:pPr>
            <a:r>
              <a:rPr lang="en-US" sz="1000" dirty="0">
                <a:solidFill>
                  <a:srgbClr val="D8F3DC"/>
                </a:solidFill>
                <a:latin typeface="Calibri" pitchFamily="34" charset="0"/>
                <a:ea typeface="Calibri" pitchFamily="34" charset="-122"/>
                <a:cs typeface="Calibri" pitchFamily="34" charset="-120"/>
              </a:rPr>
              <a:t>Weighted</a:t>
            </a:r>
            <a:endParaRPr lang="en-US" sz="1000" dirty="0"/>
          </a:p>
          <a:p>
            <a:pPr marL="0" indent="0" algn="ctr">
              <a:buNone/>
            </a:pPr>
            <a:r>
              <a:rPr lang="en-US" sz="1000" dirty="0">
                <a:solidFill>
                  <a:srgbClr val="D8F3DC"/>
                </a:solidFill>
                <a:latin typeface="Calibri" pitchFamily="34" charset="0"/>
                <a:ea typeface="Calibri" pitchFamily="34" charset="-122"/>
                <a:cs typeface="Calibri" pitchFamily="34" charset="-120"/>
              </a:rPr>
              <a:t>F1-Score</a:t>
            </a:r>
            <a:endParaRPr lang="en-US" sz="1000" dirty="0"/>
          </a:p>
        </p:txBody>
      </p:sp>
      <p:graphicFrame>
        <p:nvGraphicFramePr>
          <p:cNvPr id="17" name="Chart 0"/>
          <p:cNvGraphicFramePr/>
          <p:nvPr/>
        </p:nvGraphicFramePr>
        <p:xfrm>
          <a:off x="228600" y="2423160"/>
          <a:ext cx="420624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5"/>
          <p:cNvSpPr/>
          <p:nvPr/>
        </p:nvSpPr>
        <p:spPr>
          <a:xfrm>
            <a:off x="5092504" y="896112"/>
            <a:ext cx="3822895" cy="274320"/>
          </a:xfrm>
          <a:prstGeom prst="rect">
            <a:avLst/>
          </a:prstGeom>
          <a:noFill/>
          <a:ln/>
        </p:spPr>
        <p:txBody>
          <a:bodyPr wrap="square" rtlCol="0" anchor="ctr"/>
          <a:lstStyle/>
          <a:p>
            <a:pPr marL="0" indent="0">
              <a:buNone/>
            </a:pPr>
            <a:r>
              <a:rPr lang="en-US" sz="1300" b="1" dirty="0">
                <a:solidFill>
                  <a:srgbClr val="1B4332"/>
                </a:solidFill>
                <a:latin typeface="Calibri" pitchFamily="34" charset="0"/>
                <a:ea typeface="Calibri" pitchFamily="34" charset="-122"/>
                <a:cs typeface="Calibri" pitchFamily="34" charset="-120"/>
              </a:rPr>
              <a:t>🧠 Kết Quả Suy Diễn Mờ – Ca Thử Nghiệm</a:t>
            </a:r>
            <a:endParaRPr lang="en-US" sz="1300" dirty="0"/>
          </a:p>
        </p:txBody>
      </p:sp>
      <p:sp>
        <p:nvSpPr>
          <p:cNvPr id="19" name="Text 16"/>
          <p:cNvSpPr/>
          <p:nvPr/>
        </p:nvSpPr>
        <p:spPr>
          <a:xfrm>
            <a:off x="5092504" y="1257300"/>
            <a:ext cx="3822895" cy="205740"/>
          </a:xfrm>
          <a:prstGeom prst="rect">
            <a:avLst/>
          </a:prstGeom>
          <a:noFill/>
          <a:ln/>
        </p:spPr>
        <p:txBody>
          <a:bodyPr wrap="square" rtlCol="0" anchor="ctr"/>
          <a:lstStyle/>
          <a:p>
            <a:pPr marL="0" indent="0">
              <a:buNone/>
            </a:pPr>
            <a:r>
              <a:rPr lang="en-US" sz="950" i="1" dirty="0">
                <a:solidFill>
                  <a:srgbClr val="6C757D"/>
                </a:solidFill>
                <a:latin typeface="Calibri" pitchFamily="34" charset="0"/>
                <a:ea typeface="Calibri" pitchFamily="34" charset="-122"/>
                <a:cs typeface="Calibri" pitchFamily="34" charset="-120"/>
              </a:rPr>
              <a:t>Đầu vào: Ảnh BLAST9_087.jpg | 28°C | 85% Humidity</a:t>
            </a:r>
            <a:endParaRPr lang="en-US" sz="950" dirty="0"/>
          </a:p>
        </p:txBody>
      </p:sp>
      <p:sp>
        <p:nvSpPr>
          <p:cNvPr id="20" name="Shape 17"/>
          <p:cNvSpPr/>
          <p:nvPr/>
        </p:nvSpPr>
        <p:spPr>
          <a:xfrm>
            <a:off x="4958710" y="1600200"/>
            <a:ext cx="2630809" cy="274320"/>
          </a:xfrm>
          <a:prstGeom prst="rect">
            <a:avLst/>
          </a:prstGeom>
          <a:solidFill>
            <a:srgbClr val="D8F3DC"/>
          </a:solidFill>
          <a:ln w="6350">
            <a:solidFill>
              <a:srgbClr val="DDDDDD"/>
            </a:solidFill>
            <a:prstDash val="solid"/>
          </a:ln>
        </p:spPr>
      </p:sp>
      <p:sp>
        <p:nvSpPr>
          <p:cNvPr id="21" name="Shape 18"/>
          <p:cNvSpPr/>
          <p:nvPr/>
        </p:nvSpPr>
        <p:spPr>
          <a:xfrm>
            <a:off x="7723314" y="1600200"/>
            <a:ext cx="1192086" cy="274320"/>
          </a:xfrm>
          <a:prstGeom prst="rect">
            <a:avLst/>
          </a:prstGeom>
          <a:solidFill>
            <a:srgbClr val="1B4332"/>
          </a:solidFill>
          <a:ln w="12700">
            <a:solidFill>
              <a:srgbClr val="1B4332"/>
            </a:solidFill>
            <a:prstDash val="solid"/>
          </a:ln>
        </p:spPr>
      </p:sp>
      <p:sp>
        <p:nvSpPr>
          <p:cNvPr id="22" name="Text 19"/>
          <p:cNvSpPr/>
          <p:nvPr/>
        </p:nvSpPr>
        <p:spPr>
          <a:xfrm>
            <a:off x="5031696" y="1623060"/>
            <a:ext cx="2466384" cy="20574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CNN: Mild Blast</a:t>
            </a:r>
            <a:endParaRPr lang="en-US" sz="1000" dirty="0"/>
          </a:p>
        </p:txBody>
      </p:sp>
      <p:sp>
        <p:nvSpPr>
          <p:cNvPr id="23" name="Text 20"/>
          <p:cNvSpPr/>
          <p:nvPr/>
        </p:nvSpPr>
        <p:spPr>
          <a:xfrm>
            <a:off x="7723314" y="1623060"/>
            <a:ext cx="1192086" cy="205740"/>
          </a:xfrm>
          <a:prstGeom prst="rect">
            <a:avLst/>
          </a:prstGeom>
          <a:noFill/>
          <a:ln/>
        </p:spPr>
        <p:txBody>
          <a:bodyPr wrap="square" rtlCol="0" anchor="ctr"/>
          <a:lstStyle/>
          <a:p>
            <a:pPr marL="0" indent="0" algn="ctr">
              <a:buNone/>
            </a:pPr>
            <a:r>
              <a:rPr lang="en-US" sz="1000" b="1" dirty="0">
                <a:solidFill>
                  <a:srgbClr val="F4A261"/>
                </a:solidFill>
                <a:latin typeface="Calibri" pitchFamily="34" charset="0"/>
                <a:ea typeface="Calibri" pitchFamily="34" charset="-122"/>
                <a:cs typeface="Calibri" pitchFamily="34" charset="-120"/>
              </a:rPr>
              <a:t>97.47%</a:t>
            </a:r>
            <a:endParaRPr lang="en-US" sz="1000" dirty="0"/>
          </a:p>
        </p:txBody>
      </p:sp>
      <p:sp>
        <p:nvSpPr>
          <p:cNvPr id="24" name="Shape 21"/>
          <p:cNvSpPr/>
          <p:nvPr/>
        </p:nvSpPr>
        <p:spPr>
          <a:xfrm>
            <a:off x="4958710" y="2011680"/>
            <a:ext cx="2630809" cy="274320"/>
          </a:xfrm>
          <a:prstGeom prst="rect">
            <a:avLst/>
          </a:prstGeom>
          <a:solidFill>
            <a:srgbClr val="E8F5E9"/>
          </a:solidFill>
          <a:ln w="6350">
            <a:solidFill>
              <a:srgbClr val="DDDDDD"/>
            </a:solidFill>
            <a:prstDash val="solid"/>
          </a:ln>
        </p:spPr>
      </p:sp>
      <p:sp>
        <p:nvSpPr>
          <p:cNvPr id="25" name="Shape 22"/>
          <p:cNvSpPr/>
          <p:nvPr/>
        </p:nvSpPr>
        <p:spPr>
          <a:xfrm>
            <a:off x="7723314" y="2011680"/>
            <a:ext cx="1192086" cy="274320"/>
          </a:xfrm>
          <a:prstGeom prst="rect">
            <a:avLst/>
          </a:prstGeom>
          <a:solidFill>
            <a:srgbClr val="1B4332"/>
          </a:solidFill>
          <a:ln w="12700">
            <a:solidFill>
              <a:srgbClr val="1B4332"/>
            </a:solidFill>
            <a:prstDash val="solid"/>
          </a:ln>
        </p:spPr>
      </p:sp>
      <p:sp>
        <p:nvSpPr>
          <p:cNvPr id="26" name="Text 23"/>
          <p:cNvSpPr/>
          <p:nvPr/>
        </p:nvSpPr>
        <p:spPr>
          <a:xfrm>
            <a:off x="5031696" y="2034540"/>
            <a:ext cx="2466384" cy="20574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Diagnostic Confidence</a:t>
            </a:r>
            <a:endParaRPr lang="en-US" sz="1000" dirty="0"/>
          </a:p>
        </p:txBody>
      </p:sp>
      <p:sp>
        <p:nvSpPr>
          <p:cNvPr id="27" name="Text 24"/>
          <p:cNvSpPr/>
          <p:nvPr/>
        </p:nvSpPr>
        <p:spPr>
          <a:xfrm>
            <a:off x="7723314" y="2034540"/>
            <a:ext cx="1192086" cy="205740"/>
          </a:xfrm>
          <a:prstGeom prst="rect">
            <a:avLst/>
          </a:prstGeom>
          <a:noFill/>
          <a:ln/>
        </p:spPr>
        <p:txBody>
          <a:bodyPr wrap="square" rtlCol="0" anchor="ctr"/>
          <a:lstStyle/>
          <a:p>
            <a:pPr marL="0" indent="0" algn="ctr">
              <a:buNone/>
            </a:pPr>
            <a:r>
              <a:rPr lang="en-US" sz="1000" b="1" dirty="0">
                <a:solidFill>
                  <a:srgbClr val="F4A261"/>
                </a:solidFill>
                <a:latin typeface="Calibri" pitchFamily="34" charset="0"/>
                <a:ea typeface="Calibri" pitchFamily="34" charset="-122"/>
                <a:cs typeface="Calibri" pitchFamily="34" charset="-120"/>
              </a:rPr>
              <a:t>95 / 100</a:t>
            </a:r>
            <a:endParaRPr lang="en-US" sz="1000" dirty="0"/>
          </a:p>
        </p:txBody>
      </p:sp>
      <p:sp>
        <p:nvSpPr>
          <p:cNvPr id="32" name="Shape 29"/>
          <p:cNvSpPr/>
          <p:nvPr/>
        </p:nvSpPr>
        <p:spPr>
          <a:xfrm>
            <a:off x="4958710" y="2415788"/>
            <a:ext cx="2630809" cy="274320"/>
          </a:xfrm>
          <a:prstGeom prst="rect">
            <a:avLst/>
          </a:prstGeom>
          <a:solidFill>
            <a:srgbClr val="FFF9C4"/>
          </a:solidFill>
          <a:ln w="6350">
            <a:solidFill>
              <a:srgbClr val="DDDDDD"/>
            </a:solidFill>
            <a:prstDash val="solid"/>
          </a:ln>
        </p:spPr>
      </p:sp>
      <p:sp>
        <p:nvSpPr>
          <p:cNvPr id="33" name="Shape 30"/>
          <p:cNvSpPr/>
          <p:nvPr/>
        </p:nvSpPr>
        <p:spPr>
          <a:xfrm>
            <a:off x="7723314" y="2415788"/>
            <a:ext cx="1192086" cy="274320"/>
          </a:xfrm>
          <a:prstGeom prst="rect">
            <a:avLst/>
          </a:prstGeom>
          <a:solidFill>
            <a:srgbClr val="1B4332"/>
          </a:solidFill>
          <a:ln w="12700">
            <a:solidFill>
              <a:srgbClr val="1B4332"/>
            </a:solidFill>
            <a:prstDash val="solid"/>
          </a:ln>
        </p:spPr>
      </p:sp>
      <p:sp>
        <p:nvSpPr>
          <p:cNvPr id="34" name="Text 31"/>
          <p:cNvSpPr/>
          <p:nvPr/>
        </p:nvSpPr>
        <p:spPr>
          <a:xfrm>
            <a:off x="5031696" y="2438648"/>
            <a:ext cx="2466384" cy="20574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Visual Severity (VSI)</a:t>
            </a:r>
            <a:endParaRPr lang="en-US" sz="1000" dirty="0"/>
          </a:p>
        </p:txBody>
      </p:sp>
      <p:sp>
        <p:nvSpPr>
          <p:cNvPr id="35" name="Text 32"/>
          <p:cNvSpPr/>
          <p:nvPr/>
        </p:nvSpPr>
        <p:spPr>
          <a:xfrm>
            <a:off x="7723314" y="2438648"/>
            <a:ext cx="1192086" cy="205740"/>
          </a:xfrm>
          <a:prstGeom prst="rect">
            <a:avLst/>
          </a:prstGeom>
          <a:noFill/>
          <a:ln/>
        </p:spPr>
        <p:txBody>
          <a:bodyPr wrap="square" rtlCol="0" anchor="ctr"/>
          <a:lstStyle/>
          <a:p>
            <a:pPr marL="0" indent="0" algn="ctr">
              <a:buNone/>
            </a:pPr>
            <a:r>
              <a:rPr lang="en-US" sz="1000" b="1" dirty="0">
                <a:solidFill>
                  <a:srgbClr val="F4A261"/>
                </a:solidFill>
                <a:latin typeface="Calibri" pitchFamily="34" charset="0"/>
                <a:ea typeface="Calibri" pitchFamily="34" charset="-122"/>
                <a:cs typeface="Calibri" pitchFamily="34" charset="-120"/>
              </a:rPr>
              <a:t>20 / 100</a:t>
            </a:r>
            <a:endParaRPr lang="en-US" sz="1000" dirty="0"/>
          </a:p>
        </p:txBody>
      </p:sp>
      <p:sp>
        <p:nvSpPr>
          <p:cNvPr id="40" name="Shape 37"/>
          <p:cNvSpPr/>
          <p:nvPr/>
        </p:nvSpPr>
        <p:spPr>
          <a:xfrm>
            <a:off x="5025682" y="3317800"/>
            <a:ext cx="3822895" cy="877824"/>
          </a:xfrm>
          <a:prstGeom prst="rect">
            <a:avLst/>
          </a:prstGeom>
          <a:solidFill>
            <a:srgbClr val="FFF3CD"/>
          </a:solidFill>
          <a:ln w="19050">
            <a:solidFill>
              <a:srgbClr val="F4A261"/>
            </a:solidFill>
            <a:prstDash val="solid"/>
          </a:ln>
        </p:spPr>
      </p:sp>
      <p:sp>
        <p:nvSpPr>
          <p:cNvPr id="41" name="Text 38"/>
          <p:cNvSpPr/>
          <p:nvPr/>
        </p:nvSpPr>
        <p:spPr>
          <a:xfrm>
            <a:off x="4991840" y="2945441"/>
            <a:ext cx="3658469" cy="240030"/>
          </a:xfrm>
          <a:prstGeom prst="rect">
            <a:avLst/>
          </a:prstGeom>
          <a:noFill/>
          <a:ln/>
        </p:spPr>
        <p:txBody>
          <a:bodyPr wrap="square" rtlCol="0" anchor="ctr"/>
          <a:lstStyle/>
          <a:p>
            <a:pPr marL="0" indent="0">
              <a:buNone/>
            </a:pPr>
            <a:r>
              <a:rPr lang="en-US" sz="1100" b="1" dirty="0">
                <a:solidFill>
                  <a:srgbClr val="1B4332"/>
                </a:solidFill>
                <a:latin typeface="Calibri" pitchFamily="34" charset="0"/>
                <a:ea typeface="Calibri" pitchFamily="34" charset="-122"/>
                <a:cs typeface="Calibri" pitchFamily="34" charset="-120"/>
              </a:rPr>
              <a:t>⚠  Kết Luận &amp; Khuyến Nghị Tự Động:</a:t>
            </a:r>
            <a:endParaRPr lang="en-US" sz="1100" dirty="0"/>
          </a:p>
        </p:txBody>
      </p:sp>
      <p:sp>
        <p:nvSpPr>
          <p:cNvPr id="42" name="Text 39"/>
          <p:cNvSpPr/>
          <p:nvPr/>
        </p:nvSpPr>
        <p:spPr>
          <a:xfrm>
            <a:off x="5130096" y="3476200"/>
            <a:ext cx="3658469" cy="548640"/>
          </a:xfrm>
          <a:prstGeom prst="rect">
            <a:avLst/>
          </a:prstGeom>
          <a:noFill/>
          <a:ln/>
        </p:spPr>
        <p:txBody>
          <a:bodyPr wrap="square" rtlCol="0" anchor="ctr"/>
          <a:lstStyle/>
          <a:p>
            <a:pPr marL="0" indent="0">
              <a:buNone/>
            </a:pPr>
            <a:r>
              <a:rPr lang="en-US" sz="1000" dirty="0">
                <a:solidFill>
                  <a:srgbClr val="1A1A2E"/>
                </a:solidFill>
                <a:latin typeface="Calibri" pitchFamily="34" charset="0"/>
                <a:ea typeface="Calibri" pitchFamily="34" charset="-122"/>
                <a:cs typeface="Calibri" pitchFamily="34" charset="-120"/>
              </a:rPr>
              <a:t>Bệnh Đạo Ôn Lá (Rice Blast) – Mức nhẹ</a:t>
            </a:r>
            <a:endParaRPr lang="en-US" sz="1000" dirty="0"/>
          </a:p>
          <a:p>
            <a:pPr marL="0" indent="0">
              <a:buNone/>
            </a:pPr>
            <a:r>
              <a:rPr lang="en-US" sz="1000" dirty="0">
                <a:solidFill>
                  <a:srgbClr val="1A1A2E"/>
                </a:solidFill>
                <a:latin typeface="Calibri" pitchFamily="34" charset="0"/>
                <a:ea typeface="Calibri" pitchFamily="34" charset="-122"/>
                <a:cs typeface="Calibri" pitchFamily="34" charset="-120"/>
              </a:rPr>
              <a:t>Môi trường ẩm ướt 28°C, 85% → Nguy cơ bùng phát cao</a:t>
            </a:r>
            <a:endParaRPr lang="en-US" sz="1000" dirty="0"/>
          </a:p>
          <a:p>
            <a:pPr marL="0" indent="0">
              <a:buNone/>
            </a:pPr>
            <a:r>
              <a:rPr lang="en-US" sz="1000" dirty="0">
                <a:solidFill>
                  <a:srgbClr val="1A1A2E"/>
                </a:solidFill>
                <a:latin typeface="Calibri" pitchFamily="34" charset="0"/>
                <a:ea typeface="Calibri" pitchFamily="34" charset="-122"/>
                <a:cs typeface="Calibri" pitchFamily="34" charset="-120"/>
              </a:rPr>
              <a:t>Dùng Tricyclazole, Fenoxanil. Tránh bón đạm thêm.</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B4332"/>
        </a:solidFill>
        <a:effectLst/>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2D6A4F">
              <a:alpha val="40000"/>
            </a:srgbClr>
          </a:solidFill>
          <a:ln w="12700">
            <a:solidFill>
              <a:srgbClr val="2D6A4F">
                <a:alpha val="40000"/>
              </a:srgbClr>
            </a:solidFill>
            <a:prstDash val="solid"/>
          </a:ln>
        </p:spPr>
      </p:sp>
      <p:sp>
        <p:nvSpPr>
          <p:cNvPr id="3" name="Shape 1"/>
          <p:cNvSpPr/>
          <p:nvPr/>
        </p:nvSpPr>
        <p:spPr>
          <a:xfrm>
            <a:off x="6400800" y="2286000"/>
            <a:ext cx="3657600" cy="3657600"/>
          </a:xfrm>
          <a:prstGeom prst="ellipse">
            <a:avLst/>
          </a:prstGeom>
          <a:solidFill>
            <a:srgbClr val="40916C">
              <a:alpha val="30000"/>
            </a:srgbClr>
          </a:solidFill>
          <a:ln w="12700">
            <a:solidFill>
              <a:srgbClr val="40916C">
                <a:alpha val="30000"/>
              </a:srgbClr>
            </a:solidFill>
            <a:prstDash val="solid"/>
          </a:ln>
        </p:spPr>
      </p:sp>
      <p:sp>
        <p:nvSpPr>
          <p:cNvPr id="4" name="Text 2"/>
          <p:cNvSpPr/>
          <p:nvPr/>
        </p:nvSpPr>
        <p:spPr>
          <a:xfrm>
            <a:off x="457200" y="274320"/>
            <a:ext cx="8229600" cy="54864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Kết Luận &amp; Hướng Phát Triển</a:t>
            </a:r>
            <a:endParaRPr lang="en-US" sz="2600" dirty="0"/>
          </a:p>
        </p:txBody>
      </p:sp>
      <p:sp>
        <p:nvSpPr>
          <p:cNvPr id="5" name="Shape 3"/>
          <p:cNvSpPr/>
          <p:nvPr/>
        </p:nvSpPr>
        <p:spPr>
          <a:xfrm>
            <a:off x="274320" y="1005840"/>
            <a:ext cx="2743200" cy="3108960"/>
          </a:xfrm>
          <a:prstGeom prst="rect">
            <a:avLst/>
          </a:prstGeom>
          <a:solidFill>
            <a:srgbClr val="2D6A4F">
              <a:alpha val="70000"/>
            </a:srgbClr>
          </a:solidFill>
          <a:ln w="12700">
            <a:solidFill>
              <a:srgbClr val="74C69D"/>
            </a:solidFill>
            <a:prstDash val="solid"/>
          </a:ln>
          <a:effectLst>
            <a:outerShdw blurRad="76200" dist="25400" dir="8100000" algn="bl" rotWithShape="0">
              <a:srgbClr val="000000">
                <a:alpha val="30000"/>
              </a:srgbClr>
            </a:outerShdw>
          </a:effectLst>
        </p:spPr>
      </p:sp>
      <p:sp>
        <p:nvSpPr>
          <p:cNvPr id="6" name="Text 4"/>
          <p:cNvSpPr/>
          <p:nvPr/>
        </p:nvSpPr>
        <p:spPr>
          <a:xfrm>
            <a:off x="274320" y="1143000"/>
            <a:ext cx="2743200" cy="502920"/>
          </a:xfrm>
          <a:prstGeom prst="rect">
            <a:avLst/>
          </a:prstGeom>
          <a:noFill/>
          <a:ln/>
        </p:spPr>
        <p:txBody>
          <a:bodyPr wrap="square" rtlCol="0" anchor="ctr"/>
          <a:lstStyle/>
          <a:p>
            <a:pPr marL="0" indent="0" algn="ctr">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7" name="Text 5"/>
          <p:cNvSpPr/>
          <p:nvPr/>
        </p:nvSpPr>
        <p:spPr>
          <a:xfrm>
            <a:off x="365760" y="1691640"/>
            <a:ext cx="2560320" cy="411480"/>
          </a:xfrm>
          <a:prstGeom prst="rect">
            <a:avLst/>
          </a:prstGeom>
          <a:noFill/>
          <a:ln/>
        </p:spPr>
        <p:txBody>
          <a:bodyPr wrap="square" rtlCol="0" anchor="ctr"/>
          <a:lstStyle/>
          <a:p>
            <a:pPr marL="0" indent="0" algn="ctr">
              <a:buNone/>
            </a:pPr>
            <a:r>
              <a:rPr lang="en-US" sz="1300" b="1" dirty="0">
                <a:solidFill>
                  <a:srgbClr val="F4A261"/>
                </a:solidFill>
                <a:latin typeface="Calibri" pitchFamily="34" charset="0"/>
                <a:ea typeface="Calibri" pitchFamily="34" charset="-122"/>
                <a:cs typeface="Calibri" pitchFamily="34" charset="-120"/>
              </a:rPr>
              <a:t>Đã đạt được</a:t>
            </a:r>
            <a:endParaRPr lang="en-US" sz="1300" dirty="0"/>
          </a:p>
        </p:txBody>
      </p:sp>
      <p:sp>
        <p:nvSpPr>
          <p:cNvPr id="8" name="Shape 6"/>
          <p:cNvSpPr/>
          <p:nvPr/>
        </p:nvSpPr>
        <p:spPr>
          <a:xfrm>
            <a:off x="365760" y="2103120"/>
            <a:ext cx="2560320" cy="36576"/>
          </a:xfrm>
          <a:prstGeom prst="rect">
            <a:avLst/>
          </a:prstGeom>
          <a:solidFill>
            <a:srgbClr val="74C69D"/>
          </a:solidFill>
          <a:ln w="12700">
            <a:solidFill>
              <a:srgbClr val="74C69D"/>
            </a:solidFill>
            <a:prstDash val="solid"/>
          </a:ln>
        </p:spPr>
      </p:sp>
      <p:sp>
        <p:nvSpPr>
          <p:cNvPr id="9" name="Text 7"/>
          <p:cNvSpPr/>
          <p:nvPr/>
        </p:nvSpPr>
        <p:spPr>
          <a:xfrm>
            <a:off x="365760" y="2194560"/>
            <a:ext cx="2560320" cy="1828800"/>
          </a:xfrm>
          <a:prstGeom prst="rect">
            <a:avLst/>
          </a:prstGeom>
          <a:noFill/>
          <a:ln/>
        </p:spPr>
        <p:txBody>
          <a:bodyPr wrap="square" rtlCol="0" anchor="ctr"/>
          <a:lstStyle/>
          <a:p>
            <a:r>
              <a:rPr lang="en-US" sz="1050" dirty="0">
                <a:solidFill>
                  <a:srgbClr val="FFFFFF"/>
                </a:solidFill>
                <a:latin typeface="Calibri" pitchFamily="34" charset="0"/>
                <a:ea typeface="Calibri" pitchFamily="34" charset="-122"/>
                <a:cs typeface="Calibri" pitchFamily="34" charset="-120"/>
              </a:rPr>
              <a:t>Xây dựng thành công hệ thống Hybrid CNN + Fuzzy. Validation Accuracy 92.04%, Macro F1-score 0.919  </a:t>
            </a:r>
            <a:endParaRPr lang="en-US" sz="1050" dirty="0"/>
          </a:p>
        </p:txBody>
      </p:sp>
      <p:sp>
        <p:nvSpPr>
          <p:cNvPr id="10" name="Shape 8"/>
          <p:cNvSpPr/>
          <p:nvPr/>
        </p:nvSpPr>
        <p:spPr>
          <a:xfrm>
            <a:off x="3200400" y="1005840"/>
            <a:ext cx="2743200" cy="3108960"/>
          </a:xfrm>
          <a:prstGeom prst="rect">
            <a:avLst/>
          </a:prstGeom>
          <a:solidFill>
            <a:srgbClr val="2D6A4F">
              <a:alpha val="70000"/>
            </a:srgbClr>
          </a:solidFill>
          <a:ln w="12700">
            <a:solidFill>
              <a:srgbClr val="74C69D"/>
            </a:solidFill>
            <a:prstDash val="solid"/>
          </a:ln>
          <a:effectLst>
            <a:outerShdw blurRad="76200" dist="25400" dir="8100000" algn="bl" rotWithShape="0">
              <a:srgbClr val="000000">
                <a:alpha val="30000"/>
              </a:srgbClr>
            </a:outerShdw>
          </a:effectLst>
        </p:spPr>
      </p:sp>
      <p:sp>
        <p:nvSpPr>
          <p:cNvPr id="11" name="Text 9"/>
          <p:cNvSpPr/>
          <p:nvPr/>
        </p:nvSpPr>
        <p:spPr>
          <a:xfrm>
            <a:off x="3200400" y="1143000"/>
            <a:ext cx="2743200" cy="502920"/>
          </a:xfrm>
          <a:prstGeom prst="rect">
            <a:avLst/>
          </a:prstGeom>
          <a:noFill/>
          <a:ln/>
        </p:spPr>
        <p:txBody>
          <a:bodyPr wrap="square" rtlCol="0" anchor="ctr"/>
          <a:lstStyle/>
          <a:p>
            <a:pPr marL="0" indent="0" algn="ctr">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2" name="Text 10"/>
          <p:cNvSpPr/>
          <p:nvPr/>
        </p:nvSpPr>
        <p:spPr>
          <a:xfrm>
            <a:off x="3291840" y="1691640"/>
            <a:ext cx="2560320" cy="411480"/>
          </a:xfrm>
          <a:prstGeom prst="rect">
            <a:avLst/>
          </a:prstGeom>
          <a:noFill/>
          <a:ln/>
        </p:spPr>
        <p:txBody>
          <a:bodyPr wrap="square" rtlCol="0" anchor="ctr"/>
          <a:lstStyle/>
          <a:p>
            <a:pPr marL="0" indent="0" algn="ctr">
              <a:buNone/>
            </a:pPr>
            <a:r>
              <a:rPr lang="en-US" sz="1300" b="1" dirty="0">
                <a:solidFill>
                  <a:srgbClr val="F4A261"/>
                </a:solidFill>
                <a:latin typeface="Calibri" pitchFamily="34" charset="0"/>
                <a:ea typeface="Calibri" pitchFamily="34" charset="-122"/>
                <a:cs typeface="Calibri" pitchFamily="34" charset="-120"/>
              </a:rPr>
              <a:t>Đóng góp chính</a:t>
            </a:r>
            <a:endParaRPr lang="en-US" sz="1300" dirty="0"/>
          </a:p>
        </p:txBody>
      </p:sp>
      <p:sp>
        <p:nvSpPr>
          <p:cNvPr id="13" name="Shape 11"/>
          <p:cNvSpPr/>
          <p:nvPr/>
        </p:nvSpPr>
        <p:spPr>
          <a:xfrm>
            <a:off x="3291840" y="2103120"/>
            <a:ext cx="2560320" cy="36576"/>
          </a:xfrm>
          <a:prstGeom prst="rect">
            <a:avLst/>
          </a:prstGeom>
          <a:solidFill>
            <a:srgbClr val="74C69D"/>
          </a:solidFill>
          <a:ln w="12700">
            <a:solidFill>
              <a:srgbClr val="74C69D"/>
            </a:solidFill>
            <a:prstDash val="solid"/>
          </a:ln>
        </p:spPr>
      </p:sp>
      <p:sp>
        <p:nvSpPr>
          <p:cNvPr id="14" name="Text 12"/>
          <p:cNvSpPr/>
          <p:nvPr/>
        </p:nvSpPr>
        <p:spPr>
          <a:xfrm>
            <a:off x="3291840" y="2194560"/>
            <a:ext cx="2560320" cy="1828800"/>
          </a:xfrm>
          <a:prstGeom prst="rect">
            <a:avLst/>
          </a:prstGeom>
          <a:noFill/>
          <a:ln/>
        </p:spPr>
        <p:txBody>
          <a:bodyPr wrap="square" rtlCol="0" anchor="ctr"/>
          <a:lstStyle/>
          <a:p>
            <a:r>
              <a:rPr lang="en-US" sz="1050" dirty="0">
                <a:solidFill>
                  <a:srgbClr val="FFFFFF"/>
                </a:solidFill>
                <a:latin typeface="Calibri" pitchFamily="34" charset="0"/>
                <a:ea typeface="Calibri" pitchFamily="34" charset="-122"/>
                <a:cs typeface="Calibri" pitchFamily="34" charset="-120"/>
              </a:rPr>
              <a:t>Tích hợp XAI qua luật mờ IF-THEN ngôn ngữ tự nhiên. </a:t>
            </a:r>
            <a:r>
              <a:rPr lang="vi-VN" sz="1050" dirty="0">
                <a:solidFill>
                  <a:srgbClr val="FFFFFF"/>
                </a:solidFill>
                <a:latin typeface="Calibri" pitchFamily="34" charset="0"/>
                <a:ea typeface="Calibri" pitchFamily="34" charset="-122"/>
                <a:cs typeface="Calibri" pitchFamily="34" charset="-120"/>
              </a:rPr>
              <a:t>Hệ thống kết hợp kết quả CNN với thông tin môi trường để đánh giá mức độ bệnh và hỗ trợ giải thích quyết định. </a:t>
            </a:r>
            <a:r>
              <a:rPr lang="en-US" sz="1050" dirty="0">
                <a:solidFill>
                  <a:srgbClr val="FFFFFF"/>
                </a:solidFill>
                <a:latin typeface="Calibri" pitchFamily="34" charset="0"/>
                <a:ea typeface="Calibri" pitchFamily="34" charset="-122"/>
                <a:cs typeface="Calibri" pitchFamily="34" charset="-120"/>
              </a:rPr>
              <a:t> </a:t>
            </a:r>
            <a:endParaRPr lang="en-US" sz="1050" dirty="0"/>
          </a:p>
        </p:txBody>
      </p:sp>
      <p:sp>
        <p:nvSpPr>
          <p:cNvPr id="15" name="Shape 13"/>
          <p:cNvSpPr/>
          <p:nvPr/>
        </p:nvSpPr>
        <p:spPr>
          <a:xfrm>
            <a:off x="6126480" y="1005840"/>
            <a:ext cx="2743200" cy="3108960"/>
          </a:xfrm>
          <a:prstGeom prst="rect">
            <a:avLst/>
          </a:prstGeom>
          <a:solidFill>
            <a:srgbClr val="2D6A4F">
              <a:alpha val="70000"/>
            </a:srgbClr>
          </a:solidFill>
          <a:ln w="12700">
            <a:solidFill>
              <a:srgbClr val="74C69D"/>
            </a:solidFill>
            <a:prstDash val="solid"/>
          </a:ln>
          <a:effectLst>
            <a:outerShdw blurRad="76200" dist="25400" dir="8100000" algn="bl" rotWithShape="0">
              <a:srgbClr val="000000">
                <a:alpha val="30000"/>
              </a:srgbClr>
            </a:outerShdw>
          </a:effectLst>
        </p:spPr>
      </p:sp>
      <p:sp>
        <p:nvSpPr>
          <p:cNvPr id="16" name="Text 14"/>
          <p:cNvSpPr/>
          <p:nvPr/>
        </p:nvSpPr>
        <p:spPr>
          <a:xfrm>
            <a:off x="6126480" y="1143000"/>
            <a:ext cx="2743200" cy="502920"/>
          </a:xfrm>
          <a:prstGeom prst="rect">
            <a:avLst/>
          </a:prstGeom>
          <a:noFill/>
          <a:ln/>
        </p:spPr>
        <p:txBody>
          <a:bodyPr wrap="square" rtlCol="0" anchor="ctr"/>
          <a:lstStyle/>
          <a:p>
            <a:pPr marL="0" indent="0" algn="ctr">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7" name="Text 15"/>
          <p:cNvSpPr/>
          <p:nvPr/>
        </p:nvSpPr>
        <p:spPr>
          <a:xfrm>
            <a:off x="6217920" y="1691640"/>
            <a:ext cx="2560320" cy="411480"/>
          </a:xfrm>
          <a:prstGeom prst="rect">
            <a:avLst/>
          </a:prstGeom>
          <a:noFill/>
          <a:ln/>
        </p:spPr>
        <p:txBody>
          <a:bodyPr wrap="square" rtlCol="0" anchor="ctr"/>
          <a:lstStyle/>
          <a:p>
            <a:pPr marL="0" indent="0" algn="ctr">
              <a:buNone/>
            </a:pPr>
            <a:r>
              <a:rPr lang="en-US" sz="1300" b="1" dirty="0">
                <a:solidFill>
                  <a:srgbClr val="F4A261"/>
                </a:solidFill>
                <a:latin typeface="Calibri" pitchFamily="34" charset="0"/>
                <a:ea typeface="Calibri" pitchFamily="34" charset="-122"/>
                <a:cs typeface="Calibri" pitchFamily="34" charset="-120"/>
              </a:rPr>
              <a:t>Hướng phát triển</a:t>
            </a:r>
            <a:endParaRPr lang="en-US" sz="1300" dirty="0"/>
          </a:p>
        </p:txBody>
      </p:sp>
      <p:sp>
        <p:nvSpPr>
          <p:cNvPr id="18" name="Shape 16"/>
          <p:cNvSpPr/>
          <p:nvPr/>
        </p:nvSpPr>
        <p:spPr>
          <a:xfrm>
            <a:off x="6217920" y="2103120"/>
            <a:ext cx="2560320" cy="36576"/>
          </a:xfrm>
          <a:prstGeom prst="rect">
            <a:avLst/>
          </a:prstGeom>
          <a:solidFill>
            <a:srgbClr val="74C69D"/>
          </a:solidFill>
          <a:ln w="12700">
            <a:solidFill>
              <a:srgbClr val="74C69D"/>
            </a:solidFill>
            <a:prstDash val="solid"/>
          </a:ln>
        </p:spPr>
      </p:sp>
      <p:sp>
        <p:nvSpPr>
          <p:cNvPr id="19" name="Text 17"/>
          <p:cNvSpPr/>
          <p:nvPr/>
        </p:nvSpPr>
        <p:spPr>
          <a:xfrm>
            <a:off x="6217920" y="2194560"/>
            <a:ext cx="2560320" cy="1828800"/>
          </a:xfrm>
          <a:prstGeom prst="rect">
            <a:avLst/>
          </a:prstGeom>
          <a:noFill/>
          <a:ln/>
        </p:spPr>
        <p:txBody>
          <a:bodyPr wrap="square" rtlCol="0" anchor="ctr"/>
          <a:lstStyle/>
          <a:p>
            <a:pPr marL="0" indent="0">
              <a:buNone/>
            </a:pPr>
            <a:r>
              <a:rPr lang="en-US" sz="1050" dirty="0">
                <a:solidFill>
                  <a:srgbClr val="FFFFFF"/>
                </a:solidFill>
                <a:latin typeface="Calibri" pitchFamily="34" charset="0"/>
                <a:ea typeface="Calibri" pitchFamily="34" charset="-122"/>
                <a:cs typeface="Calibri" pitchFamily="34" charset="-120"/>
              </a:rPr>
              <a:t>Mở rộng sang nhiều loại cây trồng. Tích hợp IoT, camera thực địa. Triển khai mobile app cho nông dân.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a:extLst>
            <a:ext uri="{FF2B5EF4-FFF2-40B4-BE49-F238E27FC236}">
              <a16:creationId xmlns:a16="http://schemas.microsoft.com/office/drawing/2014/main" id="{EB6705A4-932B-4AB5-8408-36673D8A43F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67F0BD3-FBD2-89D7-F9FE-95F40405F971}"/>
              </a:ext>
            </a:extLst>
          </p:cNvPr>
          <p:cNvSpPr/>
          <p:nvPr/>
        </p:nvSpPr>
        <p:spPr>
          <a:xfrm>
            <a:off x="-914400" y="-914400"/>
            <a:ext cx="4572000" cy="4572000"/>
          </a:xfrm>
          <a:prstGeom prst="ellipse">
            <a:avLst/>
          </a:prstGeom>
          <a:solidFill>
            <a:srgbClr val="2D6A4F">
              <a:alpha val="40000"/>
            </a:srgbClr>
          </a:solidFill>
          <a:ln w="12700">
            <a:solidFill>
              <a:srgbClr val="2D6A4F">
                <a:alpha val="40000"/>
              </a:srgbClr>
            </a:solidFill>
            <a:prstDash val="solid"/>
          </a:ln>
        </p:spPr>
      </p:sp>
      <p:sp>
        <p:nvSpPr>
          <p:cNvPr id="3" name="Shape 1">
            <a:extLst>
              <a:ext uri="{FF2B5EF4-FFF2-40B4-BE49-F238E27FC236}">
                <a16:creationId xmlns:a16="http://schemas.microsoft.com/office/drawing/2014/main" id="{DD720CD9-DFE7-F833-F54D-51263F0E61AD}"/>
              </a:ext>
            </a:extLst>
          </p:cNvPr>
          <p:cNvSpPr/>
          <p:nvPr/>
        </p:nvSpPr>
        <p:spPr>
          <a:xfrm>
            <a:off x="6400800" y="2286000"/>
            <a:ext cx="3657600" cy="3657600"/>
          </a:xfrm>
          <a:prstGeom prst="ellipse">
            <a:avLst/>
          </a:prstGeom>
          <a:solidFill>
            <a:srgbClr val="40916C">
              <a:alpha val="30000"/>
            </a:srgbClr>
          </a:solidFill>
          <a:ln w="12700">
            <a:solidFill>
              <a:srgbClr val="40916C">
                <a:alpha val="30000"/>
              </a:srgbClr>
            </a:solidFill>
            <a:prstDash val="solid"/>
          </a:ln>
        </p:spPr>
      </p:sp>
      <p:sp>
        <p:nvSpPr>
          <p:cNvPr id="24" name="TextBox 23">
            <a:extLst>
              <a:ext uri="{FF2B5EF4-FFF2-40B4-BE49-F238E27FC236}">
                <a16:creationId xmlns:a16="http://schemas.microsoft.com/office/drawing/2014/main" id="{B70EBE7F-DF0E-EC70-C237-B7CDE30DA99C}"/>
              </a:ext>
            </a:extLst>
          </p:cNvPr>
          <p:cNvSpPr txBox="1"/>
          <p:nvPr/>
        </p:nvSpPr>
        <p:spPr>
          <a:xfrm>
            <a:off x="1825283" y="2329934"/>
            <a:ext cx="5493434" cy="369332"/>
          </a:xfrm>
          <a:prstGeom prst="rect">
            <a:avLst/>
          </a:prstGeom>
          <a:noFill/>
        </p:spPr>
        <p:txBody>
          <a:bodyPr wrap="square">
            <a:spAutoFit/>
          </a:bodyPr>
          <a:lstStyle/>
          <a:p>
            <a:endParaRPr lang="en-US" dirty="0"/>
          </a:p>
        </p:txBody>
      </p:sp>
      <p:sp>
        <p:nvSpPr>
          <p:cNvPr id="26" name="TextBox 25">
            <a:extLst>
              <a:ext uri="{FF2B5EF4-FFF2-40B4-BE49-F238E27FC236}">
                <a16:creationId xmlns:a16="http://schemas.microsoft.com/office/drawing/2014/main" id="{1E12A78D-35A0-3048-D553-C3168E6F5FE7}"/>
              </a:ext>
            </a:extLst>
          </p:cNvPr>
          <p:cNvSpPr txBox="1"/>
          <p:nvPr/>
        </p:nvSpPr>
        <p:spPr>
          <a:xfrm>
            <a:off x="1825283" y="2329934"/>
            <a:ext cx="5493434" cy="369332"/>
          </a:xfrm>
          <a:prstGeom prst="rect">
            <a:avLst/>
          </a:prstGeom>
          <a:noFill/>
        </p:spPr>
        <p:txBody>
          <a:bodyPr wrap="square">
            <a:spAutoFit/>
          </a:bodyPr>
          <a:lstStyle/>
          <a:p>
            <a:endParaRPr lang="en-US" dirty="0"/>
          </a:p>
        </p:txBody>
      </p:sp>
      <p:sp>
        <p:nvSpPr>
          <p:cNvPr id="4" name="Text 2">
            <a:extLst>
              <a:ext uri="{FF2B5EF4-FFF2-40B4-BE49-F238E27FC236}">
                <a16:creationId xmlns:a16="http://schemas.microsoft.com/office/drawing/2014/main" id="{D7559402-10D6-8280-08FA-B14FEB9CC619}"/>
              </a:ext>
            </a:extLst>
          </p:cNvPr>
          <p:cNvSpPr/>
          <p:nvPr/>
        </p:nvSpPr>
        <p:spPr>
          <a:xfrm>
            <a:off x="457199" y="274320"/>
            <a:ext cx="7984778" cy="548640"/>
          </a:xfrm>
          <a:prstGeom prst="rect">
            <a:avLst/>
          </a:prstGeom>
          <a:noFill/>
          <a:ln/>
        </p:spPr>
        <p:txBody>
          <a:bodyPr wrap="square" rtlCol="0" anchor="ctr"/>
          <a:lstStyle/>
          <a:p>
            <a:pPr marL="0" indent="0" algn="ctr">
              <a:buNone/>
            </a:pPr>
            <a:r>
              <a:rPr lang="en-US" sz="2600" b="1" dirty="0" err="1">
                <a:solidFill>
                  <a:srgbClr val="FFFFFF"/>
                </a:solidFill>
                <a:latin typeface="Calibri" pitchFamily="34" charset="0"/>
                <a:ea typeface="Calibri" pitchFamily="34" charset="-122"/>
                <a:cs typeface="Calibri" pitchFamily="34" charset="-120"/>
              </a:rPr>
              <a:t>Một</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hướng</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phát</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triển</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mở</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rộng</a:t>
            </a:r>
            <a:r>
              <a:rPr lang="en-US" sz="2600" b="1" dirty="0">
                <a:solidFill>
                  <a:srgbClr val="FFFFFF"/>
                </a:solidFill>
                <a:latin typeface="Calibri" pitchFamily="34" charset="0"/>
                <a:ea typeface="Calibri" pitchFamily="34" charset="-122"/>
                <a:cs typeface="Calibri" pitchFamily="34" charset="-120"/>
              </a:rPr>
              <a:t> : </a:t>
            </a:r>
            <a:r>
              <a:rPr lang="en-US" sz="2600" b="1" dirty="0" err="1">
                <a:solidFill>
                  <a:srgbClr val="FFFFFF"/>
                </a:solidFill>
                <a:latin typeface="Calibri" pitchFamily="34" charset="0"/>
                <a:ea typeface="Calibri" pitchFamily="34" charset="-122"/>
                <a:cs typeface="Calibri" pitchFamily="34" charset="-120"/>
              </a:rPr>
              <a:t>phát</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hiện</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ngoại</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lệ</a:t>
            </a:r>
            <a:endParaRPr lang="en-US" sz="2600" dirty="0"/>
          </a:p>
        </p:txBody>
      </p:sp>
      <p:pic>
        <p:nvPicPr>
          <p:cNvPr id="8" name="Picture 7">
            <a:extLst>
              <a:ext uri="{FF2B5EF4-FFF2-40B4-BE49-F238E27FC236}">
                <a16:creationId xmlns:a16="http://schemas.microsoft.com/office/drawing/2014/main" id="{1750344C-D8C4-EFBE-39D9-DCBAD292D882}"/>
              </a:ext>
            </a:extLst>
          </p:cNvPr>
          <p:cNvPicPr>
            <a:picLocks noChangeAspect="1"/>
          </p:cNvPicPr>
          <p:nvPr/>
        </p:nvPicPr>
        <p:blipFill>
          <a:blip r:embed="rId3"/>
          <a:srcRect/>
          <a:stretch/>
        </p:blipFill>
        <p:spPr>
          <a:xfrm>
            <a:off x="1309655" y="1037469"/>
            <a:ext cx="5945997" cy="3653704"/>
          </a:xfrm>
          <a:prstGeom prst="rect">
            <a:avLst/>
          </a:prstGeom>
        </p:spPr>
      </p:pic>
    </p:spTree>
    <p:extLst>
      <p:ext uri="{BB962C8B-B14F-4D97-AF65-F5344CB8AC3E}">
        <p14:creationId xmlns:p14="http://schemas.microsoft.com/office/powerpoint/2010/main" val="901971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a:extLst>
            <a:ext uri="{FF2B5EF4-FFF2-40B4-BE49-F238E27FC236}">
              <a16:creationId xmlns:a16="http://schemas.microsoft.com/office/drawing/2014/main" id="{75CFDD07-FCF2-7EA4-B68A-D2E9A7411BE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381C650-6273-50A9-5683-02396AA51B0C}"/>
              </a:ext>
            </a:extLst>
          </p:cNvPr>
          <p:cNvSpPr/>
          <p:nvPr/>
        </p:nvSpPr>
        <p:spPr>
          <a:xfrm>
            <a:off x="-914400" y="-914400"/>
            <a:ext cx="4572000" cy="4572000"/>
          </a:xfrm>
          <a:prstGeom prst="ellipse">
            <a:avLst/>
          </a:prstGeom>
          <a:solidFill>
            <a:srgbClr val="2D6A4F">
              <a:alpha val="40000"/>
            </a:srgbClr>
          </a:solidFill>
          <a:ln w="12700">
            <a:solidFill>
              <a:srgbClr val="2D6A4F">
                <a:alpha val="40000"/>
              </a:srgbClr>
            </a:solidFill>
            <a:prstDash val="solid"/>
          </a:ln>
        </p:spPr>
      </p:sp>
      <p:sp>
        <p:nvSpPr>
          <p:cNvPr id="3" name="Shape 1">
            <a:extLst>
              <a:ext uri="{FF2B5EF4-FFF2-40B4-BE49-F238E27FC236}">
                <a16:creationId xmlns:a16="http://schemas.microsoft.com/office/drawing/2014/main" id="{81FE3114-F4D3-1705-E6A8-CCD6A3FC05E6}"/>
              </a:ext>
            </a:extLst>
          </p:cNvPr>
          <p:cNvSpPr/>
          <p:nvPr/>
        </p:nvSpPr>
        <p:spPr>
          <a:xfrm>
            <a:off x="6400800" y="2286000"/>
            <a:ext cx="3657600" cy="3657600"/>
          </a:xfrm>
          <a:prstGeom prst="ellipse">
            <a:avLst/>
          </a:prstGeom>
          <a:solidFill>
            <a:srgbClr val="40916C">
              <a:alpha val="30000"/>
            </a:srgbClr>
          </a:solidFill>
          <a:ln w="12700">
            <a:solidFill>
              <a:srgbClr val="40916C">
                <a:alpha val="30000"/>
              </a:srgbClr>
            </a:solidFill>
            <a:prstDash val="solid"/>
          </a:ln>
        </p:spPr>
      </p:sp>
      <p:sp>
        <p:nvSpPr>
          <p:cNvPr id="24" name="TextBox 23">
            <a:extLst>
              <a:ext uri="{FF2B5EF4-FFF2-40B4-BE49-F238E27FC236}">
                <a16:creationId xmlns:a16="http://schemas.microsoft.com/office/drawing/2014/main" id="{C2BDF690-E4A6-3BDF-57C8-BBDB9F0C7D61}"/>
              </a:ext>
            </a:extLst>
          </p:cNvPr>
          <p:cNvSpPr txBox="1"/>
          <p:nvPr/>
        </p:nvSpPr>
        <p:spPr>
          <a:xfrm>
            <a:off x="1825283" y="2329934"/>
            <a:ext cx="5493434" cy="369332"/>
          </a:xfrm>
          <a:prstGeom prst="rect">
            <a:avLst/>
          </a:prstGeom>
          <a:noFill/>
        </p:spPr>
        <p:txBody>
          <a:bodyPr wrap="square">
            <a:spAutoFit/>
          </a:bodyPr>
          <a:lstStyle/>
          <a:p>
            <a:endParaRPr lang="en-US" dirty="0"/>
          </a:p>
        </p:txBody>
      </p:sp>
      <p:sp>
        <p:nvSpPr>
          <p:cNvPr id="26" name="TextBox 25">
            <a:extLst>
              <a:ext uri="{FF2B5EF4-FFF2-40B4-BE49-F238E27FC236}">
                <a16:creationId xmlns:a16="http://schemas.microsoft.com/office/drawing/2014/main" id="{D87FB023-9C15-87BE-E479-3C16669F014A}"/>
              </a:ext>
            </a:extLst>
          </p:cNvPr>
          <p:cNvSpPr txBox="1"/>
          <p:nvPr/>
        </p:nvSpPr>
        <p:spPr>
          <a:xfrm>
            <a:off x="1825283" y="2329934"/>
            <a:ext cx="5493434" cy="369332"/>
          </a:xfrm>
          <a:prstGeom prst="rect">
            <a:avLst/>
          </a:prstGeom>
          <a:noFill/>
        </p:spPr>
        <p:txBody>
          <a:bodyPr wrap="square">
            <a:spAutoFit/>
          </a:bodyPr>
          <a:lstStyle/>
          <a:p>
            <a:endParaRPr lang="en-US" dirty="0"/>
          </a:p>
        </p:txBody>
      </p:sp>
      <p:sp>
        <p:nvSpPr>
          <p:cNvPr id="4" name="Text 2">
            <a:extLst>
              <a:ext uri="{FF2B5EF4-FFF2-40B4-BE49-F238E27FC236}">
                <a16:creationId xmlns:a16="http://schemas.microsoft.com/office/drawing/2014/main" id="{92FCC45A-A8D6-CB78-DA90-2911A7FDAEAE}"/>
              </a:ext>
            </a:extLst>
          </p:cNvPr>
          <p:cNvSpPr/>
          <p:nvPr/>
        </p:nvSpPr>
        <p:spPr>
          <a:xfrm>
            <a:off x="457199" y="274320"/>
            <a:ext cx="7984778" cy="548640"/>
          </a:xfrm>
          <a:prstGeom prst="rect">
            <a:avLst/>
          </a:prstGeom>
          <a:noFill/>
          <a:ln/>
        </p:spPr>
        <p:txBody>
          <a:bodyPr wrap="square" rtlCol="0" anchor="ctr"/>
          <a:lstStyle/>
          <a:p>
            <a:pPr marL="0" indent="0" algn="ctr">
              <a:buNone/>
            </a:pPr>
            <a:r>
              <a:rPr lang="en-US" sz="2600" b="1" dirty="0" err="1">
                <a:solidFill>
                  <a:srgbClr val="FFFFFF"/>
                </a:solidFill>
                <a:latin typeface="Calibri" pitchFamily="34" charset="0"/>
                <a:ea typeface="Calibri" pitchFamily="34" charset="-122"/>
                <a:cs typeface="Calibri" pitchFamily="34" charset="-120"/>
              </a:rPr>
              <a:t>Một</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hướng</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phát</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triển</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mở</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rộng</a:t>
            </a:r>
            <a:r>
              <a:rPr lang="en-US" sz="2600" b="1" dirty="0">
                <a:solidFill>
                  <a:srgbClr val="FFFFFF"/>
                </a:solidFill>
                <a:latin typeface="Calibri" pitchFamily="34" charset="0"/>
                <a:ea typeface="Calibri" pitchFamily="34" charset="-122"/>
                <a:cs typeface="Calibri" pitchFamily="34" charset="-120"/>
              </a:rPr>
              <a:t> : </a:t>
            </a:r>
            <a:r>
              <a:rPr lang="en-US" sz="2600" b="1" dirty="0" err="1">
                <a:solidFill>
                  <a:srgbClr val="FFFFFF"/>
                </a:solidFill>
                <a:latin typeface="Calibri" pitchFamily="34" charset="0"/>
                <a:ea typeface="Calibri" pitchFamily="34" charset="-122"/>
                <a:cs typeface="Calibri" pitchFamily="34" charset="-120"/>
              </a:rPr>
              <a:t>nhận</a:t>
            </a:r>
            <a:r>
              <a:rPr lang="en-US" sz="2600" b="1" dirty="0">
                <a:solidFill>
                  <a:srgbClr val="FFFFFF"/>
                </a:solidFill>
                <a:latin typeface="Calibri" pitchFamily="34" charset="0"/>
                <a:ea typeface="Calibri" pitchFamily="34" charset="-122"/>
                <a:cs typeface="Calibri" pitchFamily="34" charset="-120"/>
              </a:rPr>
              <a:t> </a:t>
            </a:r>
            <a:r>
              <a:rPr lang="en-US" sz="2600" b="1" dirty="0" err="1">
                <a:solidFill>
                  <a:srgbClr val="FFFFFF"/>
                </a:solidFill>
                <a:latin typeface="Calibri" pitchFamily="34" charset="0"/>
                <a:ea typeface="Calibri" pitchFamily="34" charset="-122"/>
                <a:cs typeface="Calibri" pitchFamily="34" charset="-120"/>
              </a:rPr>
              <a:t>diện</a:t>
            </a:r>
            <a:r>
              <a:rPr lang="en-US" sz="2600" b="1" dirty="0">
                <a:solidFill>
                  <a:srgbClr val="FFFFFF"/>
                </a:solidFill>
                <a:latin typeface="Calibri" pitchFamily="34" charset="0"/>
                <a:ea typeface="Calibri" pitchFamily="34" charset="-122"/>
                <a:cs typeface="Calibri" pitchFamily="34" charset="-120"/>
              </a:rPr>
              <a:t> multi </a:t>
            </a:r>
            <a:r>
              <a:rPr lang="en-US" sz="2600" b="1" dirty="0" err="1">
                <a:solidFill>
                  <a:srgbClr val="FFFFFF"/>
                </a:solidFill>
                <a:latin typeface="Calibri" pitchFamily="34" charset="0"/>
                <a:ea typeface="Calibri" pitchFamily="34" charset="-122"/>
                <a:cs typeface="Calibri" pitchFamily="34" charset="-120"/>
              </a:rPr>
              <a:t>labes</a:t>
            </a:r>
            <a:endParaRPr lang="en-US" sz="2600" dirty="0"/>
          </a:p>
        </p:txBody>
      </p:sp>
      <p:pic>
        <p:nvPicPr>
          <p:cNvPr id="8" name="Picture 7">
            <a:extLst>
              <a:ext uri="{FF2B5EF4-FFF2-40B4-BE49-F238E27FC236}">
                <a16:creationId xmlns:a16="http://schemas.microsoft.com/office/drawing/2014/main" id="{C86411F3-B838-269F-3912-18A8754C7005}"/>
              </a:ext>
            </a:extLst>
          </p:cNvPr>
          <p:cNvPicPr>
            <a:picLocks noChangeAspect="1"/>
          </p:cNvPicPr>
          <p:nvPr/>
        </p:nvPicPr>
        <p:blipFill>
          <a:blip r:embed="rId3"/>
          <a:stretch>
            <a:fillRect/>
          </a:stretch>
        </p:blipFill>
        <p:spPr>
          <a:xfrm>
            <a:off x="849506" y="905182"/>
            <a:ext cx="5179635" cy="3841689"/>
          </a:xfrm>
          <a:prstGeom prst="rect">
            <a:avLst/>
          </a:prstGeom>
        </p:spPr>
      </p:pic>
      <p:pic>
        <p:nvPicPr>
          <p:cNvPr id="7" name="Picture 6">
            <a:extLst>
              <a:ext uri="{FF2B5EF4-FFF2-40B4-BE49-F238E27FC236}">
                <a16:creationId xmlns:a16="http://schemas.microsoft.com/office/drawing/2014/main" id="{BB4F9EC5-548E-0D57-F6E5-EFE7128B3B0D}"/>
              </a:ext>
            </a:extLst>
          </p:cNvPr>
          <p:cNvPicPr>
            <a:picLocks noChangeAspect="1"/>
          </p:cNvPicPr>
          <p:nvPr/>
        </p:nvPicPr>
        <p:blipFill>
          <a:blip r:embed="rId4"/>
          <a:stretch>
            <a:fillRect/>
          </a:stretch>
        </p:blipFill>
        <p:spPr>
          <a:xfrm>
            <a:off x="6182524" y="905182"/>
            <a:ext cx="2696004" cy="3833843"/>
          </a:xfrm>
          <a:prstGeom prst="rect">
            <a:avLst/>
          </a:prstGeom>
        </p:spPr>
      </p:pic>
    </p:spTree>
    <p:extLst>
      <p:ext uri="{BB962C8B-B14F-4D97-AF65-F5344CB8AC3E}">
        <p14:creationId xmlns:p14="http://schemas.microsoft.com/office/powerpoint/2010/main" val="4500079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a:extLst>
            <a:ext uri="{FF2B5EF4-FFF2-40B4-BE49-F238E27FC236}">
              <a16:creationId xmlns:a16="http://schemas.microsoft.com/office/drawing/2014/main" id="{498D55C4-CD73-91E3-C08C-DADEF8762FC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7FA9155-418D-ABEA-3FE8-B9513AD52E03}"/>
              </a:ext>
            </a:extLst>
          </p:cNvPr>
          <p:cNvSpPr/>
          <p:nvPr/>
        </p:nvSpPr>
        <p:spPr>
          <a:xfrm>
            <a:off x="-914400" y="-914400"/>
            <a:ext cx="4572000" cy="4572000"/>
          </a:xfrm>
          <a:prstGeom prst="ellipse">
            <a:avLst/>
          </a:prstGeom>
          <a:solidFill>
            <a:srgbClr val="2D6A4F">
              <a:alpha val="40000"/>
            </a:srgbClr>
          </a:solidFill>
          <a:ln w="12700">
            <a:solidFill>
              <a:srgbClr val="2D6A4F">
                <a:alpha val="40000"/>
              </a:srgbClr>
            </a:solidFill>
            <a:prstDash val="solid"/>
          </a:ln>
        </p:spPr>
      </p:sp>
      <p:sp>
        <p:nvSpPr>
          <p:cNvPr id="3" name="Shape 1">
            <a:extLst>
              <a:ext uri="{FF2B5EF4-FFF2-40B4-BE49-F238E27FC236}">
                <a16:creationId xmlns:a16="http://schemas.microsoft.com/office/drawing/2014/main" id="{6BFE256D-891D-6D06-968A-396B0288D813}"/>
              </a:ext>
            </a:extLst>
          </p:cNvPr>
          <p:cNvSpPr/>
          <p:nvPr/>
        </p:nvSpPr>
        <p:spPr>
          <a:xfrm>
            <a:off x="6400800" y="2286000"/>
            <a:ext cx="3657600" cy="3657600"/>
          </a:xfrm>
          <a:prstGeom prst="ellipse">
            <a:avLst/>
          </a:prstGeom>
          <a:solidFill>
            <a:srgbClr val="40916C">
              <a:alpha val="30000"/>
            </a:srgbClr>
          </a:solidFill>
          <a:ln w="12700">
            <a:solidFill>
              <a:srgbClr val="40916C">
                <a:alpha val="30000"/>
              </a:srgbClr>
            </a:solidFill>
            <a:prstDash val="solid"/>
          </a:ln>
        </p:spPr>
      </p:sp>
      <p:sp>
        <p:nvSpPr>
          <p:cNvPr id="24" name="TextBox 23">
            <a:extLst>
              <a:ext uri="{FF2B5EF4-FFF2-40B4-BE49-F238E27FC236}">
                <a16:creationId xmlns:a16="http://schemas.microsoft.com/office/drawing/2014/main" id="{536A0305-79AF-DA6A-EB90-8BD73B57E262}"/>
              </a:ext>
            </a:extLst>
          </p:cNvPr>
          <p:cNvSpPr txBox="1"/>
          <p:nvPr/>
        </p:nvSpPr>
        <p:spPr>
          <a:xfrm>
            <a:off x="1825283" y="2329934"/>
            <a:ext cx="5493434" cy="369332"/>
          </a:xfrm>
          <a:prstGeom prst="rect">
            <a:avLst/>
          </a:prstGeom>
          <a:noFill/>
        </p:spPr>
        <p:txBody>
          <a:bodyPr wrap="square">
            <a:spAutoFit/>
          </a:bodyPr>
          <a:lstStyle/>
          <a:p>
            <a:endParaRPr lang="en-US" dirty="0"/>
          </a:p>
        </p:txBody>
      </p:sp>
      <p:sp>
        <p:nvSpPr>
          <p:cNvPr id="26" name="TextBox 25">
            <a:extLst>
              <a:ext uri="{FF2B5EF4-FFF2-40B4-BE49-F238E27FC236}">
                <a16:creationId xmlns:a16="http://schemas.microsoft.com/office/drawing/2014/main" id="{D7DADC14-05D2-97F7-6F02-A8849940B07D}"/>
              </a:ext>
            </a:extLst>
          </p:cNvPr>
          <p:cNvSpPr txBox="1"/>
          <p:nvPr/>
        </p:nvSpPr>
        <p:spPr>
          <a:xfrm>
            <a:off x="1825283" y="2329934"/>
            <a:ext cx="5493434" cy="369332"/>
          </a:xfrm>
          <a:prstGeom prst="rect">
            <a:avLst/>
          </a:prstGeom>
          <a:noFill/>
        </p:spPr>
        <p:txBody>
          <a:bodyPr wrap="square">
            <a:spAutoFit/>
          </a:bodyPr>
          <a:lstStyle/>
          <a:p>
            <a:endParaRPr lang="en-US" dirty="0"/>
          </a:p>
        </p:txBody>
      </p:sp>
      <p:sp>
        <p:nvSpPr>
          <p:cNvPr id="32" name="TextBox 31">
            <a:extLst>
              <a:ext uri="{FF2B5EF4-FFF2-40B4-BE49-F238E27FC236}">
                <a16:creationId xmlns:a16="http://schemas.microsoft.com/office/drawing/2014/main" id="{D71BB89F-503A-2E32-FA61-6772404460C5}"/>
              </a:ext>
            </a:extLst>
          </p:cNvPr>
          <p:cNvSpPr txBox="1"/>
          <p:nvPr/>
        </p:nvSpPr>
        <p:spPr>
          <a:xfrm>
            <a:off x="1825283" y="2329934"/>
            <a:ext cx="5493434" cy="369332"/>
          </a:xfrm>
          <a:prstGeom prst="rect">
            <a:avLst/>
          </a:prstGeom>
          <a:noFill/>
        </p:spPr>
        <p:txBody>
          <a:bodyPr wrap="square">
            <a:spAutoFit/>
          </a:bodyPr>
          <a:lstStyle/>
          <a:p>
            <a:endParaRPr lang="en-US" dirty="0"/>
          </a:p>
        </p:txBody>
      </p:sp>
      <p:pic>
        <p:nvPicPr>
          <p:cNvPr id="34" name="Picture 33">
            <a:extLst>
              <a:ext uri="{FF2B5EF4-FFF2-40B4-BE49-F238E27FC236}">
                <a16:creationId xmlns:a16="http://schemas.microsoft.com/office/drawing/2014/main" id="{1627F628-E5A8-1C56-DB5C-B7842A0A393C}"/>
              </a:ext>
            </a:extLst>
          </p:cNvPr>
          <p:cNvPicPr>
            <a:picLocks noChangeAspect="1"/>
          </p:cNvPicPr>
          <p:nvPr/>
        </p:nvPicPr>
        <p:blipFill>
          <a:blip r:embed="rId3"/>
          <a:stretch>
            <a:fillRect/>
          </a:stretch>
        </p:blipFill>
        <p:spPr>
          <a:xfrm>
            <a:off x="1462391" y="913065"/>
            <a:ext cx="6350938" cy="3572402"/>
          </a:xfrm>
          <a:prstGeom prst="rect">
            <a:avLst/>
          </a:prstGeom>
          <a:ln>
            <a:noFill/>
          </a:ln>
          <a:effectLst>
            <a:softEdge rad="112500"/>
          </a:effectLst>
        </p:spPr>
      </p:pic>
      <p:pic>
        <p:nvPicPr>
          <p:cNvPr id="6" name="Picture 5">
            <a:extLst>
              <a:ext uri="{FF2B5EF4-FFF2-40B4-BE49-F238E27FC236}">
                <a16:creationId xmlns:a16="http://schemas.microsoft.com/office/drawing/2014/main" id="{A45120DE-654D-4487-4309-70EFE12E05BD}"/>
              </a:ext>
            </a:extLst>
          </p:cNvPr>
          <p:cNvPicPr>
            <a:picLocks noChangeAspect="1"/>
          </p:cNvPicPr>
          <p:nvPr/>
        </p:nvPicPr>
        <p:blipFill>
          <a:blip r:embed="rId4"/>
          <a:stretch>
            <a:fillRect/>
          </a:stretch>
        </p:blipFill>
        <p:spPr>
          <a:xfrm>
            <a:off x="6180306" y="1141618"/>
            <a:ext cx="661818" cy="549168"/>
          </a:xfrm>
          <a:prstGeom prst="ellipse">
            <a:avLst/>
          </a:prstGeom>
        </p:spPr>
      </p:pic>
    </p:spTree>
    <p:extLst>
      <p:ext uri="{BB962C8B-B14F-4D97-AF65-F5344CB8AC3E}">
        <p14:creationId xmlns:p14="http://schemas.microsoft.com/office/powerpoint/2010/main" val="2769646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a:extLst>
            <a:ext uri="{FF2B5EF4-FFF2-40B4-BE49-F238E27FC236}">
              <a16:creationId xmlns:a16="http://schemas.microsoft.com/office/drawing/2014/main" id="{B4E03EC8-BD2E-FF72-3093-21831BA390C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C06B4DE-2182-0358-0BC2-6B07374BD402}"/>
              </a:ext>
            </a:extLst>
          </p:cNvPr>
          <p:cNvSpPr/>
          <p:nvPr/>
        </p:nvSpPr>
        <p:spPr>
          <a:xfrm>
            <a:off x="0" y="0"/>
            <a:ext cx="137160" cy="5143500"/>
          </a:xfrm>
          <a:prstGeom prst="rect">
            <a:avLst/>
          </a:prstGeom>
          <a:solidFill>
            <a:srgbClr val="74C69D"/>
          </a:solidFill>
          <a:ln w="12700">
            <a:solidFill>
              <a:srgbClr val="74C69D"/>
            </a:solidFill>
            <a:prstDash val="solid"/>
          </a:ln>
        </p:spPr>
      </p:sp>
      <p:sp>
        <p:nvSpPr>
          <p:cNvPr id="3" name="Shape 1">
            <a:extLst>
              <a:ext uri="{FF2B5EF4-FFF2-40B4-BE49-F238E27FC236}">
                <a16:creationId xmlns:a16="http://schemas.microsoft.com/office/drawing/2014/main" id="{8AB19E1D-3E00-62DE-A0DF-F07DCD66126A}"/>
              </a:ext>
            </a:extLst>
          </p:cNvPr>
          <p:cNvSpPr/>
          <p:nvPr/>
        </p:nvSpPr>
        <p:spPr>
          <a:xfrm>
            <a:off x="137160" y="0"/>
            <a:ext cx="73152" cy="5143500"/>
          </a:xfrm>
          <a:prstGeom prst="rect">
            <a:avLst/>
          </a:prstGeom>
          <a:solidFill>
            <a:srgbClr val="40916C"/>
          </a:solidFill>
          <a:ln w="12700">
            <a:solidFill>
              <a:srgbClr val="40916C"/>
            </a:solidFill>
            <a:prstDash val="solid"/>
          </a:ln>
        </p:spPr>
      </p:sp>
      <p:sp>
        <p:nvSpPr>
          <p:cNvPr id="4" name="Shape 2">
            <a:extLst>
              <a:ext uri="{FF2B5EF4-FFF2-40B4-BE49-F238E27FC236}">
                <a16:creationId xmlns:a16="http://schemas.microsoft.com/office/drawing/2014/main" id="{F956BFBF-D002-2911-F014-B7FBCC29A564}"/>
              </a:ext>
            </a:extLst>
          </p:cNvPr>
          <p:cNvSpPr/>
          <p:nvPr/>
        </p:nvSpPr>
        <p:spPr>
          <a:xfrm>
            <a:off x="6858000" y="-1371600"/>
            <a:ext cx="4114800" cy="4114800"/>
          </a:xfrm>
          <a:prstGeom prst="ellipse">
            <a:avLst/>
          </a:prstGeom>
          <a:solidFill>
            <a:srgbClr val="2D6A4F">
              <a:alpha val="40000"/>
            </a:srgbClr>
          </a:solidFill>
          <a:ln w="12700">
            <a:solidFill>
              <a:srgbClr val="2D6A4F">
                <a:alpha val="40000"/>
              </a:srgbClr>
            </a:solidFill>
            <a:prstDash val="solid"/>
          </a:ln>
        </p:spPr>
      </p:sp>
      <p:sp>
        <p:nvSpPr>
          <p:cNvPr id="5" name="Shape 3">
            <a:extLst>
              <a:ext uri="{FF2B5EF4-FFF2-40B4-BE49-F238E27FC236}">
                <a16:creationId xmlns:a16="http://schemas.microsoft.com/office/drawing/2014/main" id="{D0390F19-ACB4-FB87-E76B-08F0A22D51E2}"/>
              </a:ext>
            </a:extLst>
          </p:cNvPr>
          <p:cNvSpPr/>
          <p:nvPr/>
        </p:nvSpPr>
        <p:spPr>
          <a:xfrm>
            <a:off x="6400800" y="2286000"/>
            <a:ext cx="3200400" cy="3200400"/>
          </a:xfrm>
          <a:prstGeom prst="ellipse">
            <a:avLst/>
          </a:prstGeom>
          <a:solidFill>
            <a:srgbClr val="40916C">
              <a:alpha val="30000"/>
            </a:srgbClr>
          </a:solidFill>
          <a:ln w="12700">
            <a:solidFill>
              <a:srgbClr val="40916C">
                <a:alpha val="30000"/>
              </a:srgbClr>
            </a:solidFill>
            <a:prstDash val="solid"/>
          </a:ln>
        </p:spPr>
      </p:sp>
      <p:sp>
        <p:nvSpPr>
          <p:cNvPr id="6" name="Text 4">
            <a:extLst>
              <a:ext uri="{FF2B5EF4-FFF2-40B4-BE49-F238E27FC236}">
                <a16:creationId xmlns:a16="http://schemas.microsoft.com/office/drawing/2014/main" id="{69EAED09-AB43-2B23-714F-47061775B8D8}"/>
              </a:ext>
            </a:extLst>
          </p:cNvPr>
          <p:cNvSpPr/>
          <p:nvPr/>
        </p:nvSpPr>
        <p:spPr>
          <a:xfrm>
            <a:off x="457200" y="320040"/>
            <a:ext cx="7772400" cy="365760"/>
          </a:xfrm>
          <a:prstGeom prst="rect">
            <a:avLst/>
          </a:prstGeom>
          <a:noFill/>
          <a:ln/>
        </p:spPr>
        <p:txBody>
          <a:bodyPr wrap="square" rtlCol="0" anchor="ctr"/>
          <a:lstStyle/>
          <a:p>
            <a:pPr marL="0" indent="0" algn="l">
              <a:buNone/>
            </a:pPr>
            <a:r>
              <a:rPr lang="en-US" sz="1100" b="1" kern="0" spc="300" dirty="0">
                <a:solidFill>
                  <a:srgbClr val="74C69D"/>
                </a:solidFill>
                <a:latin typeface="Calibri" pitchFamily="34" charset="0"/>
                <a:ea typeface="Calibri" pitchFamily="34" charset="-122"/>
                <a:cs typeface="Calibri" pitchFamily="34" charset="-120"/>
              </a:rPr>
              <a:t>TRƯỜNG ĐẠI HỌC THỦY LỢI</a:t>
            </a:r>
            <a:endParaRPr lang="en-US" sz="1100" dirty="0"/>
          </a:p>
        </p:txBody>
      </p:sp>
      <p:sp>
        <p:nvSpPr>
          <p:cNvPr id="7" name="Text 5">
            <a:extLst>
              <a:ext uri="{FF2B5EF4-FFF2-40B4-BE49-F238E27FC236}">
                <a16:creationId xmlns:a16="http://schemas.microsoft.com/office/drawing/2014/main" id="{B53B3EC1-465D-19A6-87F3-96779B00288D}"/>
              </a:ext>
            </a:extLst>
          </p:cNvPr>
          <p:cNvSpPr/>
          <p:nvPr/>
        </p:nvSpPr>
        <p:spPr>
          <a:xfrm>
            <a:off x="457200" y="685800"/>
            <a:ext cx="7772400" cy="320040"/>
          </a:xfrm>
          <a:prstGeom prst="rect">
            <a:avLst/>
          </a:prstGeom>
          <a:noFill/>
          <a:ln/>
        </p:spPr>
        <p:txBody>
          <a:bodyPr wrap="square" rtlCol="0" anchor="ctr"/>
          <a:lstStyle/>
          <a:p>
            <a:pPr marL="0" indent="0" algn="l">
              <a:buNone/>
            </a:pPr>
            <a:r>
              <a:rPr lang="en-US" sz="1000" b="1" dirty="0">
                <a:solidFill>
                  <a:srgbClr val="74C69D"/>
                </a:solidFill>
                <a:latin typeface="Calibri" pitchFamily="34" charset="0"/>
                <a:ea typeface="Calibri" pitchFamily="34" charset="-122"/>
                <a:cs typeface="Calibri" pitchFamily="34" charset="-120"/>
              </a:rPr>
              <a:t>MÔN HỌC: HỆ THỐNG THÔNG MINH</a:t>
            </a:r>
            <a:endParaRPr lang="en-US" sz="1000" b="1" dirty="0"/>
          </a:p>
        </p:txBody>
      </p:sp>
      <p:sp>
        <p:nvSpPr>
          <p:cNvPr id="17" name="TextBox 16">
            <a:extLst>
              <a:ext uri="{FF2B5EF4-FFF2-40B4-BE49-F238E27FC236}">
                <a16:creationId xmlns:a16="http://schemas.microsoft.com/office/drawing/2014/main" id="{85B72EF5-88F8-4A6C-A564-CCD062734D74}"/>
              </a:ext>
            </a:extLst>
          </p:cNvPr>
          <p:cNvSpPr txBox="1"/>
          <p:nvPr/>
        </p:nvSpPr>
        <p:spPr>
          <a:xfrm>
            <a:off x="470916" y="1109990"/>
            <a:ext cx="2771335" cy="523220"/>
          </a:xfrm>
          <a:prstGeom prst="rect">
            <a:avLst/>
          </a:prstGeom>
          <a:noFill/>
        </p:spPr>
        <p:txBody>
          <a:bodyPr wrap="square">
            <a:spAutoFit/>
          </a:bodyPr>
          <a:lstStyle/>
          <a:p>
            <a:r>
              <a:rPr lang="vi-VN" sz="2800" b="1" dirty="0">
                <a:solidFill>
                  <a:schemeClr val="bg1"/>
                </a:solidFill>
                <a:latin typeface="Calibri" panose="020F0502020204030204" pitchFamily="34" charset="0"/>
                <a:ea typeface="Calibri" panose="020F0502020204030204" pitchFamily="34" charset="0"/>
                <a:cs typeface="Calibri" panose="020F0502020204030204" pitchFamily="34" charset="0"/>
              </a:rPr>
              <a:t>LỜI CẢM ƠN</a:t>
            </a:r>
            <a:endParaRPr lang="en-US" sz="28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8" name="Shape 9">
            <a:extLst>
              <a:ext uri="{FF2B5EF4-FFF2-40B4-BE49-F238E27FC236}">
                <a16:creationId xmlns:a16="http://schemas.microsoft.com/office/drawing/2014/main" id="{5FD48D63-B631-A839-E564-ADE5DCCC22EE}"/>
              </a:ext>
            </a:extLst>
          </p:cNvPr>
          <p:cNvSpPr/>
          <p:nvPr/>
        </p:nvSpPr>
        <p:spPr>
          <a:xfrm>
            <a:off x="470916" y="1655064"/>
            <a:ext cx="5029200" cy="36576"/>
          </a:xfrm>
          <a:prstGeom prst="rect">
            <a:avLst/>
          </a:prstGeom>
          <a:solidFill>
            <a:srgbClr val="74C69D"/>
          </a:solidFill>
          <a:ln w="12700">
            <a:solidFill>
              <a:srgbClr val="74C69D"/>
            </a:solidFill>
            <a:prstDash val="solid"/>
          </a:ln>
        </p:spPr>
      </p:sp>
      <p:sp>
        <p:nvSpPr>
          <p:cNvPr id="19" name="Shape 10">
            <a:extLst>
              <a:ext uri="{FF2B5EF4-FFF2-40B4-BE49-F238E27FC236}">
                <a16:creationId xmlns:a16="http://schemas.microsoft.com/office/drawing/2014/main" id="{951C7286-8C91-6684-ECA9-3BF1CF320E2F}"/>
              </a:ext>
            </a:extLst>
          </p:cNvPr>
          <p:cNvSpPr/>
          <p:nvPr/>
        </p:nvSpPr>
        <p:spPr>
          <a:xfrm>
            <a:off x="470916" y="1865728"/>
            <a:ext cx="5065776" cy="2161852"/>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sp>
      <p:sp>
        <p:nvSpPr>
          <p:cNvPr id="20" name="Text 11">
            <a:extLst>
              <a:ext uri="{FF2B5EF4-FFF2-40B4-BE49-F238E27FC236}">
                <a16:creationId xmlns:a16="http://schemas.microsoft.com/office/drawing/2014/main" id="{EFF2AD7B-F706-7176-9953-74053144E14B}"/>
              </a:ext>
            </a:extLst>
          </p:cNvPr>
          <p:cNvSpPr/>
          <p:nvPr/>
        </p:nvSpPr>
        <p:spPr>
          <a:xfrm>
            <a:off x="470915" y="1807298"/>
            <a:ext cx="5029199" cy="2416126"/>
          </a:xfrm>
          <a:prstGeom prst="rect">
            <a:avLst/>
          </a:prstGeom>
          <a:noFill/>
          <a:ln/>
        </p:spPr>
        <p:txBody>
          <a:bodyPr wrap="square" rtlCol="0" anchor="ctr"/>
          <a:lstStyle/>
          <a:p>
            <a:r>
              <a:rPr lang="vi-VN" sz="1050" dirty="0">
                <a:solidFill>
                  <a:schemeClr val="bg1"/>
                </a:solidFill>
              </a:rPr>
              <a:t>Nhóm học viên xin chân thành cảm ơn TS. Trần Mạnh Tuấn đã tận tình giảng dạy, hướng dẫn và truyền đạt những kiến thức quý báu trong quá trình học tập và thực hiện bài tập lớn.</a:t>
            </a:r>
          </a:p>
          <a:p>
            <a:endParaRPr lang="vi-VN" sz="1050" dirty="0">
              <a:solidFill>
                <a:schemeClr val="bg1"/>
              </a:solidFill>
            </a:endParaRPr>
          </a:p>
          <a:p>
            <a:r>
              <a:rPr lang="vi-VN" sz="1050" dirty="0">
                <a:solidFill>
                  <a:schemeClr val="bg1"/>
                </a:solidFill>
              </a:rPr>
              <a:t>Những kiến thức và sự định hướng của Thầy là nền tảng quan trọng giúp nhóm học viên hiểu rõ hơn về các phương pháp xây dựng hệ thống thông minh và hoàn thành đề tài “An Explainable Intelligent System for Plant Disease Severity Assessment using Fuzzy Inference”.</a:t>
            </a:r>
          </a:p>
          <a:p>
            <a:endParaRPr lang="vi-VN" sz="1050" dirty="0">
              <a:solidFill>
                <a:schemeClr val="bg1"/>
              </a:solidFill>
            </a:endParaRPr>
          </a:p>
          <a:p>
            <a:r>
              <a:rPr lang="vi-VN" sz="1050" dirty="0">
                <a:solidFill>
                  <a:schemeClr val="bg1"/>
                </a:solidFill>
              </a:rPr>
              <a:t>Mặc dù đã nỗ lực nghiên cứu và thực hiện, báo cáo khó tránh khỏi hạn chế. Nhóm rất mong nhận được những ý kiến chỉ dẫn và góp ý từ Thầy để tiếp tục hoàn thiện, đồng thời nâng cao kiến thức và năng lực nghiên cứu của mình.</a:t>
            </a:r>
            <a:endParaRPr lang="en-US" sz="1050" dirty="0">
              <a:solidFill>
                <a:schemeClr val="bg1"/>
              </a:solidFill>
            </a:endParaRPr>
          </a:p>
        </p:txBody>
      </p:sp>
      <p:pic>
        <p:nvPicPr>
          <p:cNvPr id="31" name="Picture 30" descr="Bộ sưu tập hình ảnh cánh đồng lúa đẹp nhất với hơn 999+ ảnh chất lượng 4K.">
            <a:extLst>
              <a:ext uri="{FF2B5EF4-FFF2-40B4-BE49-F238E27FC236}">
                <a16:creationId xmlns:a16="http://schemas.microsoft.com/office/drawing/2014/main" id="{E355C2BF-2A9A-B149-CC00-BFEB619E5F45}"/>
              </a:ext>
            </a:extLst>
          </p:cNvPr>
          <p:cNvPicPr>
            <a:picLocks noChangeAspect="1"/>
          </p:cNvPicPr>
          <p:nvPr/>
        </p:nvPicPr>
        <p:blipFill>
          <a:blip r:embed="rId3"/>
          <a:stretch>
            <a:fillRect/>
          </a:stretch>
        </p:blipFill>
        <p:spPr>
          <a:xfrm>
            <a:off x="5641145" y="1321082"/>
            <a:ext cx="3432515" cy="3001216"/>
          </a:xfrm>
          <a:prstGeom prst="ellipse">
            <a:avLst/>
          </a:prstGeom>
          <a:ln>
            <a:noFill/>
          </a:ln>
          <a:effectLst>
            <a:softEdge rad="112500"/>
          </a:effectLst>
        </p:spPr>
      </p:pic>
    </p:spTree>
    <p:extLst>
      <p:ext uri="{BB962C8B-B14F-4D97-AF65-F5344CB8AC3E}">
        <p14:creationId xmlns:p14="http://schemas.microsoft.com/office/powerpoint/2010/main" val="34286020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320</TotalTime>
  <Words>2103</Words>
  <Application>Microsoft Office PowerPoint</Application>
  <PresentationFormat>On-screen Show (16:9)</PresentationFormat>
  <Paragraphs>228</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Explainable Intelligent System for Plant Disease Severity Assessment using Fuzzy Inference</dc:title>
  <dc:subject>PptxGenJS Presentation</dc:subject>
  <dc:creator>PptxGenJS</dc:creator>
  <cp:lastModifiedBy>Tran Khanh Trang</cp:lastModifiedBy>
  <cp:revision>145</cp:revision>
  <dcterms:created xsi:type="dcterms:W3CDTF">2026-05-30T02:04:36Z</dcterms:created>
  <dcterms:modified xsi:type="dcterms:W3CDTF">2026-06-05T19:16:30Z</dcterms:modified>
</cp:coreProperties>
</file>