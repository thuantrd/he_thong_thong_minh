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4" r:id="rId4"/>
    <p:sldId id="277" r:id="rId5"/>
    <p:sldId id="273" r:id="rId6"/>
    <p:sldId id="272" r:id="rId7"/>
    <p:sldId id="267" r:id="rId8"/>
    <p:sldId id="259" r:id="rId9"/>
    <p:sldId id="260" r:id="rId10"/>
    <p:sldId id="264" r:id="rId11"/>
    <p:sldId id="263" r:id="rId12"/>
    <p:sldId id="265" r:id="rId13"/>
    <p:sldId id="276" r:id="rId14"/>
    <p:sldId id="278" r:id="rId15"/>
    <p:sldId id="275" r:id="rId16"/>
    <p:sldId id="270" r:id="rId17"/>
    <p:sldId id="266"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an Khanh Trang" initials="TT" lastIdx="2" clrIdx="0">
    <p:extLst>
      <p:ext uri="{19B8F6BF-5375-455C-9EA6-DF929625EA0E}">
        <p15:presenceInfo xmlns:p15="http://schemas.microsoft.com/office/powerpoint/2012/main" userId="S::228116842@e.tlu.edu.vn::8d253a26-78aa-4da7-853b-8ada7af2bc3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14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F1-Score</c:v>
                </c:pt>
              </c:strCache>
            </c:strRef>
          </c:tx>
          <c:spPr>
            <a:solidFill>
              <a:srgbClr val="2D6A4F"/>
            </a:solidFill>
            <a:effectLst/>
          </c:spPr>
          <c:invertIfNegative val="0"/>
          <c:cat>
            <c:strRef>
              <c:f>Sheet1!$A$2:$A$10</c:f>
              <c:strCache>
                <c:ptCount val="9"/>
                <c:pt idx="0">
                  <c:v>Healthy</c:v>
                </c:pt>
                <c:pt idx="1">
                  <c:v>Mild Blast</c:v>
                </c:pt>
                <c:pt idx="2">
                  <c:v>Severe Blast</c:v>
                </c:pt>
                <c:pt idx="3">
                  <c:v>Mild B.Blight</c:v>
                </c:pt>
                <c:pt idx="4">
                  <c:v>Severe B.Blight</c:v>
                </c:pt>
                <c:pt idx="5">
                  <c:v>Mild Brownspot</c:v>
                </c:pt>
                <c:pt idx="6">
                  <c:v>Severe Brownspot</c:v>
                </c:pt>
                <c:pt idx="7">
                  <c:v>Mild Tungro</c:v>
                </c:pt>
                <c:pt idx="8">
                  <c:v>Severe Tungro</c:v>
                </c:pt>
              </c:strCache>
            </c:strRef>
          </c:cat>
          <c:val>
            <c:numRef>
              <c:f>Sheet1!$B$2:$B$10</c:f>
              <c:numCache>
                <c:formatCode>General</c:formatCode>
                <c:ptCount val="9"/>
                <c:pt idx="0">
                  <c:v>1</c:v>
                </c:pt>
                <c:pt idx="1">
                  <c:v>0.92300000000000004</c:v>
                </c:pt>
                <c:pt idx="2">
                  <c:v>0.92100000000000004</c:v>
                </c:pt>
                <c:pt idx="3">
                  <c:v>0.92100000000000004</c:v>
                </c:pt>
                <c:pt idx="4">
                  <c:v>0.91</c:v>
                </c:pt>
                <c:pt idx="5">
                  <c:v>0.89100000000000001</c:v>
                </c:pt>
                <c:pt idx="6">
                  <c:v>0.87</c:v>
                </c:pt>
                <c:pt idx="7">
                  <c:v>0.97499999999999998</c:v>
                </c:pt>
                <c:pt idx="8">
                  <c:v>0.98499999999999999</c:v>
                </c:pt>
              </c:numCache>
            </c:numRef>
          </c:val>
          <c:extLst>
            <c:ext xmlns:c16="http://schemas.microsoft.com/office/drawing/2014/chart" uri="{C3380CC4-5D6E-409C-BE32-E72D297353CC}">
              <c16:uniqueId val="{00000000-ED62-4A56-B121-D288099B9B2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max val="1"/>
          <c:min val="0.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45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868C-4060-C7EB-6975-EFBDEDF5B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DDF06-F02D-CF2A-9022-273CB1D4A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B75559-E63D-E680-1E1E-C981FC770B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7CBCEB-C864-A04C-D7E4-7E345EB69F1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474087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CE12F-0169-4F03-1ED9-76465AF58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D8744-DC81-35F3-FBDC-6BD8CCB00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50644-471C-BE3A-9927-5E097E034E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9C661A-8399-97D7-0EF0-A20AFC02948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060240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F2AA-96ED-649C-6466-5B63D08DF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E0357-F613-08E5-53A9-1EF50B2E8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10D34-E7D3-8703-FC13-9A5426E409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208EA-C960-68E2-DF6B-2DCC3FD4C42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87096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875F1-2B2E-8A00-DA06-EC21D69ECE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84F69-0C4B-ABFE-083B-B226C5A6A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E4BE47-288F-0914-0F39-4DECF57BF3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63D3C-A4D1-493B-8697-B12A846B3A6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36881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3EE07-467B-7F9A-8B3C-32184605B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771AC-B5C0-96A6-3151-1F47B7A7B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E5766-33DF-B27E-77A7-548FD37E0F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516BA5-63E9-72DB-BBFF-8494C9446B8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44877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6444-4316-2E2C-68A2-1139957B11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9596C-5F17-87DB-4615-1934012CA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CA8A5F-2CEF-46F8-C2DB-87FE24C41A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E93F97-4763-F4A0-A198-9F6E14756C7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99428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9D9A2-D1EB-7728-C34E-725895B8C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535C-B75E-DA2E-A504-58BD981941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68348-A636-B2F2-CB5F-0AAFF23415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9F4719-C078-0AFD-2814-1CFF51D334A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85716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6938C-84CA-A40E-0448-A5C7BAED7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5546F1-4E0F-203F-3745-22951160D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A4143-48DB-0EF4-CE94-07105E47C7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54A0F1-39F9-3F3D-CC2D-6E3F7950839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97329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8DFB4-6880-9DCE-D040-C01069B71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258A3-F516-56E2-63F7-904A32293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C0978-87AC-17A1-B5CA-6E5BC7C290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9BA0A7-2BEB-44B1-51C0-81E75C85F2D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776736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DAA5F-B547-3B1B-C26C-A0630936D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B2F31A-548E-CEBA-B793-6A457F60F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DB5326-E137-2695-9793-1E713A6B51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D2A39-11F0-09C5-4717-07064E806A4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61380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hyperlink" Target="https://www.kaggle.com/datasets/isaacritharson/severity-based-rice-leaf-diseases-datase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74C69D"/>
          </a:solidFill>
          <a:ln w="12700">
            <a:solidFill>
              <a:srgbClr val="74C69D"/>
            </a:solidFill>
            <a:prstDash val="solid"/>
          </a:ln>
        </p:spPr>
      </p:sp>
      <p:sp>
        <p:nvSpPr>
          <p:cNvPr id="3" name="Shape 1"/>
          <p:cNvSpPr/>
          <p:nvPr/>
        </p:nvSpPr>
        <p:spPr>
          <a:xfrm>
            <a:off x="137160" y="0"/>
            <a:ext cx="73152" cy="5143500"/>
          </a:xfrm>
          <a:prstGeom prst="rect">
            <a:avLst/>
          </a:prstGeom>
          <a:solidFill>
            <a:srgbClr val="40916C"/>
          </a:solidFill>
          <a:ln w="12700">
            <a:solidFill>
              <a:srgbClr val="40916C"/>
            </a:solidFill>
            <a:prstDash val="solid"/>
          </a:ln>
        </p:spPr>
      </p:sp>
      <p:sp>
        <p:nvSpPr>
          <p:cNvPr id="4" name="Shape 2"/>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p:cNvSpPr/>
          <p:nvPr/>
        </p:nvSpPr>
        <p:spPr>
          <a:xfrm>
            <a:off x="457200" y="685800"/>
            <a:ext cx="7772400" cy="320040"/>
          </a:xfrm>
          <a:prstGeom prst="rect">
            <a:avLst/>
          </a:prstGeom>
          <a:noFill/>
          <a:ln/>
        </p:spPr>
        <p:txBody>
          <a:bodyPr wrap="square" rtlCol="0" anchor="ctr"/>
          <a:lstStyle/>
          <a:p>
            <a:pPr marL="0" indent="0" algn="l">
              <a:buNone/>
            </a:pPr>
            <a:r>
              <a:rPr lang="en-US" sz="1000" b="1" dirty="0">
                <a:solidFill>
                  <a:srgbClr val="74C69D"/>
                </a:solidFill>
                <a:latin typeface="Calibri" pitchFamily="34" charset="0"/>
                <a:ea typeface="Calibri" pitchFamily="34" charset="-122"/>
                <a:cs typeface="Calibri" pitchFamily="34" charset="-120"/>
              </a:rPr>
              <a:t>MÔN HỌC - HỆ THỐNG THÔNG MINH</a:t>
            </a:r>
            <a:endParaRPr lang="en-US" sz="1000" b="1" dirty="0"/>
          </a:p>
        </p:txBody>
      </p:sp>
      <p:sp>
        <p:nvSpPr>
          <p:cNvPr id="8" name="Text 6"/>
          <p:cNvSpPr/>
          <p:nvPr/>
        </p:nvSpPr>
        <p:spPr>
          <a:xfrm>
            <a:off x="457200" y="1143000"/>
            <a:ext cx="8229600" cy="640080"/>
          </a:xfrm>
          <a:prstGeom prst="rect">
            <a:avLst/>
          </a:prstGeom>
          <a:noFill/>
          <a:ln/>
        </p:spPr>
        <p:txBody>
          <a:bodyPr wrap="square" rtlCol="0" anchor="ctr"/>
          <a:lstStyle/>
          <a:p>
            <a:pPr marL="0" indent="0" algn="l">
              <a:buNone/>
            </a:pPr>
            <a:r>
              <a:rPr lang="en-US" sz="3200" b="1" dirty="0" err="1">
                <a:solidFill>
                  <a:srgbClr val="FFFFFF"/>
                </a:solidFill>
                <a:latin typeface="Calibri" pitchFamily="34" charset="0"/>
                <a:ea typeface="Calibri" pitchFamily="34" charset="-122"/>
                <a:cs typeface="Calibri" pitchFamily="34" charset="-120"/>
              </a:rPr>
              <a:t>Đề</a:t>
            </a:r>
            <a:r>
              <a:rPr lang="en-US" sz="3200" b="1" dirty="0">
                <a:solidFill>
                  <a:srgbClr val="FFFFFF"/>
                </a:solidFill>
                <a:latin typeface="Calibri" pitchFamily="34" charset="0"/>
                <a:ea typeface="Calibri" pitchFamily="34" charset="-122"/>
                <a:cs typeface="Calibri" pitchFamily="34" charset="-120"/>
              </a:rPr>
              <a:t> </a:t>
            </a:r>
            <a:r>
              <a:rPr lang="en-US" sz="3200" b="1" dirty="0" err="1">
                <a:solidFill>
                  <a:srgbClr val="FFFFFF"/>
                </a:solidFill>
                <a:latin typeface="Calibri" pitchFamily="34" charset="0"/>
                <a:ea typeface="Calibri" pitchFamily="34" charset="-122"/>
                <a:cs typeface="Calibri" pitchFamily="34" charset="-120"/>
              </a:rPr>
              <a:t>tài</a:t>
            </a:r>
            <a:r>
              <a:rPr lang="en-US" sz="3200" b="1" dirty="0">
                <a:solidFill>
                  <a:srgbClr val="FFFFFF"/>
                </a:solidFill>
                <a:latin typeface="Calibri" pitchFamily="34" charset="0"/>
                <a:ea typeface="Calibri" pitchFamily="34" charset="-122"/>
                <a:cs typeface="Calibri" pitchFamily="34" charset="-120"/>
              </a:rPr>
              <a:t>: An Explainable Intelligent System</a:t>
            </a:r>
            <a:endParaRPr lang="en-US" sz="3200" dirty="0"/>
          </a:p>
        </p:txBody>
      </p:sp>
      <p:sp>
        <p:nvSpPr>
          <p:cNvPr id="9" name="Text 7"/>
          <p:cNvSpPr/>
          <p:nvPr/>
        </p:nvSpPr>
        <p:spPr>
          <a:xfrm>
            <a:off x="457200" y="1737360"/>
            <a:ext cx="8229600" cy="54864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For Plant Disease Severity Assessment</a:t>
            </a:r>
            <a:endParaRPr lang="en-US" sz="2800" dirty="0"/>
          </a:p>
        </p:txBody>
      </p:sp>
      <p:sp>
        <p:nvSpPr>
          <p:cNvPr id="10" name="Text 8"/>
          <p:cNvSpPr/>
          <p:nvPr/>
        </p:nvSpPr>
        <p:spPr>
          <a:xfrm>
            <a:off x="457200" y="2240280"/>
            <a:ext cx="8229600" cy="502920"/>
          </a:xfrm>
          <a:prstGeom prst="rect">
            <a:avLst/>
          </a:prstGeom>
          <a:noFill/>
          <a:ln/>
        </p:spPr>
        <p:txBody>
          <a:bodyPr wrap="square" rtlCol="0" anchor="ctr"/>
          <a:lstStyle/>
          <a:p>
            <a:pPr marL="0" indent="0" algn="l">
              <a:buNone/>
            </a:pPr>
            <a:r>
              <a:rPr lang="en-US" sz="2800" b="1" dirty="0">
                <a:solidFill>
                  <a:srgbClr val="74C69D"/>
                </a:solidFill>
                <a:latin typeface="Calibri" pitchFamily="34" charset="0"/>
                <a:ea typeface="Calibri" pitchFamily="34" charset="-122"/>
                <a:cs typeface="Calibri" pitchFamily="34" charset="-120"/>
              </a:rPr>
              <a:t>using Fuzzy Inference</a:t>
            </a:r>
            <a:endParaRPr lang="en-US" sz="2800" dirty="0"/>
          </a:p>
        </p:txBody>
      </p:sp>
      <p:sp>
        <p:nvSpPr>
          <p:cNvPr id="11" name="Shape 9"/>
          <p:cNvSpPr/>
          <p:nvPr/>
        </p:nvSpPr>
        <p:spPr>
          <a:xfrm>
            <a:off x="457200" y="2834640"/>
            <a:ext cx="5029200" cy="36576"/>
          </a:xfrm>
          <a:prstGeom prst="rect">
            <a:avLst/>
          </a:prstGeom>
          <a:solidFill>
            <a:srgbClr val="74C69D"/>
          </a:solidFill>
          <a:ln w="12700">
            <a:solidFill>
              <a:srgbClr val="74C69D"/>
            </a:solidFill>
            <a:prstDash val="solid"/>
          </a:ln>
        </p:spPr>
      </p:sp>
      <p:sp>
        <p:nvSpPr>
          <p:cNvPr id="12" name="Shape 10"/>
          <p:cNvSpPr/>
          <p:nvPr/>
        </p:nvSpPr>
        <p:spPr>
          <a:xfrm>
            <a:off x="457200" y="3315515"/>
            <a:ext cx="5029200" cy="1227046"/>
          </a:xfrm>
          <a:prstGeom prst="rect">
            <a:avLst/>
          </a:prstGeom>
          <a:solidFill>
            <a:srgbClr val="2D6A4F">
              <a:alpha val="60000"/>
            </a:srgbClr>
          </a:solidFill>
          <a:ln w="12700">
            <a:solidFill>
              <a:srgbClr val="74C69D"/>
            </a:solidFill>
            <a:prstDash val="solid"/>
          </a:ln>
        </p:spPr>
      </p:sp>
      <p:sp>
        <p:nvSpPr>
          <p:cNvPr id="13" name="Text 11"/>
          <p:cNvSpPr/>
          <p:nvPr/>
        </p:nvSpPr>
        <p:spPr>
          <a:xfrm>
            <a:off x="594685" y="3516875"/>
            <a:ext cx="4663440" cy="940825"/>
          </a:xfrm>
          <a:prstGeom prst="rect">
            <a:avLst/>
          </a:prstGeom>
          <a:noFill/>
          <a:ln/>
        </p:spPr>
        <p:txBody>
          <a:bodyPr wrap="square" rtlCol="0" anchor="ctr"/>
          <a:lstStyle/>
          <a:p>
            <a:r>
              <a:rPr lang="en-US" sz="1200" b="1" dirty="0">
                <a:solidFill>
                  <a:srgbClr val="F4A261"/>
                </a:solidFill>
                <a:latin typeface="Calibri" pitchFamily="34" charset="0"/>
                <a:ea typeface="Calibri" pitchFamily="34" charset="-122"/>
                <a:cs typeface="Calibri" pitchFamily="34" charset="-120"/>
              </a:rPr>
              <a:t>Học </a:t>
            </a:r>
            <a:r>
              <a:rPr lang="en-US" sz="1200" b="1" dirty="0" err="1">
                <a:solidFill>
                  <a:srgbClr val="F4A261"/>
                </a:solidFill>
                <a:latin typeface="Calibri" pitchFamily="34" charset="0"/>
                <a:ea typeface="Calibri" pitchFamily="34" charset="-122"/>
                <a:cs typeface="Calibri" pitchFamily="34" charset="-120"/>
              </a:rPr>
              <a:t>viên</a:t>
            </a:r>
            <a:r>
              <a:rPr lang="en-US" sz="1200" b="1" dirty="0">
                <a:solidFill>
                  <a:srgbClr val="F4A261"/>
                </a:solidFill>
                <a:latin typeface="Calibri" pitchFamily="34" charset="0"/>
                <a:ea typeface="Calibri" pitchFamily="34" charset="-122"/>
                <a:cs typeface="Calibri" pitchFamily="34" charset="-120"/>
              </a:rPr>
              <a:t> </a:t>
            </a:r>
            <a:r>
              <a:rPr lang="en-US" sz="1200" b="1" dirty="0" err="1">
                <a:solidFill>
                  <a:srgbClr val="F4A261"/>
                </a:solidFill>
                <a:latin typeface="Calibri" pitchFamily="34" charset="0"/>
                <a:ea typeface="Calibri" pitchFamily="34" charset="-122"/>
                <a:cs typeface="Calibri" pitchFamily="34" charset="-120"/>
              </a:rPr>
              <a:t>Nhóm</a:t>
            </a:r>
            <a:r>
              <a:rPr lang="en-US" sz="1200" b="1" dirty="0">
                <a:solidFill>
                  <a:srgbClr val="F4A261"/>
                </a:solidFill>
                <a:latin typeface="Calibri" pitchFamily="34" charset="0"/>
                <a:ea typeface="Calibri" pitchFamily="34" charset="-122"/>
                <a:cs typeface="Calibri" pitchFamily="34" charset="-120"/>
              </a:rPr>
              <a:t> 14
</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Trần Khánh Trang - 32CNTT21 - 248218749
Hoàng Quốc Việt  - 33CNTT21 - 2582019033</a:t>
            </a:r>
          </a:p>
          <a:p>
            <a:pPr marL="171450" indent="-171450">
              <a:buFont typeface="Arial" panose="020B0604020202020204" pitchFamily="34" charset="0"/>
              <a:buChar char="•"/>
            </a:pPr>
            <a:r>
              <a:rPr lang="en-US" sz="1100" dirty="0">
                <a:solidFill>
                  <a:srgbClr val="FFFFFF"/>
                </a:solidFill>
                <a:latin typeface="Calibri" pitchFamily="34" charset="0"/>
                <a:ea typeface="Calibri" pitchFamily="34" charset="-122"/>
                <a:cs typeface="Calibri" pitchFamily="34" charset="-120"/>
              </a:rPr>
              <a:t>Trần </a:t>
            </a:r>
            <a:r>
              <a:rPr lang="en-US" sz="1100" dirty="0" err="1">
                <a:solidFill>
                  <a:srgbClr val="FFFFFF"/>
                </a:solidFill>
                <a:latin typeface="Calibri" pitchFamily="34" charset="0"/>
                <a:ea typeface="Calibri" pitchFamily="34" charset="-122"/>
                <a:cs typeface="Calibri" pitchFamily="34" charset="-120"/>
              </a:rPr>
              <a:t>Đình</a:t>
            </a:r>
            <a:r>
              <a:rPr lang="en-US" sz="1100" dirty="0">
                <a:solidFill>
                  <a:srgbClr val="FFFFFF"/>
                </a:solidFill>
                <a:latin typeface="Calibri" pitchFamily="34" charset="0"/>
                <a:ea typeface="Calibri" pitchFamily="34" charset="-122"/>
                <a:cs typeface="Calibri" pitchFamily="34" charset="-120"/>
              </a:rPr>
              <a:t> </a:t>
            </a:r>
            <a:r>
              <a:rPr lang="en-US" sz="1100" dirty="0" err="1">
                <a:solidFill>
                  <a:srgbClr val="FFFFFF"/>
                </a:solidFill>
                <a:latin typeface="Calibri" pitchFamily="34" charset="0"/>
                <a:ea typeface="Calibri" pitchFamily="34" charset="-122"/>
                <a:cs typeface="Calibri" pitchFamily="34" charset="-120"/>
              </a:rPr>
              <a:t>Thuận</a:t>
            </a:r>
            <a:r>
              <a:rPr lang="en-US" sz="1100" dirty="0">
                <a:solidFill>
                  <a:srgbClr val="FFFFFF"/>
                </a:solidFill>
                <a:latin typeface="Calibri" pitchFamily="34" charset="0"/>
                <a:ea typeface="Calibri" pitchFamily="34" charset="-122"/>
                <a:cs typeface="Calibri" pitchFamily="34" charset="-120"/>
              </a:rPr>
              <a:t>   - 33CNTT21 - C2251262648</a:t>
            </a:r>
          </a:p>
          <a:p>
            <a:r>
              <a:rPr lang="en-US" sz="1100" dirty="0">
                <a:solidFill>
                  <a:srgbClr val="FFFFFF"/>
                </a:solidFill>
                <a:latin typeface="Calibri" pitchFamily="34" charset="0"/>
                <a:ea typeface="Calibri" pitchFamily="34" charset="-122"/>
                <a:cs typeface="Calibri" pitchFamily="34" charset="-120"/>
              </a:rPr>
              <a:t> 
</a:t>
            </a:r>
            <a:endParaRPr lang="en-US" sz="1100" dirty="0"/>
          </a:p>
        </p:txBody>
      </p:sp>
      <p:sp>
        <p:nvSpPr>
          <p:cNvPr id="14" name="Text 12"/>
          <p:cNvSpPr/>
          <p:nvPr/>
        </p:nvSpPr>
        <p:spPr>
          <a:xfrm>
            <a:off x="455256" y="2822645"/>
            <a:ext cx="5011689" cy="531519"/>
          </a:xfrm>
          <a:prstGeom prst="rect">
            <a:avLst/>
          </a:prstGeom>
          <a:noFill/>
          <a:ln/>
        </p:spPr>
        <p:txBody>
          <a:bodyPr wrap="square" rtlCol="0" anchor="ctr"/>
          <a:lstStyle/>
          <a:p>
            <a:r>
              <a:rPr lang="en-US" sz="1600" b="1" dirty="0">
                <a:solidFill>
                  <a:srgbClr val="F4A261"/>
                </a:solidFill>
                <a:latin typeface="Calibri" pitchFamily="34" charset="0"/>
                <a:ea typeface="Calibri" pitchFamily="34" charset="-122"/>
                <a:cs typeface="Calibri" pitchFamily="34" charset="-120"/>
              </a:rPr>
              <a:t>Giảng viên hướng </a:t>
            </a:r>
            <a:r>
              <a:rPr lang="en-US" sz="1600" b="1" dirty="0" err="1">
                <a:solidFill>
                  <a:srgbClr val="F4A261"/>
                </a:solidFill>
                <a:latin typeface="Calibri" pitchFamily="34" charset="0"/>
                <a:ea typeface="Calibri" pitchFamily="34" charset="-122"/>
                <a:cs typeface="Calibri" pitchFamily="34" charset="-120"/>
              </a:rPr>
              <a:t>dẫn</a:t>
            </a:r>
            <a:r>
              <a:rPr lang="en-US" sz="1600" b="1" dirty="0">
                <a:solidFill>
                  <a:srgbClr val="F4A261"/>
                </a:solidFill>
                <a:latin typeface="Calibri" pitchFamily="34" charset="0"/>
                <a:ea typeface="Calibri" pitchFamily="34" charset="-122"/>
                <a:cs typeface="Calibri" pitchFamily="34" charset="-120"/>
              </a:rPr>
              <a:t>: </a:t>
            </a:r>
            <a:r>
              <a:rPr lang="en-US" sz="1600" b="1" dirty="0">
                <a:solidFill>
                  <a:srgbClr val="FFFFFF"/>
                </a:solidFill>
                <a:latin typeface="Calibri" pitchFamily="34" charset="0"/>
                <a:ea typeface="Calibri" pitchFamily="34" charset="-122"/>
                <a:cs typeface="Calibri" pitchFamily="34" charset="-120"/>
              </a:rPr>
              <a:t>TS. Trần Mạnh Tuấn</a:t>
            </a:r>
            <a:endParaRPr lang="en-US" sz="1600" dirty="0"/>
          </a:p>
        </p:txBody>
      </p:sp>
      <p:sp>
        <p:nvSpPr>
          <p:cNvPr id="15" name="Text 13"/>
          <p:cNvSpPr/>
          <p:nvPr/>
        </p:nvSpPr>
        <p:spPr>
          <a:xfrm>
            <a:off x="2536974" y="4594441"/>
            <a:ext cx="3291840" cy="365760"/>
          </a:xfrm>
          <a:prstGeom prst="rect">
            <a:avLst/>
          </a:prstGeom>
          <a:noFill/>
          <a:ln/>
        </p:spPr>
        <p:txBody>
          <a:bodyPr wrap="square" rtlCol="0" anchor="ctr"/>
          <a:lstStyle/>
          <a:p>
            <a:pPr marL="0" indent="0" algn="ctr">
              <a:buNone/>
            </a:pPr>
            <a:r>
              <a:rPr lang="en-US" sz="1600" b="1" dirty="0">
                <a:solidFill>
                  <a:schemeClr val="bg1">
                    <a:lumMod val="95000"/>
                  </a:schemeClr>
                </a:solidFill>
                <a:latin typeface="Calibri" pitchFamily="34" charset="0"/>
                <a:ea typeface="Calibri" pitchFamily="34" charset="-122"/>
                <a:cs typeface="Calibri" pitchFamily="34" charset="-120"/>
              </a:rPr>
              <a:t>Hà Nội, </a:t>
            </a:r>
            <a:r>
              <a:rPr lang="en-US" sz="1600" b="1" dirty="0" err="1">
                <a:solidFill>
                  <a:schemeClr val="bg1">
                    <a:lumMod val="95000"/>
                  </a:schemeClr>
                </a:solidFill>
                <a:latin typeface="Calibri" pitchFamily="34" charset="0"/>
                <a:ea typeface="Calibri" pitchFamily="34" charset="-122"/>
                <a:cs typeface="Calibri" pitchFamily="34" charset="-120"/>
              </a:rPr>
              <a:t>tháng</a:t>
            </a:r>
            <a:r>
              <a:rPr lang="en-US" sz="1600" b="1" dirty="0">
                <a:solidFill>
                  <a:schemeClr val="bg1">
                    <a:lumMod val="95000"/>
                  </a:schemeClr>
                </a:solidFill>
                <a:latin typeface="Calibri" pitchFamily="34" charset="0"/>
                <a:ea typeface="Calibri" pitchFamily="34" charset="-122"/>
                <a:cs typeface="Calibri" pitchFamily="34" charset="-120"/>
              </a:rPr>
              <a:t> 6 </a:t>
            </a:r>
            <a:r>
              <a:rPr lang="en-US" sz="1600" b="1" dirty="0" err="1">
                <a:solidFill>
                  <a:schemeClr val="bg1">
                    <a:lumMod val="95000"/>
                  </a:schemeClr>
                </a:solidFill>
                <a:latin typeface="Calibri" pitchFamily="34" charset="0"/>
                <a:ea typeface="Calibri" pitchFamily="34" charset="-122"/>
                <a:cs typeface="Calibri" pitchFamily="34" charset="-120"/>
              </a:rPr>
              <a:t>năm</a:t>
            </a:r>
            <a:r>
              <a:rPr lang="en-US" sz="1600" b="1" dirty="0">
                <a:solidFill>
                  <a:schemeClr val="bg1">
                    <a:lumMod val="95000"/>
                  </a:schemeClr>
                </a:solidFill>
                <a:latin typeface="Calibri" pitchFamily="34" charset="0"/>
                <a:ea typeface="Calibri" pitchFamily="34" charset="-122"/>
                <a:cs typeface="Calibri" pitchFamily="34" charset="-120"/>
              </a:rPr>
              <a:t> 2026</a:t>
            </a:r>
            <a:endParaRPr lang="en-US" sz="1600" b="1" dirty="0">
              <a:solidFill>
                <a:schemeClr val="bg1">
                  <a:lumMod val="95000"/>
                </a:schemeClr>
              </a:solidFill>
            </a:endParaRPr>
          </a:p>
        </p:txBody>
      </p:sp>
      <p:pic>
        <p:nvPicPr>
          <p:cNvPr id="18" name="Picture 17">
            <a:extLst>
              <a:ext uri="{FF2B5EF4-FFF2-40B4-BE49-F238E27FC236}">
                <a16:creationId xmlns:a16="http://schemas.microsoft.com/office/drawing/2014/main" id="{BA5B753A-28C1-0C18-DB31-597A21B95588}"/>
              </a:ext>
            </a:extLst>
          </p:cNvPr>
          <p:cNvPicPr>
            <a:picLocks noChangeAspect="1"/>
          </p:cNvPicPr>
          <p:nvPr/>
        </p:nvPicPr>
        <p:blipFill>
          <a:blip r:embed="rId3"/>
          <a:stretch>
            <a:fillRect/>
          </a:stretch>
        </p:blipFill>
        <p:spPr>
          <a:xfrm>
            <a:off x="7146587" y="129575"/>
            <a:ext cx="1221307" cy="1013425"/>
          </a:xfrm>
          <a:prstGeom prst="ellipse">
            <a:avLst/>
          </a:prstGeom>
        </p:spPr>
      </p:pic>
      <p:pic>
        <p:nvPicPr>
          <p:cNvPr id="16" name="Picture 15" descr="Bộ sưu tập hình ảnh cánh đồng lúa đẹp nhất với hơn 999+ ảnh chất lượng 4K.">
            <a:extLst>
              <a:ext uri="{FF2B5EF4-FFF2-40B4-BE49-F238E27FC236}">
                <a16:creationId xmlns:a16="http://schemas.microsoft.com/office/drawing/2014/main" id="{24897063-FA00-3178-2D52-FB40F16EA704}"/>
              </a:ext>
            </a:extLst>
          </p:cNvPr>
          <p:cNvPicPr>
            <a:picLocks noChangeAspect="1"/>
          </p:cNvPicPr>
          <p:nvPr/>
        </p:nvPicPr>
        <p:blipFill>
          <a:blip r:embed="rId4"/>
          <a:stretch>
            <a:fillRect/>
          </a:stretch>
        </p:blipFill>
        <p:spPr>
          <a:xfrm>
            <a:off x="6332812" y="2428430"/>
            <a:ext cx="3432515" cy="3001216"/>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Phần Mở Đầu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63306" y="868680"/>
            <a:ext cx="2096085" cy="3794760"/>
          </a:xfrm>
          <a:prstGeom prst="rect">
            <a:avLst/>
          </a:prstGeom>
          <a:solidFill>
            <a:srgbClr val="D8F3DC"/>
          </a:solidFill>
          <a:ln w="12700">
            <a:solidFill>
              <a:srgbClr val="40916C"/>
            </a:solidFill>
            <a:prstDash val="solid"/>
          </a:ln>
          <a:effectLst>
            <a:outerShdw blurRad="63500" dist="25400" dir="8100000" algn="bl" rotWithShape="0">
              <a:srgbClr val="AAAAAA">
                <a:alpha val="25000"/>
              </a:srgbClr>
            </a:outerShdw>
          </a:effectLst>
        </p:spPr>
      </p:sp>
      <p:sp>
        <p:nvSpPr>
          <p:cNvPr id="8" name="Text 6"/>
          <p:cNvSpPr/>
          <p:nvPr/>
        </p:nvSpPr>
        <p:spPr>
          <a:xfrm>
            <a:off x="166345" y="960120"/>
            <a:ext cx="1948991"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Lý Do Chọn Đề Tài</a:t>
            </a:r>
            <a:endParaRPr lang="en-US" sz="1300" dirty="0"/>
          </a:p>
        </p:txBody>
      </p:sp>
      <p:sp>
        <p:nvSpPr>
          <p:cNvPr id="9" name="Shape 7"/>
          <p:cNvSpPr/>
          <p:nvPr/>
        </p:nvSpPr>
        <p:spPr>
          <a:xfrm>
            <a:off x="166345" y="1463040"/>
            <a:ext cx="1948991" cy="27432"/>
          </a:xfrm>
          <a:prstGeom prst="rect">
            <a:avLst/>
          </a:prstGeom>
          <a:solidFill>
            <a:srgbClr val="40916C"/>
          </a:solidFill>
          <a:ln w="12700">
            <a:solidFill>
              <a:srgbClr val="40916C"/>
            </a:solidFill>
            <a:prstDash val="solid"/>
          </a:ln>
        </p:spPr>
      </p:sp>
      <p:sp>
        <p:nvSpPr>
          <p:cNvPr id="10" name="Text 8"/>
          <p:cNvSpPr/>
          <p:nvPr/>
        </p:nvSpPr>
        <p:spPr>
          <a:xfrm>
            <a:off x="166345" y="1581912"/>
            <a:ext cx="1948991" cy="2880360"/>
          </a:xfrm>
          <a:prstGeom prst="rect">
            <a:avLst/>
          </a:prstGeom>
          <a:noFill/>
          <a:ln/>
        </p:spPr>
        <p:txBody>
          <a:bodyPr wrap="square" rtlCol="0" anchor="t"/>
          <a:lstStyle/>
          <a:p>
            <a:r>
              <a:rPr lang="vi-VN" sz="1050" dirty="0">
                <a:latin typeface="Calibri" panose="020F0502020204030204" pitchFamily="34" charset="0"/>
                <a:ea typeface="Calibri" panose="020F0502020204030204" pitchFamily="34" charset="0"/>
                <a:cs typeface="Times New Roman" panose="02020603050405020304" pitchFamily="18" charset="0"/>
              </a:rPr>
              <a:t>Dịch bệnh cây trồng gây ảnh hưởng lớn đến năng suất nông nghiệp.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Các mô hình AI truyền thống thiếu khả năng giải thích, trong khi mức độ bệnh thường có ranh giới mờ và khó biểu diễn bằng logic nhị phân. </a:t>
            </a:r>
            <a:endParaRPr lang="en-US" sz="1050" dirty="0">
              <a:latin typeface="Calibri" panose="020F0502020204030204" pitchFamily="34" charset="0"/>
              <a:ea typeface="Calibri" panose="020F0502020204030204" pitchFamily="34" charset="0"/>
              <a:cs typeface="Times New Roman" panose="02020603050405020304" pitchFamily="18" charset="0"/>
            </a:endParaRPr>
          </a:p>
          <a:p>
            <a:r>
              <a:rPr lang="vi-VN" sz="1050" dirty="0">
                <a:latin typeface="Calibri" panose="020F0502020204030204" pitchFamily="34" charset="0"/>
                <a:ea typeface="Calibri" panose="020F0502020204030204" pitchFamily="34" charset="0"/>
                <a:cs typeface="Times New Roman" panose="02020603050405020304" pitchFamily="18" charset="0"/>
              </a:rPr>
              <a:t>Vì vậy, đề tài lựa chọn hướng tiếp cận kết hợp AI và Fuzzy Inference để xây dựng hệ thống đánh giá bệnh cây có khả năng giải thích</a:t>
            </a:r>
            <a:r>
              <a:rPr lang="en-US" sz="1050" dirty="0">
                <a:solidFill>
                  <a:srgbClr val="1A1A2E"/>
                </a:solidFill>
                <a:latin typeface="Calibri" pitchFamily="34" charset="0"/>
                <a:ea typeface="Calibri" pitchFamily="34" charset="-122"/>
                <a:cs typeface="Calibri" pitchFamily="34" charset="-120"/>
              </a:rPr>
              <a:t>.</a:t>
            </a:r>
            <a:endParaRPr lang="en-US" sz="1050" dirty="0"/>
          </a:p>
        </p:txBody>
      </p:sp>
      <p:sp>
        <p:nvSpPr>
          <p:cNvPr id="11" name="Shape 9"/>
          <p:cNvSpPr/>
          <p:nvPr/>
        </p:nvSpPr>
        <p:spPr>
          <a:xfrm>
            <a:off x="2262431" y="868680"/>
            <a:ext cx="3301342" cy="3794760"/>
          </a:xfrm>
          <a:prstGeom prst="rect">
            <a:avLst/>
          </a:prstGeom>
          <a:solidFill>
            <a:srgbClr val="E8F5E9"/>
          </a:solidFill>
          <a:ln w="12700">
            <a:solidFill>
              <a:srgbClr val="40916C"/>
            </a:solidFill>
            <a:prstDash val="solid"/>
          </a:ln>
          <a:effectLst>
            <a:outerShdw blurRad="63500" dist="25400" dir="8100000" algn="bl" rotWithShape="0">
              <a:srgbClr val="AAAAAA">
                <a:alpha val="25000"/>
              </a:srgbClr>
            </a:outerShdw>
          </a:effectLst>
        </p:spPr>
      </p:sp>
      <p:sp>
        <p:nvSpPr>
          <p:cNvPr id="12" name="Text 10"/>
          <p:cNvSpPr/>
          <p:nvPr/>
        </p:nvSpPr>
        <p:spPr>
          <a:xfrm>
            <a:off x="2403652" y="960120"/>
            <a:ext cx="3069668"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Mục Tiêu Hệ Thống</a:t>
            </a:r>
            <a:endParaRPr lang="en-US" sz="1300" dirty="0"/>
          </a:p>
        </p:txBody>
      </p:sp>
      <p:sp>
        <p:nvSpPr>
          <p:cNvPr id="13" name="Shape 11"/>
          <p:cNvSpPr/>
          <p:nvPr/>
        </p:nvSpPr>
        <p:spPr>
          <a:xfrm>
            <a:off x="2403652" y="1463040"/>
            <a:ext cx="3069668" cy="27432"/>
          </a:xfrm>
          <a:prstGeom prst="rect">
            <a:avLst/>
          </a:prstGeom>
          <a:solidFill>
            <a:srgbClr val="40916C"/>
          </a:solidFill>
          <a:ln w="12700">
            <a:solidFill>
              <a:srgbClr val="40916C"/>
            </a:solidFill>
            <a:prstDash val="solid"/>
          </a:ln>
        </p:spPr>
      </p:sp>
      <p:sp>
        <p:nvSpPr>
          <p:cNvPr id="14" name="Text 12"/>
          <p:cNvSpPr/>
          <p:nvPr/>
        </p:nvSpPr>
        <p:spPr>
          <a:xfrm>
            <a:off x="2403652" y="1581912"/>
            <a:ext cx="3069668" cy="3004156"/>
          </a:xfrm>
          <a:prstGeom prst="rect">
            <a:avLst/>
          </a:prstGeom>
          <a:noFill/>
          <a:ln/>
        </p:spPr>
        <p:txBody>
          <a:bodyPr wrap="square" rtlCol="0" anchor="t"/>
          <a:lstStyle/>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chung</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Xây dựng hệ thống thông minh có khả năng giải thích để đánh giá mức độ nghiêm trọng của bệnh cây, kết hợp nhận dạng bằng AI và suy luận mờ (Fuzzy Inference).</a:t>
            </a:r>
          </a:p>
          <a:p>
            <a:r>
              <a:rPr lang="en-US" sz="1050" b="1" dirty="0" err="1">
                <a:latin typeface="Calibri" panose="020F0502020204030204" pitchFamily="34" charset="0"/>
                <a:ea typeface="Calibri" panose="020F0502020204030204" pitchFamily="34" charset="0"/>
                <a:cs typeface="Calibri" panose="020F0502020204030204" pitchFamily="34" charset="0"/>
              </a:rPr>
              <a:t>Mục</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tiêu</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cụ</a:t>
            </a:r>
            <a:r>
              <a:rPr lang="en-US" sz="1050" b="1" dirty="0">
                <a:latin typeface="Calibri" panose="020F0502020204030204" pitchFamily="34" charset="0"/>
                <a:ea typeface="Calibri" panose="020F0502020204030204" pitchFamily="34" charset="0"/>
                <a:cs typeface="Calibri" panose="020F0502020204030204" pitchFamily="34" charset="0"/>
              </a:rPr>
              <a:t> </a:t>
            </a:r>
            <a:r>
              <a:rPr lang="en-US" sz="1050" b="1" dirty="0" err="1">
                <a:latin typeface="Calibri" panose="020F0502020204030204" pitchFamily="34" charset="0"/>
                <a:ea typeface="Calibri" panose="020F0502020204030204" pitchFamily="34" charset="0"/>
                <a:cs typeface="Calibri" panose="020F0502020204030204" pitchFamily="34" charset="0"/>
              </a:rPr>
              <a:t>thể</a:t>
            </a:r>
            <a:r>
              <a:rPr lang="en-US" sz="1050" b="1" dirty="0">
                <a:latin typeface="Calibri" panose="020F0502020204030204" pitchFamily="34" charset="0"/>
                <a:ea typeface="Calibri" panose="020F0502020204030204" pitchFamily="34" charset="0"/>
                <a:cs typeface="Calibri" panose="020F0502020204030204" pitchFamily="34" charset="0"/>
              </a:rPr>
              <a:t>:</a:t>
            </a:r>
          </a:p>
          <a:p>
            <a:pPr algn="just"/>
            <a:r>
              <a:rPr lang="vi-VN" sz="1050" dirty="0">
                <a:latin typeface="Calibri" panose="020F0502020204030204" pitchFamily="34" charset="0"/>
                <a:ea typeface="Calibri" panose="020F0502020204030204" pitchFamily="34" charset="0"/>
                <a:cs typeface="Calibri" panose="020F0502020204030204" pitchFamily="34" charset="0"/>
              </a:rPr>
              <a:t>• Số hóa tri thức chuyên gia dưới dạng tập mờ và luật suy luận.</a:t>
            </a:r>
          </a:p>
          <a:p>
            <a:pPr algn="just"/>
            <a:r>
              <a:rPr lang="vi-VN" sz="1050" dirty="0">
                <a:latin typeface="Calibri" panose="020F0502020204030204" pitchFamily="34" charset="0"/>
                <a:ea typeface="Calibri" panose="020F0502020204030204" pitchFamily="34" charset="0"/>
                <a:cs typeface="Calibri" panose="020F0502020204030204" pitchFamily="34" charset="0"/>
              </a:rPr>
              <a:t>• Xây dựng bộ suy diễn mờ đánh giá mức độ bệnh từ dữ liệu đầu vào.</a:t>
            </a:r>
          </a:p>
          <a:p>
            <a:pPr algn="just"/>
            <a:r>
              <a:rPr lang="vi-VN" sz="1050" dirty="0">
                <a:latin typeface="Calibri" panose="020F0502020204030204" pitchFamily="34" charset="0"/>
                <a:ea typeface="Calibri" panose="020F0502020204030204" pitchFamily="34" charset="0"/>
                <a:cs typeface="Calibri" panose="020F0502020204030204" pitchFamily="34" charset="0"/>
              </a:rPr>
              <a:t>• Giải thích kết quả thông qua các luật được kích hoạt và ngôn ngữ tự nhiên.</a:t>
            </a:r>
          </a:p>
          <a:p>
            <a:pPr algn="just"/>
            <a:r>
              <a:rPr lang="vi-VN" sz="1050" dirty="0">
                <a:latin typeface="Calibri" panose="020F0502020204030204" pitchFamily="34" charset="0"/>
                <a:ea typeface="Calibri" panose="020F0502020204030204" pitchFamily="34" charset="0"/>
                <a:cs typeface="Calibri" panose="020F0502020204030204" pitchFamily="34" charset="0"/>
              </a:rPr>
              <a:t>• Phát triển giao diện trực quan, dễ sử dụng và có khả năng mở rộng..</a:t>
            </a:r>
            <a:endParaRPr lang="en-US" sz="105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15" name="Shape 13"/>
          <p:cNvSpPr/>
          <p:nvPr/>
        </p:nvSpPr>
        <p:spPr>
          <a:xfrm>
            <a:off x="5666813" y="868680"/>
            <a:ext cx="3413881" cy="3794760"/>
          </a:xfrm>
          <a:prstGeom prst="rect">
            <a:avLst/>
          </a:prstGeom>
          <a:solidFill>
            <a:srgbClr val="FFF9C4"/>
          </a:solidFill>
          <a:ln w="12700">
            <a:solidFill>
              <a:srgbClr val="40916C"/>
            </a:solidFill>
            <a:prstDash val="solid"/>
          </a:ln>
          <a:effectLst>
            <a:outerShdw blurRad="63500" dist="25400" dir="8100000" algn="bl" rotWithShape="0">
              <a:srgbClr val="AAAAAA">
                <a:alpha val="25000"/>
              </a:srgbClr>
            </a:outerShdw>
          </a:effectLst>
        </p:spPr>
      </p:sp>
      <p:sp>
        <p:nvSpPr>
          <p:cNvPr id="16" name="Text 14"/>
          <p:cNvSpPr/>
          <p:nvPr/>
        </p:nvSpPr>
        <p:spPr>
          <a:xfrm>
            <a:off x="5761009" y="960120"/>
            <a:ext cx="3218802" cy="5029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Phạm Vi Nghiên Cứu</a:t>
            </a:r>
            <a:endParaRPr lang="en-US" sz="1300" dirty="0"/>
          </a:p>
        </p:txBody>
      </p:sp>
      <p:sp>
        <p:nvSpPr>
          <p:cNvPr id="17" name="Shape 15"/>
          <p:cNvSpPr/>
          <p:nvPr/>
        </p:nvSpPr>
        <p:spPr>
          <a:xfrm>
            <a:off x="5761009" y="1463040"/>
            <a:ext cx="3218802" cy="27432"/>
          </a:xfrm>
          <a:prstGeom prst="rect">
            <a:avLst/>
          </a:prstGeom>
          <a:solidFill>
            <a:srgbClr val="40916C"/>
          </a:solidFill>
          <a:ln w="12700">
            <a:solidFill>
              <a:srgbClr val="40916C"/>
            </a:solidFill>
            <a:prstDash val="solid"/>
          </a:ln>
        </p:spPr>
      </p:sp>
      <p:sp>
        <p:nvSpPr>
          <p:cNvPr id="18" name="Text 16"/>
          <p:cNvSpPr/>
          <p:nvPr/>
        </p:nvSpPr>
        <p:spPr>
          <a:xfrm>
            <a:off x="5761009" y="1581912"/>
            <a:ext cx="3218802" cy="2880360"/>
          </a:xfrm>
          <a:prstGeom prst="rect">
            <a:avLst/>
          </a:prstGeom>
          <a:noFill/>
          <a:ln/>
        </p:spPr>
        <p:txBody>
          <a:bodyPr wrap="square" rtlCol="0" anchor="t"/>
          <a:lstStyle/>
          <a:p>
            <a:r>
              <a:rPr lang="vi-VN" sz="1050" b="1" dirty="0">
                <a:latin typeface="Calibri" panose="020F0502020204030204" pitchFamily="34" charset="0"/>
                <a:ea typeface="Calibri" panose="020F0502020204030204" pitchFamily="34" charset="0"/>
                <a:cs typeface="Calibri" panose="020F0502020204030204" pitchFamily="34" charset="0"/>
              </a:rPr>
              <a:t>Đối tượng nghiên cứu:</a:t>
            </a:r>
            <a:r>
              <a:rPr lang="vi-VN" sz="1050" dirty="0">
                <a:latin typeface="Calibri" panose="020F0502020204030204" pitchFamily="34" charset="0"/>
                <a:ea typeface="Calibri" panose="020F0502020204030204" pitchFamily="34" charset="0"/>
                <a:cs typeface="Calibri" panose="020F0502020204030204" pitchFamily="34" charset="0"/>
              </a:rPr>
              <a:t> Bệnh trên lá lúa với các lớp: Healthy (Khỏe mạnh), Blast (Đạo ôn), Brownspot (Đốm nâu), Bacterial Blight (Bạc lá vi khuẩn) và Tungro (Bệnh vàng lùn Tungro).</a:t>
            </a:r>
            <a:endParaRPr lang="en-US" sz="1050" dirty="0">
              <a:latin typeface="Calibri" panose="020F0502020204030204" pitchFamily="34" charset="0"/>
              <a:ea typeface="Calibri" panose="020F0502020204030204" pitchFamily="34" charset="0"/>
              <a:cs typeface="Calibri" panose="020F0502020204030204" pitchFamily="34" charset="0"/>
            </a:endParaRP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vào:</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Ảnh lá bệnh, độ tin cậy dự đoán từ CNN, nhiệt độ và độ ẩm môi trường.</a:t>
            </a:r>
          </a:p>
          <a:p>
            <a:r>
              <a:rPr lang="vi-VN" sz="1050" b="1" dirty="0">
                <a:latin typeface="Calibri" panose="020F0502020204030204" pitchFamily="34" charset="0"/>
                <a:ea typeface="Calibri" panose="020F0502020204030204" pitchFamily="34" charset="0"/>
                <a:cs typeface="Calibri" panose="020F0502020204030204" pitchFamily="34" charset="0"/>
              </a:rPr>
              <a:t>Dữ liệu đầu ra:</a:t>
            </a:r>
            <a:r>
              <a:rPr lang="en-US" sz="1050" b="1"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Loại bệnh, mức độ nghiêm trọng (Severity Index), mức cảnh báo và báo cáo giải thích kết quả.</a:t>
            </a:r>
          </a:p>
          <a:p>
            <a:r>
              <a:rPr lang="vi-VN" sz="1050" b="1" dirty="0">
                <a:latin typeface="Calibri" panose="020F0502020204030204" pitchFamily="34" charset="0"/>
                <a:ea typeface="Calibri" panose="020F0502020204030204" pitchFamily="34" charset="0"/>
                <a:cs typeface="Calibri" panose="020F0502020204030204" pitchFamily="34" charset="0"/>
              </a:rPr>
              <a:t>Giới hạn công nghệ</a:t>
            </a:r>
            <a:r>
              <a:rPr lang="vi-VN" sz="1050" dirty="0">
                <a:latin typeface="Calibri" panose="020F0502020204030204" pitchFamily="34" charset="0"/>
                <a:ea typeface="Calibri" panose="020F0502020204030204" pitchFamily="34" charset="0"/>
                <a:cs typeface="Calibri" panose="020F0502020204030204" pitchFamily="34" charset="0"/>
              </a:rPr>
              <a:t>:</a:t>
            </a:r>
            <a:r>
              <a:rPr lang="en-US" sz="1050" dirty="0">
                <a:latin typeface="Calibri" panose="020F0502020204030204" pitchFamily="34" charset="0"/>
                <a:ea typeface="Calibri" panose="020F0502020204030204" pitchFamily="34" charset="0"/>
                <a:cs typeface="Calibri" panose="020F0502020204030204" pitchFamily="34" charset="0"/>
              </a:rPr>
              <a:t> </a:t>
            </a:r>
            <a:r>
              <a:rPr lang="vi-VN" sz="1050" dirty="0">
                <a:latin typeface="Calibri" panose="020F0502020204030204" pitchFamily="34" charset="0"/>
                <a:ea typeface="Calibri" panose="020F0502020204030204" pitchFamily="34" charset="0"/>
                <a:cs typeface="Calibri" panose="020F0502020204030204" pitchFamily="34" charset="0"/>
              </a:rPr>
              <a:t>Sử dụng CNN (EfficientNet-B0) kết hợp Fuzzy Logic Sugeno và giao diện Web Streamlit; chưa tích hợp cảm biến IoT và dữ liệu thời gian thực.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702F00-F4D3-C3A2-A8DB-F69C57C4BD0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FAF295A-506C-89E0-8C7C-031ADDFDCEE5}"/>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7E0F87AC-3407-1E84-7868-920CED9FAD58}"/>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2B72AC3F-47B2-D753-327B-0F0B019B46B6}"/>
              </a:ext>
            </a:extLst>
          </p:cNvPr>
          <p:cNvSpPr/>
          <p:nvPr/>
        </p:nvSpPr>
        <p:spPr>
          <a:xfrm>
            <a:off x="117987" y="0"/>
            <a:ext cx="8955221" cy="68580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Cơ Sở Lý </a:t>
            </a:r>
            <a:r>
              <a:rPr lang="en-US" sz="2000" b="1" dirty="0" err="1">
                <a:solidFill>
                  <a:srgbClr val="FFFFFF"/>
                </a:solidFill>
                <a:latin typeface="Calibri" pitchFamily="34" charset="0"/>
                <a:ea typeface="Calibri" pitchFamily="34" charset="-122"/>
                <a:cs typeface="Calibri" pitchFamily="34" charset="-120"/>
              </a:rPr>
              <a:t>Thuyết</a:t>
            </a:r>
            <a:r>
              <a:rPr lang="en-US" sz="2000" b="1" dirty="0">
                <a:solidFill>
                  <a:srgbClr val="FFFFFF"/>
                </a:solidFill>
                <a:latin typeface="Calibri" pitchFamily="34" charset="0"/>
                <a:ea typeface="Calibri" pitchFamily="34" charset="-122"/>
                <a:cs typeface="Calibri" pitchFamily="34" charset="-120"/>
              </a:rPr>
              <a:t> - </a:t>
            </a:r>
            <a:r>
              <a:rPr lang="en-US" sz="2000" dirty="0">
                <a:solidFill>
                  <a:schemeClr val="bg1"/>
                </a:solidFill>
              </a:rPr>
              <a:t>An Explainable Intelligent System for Plant Disease Severity Assessment using Fuzzy Inference</a:t>
            </a:r>
          </a:p>
        </p:txBody>
      </p:sp>
      <p:sp>
        <p:nvSpPr>
          <p:cNvPr id="5" name="Shape 3">
            <a:extLst>
              <a:ext uri="{FF2B5EF4-FFF2-40B4-BE49-F238E27FC236}">
                <a16:creationId xmlns:a16="http://schemas.microsoft.com/office/drawing/2014/main" id="{EA649CB1-F387-1DB8-12C1-7D1CBDCC8ACE}"/>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81F51144-3C27-91D3-59AB-DC4556B2256C}"/>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a:extLst>
              <a:ext uri="{FF2B5EF4-FFF2-40B4-BE49-F238E27FC236}">
                <a16:creationId xmlns:a16="http://schemas.microsoft.com/office/drawing/2014/main" id="{27243018-548A-DEE2-75FB-750D5ED37592}"/>
              </a:ext>
            </a:extLst>
          </p:cNvPr>
          <p:cNvSpPr/>
          <p:nvPr/>
        </p:nvSpPr>
        <p:spPr>
          <a:xfrm>
            <a:off x="22860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8" name="Shape 6">
            <a:extLst>
              <a:ext uri="{FF2B5EF4-FFF2-40B4-BE49-F238E27FC236}">
                <a16:creationId xmlns:a16="http://schemas.microsoft.com/office/drawing/2014/main" id="{B9C99AB5-1F3E-FC58-FC3F-ECEAE6744721}"/>
              </a:ext>
            </a:extLst>
          </p:cNvPr>
          <p:cNvSpPr/>
          <p:nvPr/>
        </p:nvSpPr>
        <p:spPr>
          <a:xfrm>
            <a:off x="365760" y="1005840"/>
            <a:ext cx="457200" cy="457200"/>
          </a:xfrm>
          <a:prstGeom prst="ellipse">
            <a:avLst/>
          </a:prstGeom>
          <a:solidFill>
            <a:srgbClr val="1B4332"/>
          </a:solidFill>
          <a:ln w="12700">
            <a:solidFill>
              <a:srgbClr val="1B4332"/>
            </a:solidFill>
            <a:prstDash val="solid"/>
          </a:ln>
        </p:spPr>
      </p:sp>
      <p:sp>
        <p:nvSpPr>
          <p:cNvPr id="9" name="Text 7">
            <a:extLst>
              <a:ext uri="{FF2B5EF4-FFF2-40B4-BE49-F238E27FC236}">
                <a16:creationId xmlns:a16="http://schemas.microsoft.com/office/drawing/2014/main" id="{6F770A54-9772-0948-09CE-A6B05B8A53B3}"/>
              </a:ext>
            </a:extLst>
          </p:cNvPr>
          <p:cNvSpPr/>
          <p:nvPr/>
        </p:nvSpPr>
        <p:spPr>
          <a:xfrm>
            <a:off x="36576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0" name="Text 8">
            <a:extLst>
              <a:ext uri="{FF2B5EF4-FFF2-40B4-BE49-F238E27FC236}">
                <a16:creationId xmlns:a16="http://schemas.microsoft.com/office/drawing/2014/main" id="{0FBC9DBB-C86D-6DFC-F05B-E55F0DA6BD1E}"/>
              </a:ext>
            </a:extLst>
          </p:cNvPr>
          <p:cNvSpPr/>
          <p:nvPr/>
        </p:nvSpPr>
        <p:spPr>
          <a:xfrm>
            <a:off x="91440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Hybrid Intelligent System </a:t>
            </a:r>
            <a:endParaRPr lang="en-US" sz="1150" dirty="0"/>
          </a:p>
        </p:txBody>
      </p:sp>
      <p:sp>
        <p:nvSpPr>
          <p:cNvPr id="11" name="Text 9">
            <a:extLst>
              <a:ext uri="{FF2B5EF4-FFF2-40B4-BE49-F238E27FC236}">
                <a16:creationId xmlns:a16="http://schemas.microsoft.com/office/drawing/2014/main" id="{7C3D5D3B-7AAD-9A0C-C8DA-5D43BABCA12C}"/>
              </a:ext>
            </a:extLst>
          </p:cNvPr>
          <p:cNvSpPr/>
          <p:nvPr/>
        </p:nvSpPr>
        <p:spPr>
          <a:xfrm>
            <a:off x="365760" y="1554480"/>
            <a:ext cx="2377440" cy="685800"/>
          </a:xfrm>
          <a:prstGeom prst="rect">
            <a:avLst/>
          </a:prstGeom>
          <a:noFill/>
          <a:ln/>
        </p:spPr>
        <p:txBody>
          <a:bodyPr wrap="square" rtlCol="0" anchor="ctr"/>
          <a:lstStyle/>
          <a:p>
            <a:r>
              <a:rPr lang="en-US" sz="1050" dirty="0" err="1">
                <a:solidFill>
                  <a:srgbClr val="1A1A2E"/>
                </a:solidFill>
                <a:latin typeface="Calibri" pitchFamily="34" charset="0"/>
                <a:ea typeface="Calibri" pitchFamily="34" charset="-122"/>
                <a:cs typeface="Calibri" pitchFamily="34" charset="-120"/>
              </a:rPr>
              <a:t>Kết</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hợp</a:t>
            </a:r>
            <a:r>
              <a:rPr lang="en-US" sz="1050" dirty="0">
                <a:solidFill>
                  <a:srgbClr val="1A1A2E"/>
                </a:solidFill>
                <a:latin typeface="Calibri" pitchFamily="34" charset="0"/>
                <a:ea typeface="Calibri" pitchFamily="34" charset="-122"/>
                <a:cs typeface="Calibri" pitchFamily="34" charset="-120"/>
              </a:rPr>
              <a:t> CNN, Fuzzy Logic </a:t>
            </a:r>
            <a:r>
              <a:rPr lang="en-US" sz="1050" dirty="0" err="1">
                <a:solidFill>
                  <a:srgbClr val="1A1A2E"/>
                </a:solidFill>
                <a:latin typeface="Calibri" pitchFamily="34" charset="0"/>
                <a:ea typeface="Calibri" pitchFamily="34" charset="-122"/>
                <a:cs typeface="Calibri" pitchFamily="34" charset="-120"/>
              </a:rPr>
              <a:t>và</a:t>
            </a:r>
            <a:r>
              <a:rPr lang="en-US" sz="1050" dirty="0">
                <a:solidFill>
                  <a:srgbClr val="1A1A2E"/>
                </a:solidFill>
                <a:latin typeface="Calibri" pitchFamily="34" charset="0"/>
                <a:ea typeface="Calibri" pitchFamily="34" charset="-122"/>
                <a:cs typeface="Calibri" pitchFamily="34" charset="-120"/>
              </a:rPr>
              <a:t> Expert Knowledge </a:t>
            </a:r>
            <a:r>
              <a:rPr lang="en-US" sz="1050" dirty="0" err="1">
                <a:solidFill>
                  <a:srgbClr val="1A1A2E"/>
                </a:solidFill>
                <a:latin typeface="Calibri" pitchFamily="34" charset="0"/>
                <a:ea typeface="Calibri" pitchFamily="34" charset="-122"/>
                <a:cs typeface="Calibri" pitchFamily="34" charset="-120"/>
              </a:rPr>
              <a:t>để</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hỗ</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trợ</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đánh</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giá</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mức</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độ</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bệnh</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trong</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điều</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kiện</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bất</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định</a:t>
            </a:r>
            <a:r>
              <a:rPr lang="en-US" sz="1050" dirty="0">
                <a:solidFill>
                  <a:srgbClr val="1A1A2E"/>
                </a:solidFill>
                <a:latin typeface="Calibri" pitchFamily="34" charset="0"/>
                <a:ea typeface="Calibri" pitchFamily="34" charset="-122"/>
                <a:cs typeface="Calibri" pitchFamily="34" charset="-120"/>
              </a:rPr>
              <a:t>.</a:t>
            </a:r>
            <a:endParaRPr lang="en-US" sz="1050" dirty="0"/>
          </a:p>
        </p:txBody>
      </p:sp>
      <p:sp>
        <p:nvSpPr>
          <p:cNvPr id="12" name="Shape 10">
            <a:extLst>
              <a:ext uri="{FF2B5EF4-FFF2-40B4-BE49-F238E27FC236}">
                <a16:creationId xmlns:a16="http://schemas.microsoft.com/office/drawing/2014/main" id="{BFA5D323-5F3B-D8D3-9AAE-B256626BA5FE}"/>
              </a:ext>
            </a:extLst>
          </p:cNvPr>
          <p:cNvSpPr/>
          <p:nvPr/>
        </p:nvSpPr>
        <p:spPr>
          <a:xfrm>
            <a:off x="324612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3" name="Shape 11">
            <a:extLst>
              <a:ext uri="{FF2B5EF4-FFF2-40B4-BE49-F238E27FC236}">
                <a16:creationId xmlns:a16="http://schemas.microsoft.com/office/drawing/2014/main" id="{A94034F4-5972-BA96-601C-B1BE2C2271B0}"/>
              </a:ext>
            </a:extLst>
          </p:cNvPr>
          <p:cNvSpPr/>
          <p:nvPr/>
        </p:nvSpPr>
        <p:spPr>
          <a:xfrm>
            <a:off x="3383280" y="1005840"/>
            <a:ext cx="457200" cy="457200"/>
          </a:xfrm>
          <a:prstGeom prst="ellipse">
            <a:avLst/>
          </a:prstGeom>
          <a:solidFill>
            <a:srgbClr val="40916C"/>
          </a:solidFill>
          <a:ln w="12700">
            <a:solidFill>
              <a:srgbClr val="40916C"/>
            </a:solidFill>
            <a:prstDash val="solid"/>
          </a:ln>
        </p:spPr>
      </p:sp>
      <p:sp>
        <p:nvSpPr>
          <p:cNvPr id="14" name="Text 12">
            <a:extLst>
              <a:ext uri="{FF2B5EF4-FFF2-40B4-BE49-F238E27FC236}">
                <a16:creationId xmlns:a16="http://schemas.microsoft.com/office/drawing/2014/main" id="{B064134C-AF7A-4C1E-6B0A-DE7C8780D35B}"/>
              </a:ext>
            </a:extLst>
          </p:cNvPr>
          <p:cNvSpPr/>
          <p:nvPr/>
        </p:nvSpPr>
        <p:spPr>
          <a:xfrm>
            <a:off x="338328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a:extLst>
              <a:ext uri="{FF2B5EF4-FFF2-40B4-BE49-F238E27FC236}">
                <a16:creationId xmlns:a16="http://schemas.microsoft.com/office/drawing/2014/main" id="{6C53D441-AE49-D009-0A5B-76D13F0F6180}"/>
              </a:ext>
            </a:extLst>
          </p:cNvPr>
          <p:cNvSpPr/>
          <p:nvPr/>
        </p:nvSpPr>
        <p:spPr>
          <a:xfrm>
            <a:off x="393192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Explainable AI (XAI)</a:t>
            </a:r>
            <a:endParaRPr lang="en-US" sz="1150" dirty="0"/>
          </a:p>
        </p:txBody>
      </p:sp>
      <p:sp>
        <p:nvSpPr>
          <p:cNvPr id="16" name="Text 14">
            <a:extLst>
              <a:ext uri="{FF2B5EF4-FFF2-40B4-BE49-F238E27FC236}">
                <a16:creationId xmlns:a16="http://schemas.microsoft.com/office/drawing/2014/main" id="{CD1BE56B-342C-BE73-1372-9CA7E399B64B}"/>
              </a:ext>
            </a:extLst>
          </p:cNvPr>
          <p:cNvSpPr/>
          <p:nvPr/>
        </p:nvSpPr>
        <p:spPr>
          <a:xfrm>
            <a:off x="3383279" y="1554480"/>
            <a:ext cx="2445283" cy="685800"/>
          </a:xfrm>
          <a:prstGeom prst="rect">
            <a:avLst/>
          </a:prstGeom>
          <a:noFill/>
          <a:ln/>
        </p:spPr>
        <p:txBody>
          <a:bodyPr wrap="square" rtlCol="0" anchor="ctr"/>
          <a:lstStyle/>
          <a:p>
            <a:r>
              <a:rPr lang="en-US" sz="1000" dirty="0" err="1">
                <a:solidFill>
                  <a:srgbClr val="1A1A2E"/>
                </a:solidFill>
                <a:latin typeface="Calibri" pitchFamily="34" charset="0"/>
                <a:ea typeface="Calibri" pitchFamily="34" charset="-122"/>
                <a:cs typeface="Calibri" pitchFamily="34" charset="-120"/>
              </a:rPr>
              <a:t>Giải</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thích</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quyết</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định</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bằng</a:t>
            </a:r>
            <a:r>
              <a:rPr lang="en-US" sz="1000" dirty="0">
                <a:solidFill>
                  <a:srgbClr val="1A1A2E"/>
                </a:solidFill>
                <a:latin typeface="Calibri" pitchFamily="34" charset="0"/>
                <a:ea typeface="Calibri" pitchFamily="34" charset="-122"/>
                <a:cs typeface="Calibri" pitchFamily="34" charset="-120"/>
              </a:rPr>
              <a:t>:</a:t>
            </a:r>
          </a:p>
          <a:p>
            <a:r>
              <a:rPr lang="en-US" sz="1000" dirty="0">
                <a:solidFill>
                  <a:srgbClr val="1A1A2E"/>
                </a:solidFill>
                <a:latin typeface="Calibri" pitchFamily="34" charset="0"/>
                <a:ea typeface="Calibri" pitchFamily="34" charset="-122"/>
                <a:cs typeface="Calibri" pitchFamily="34" charset="-120"/>
              </a:rPr>
              <a:t>• Rule Traceability - </a:t>
            </a:r>
            <a:r>
              <a:rPr lang="en-US" sz="1000" dirty="0" err="1">
                <a:solidFill>
                  <a:srgbClr val="1A1A2E"/>
                </a:solidFill>
                <a:latin typeface="Calibri" pitchFamily="34" charset="0"/>
                <a:ea typeface="Calibri" pitchFamily="34" charset="-122"/>
                <a:cs typeface="Calibri" pitchFamily="34" charset="-120"/>
              </a:rPr>
              <a:t>Truy</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vết</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Luật</a:t>
            </a:r>
            <a:endParaRPr lang="en-US" sz="1000" dirty="0">
              <a:solidFill>
                <a:srgbClr val="1A1A2E"/>
              </a:solidFill>
              <a:latin typeface="Calibri" pitchFamily="34" charset="0"/>
              <a:ea typeface="Calibri" pitchFamily="34" charset="-122"/>
              <a:cs typeface="Calibri" pitchFamily="34" charset="-120"/>
            </a:endParaRPr>
          </a:p>
          <a:p>
            <a:r>
              <a:rPr lang="en-US" sz="1000" dirty="0">
                <a:solidFill>
                  <a:srgbClr val="1A1A2E"/>
                </a:solidFill>
                <a:latin typeface="Calibri" pitchFamily="34" charset="0"/>
                <a:ea typeface="Calibri" pitchFamily="34" charset="-122"/>
                <a:cs typeface="Calibri" pitchFamily="34" charset="-120"/>
              </a:rPr>
              <a:t>• Entropy Analysis - </a:t>
            </a:r>
            <a:r>
              <a:rPr lang="en-US" sz="1000" dirty="0" err="1">
                <a:solidFill>
                  <a:srgbClr val="1A1A2E"/>
                </a:solidFill>
                <a:latin typeface="Calibri" pitchFamily="34" charset="0"/>
                <a:ea typeface="Calibri" pitchFamily="34" charset="-122"/>
                <a:cs typeface="Calibri" pitchFamily="34" charset="-120"/>
              </a:rPr>
              <a:t>Đánh</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giá</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độ</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bất</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định</a:t>
            </a:r>
            <a:endParaRPr lang="en-US" sz="1000" dirty="0">
              <a:solidFill>
                <a:srgbClr val="1A1A2E"/>
              </a:solidFill>
              <a:latin typeface="Calibri" pitchFamily="34" charset="0"/>
              <a:ea typeface="Calibri" pitchFamily="34" charset="-122"/>
              <a:cs typeface="Calibri" pitchFamily="34" charset="-120"/>
            </a:endParaRPr>
          </a:p>
          <a:p>
            <a:r>
              <a:rPr lang="en-US" sz="1000" dirty="0">
                <a:solidFill>
                  <a:srgbClr val="1A1A2E"/>
                </a:solidFill>
                <a:latin typeface="Calibri" pitchFamily="34" charset="0"/>
                <a:ea typeface="Calibri" pitchFamily="34" charset="-122"/>
                <a:cs typeface="Calibri" pitchFamily="34" charset="-120"/>
              </a:rPr>
              <a:t>• Natural Language Explanation – </a:t>
            </a:r>
            <a:r>
              <a:rPr lang="en-US" sz="1000" dirty="0" err="1">
                <a:solidFill>
                  <a:srgbClr val="1A1A2E"/>
                </a:solidFill>
                <a:latin typeface="Calibri" pitchFamily="34" charset="0"/>
                <a:ea typeface="Calibri" pitchFamily="34" charset="-122"/>
                <a:cs typeface="Calibri" pitchFamily="34" charset="-120"/>
              </a:rPr>
              <a:t>Giải</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thích</a:t>
            </a:r>
            <a:endParaRPr lang="en-US" sz="1000" dirty="0"/>
          </a:p>
        </p:txBody>
      </p:sp>
      <p:sp>
        <p:nvSpPr>
          <p:cNvPr id="17" name="Shape 15">
            <a:extLst>
              <a:ext uri="{FF2B5EF4-FFF2-40B4-BE49-F238E27FC236}">
                <a16:creationId xmlns:a16="http://schemas.microsoft.com/office/drawing/2014/main" id="{7A72C9B3-FA32-11E6-BAED-7A2FF85BAA7A}"/>
              </a:ext>
            </a:extLst>
          </p:cNvPr>
          <p:cNvSpPr/>
          <p:nvPr/>
        </p:nvSpPr>
        <p:spPr>
          <a:xfrm>
            <a:off x="6263640" y="868680"/>
            <a:ext cx="2651760" cy="1463040"/>
          </a:xfrm>
          <a:prstGeom prst="rect">
            <a:avLst/>
          </a:prstGeom>
          <a:solidFill>
            <a:srgbClr val="F8F9FA"/>
          </a:solidFill>
          <a:ln w="19050">
            <a:solidFill>
              <a:srgbClr val="74C69D"/>
            </a:solidFill>
            <a:prstDash val="solid"/>
          </a:ln>
          <a:effectLst>
            <a:outerShdw blurRad="50800" dist="25400" dir="8100000" algn="bl" rotWithShape="0">
              <a:srgbClr val="AAAAAA">
                <a:alpha val="20000"/>
              </a:srgbClr>
            </a:outerShdw>
          </a:effectLst>
        </p:spPr>
      </p:sp>
      <p:sp>
        <p:nvSpPr>
          <p:cNvPr id="18" name="Shape 16">
            <a:extLst>
              <a:ext uri="{FF2B5EF4-FFF2-40B4-BE49-F238E27FC236}">
                <a16:creationId xmlns:a16="http://schemas.microsoft.com/office/drawing/2014/main" id="{B81CFC0B-52D5-E21A-DBB6-A95ADE11037F}"/>
              </a:ext>
            </a:extLst>
          </p:cNvPr>
          <p:cNvSpPr/>
          <p:nvPr/>
        </p:nvSpPr>
        <p:spPr>
          <a:xfrm>
            <a:off x="6400800" y="1005840"/>
            <a:ext cx="457200" cy="457200"/>
          </a:xfrm>
          <a:prstGeom prst="ellipse">
            <a:avLst/>
          </a:prstGeom>
          <a:solidFill>
            <a:srgbClr val="F4A261"/>
          </a:solidFill>
          <a:ln w="12700">
            <a:solidFill>
              <a:srgbClr val="F4A261"/>
            </a:solidFill>
            <a:prstDash val="solid"/>
          </a:ln>
        </p:spPr>
      </p:sp>
      <p:sp>
        <p:nvSpPr>
          <p:cNvPr id="19" name="Text 17">
            <a:extLst>
              <a:ext uri="{FF2B5EF4-FFF2-40B4-BE49-F238E27FC236}">
                <a16:creationId xmlns:a16="http://schemas.microsoft.com/office/drawing/2014/main" id="{6555CFB1-23BA-65C0-844C-4FB1FE11A0CE}"/>
              </a:ext>
            </a:extLst>
          </p:cNvPr>
          <p:cNvSpPr/>
          <p:nvPr/>
        </p:nvSpPr>
        <p:spPr>
          <a:xfrm>
            <a:off x="6400800" y="100584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0" name="Text 18">
            <a:extLst>
              <a:ext uri="{FF2B5EF4-FFF2-40B4-BE49-F238E27FC236}">
                <a16:creationId xmlns:a16="http://schemas.microsoft.com/office/drawing/2014/main" id="{013E16C2-6C08-4E35-A7CE-D4B497CE3472}"/>
              </a:ext>
            </a:extLst>
          </p:cNvPr>
          <p:cNvSpPr/>
          <p:nvPr/>
        </p:nvSpPr>
        <p:spPr>
          <a:xfrm>
            <a:off x="6949440" y="1005840"/>
            <a:ext cx="1828800" cy="5029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Fuzzy Inference System (FIS)</a:t>
            </a:r>
            <a:endParaRPr lang="en-US" sz="1150" dirty="0"/>
          </a:p>
        </p:txBody>
      </p:sp>
      <p:sp>
        <p:nvSpPr>
          <p:cNvPr id="21" name="Text 19">
            <a:extLst>
              <a:ext uri="{FF2B5EF4-FFF2-40B4-BE49-F238E27FC236}">
                <a16:creationId xmlns:a16="http://schemas.microsoft.com/office/drawing/2014/main" id="{2D2C4A5D-06ED-566C-B53E-973E30DA7E88}"/>
              </a:ext>
            </a:extLst>
          </p:cNvPr>
          <p:cNvSpPr/>
          <p:nvPr/>
        </p:nvSpPr>
        <p:spPr>
          <a:xfrm>
            <a:off x="6400800" y="1554480"/>
            <a:ext cx="2377440" cy="685800"/>
          </a:xfrm>
          <a:prstGeom prst="rect">
            <a:avLst/>
          </a:prstGeom>
          <a:noFill/>
          <a:ln/>
        </p:spPr>
        <p:txBody>
          <a:bodyPr wrap="square" rtlCol="0" anchor="ctr"/>
          <a:lstStyle/>
          <a:p>
            <a:r>
              <a:rPr lang="vi-VN" sz="1050" dirty="0">
                <a:solidFill>
                  <a:srgbClr val="1A1A2E"/>
                </a:solidFill>
                <a:latin typeface="Calibri" pitchFamily="34" charset="0"/>
                <a:ea typeface="Calibri" pitchFamily="34" charset="-122"/>
                <a:cs typeface="Calibri" pitchFamily="34" charset="-120"/>
              </a:rPr>
              <a:t>Chuyển CNN Probability và dữ liệu môi trường thành</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Chỉ</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số</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mức</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độ</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bệnh</a:t>
            </a:r>
            <a:r>
              <a:rPr lang="vi-VN" sz="1050" dirty="0">
                <a:solidFill>
                  <a:srgbClr val="1A1A2E"/>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(VSI)</a:t>
            </a:r>
            <a:r>
              <a:rPr lang="vi-VN" sz="1050" dirty="0">
                <a:solidFill>
                  <a:srgbClr val="1A1A2E"/>
                </a:solidFill>
                <a:latin typeface="Calibri" pitchFamily="34" charset="0"/>
                <a:ea typeface="Calibri" pitchFamily="34" charset="-122"/>
                <a:cs typeface="Calibri" pitchFamily="34" charset="-120"/>
              </a:rPr>
              <a:t> thông qua luật IF-THEN.</a:t>
            </a:r>
            <a:endParaRPr lang="en-US" sz="1050" dirty="0"/>
          </a:p>
        </p:txBody>
      </p:sp>
      <p:sp>
        <p:nvSpPr>
          <p:cNvPr id="22" name="Text 20">
            <a:extLst>
              <a:ext uri="{FF2B5EF4-FFF2-40B4-BE49-F238E27FC236}">
                <a16:creationId xmlns:a16="http://schemas.microsoft.com/office/drawing/2014/main" id="{C8176FAD-E9CA-1DD1-0252-63785BC05AB4}"/>
              </a:ext>
            </a:extLst>
          </p:cNvPr>
          <p:cNvSpPr/>
          <p:nvPr/>
        </p:nvSpPr>
        <p:spPr>
          <a:xfrm>
            <a:off x="228600" y="2468880"/>
            <a:ext cx="8686800" cy="365760"/>
          </a:xfrm>
          <a:prstGeom prst="rect">
            <a:avLst/>
          </a:prstGeom>
          <a:noFill/>
          <a:ln/>
        </p:spPr>
        <p:txBody>
          <a:bodyPr wrap="square" rtlCol="0" anchor="ctr"/>
          <a:lstStyle/>
          <a:p>
            <a:r>
              <a:rPr lang="en-US" sz="1300" b="1" dirty="0">
                <a:solidFill>
                  <a:srgbClr val="1B4332"/>
                </a:solidFill>
                <a:latin typeface="Calibri" pitchFamily="34" charset="0"/>
                <a:ea typeface="Calibri" pitchFamily="34" charset="-122"/>
                <a:cs typeface="Calibri" pitchFamily="34" charset="-120"/>
              </a:rPr>
              <a:t>Quy </a:t>
            </a:r>
            <a:r>
              <a:rPr lang="en-US" sz="1300" b="1" dirty="0" err="1">
                <a:solidFill>
                  <a:srgbClr val="1B4332"/>
                </a:solidFill>
                <a:latin typeface="Calibri" pitchFamily="34" charset="0"/>
                <a:ea typeface="Calibri" pitchFamily="34" charset="-122"/>
                <a:cs typeface="Calibri" pitchFamily="34" charset="-120"/>
              </a:rPr>
              <a:t>Trình</a:t>
            </a:r>
            <a:r>
              <a:rPr lang="en-US" sz="1300" b="1" dirty="0">
                <a:solidFill>
                  <a:srgbClr val="1B4332"/>
                </a:solidFill>
                <a:latin typeface="Calibri" pitchFamily="34" charset="0"/>
                <a:ea typeface="Calibri" pitchFamily="34" charset="-122"/>
                <a:cs typeface="Calibri" pitchFamily="34" charset="-120"/>
              </a:rPr>
              <a:t> Zero-order </a:t>
            </a:r>
            <a:r>
              <a:rPr lang="en-US" sz="1300" b="1" dirty="0" err="1">
                <a:solidFill>
                  <a:srgbClr val="1B4332"/>
                </a:solidFill>
                <a:latin typeface="Calibri" pitchFamily="34" charset="0"/>
                <a:ea typeface="Calibri" pitchFamily="34" charset="-122"/>
                <a:cs typeface="Calibri" pitchFamily="34" charset="-120"/>
              </a:rPr>
              <a:t>Sugeno</a:t>
            </a:r>
            <a:r>
              <a:rPr lang="en-US" sz="1300" b="1" dirty="0">
                <a:solidFill>
                  <a:srgbClr val="1B4332"/>
                </a:solidFill>
                <a:latin typeface="Calibri" pitchFamily="34" charset="0"/>
                <a:ea typeface="Calibri" pitchFamily="34" charset="-122"/>
                <a:cs typeface="Calibri" pitchFamily="34" charset="-120"/>
              </a:rPr>
              <a:t> Fuzzy Inference System: </a:t>
            </a:r>
            <a:r>
              <a:rPr lang="en-US" sz="1300" b="1" dirty="0" err="1">
                <a:solidFill>
                  <a:srgbClr val="1B4332"/>
                </a:solidFill>
                <a:latin typeface="Calibri" pitchFamily="34" charset="0"/>
                <a:ea typeface="Calibri" pitchFamily="34" charset="-122"/>
                <a:cs typeface="Calibri" pitchFamily="34" charset="-120"/>
              </a:rPr>
              <a:t>Luật</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tham</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số</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đầu</a:t>
            </a:r>
            <a:r>
              <a:rPr lang="en-US" sz="1300" b="1" dirty="0">
                <a:solidFill>
                  <a:srgbClr val="1B4332"/>
                </a:solidFill>
                <a:latin typeface="Calibri" pitchFamily="34" charset="0"/>
                <a:ea typeface="Calibri" pitchFamily="34" charset="-122"/>
                <a:cs typeface="Calibri" pitchFamily="34" charset="-120"/>
              </a:rPr>
              <a:t> </a:t>
            </a:r>
            <a:r>
              <a:rPr lang="en-US" sz="1300" b="1" dirty="0" err="1">
                <a:solidFill>
                  <a:srgbClr val="1B4332"/>
                </a:solidFill>
                <a:latin typeface="Calibri" pitchFamily="34" charset="0"/>
                <a:ea typeface="Calibri" pitchFamily="34" charset="-122"/>
                <a:cs typeface="Calibri" pitchFamily="34" charset="-120"/>
              </a:rPr>
              <a:t>vào</a:t>
            </a:r>
            <a:r>
              <a:rPr lang="en-US" sz="1300" b="1" dirty="0">
                <a:solidFill>
                  <a:srgbClr val="1B4332"/>
                </a:solidFill>
                <a:latin typeface="Calibri" pitchFamily="34" charset="0"/>
                <a:ea typeface="Calibri" pitchFamily="34" charset="-122"/>
                <a:cs typeface="Calibri" pitchFamily="34" charset="-120"/>
              </a:rPr>
              <a:t>) </a:t>
            </a:r>
            <a:r>
              <a:rPr lang="en-US" sz="1300" b="1" dirty="0">
                <a:solidFill>
                  <a:srgbClr val="1B4332"/>
                </a:solidFill>
                <a:latin typeface="Calibri" pitchFamily="34" charset="0"/>
                <a:ea typeface="Calibri" pitchFamily="34" charset="-122"/>
                <a:cs typeface="Calibri" pitchFamily="34" charset="-120"/>
                <a:sym typeface="Wingdings" panose="05000000000000000000" pitchFamily="2" charset="2"/>
              </a:rPr>
              <a:t> </a:t>
            </a:r>
            <a:r>
              <a:rPr lang="en-US" sz="1300" b="1" dirty="0" err="1">
                <a:solidFill>
                  <a:srgbClr val="1B4332"/>
                </a:solidFill>
                <a:latin typeface="Calibri" pitchFamily="34" charset="0"/>
                <a:ea typeface="Calibri" pitchFamily="34" charset="-122"/>
                <a:cs typeface="Calibri" pitchFamily="34" charset="-120"/>
                <a:sym typeface="Wingdings" panose="05000000000000000000" pitchFamily="2" charset="2"/>
              </a:rPr>
              <a:t>Chỉ</a:t>
            </a:r>
            <a:r>
              <a:rPr lang="en-US" sz="1300" b="1" dirty="0">
                <a:solidFill>
                  <a:srgbClr val="1B4332"/>
                </a:solidFill>
                <a:latin typeface="Calibri" pitchFamily="34" charset="0"/>
                <a:ea typeface="Calibri" pitchFamily="34" charset="-122"/>
                <a:cs typeface="Calibri" pitchFamily="34" charset="-120"/>
                <a:sym typeface="Wingdings" panose="05000000000000000000" pitchFamily="2" charset="2"/>
              </a:rPr>
              <a:t> </a:t>
            </a:r>
            <a:r>
              <a:rPr lang="en-US" sz="1300" b="1" dirty="0" err="1">
                <a:solidFill>
                  <a:srgbClr val="1B4332"/>
                </a:solidFill>
                <a:latin typeface="Calibri" pitchFamily="34" charset="0"/>
                <a:ea typeface="Calibri" pitchFamily="34" charset="-122"/>
                <a:cs typeface="Calibri" pitchFamily="34" charset="-120"/>
                <a:sym typeface="Wingdings" panose="05000000000000000000" pitchFamily="2" charset="2"/>
              </a:rPr>
              <a:t>số</a:t>
            </a:r>
            <a:r>
              <a:rPr lang="en-US" sz="1300" b="1" dirty="0">
                <a:solidFill>
                  <a:srgbClr val="1B4332"/>
                </a:solidFill>
                <a:latin typeface="Calibri" pitchFamily="34" charset="0"/>
                <a:ea typeface="Calibri" pitchFamily="34" charset="-122"/>
                <a:cs typeface="Calibri" pitchFamily="34" charset="-120"/>
                <a:sym typeface="Wingdings" panose="05000000000000000000" pitchFamily="2" charset="2"/>
              </a:rPr>
              <a:t> </a:t>
            </a:r>
            <a:r>
              <a:rPr lang="en-US" sz="1300" b="1" dirty="0" err="1">
                <a:solidFill>
                  <a:srgbClr val="1B4332"/>
                </a:solidFill>
                <a:latin typeface="Calibri" pitchFamily="34" charset="0"/>
                <a:ea typeface="Calibri" pitchFamily="34" charset="-122"/>
                <a:cs typeface="Calibri" pitchFamily="34" charset="-120"/>
                <a:sym typeface="Wingdings" panose="05000000000000000000" pitchFamily="2" charset="2"/>
              </a:rPr>
              <a:t>phản</a:t>
            </a:r>
            <a:r>
              <a:rPr lang="en-US" sz="1300" b="1" dirty="0">
                <a:solidFill>
                  <a:srgbClr val="1B4332"/>
                </a:solidFill>
                <a:latin typeface="Calibri" pitchFamily="34" charset="0"/>
                <a:ea typeface="Calibri" pitchFamily="34" charset="-122"/>
                <a:cs typeface="Calibri" pitchFamily="34" charset="-120"/>
                <a:sym typeface="Wingdings" panose="05000000000000000000" pitchFamily="2" charset="2"/>
              </a:rPr>
              <a:t> </a:t>
            </a:r>
            <a:r>
              <a:rPr lang="en-US" sz="1300" b="1" dirty="0" err="1">
                <a:solidFill>
                  <a:srgbClr val="1B4332"/>
                </a:solidFill>
                <a:latin typeface="Calibri" pitchFamily="34" charset="0"/>
                <a:ea typeface="Calibri" pitchFamily="34" charset="-122"/>
                <a:cs typeface="Calibri" pitchFamily="34" charset="-120"/>
                <a:sym typeface="Wingdings" panose="05000000000000000000" pitchFamily="2" charset="2"/>
              </a:rPr>
              <a:t>ánh</a:t>
            </a:r>
            <a:r>
              <a:rPr lang="en-US" sz="1300" b="1" dirty="0">
                <a:solidFill>
                  <a:srgbClr val="1B4332"/>
                </a:solidFill>
                <a:latin typeface="Calibri" pitchFamily="34" charset="0"/>
                <a:ea typeface="Calibri" pitchFamily="34" charset="-122"/>
                <a:cs typeface="Calibri" pitchFamily="34" charset="-120"/>
                <a:sym typeface="Wingdings" panose="05000000000000000000" pitchFamily="2" charset="2"/>
              </a:rPr>
              <a:t> </a:t>
            </a:r>
            <a:r>
              <a:rPr lang="en-US" sz="1300" b="1" dirty="0" err="1">
                <a:solidFill>
                  <a:srgbClr val="1B4332"/>
                </a:solidFill>
                <a:latin typeface="Calibri" pitchFamily="34" charset="0"/>
                <a:ea typeface="Calibri" pitchFamily="34" charset="-122"/>
                <a:cs typeface="Calibri" pitchFamily="34" charset="-120"/>
                <a:sym typeface="Wingdings" panose="05000000000000000000" pitchFamily="2" charset="2"/>
              </a:rPr>
              <a:t>mức</a:t>
            </a:r>
            <a:r>
              <a:rPr lang="en-US" sz="1300" b="1" dirty="0">
                <a:solidFill>
                  <a:srgbClr val="1B4332"/>
                </a:solidFill>
                <a:latin typeface="Calibri" pitchFamily="34" charset="0"/>
                <a:ea typeface="Calibri" pitchFamily="34" charset="-122"/>
                <a:cs typeface="Calibri" pitchFamily="34" charset="-120"/>
                <a:sym typeface="Wingdings" panose="05000000000000000000" pitchFamily="2" charset="2"/>
              </a:rPr>
              <a:t> </a:t>
            </a:r>
            <a:r>
              <a:rPr lang="en-US" sz="1300" b="1" dirty="0" err="1">
                <a:solidFill>
                  <a:srgbClr val="1B4332"/>
                </a:solidFill>
                <a:latin typeface="Calibri" pitchFamily="34" charset="0"/>
                <a:ea typeface="Calibri" pitchFamily="34" charset="-122"/>
                <a:cs typeface="Calibri" pitchFamily="34" charset="-120"/>
                <a:sym typeface="Wingdings" panose="05000000000000000000" pitchFamily="2" charset="2"/>
              </a:rPr>
              <a:t>độ</a:t>
            </a:r>
            <a:endParaRPr lang="en-US" sz="1300" dirty="0"/>
          </a:p>
        </p:txBody>
      </p:sp>
      <p:sp>
        <p:nvSpPr>
          <p:cNvPr id="23" name="Shape 21">
            <a:extLst>
              <a:ext uri="{FF2B5EF4-FFF2-40B4-BE49-F238E27FC236}">
                <a16:creationId xmlns:a16="http://schemas.microsoft.com/office/drawing/2014/main" id="{A63CE021-C9E3-3E1D-6D0C-D2AD1114E6CD}"/>
              </a:ext>
            </a:extLst>
          </p:cNvPr>
          <p:cNvSpPr/>
          <p:nvPr/>
        </p:nvSpPr>
        <p:spPr>
          <a:xfrm>
            <a:off x="228600" y="2880360"/>
            <a:ext cx="1920240" cy="1280160"/>
          </a:xfrm>
          <a:prstGeom prst="rect">
            <a:avLst/>
          </a:prstGeom>
          <a:solidFill>
            <a:srgbClr val="D8F3DC"/>
          </a:solidFill>
          <a:ln w="12700">
            <a:solidFill>
              <a:srgbClr val="40916C"/>
            </a:solidFill>
            <a:prstDash val="solid"/>
          </a:ln>
          <a:effectLst>
            <a:outerShdw blurRad="38100" dist="25400" dir="8100000" algn="bl" rotWithShape="0">
              <a:srgbClr val="AAAAAA">
                <a:alpha val="20000"/>
              </a:srgbClr>
            </a:outerShdw>
          </a:effectLst>
        </p:spPr>
      </p:sp>
      <p:sp>
        <p:nvSpPr>
          <p:cNvPr id="24" name="Text 22">
            <a:extLst>
              <a:ext uri="{FF2B5EF4-FFF2-40B4-BE49-F238E27FC236}">
                <a16:creationId xmlns:a16="http://schemas.microsoft.com/office/drawing/2014/main" id="{11A756C9-EE65-3328-D447-B70F2637D704}"/>
              </a:ext>
            </a:extLst>
          </p:cNvPr>
          <p:cNvSpPr/>
          <p:nvPr/>
        </p:nvSpPr>
        <p:spPr>
          <a:xfrm>
            <a:off x="32004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① Fuzzification</a:t>
            </a:r>
            <a:endParaRPr lang="en-US" sz="1200" dirty="0"/>
          </a:p>
        </p:txBody>
      </p:sp>
      <p:sp>
        <p:nvSpPr>
          <p:cNvPr id="25" name="Text 23">
            <a:extLst>
              <a:ext uri="{FF2B5EF4-FFF2-40B4-BE49-F238E27FC236}">
                <a16:creationId xmlns:a16="http://schemas.microsoft.com/office/drawing/2014/main" id="{A5F79FD1-7C4F-F362-C94B-6963BC2735BB}"/>
              </a:ext>
            </a:extLst>
          </p:cNvPr>
          <p:cNvSpPr/>
          <p:nvPr/>
        </p:nvSpPr>
        <p:spPr>
          <a:xfrm>
            <a:off x="320040" y="3474720"/>
            <a:ext cx="1755648" cy="594360"/>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CNN Probability, Temperature, Humidity --&gt; </a:t>
            </a:r>
            <a:r>
              <a:rPr lang="en-US" sz="1000" dirty="0" err="1"/>
              <a:t>Mức</a:t>
            </a:r>
            <a:r>
              <a:rPr lang="en-US" sz="1000" dirty="0"/>
              <a:t> </a:t>
            </a:r>
            <a:r>
              <a:rPr lang="en-US" sz="1000" dirty="0" err="1"/>
              <a:t>độ</a:t>
            </a:r>
            <a:r>
              <a:rPr lang="en-US" sz="1000" dirty="0"/>
              <a:t> </a:t>
            </a:r>
            <a:r>
              <a:rPr lang="en-US" sz="1000" dirty="0" err="1"/>
              <a:t>phù</a:t>
            </a:r>
            <a:r>
              <a:rPr lang="en-US" sz="1000" dirty="0"/>
              <a:t> </a:t>
            </a:r>
            <a:r>
              <a:rPr lang="en-US" sz="1000" dirty="0" err="1"/>
              <a:t>hợp</a:t>
            </a:r>
            <a:r>
              <a:rPr lang="en-US" sz="1000" dirty="0"/>
              <a:t> (</a:t>
            </a:r>
            <a:r>
              <a:rPr lang="en-US" sz="1000" dirty="0" err="1"/>
              <a:t>độ</a:t>
            </a:r>
            <a:r>
              <a:rPr lang="en-US" sz="1000" dirty="0"/>
              <a:t> </a:t>
            </a:r>
            <a:r>
              <a:rPr lang="en-US" sz="1000" dirty="0" err="1"/>
              <a:t>thuộc</a:t>
            </a:r>
            <a:r>
              <a:rPr lang="en-US" sz="1000" dirty="0"/>
              <a:t> -</a:t>
            </a:r>
            <a:r>
              <a:rPr lang="el-GR" sz="1000" dirty="0"/>
              <a:t>μ)</a:t>
            </a:r>
            <a:r>
              <a:rPr lang="en-US" sz="1000" dirty="0">
                <a:solidFill>
                  <a:srgbClr val="1A1A2E"/>
                </a:solidFill>
                <a:latin typeface="Calibri" pitchFamily="34" charset="0"/>
                <a:ea typeface="Calibri" pitchFamily="34" charset="-122"/>
                <a:cs typeface="Calibri" pitchFamily="34" charset="-120"/>
              </a:rPr>
              <a:t> </a:t>
            </a:r>
            <a:endParaRPr lang="en-US" sz="1000" dirty="0"/>
          </a:p>
        </p:txBody>
      </p:sp>
      <p:sp>
        <p:nvSpPr>
          <p:cNvPr id="26" name="Shape 24">
            <a:extLst>
              <a:ext uri="{FF2B5EF4-FFF2-40B4-BE49-F238E27FC236}">
                <a16:creationId xmlns:a16="http://schemas.microsoft.com/office/drawing/2014/main" id="{81ED8462-5B23-104A-F409-D51D60B755C9}"/>
              </a:ext>
            </a:extLst>
          </p:cNvPr>
          <p:cNvSpPr/>
          <p:nvPr/>
        </p:nvSpPr>
        <p:spPr>
          <a:xfrm>
            <a:off x="2167128" y="3493008"/>
            <a:ext cx="192024" cy="54864"/>
          </a:xfrm>
          <a:prstGeom prst="rect">
            <a:avLst/>
          </a:prstGeom>
          <a:solidFill>
            <a:srgbClr val="2D6A4F"/>
          </a:solidFill>
          <a:ln w="12700">
            <a:solidFill>
              <a:srgbClr val="2D6A4F"/>
            </a:solidFill>
            <a:prstDash val="solid"/>
          </a:ln>
        </p:spPr>
      </p:sp>
      <p:sp>
        <p:nvSpPr>
          <p:cNvPr id="27" name="Shape 25">
            <a:extLst>
              <a:ext uri="{FF2B5EF4-FFF2-40B4-BE49-F238E27FC236}">
                <a16:creationId xmlns:a16="http://schemas.microsoft.com/office/drawing/2014/main" id="{6009DABB-445A-71E7-5425-DBC0477DA204}"/>
              </a:ext>
            </a:extLst>
          </p:cNvPr>
          <p:cNvSpPr/>
          <p:nvPr/>
        </p:nvSpPr>
        <p:spPr>
          <a:xfrm>
            <a:off x="2377440" y="2880360"/>
            <a:ext cx="1920240" cy="1280160"/>
          </a:xfrm>
          <a:prstGeom prst="rect">
            <a:avLst/>
          </a:prstGeom>
          <a:solidFill>
            <a:srgbClr val="E3F2FD"/>
          </a:solidFill>
          <a:ln w="12700">
            <a:solidFill>
              <a:srgbClr val="40916C"/>
            </a:solidFill>
            <a:prstDash val="solid"/>
          </a:ln>
          <a:effectLst>
            <a:outerShdw blurRad="38100" dist="25400" dir="8100000" algn="bl" rotWithShape="0">
              <a:srgbClr val="AAAAAA">
                <a:alpha val="20000"/>
              </a:srgbClr>
            </a:outerShdw>
          </a:effectLst>
        </p:spPr>
      </p:sp>
      <p:sp>
        <p:nvSpPr>
          <p:cNvPr id="28" name="Text 26">
            <a:extLst>
              <a:ext uri="{FF2B5EF4-FFF2-40B4-BE49-F238E27FC236}">
                <a16:creationId xmlns:a16="http://schemas.microsoft.com/office/drawing/2014/main" id="{C6240E00-FBF2-CCF3-2C21-74A20D3E735B}"/>
              </a:ext>
            </a:extLst>
          </p:cNvPr>
          <p:cNvSpPr/>
          <p:nvPr/>
        </p:nvSpPr>
        <p:spPr>
          <a:xfrm>
            <a:off x="246888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② Rule Evaluation</a:t>
            </a:r>
            <a:endParaRPr lang="en-US" sz="1200" dirty="0"/>
          </a:p>
        </p:txBody>
      </p:sp>
      <p:sp>
        <p:nvSpPr>
          <p:cNvPr id="29" name="Text 27">
            <a:extLst>
              <a:ext uri="{FF2B5EF4-FFF2-40B4-BE49-F238E27FC236}">
                <a16:creationId xmlns:a16="http://schemas.microsoft.com/office/drawing/2014/main" id="{D1458E97-A5EB-A7D0-D96F-F6EC949A5953}"/>
              </a:ext>
            </a:extLst>
          </p:cNvPr>
          <p:cNvSpPr/>
          <p:nvPr/>
        </p:nvSpPr>
        <p:spPr>
          <a:xfrm>
            <a:off x="2468880" y="3360420"/>
            <a:ext cx="1737360" cy="594360"/>
          </a:xfrm>
          <a:prstGeom prst="rect">
            <a:avLst/>
          </a:prstGeom>
          <a:noFill/>
          <a:ln/>
        </p:spPr>
        <p:txBody>
          <a:bodyPr wrap="square" rtlCol="0" anchor="ctr"/>
          <a:lstStyle/>
          <a:p>
            <a:r>
              <a:rPr lang="en-US" sz="1050" dirty="0" err="1">
                <a:solidFill>
                  <a:srgbClr val="1A1A2E"/>
                </a:solidFill>
                <a:latin typeface="Calibri" pitchFamily="34" charset="0"/>
                <a:ea typeface="Calibri" pitchFamily="34" charset="-122"/>
                <a:cs typeface="Calibri" pitchFamily="34" charset="-120"/>
              </a:rPr>
              <a:t>Áp</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dụng</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luật</a:t>
            </a:r>
            <a:r>
              <a:rPr lang="en-US" sz="1050" dirty="0">
                <a:solidFill>
                  <a:srgbClr val="1A1A2E"/>
                </a:solidFill>
                <a:latin typeface="Calibri" pitchFamily="34" charset="0"/>
                <a:ea typeface="Calibri" pitchFamily="34" charset="-122"/>
                <a:cs typeface="Calibri" pitchFamily="34" charset="-120"/>
              </a:rPr>
              <a:t> IF-THEN -&gt;</a:t>
            </a:r>
          </a:p>
          <a:p>
            <a:r>
              <a:rPr lang="en-US" sz="1050" dirty="0" err="1">
                <a:solidFill>
                  <a:srgbClr val="1A1A2E"/>
                </a:solidFill>
                <a:latin typeface="Calibri" pitchFamily="34" charset="0"/>
                <a:ea typeface="Calibri" pitchFamily="34" charset="-122"/>
                <a:cs typeface="Calibri" pitchFamily="34" charset="-120"/>
              </a:rPr>
              <a:t>Độ</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kích</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hoạt</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Luật</a:t>
            </a:r>
            <a:r>
              <a:rPr lang="en-US" sz="1050" dirty="0">
                <a:solidFill>
                  <a:srgbClr val="1A1A2E"/>
                </a:solidFill>
                <a:latin typeface="Calibri" pitchFamily="34" charset="0"/>
                <a:ea typeface="Calibri" pitchFamily="34" charset="-122"/>
                <a:cs typeface="Calibri" pitchFamily="34" charset="-120"/>
              </a:rPr>
              <a:t> (Firing strength (</a:t>
            </a:r>
            <a:r>
              <a:rPr lang="en-US" sz="1050" dirty="0" err="1">
                <a:solidFill>
                  <a:srgbClr val="1A1A2E"/>
                </a:solidFill>
                <a:latin typeface="Calibri" pitchFamily="34" charset="0"/>
                <a:ea typeface="Calibri" pitchFamily="34" charset="-122"/>
                <a:cs typeface="Calibri" pitchFamily="34" charset="-120"/>
              </a:rPr>
              <a:t>wi</a:t>
            </a:r>
            <a:r>
              <a:rPr lang="en-US" sz="1050" dirty="0">
                <a:solidFill>
                  <a:srgbClr val="1A1A2E"/>
                </a:solidFill>
                <a:latin typeface="Calibri" pitchFamily="34" charset="0"/>
                <a:ea typeface="Calibri" pitchFamily="34" charset="-122"/>
                <a:cs typeface="Calibri" pitchFamily="34" charset="-120"/>
              </a:rPr>
              <a:t>))</a:t>
            </a:r>
            <a:endParaRPr lang="en-US" sz="1050" dirty="0"/>
          </a:p>
        </p:txBody>
      </p:sp>
      <p:sp>
        <p:nvSpPr>
          <p:cNvPr id="30" name="Shape 28">
            <a:extLst>
              <a:ext uri="{FF2B5EF4-FFF2-40B4-BE49-F238E27FC236}">
                <a16:creationId xmlns:a16="http://schemas.microsoft.com/office/drawing/2014/main" id="{B5607D6B-2477-DF80-BA2D-E8290A205081}"/>
              </a:ext>
            </a:extLst>
          </p:cNvPr>
          <p:cNvSpPr/>
          <p:nvPr/>
        </p:nvSpPr>
        <p:spPr>
          <a:xfrm>
            <a:off x="4315968" y="3493008"/>
            <a:ext cx="192024" cy="54864"/>
          </a:xfrm>
          <a:prstGeom prst="rect">
            <a:avLst/>
          </a:prstGeom>
          <a:solidFill>
            <a:srgbClr val="2D6A4F"/>
          </a:solidFill>
          <a:ln w="12700">
            <a:solidFill>
              <a:srgbClr val="2D6A4F"/>
            </a:solidFill>
            <a:prstDash val="solid"/>
          </a:ln>
        </p:spPr>
      </p:sp>
      <p:sp>
        <p:nvSpPr>
          <p:cNvPr id="31" name="Shape 29">
            <a:extLst>
              <a:ext uri="{FF2B5EF4-FFF2-40B4-BE49-F238E27FC236}">
                <a16:creationId xmlns:a16="http://schemas.microsoft.com/office/drawing/2014/main" id="{066568F4-EEFB-AB83-9578-0C260CB90071}"/>
              </a:ext>
            </a:extLst>
          </p:cNvPr>
          <p:cNvSpPr/>
          <p:nvPr/>
        </p:nvSpPr>
        <p:spPr>
          <a:xfrm>
            <a:off x="4526280" y="2880360"/>
            <a:ext cx="1920240" cy="1280160"/>
          </a:xfrm>
          <a:prstGeom prst="rect">
            <a:avLst/>
          </a:prstGeom>
          <a:solidFill>
            <a:srgbClr val="FFF9C4"/>
          </a:solidFill>
          <a:ln w="12700">
            <a:solidFill>
              <a:srgbClr val="40916C"/>
            </a:solidFill>
            <a:prstDash val="solid"/>
          </a:ln>
          <a:effectLst>
            <a:outerShdw blurRad="38100" dist="25400" dir="8100000" algn="bl" rotWithShape="0">
              <a:srgbClr val="AAAAAA">
                <a:alpha val="20000"/>
              </a:srgbClr>
            </a:outerShdw>
          </a:effectLst>
        </p:spPr>
      </p:sp>
      <p:sp>
        <p:nvSpPr>
          <p:cNvPr id="32" name="Text 30">
            <a:extLst>
              <a:ext uri="{FF2B5EF4-FFF2-40B4-BE49-F238E27FC236}">
                <a16:creationId xmlns:a16="http://schemas.microsoft.com/office/drawing/2014/main" id="{91461B1E-142C-3544-C8BD-A8E1E7682953}"/>
              </a:ext>
            </a:extLst>
          </p:cNvPr>
          <p:cNvSpPr/>
          <p:nvPr/>
        </p:nvSpPr>
        <p:spPr>
          <a:xfrm>
            <a:off x="461772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③ Rule Output</a:t>
            </a:r>
            <a:endParaRPr lang="en-US" sz="1200" dirty="0"/>
          </a:p>
        </p:txBody>
      </p:sp>
      <p:sp>
        <p:nvSpPr>
          <p:cNvPr id="33" name="Text 31">
            <a:extLst>
              <a:ext uri="{FF2B5EF4-FFF2-40B4-BE49-F238E27FC236}">
                <a16:creationId xmlns:a16="http://schemas.microsoft.com/office/drawing/2014/main" id="{B7F1DE17-866E-B217-C131-336B644CAB0D}"/>
              </a:ext>
            </a:extLst>
          </p:cNvPr>
          <p:cNvSpPr/>
          <p:nvPr/>
        </p:nvSpPr>
        <p:spPr>
          <a:xfrm>
            <a:off x="4572000" y="3474720"/>
            <a:ext cx="1874520" cy="594360"/>
          </a:xfrm>
          <a:prstGeom prst="rect">
            <a:avLst/>
          </a:prstGeom>
          <a:noFill/>
          <a:ln/>
        </p:spPr>
        <p:txBody>
          <a:bodyPr wrap="square" rtlCol="0" anchor="ctr"/>
          <a:lstStyle/>
          <a:p>
            <a:r>
              <a:rPr lang="en-US" sz="1000" dirty="0" err="1"/>
              <a:t>Đánh</a:t>
            </a:r>
            <a:r>
              <a:rPr lang="en-US" sz="1000" dirty="0"/>
              <a:t> </a:t>
            </a:r>
            <a:r>
              <a:rPr lang="en-US" sz="1000" dirty="0" err="1"/>
              <a:t>giá</a:t>
            </a:r>
            <a:r>
              <a:rPr lang="en-US" sz="1000" dirty="0"/>
              <a:t> </a:t>
            </a:r>
            <a:r>
              <a:rPr lang="en-US" sz="1000" dirty="0" err="1"/>
              <a:t>bệnh</a:t>
            </a:r>
            <a:r>
              <a:rPr lang="en-US" sz="1000" dirty="0"/>
              <a:t> </a:t>
            </a:r>
            <a:r>
              <a:rPr lang="en-US" sz="1000" dirty="0" err="1"/>
              <a:t>tương</a:t>
            </a:r>
            <a:r>
              <a:rPr lang="en-US" sz="1000" dirty="0"/>
              <a:t> </a:t>
            </a:r>
            <a:r>
              <a:rPr lang="en-US" sz="1000" dirty="0" err="1"/>
              <a:t>ứng</a:t>
            </a:r>
            <a:r>
              <a:rPr lang="en-US" sz="1000" dirty="0"/>
              <a:t>:</a:t>
            </a:r>
          </a:p>
          <a:p>
            <a:r>
              <a:rPr lang="en-US" sz="1000" dirty="0" err="1"/>
              <a:t>Mức</a:t>
            </a:r>
            <a:r>
              <a:rPr lang="en-US" sz="1000" dirty="0"/>
              <a:t> </a:t>
            </a:r>
            <a:r>
              <a:rPr lang="en-US" sz="1000" dirty="0" err="1"/>
              <a:t>độ</a:t>
            </a:r>
            <a:r>
              <a:rPr lang="en-US" sz="1000" dirty="0"/>
              <a:t> </a:t>
            </a:r>
            <a:r>
              <a:rPr lang="en-US" sz="1000" dirty="0" err="1"/>
              <a:t>bệnh</a:t>
            </a:r>
            <a:r>
              <a:rPr lang="en-US" sz="1000" dirty="0"/>
              <a:t> do </a:t>
            </a:r>
            <a:r>
              <a:rPr lang="en-US" sz="1000" dirty="0" err="1"/>
              <a:t>luật</a:t>
            </a:r>
            <a:r>
              <a:rPr lang="en-US" sz="1000" dirty="0"/>
              <a:t> </a:t>
            </a:r>
            <a:r>
              <a:rPr lang="en-US" sz="1000" dirty="0" err="1"/>
              <a:t>đề</a:t>
            </a:r>
            <a:r>
              <a:rPr lang="en-US" sz="1000" dirty="0"/>
              <a:t> </a:t>
            </a:r>
            <a:r>
              <a:rPr lang="en-US" sz="1000" dirty="0" err="1"/>
              <a:t>xuất</a:t>
            </a:r>
            <a:r>
              <a:rPr lang="en-US" sz="1000" dirty="0"/>
              <a:t>(zi) </a:t>
            </a:r>
          </a:p>
          <a:p>
            <a:r>
              <a:rPr lang="en-US" sz="1000" dirty="0" err="1"/>
              <a:t>Nhẹ</a:t>
            </a:r>
            <a:r>
              <a:rPr lang="en-US" sz="1000" dirty="0"/>
              <a:t>/Trung </a:t>
            </a:r>
            <a:r>
              <a:rPr lang="en-US" sz="1000" dirty="0" err="1"/>
              <a:t>bình</a:t>
            </a:r>
            <a:r>
              <a:rPr lang="en-US" sz="1000" dirty="0"/>
              <a:t>/ </a:t>
            </a:r>
            <a:r>
              <a:rPr lang="en-US" sz="1000" dirty="0" err="1"/>
              <a:t>Nặng</a:t>
            </a:r>
            <a:endParaRPr lang="en-US" sz="1050" dirty="0"/>
          </a:p>
        </p:txBody>
      </p:sp>
      <p:sp>
        <p:nvSpPr>
          <p:cNvPr id="34" name="Shape 32">
            <a:extLst>
              <a:ext uri="{FF2B5EF4-FFF2-40B4-BE49-F238E27FC236}">
                <a16:creationId xmlns:a16="http://schemas.microsoft.com/office/drawing/2014/main" id="{C644E8E5-F784-DE4C-6DF6-A810EE306F67}"/>
              </a:ext>
            </a:extLst>
          </p:cNvPr>
          <p:cNvSpPr/>
          <p:nvPr/>
        </p:nvSpPr>
        <p:spPr>
          <a:xfrm>
            <a:off x="6464808" y="3493008"/>
            <a:ext cx="192024" cy="54864"/>
          </a:xfrm>
          <a:prstGeom prst="rect">
            <a:avLst/>
          </a:prstGeom>
          <a:solidFill>
            <a:srgbClr val="2D6A4F"/>
          </a:solidFill>
          <a:ln w="12700">
            <a:solidFill>
              <a:srgbClr val="2D6A4F"/>
            </a:solidFill>
            <a:prstDash val="solid"/>
          </a:ln>
        </p:spPr>
      </p:sp>
      <p:sp>
        <p:nvSpPr>
          <p:cNvPr id="35" name="Shape 33">
            <a:extLst>
              <a:ext uri="{FF2B5EF4-FFF2-40B4-BE49-F238E27FC236}">
                <a16:creationId xmlns:a16="http://schemas.microsoft.com/office/drawing/2014/main" id="{01D05E6C-E8B5-6DCE-4867-632F189A7598}"/>
              </a:ext>
            </a:extLst>
          </p:cNvPr>
          <p:cNvSpPr/>
          <p:nvPr/>
        </p:nvSpPr>
        <p:spPr>
          <a:xfrm>
            <a:off x="6675120" y="2880360"/>
            <a:ext cx="1920240" cy="1280160"/>
          </a:xfrm>
          <a:prstGeom prst="rect">
            <a:avLst/>
          </a:prstGeom>
          <a:solidFill>
            <a:srgbClr val="FCE4EC"/>
          </a:solidFill>
          <a:ln w="12700">
            <a:solidFill>
              <a:srgbClr val="40916C"/>
            </a:solidFill>
            <a:prstDash val="solid"/>
          </a:ln>
          <a:effectLst>
            <a:outerShdw blurRad="38100" dist="25400" dir="8100000" algn="bl" rotWithShape="0">
              <a:srgbClr val="AAAAAA">
                <a:alpha val="20000"/>
              </a:srgbClr>
            </a:outerShdw>
          </a:effectLst>
        </p:spPr>
      </p:sp>
      <p:sp>
        <p:nvSpPr>
          <p:cNvPr id="36" name="Text 34">
            <a:extLst>
              <a:ext uri="{FF2B5EF4-FFF2-40B4-BE49-F238E27FC236}">
                <a16:creationId xmlns:a16="http://schemas.microsoft.com/office/drawing/2014/main" id="{DEBC64EA-6E65-18BE-2443-4D1C5DFD6A1E}"/>
              </a:ext>
            </a:extLst>
          </p:cNvPr>
          <p:cNvSpPr/>
          <p:nvPr/>
        </p:nvSpPr>
        <p:spPr>
          <a:xfrm>
            <a:off x="6766560" y="2971800"/>
            <a:ext cx="1737360" cy="5029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④ Defuzzification</a:t>
            </a:r>
            <a:endParaRPr lang="en-US" sz="1200" dirty="0"/>
          </a:p>
        </p:txBody>
      </p:sp>
      <p:sp>
        <p:nvSpPr>
          <p:cNvPr id="37" name="Text 35">
            <a:extLst>
              <a:ext uri="{FF2B5EF4-FFF2-40B4-BE49-F238E27FC236}">
                <a16:creationId xmlns:a16="http://schemas.microsoft.com/office/drawing/2014/main" id="{31745D95-F7DF-78E0-0836-BCF31AED9339}"/>
              </a:ext>
            </a:extLst>
          </p:cNvPr>
          <p:cNvSpPr/>
          <p:nvPr/>
        </p:nvSpPr>
        <p:spPr>
          <a:xfrm>
            <a:off x="6766560" y="3474720"/>
            <a:ext cx="1737360" cy="594360"/>
          </a:xfrm>
          <a:prstGeom prst="rect">
            <a:avLst/>
          </a:prstGeom>
          <a:noFill/>
          <a:ln/>
        </p:spPr>
        <p:txBody>
          <a:bodyPr wrap="square" rtlCol="0" anchor="ctr"/>
          <a:lstStyle/>
          <a:p>
            <a:r>
              <a:rPr lang="en-US" sz="1050" dirty="0" err="1"/>
              <a:t>Tổng</a:t>
            </a:r>
            <a:r>
              <a:rPr lang="en-US" sz="1050" dirty="0"/>
              <a:t> </a:t>
            </a:r>
            <a:r>
              <a:rPr lang="en-US" sz="1050" dirty="0" err="1"/>
              <a:t>hợp</a:t>
            </a:r>
            <a:r>
              <a:rPr lang="en-US" sz="1050" dirty="0"/>
              <a:t> </a:t>
            </a:r>
            <a:r>
              <a:rPr lang="en-US" sz="1050" dirty="0" err="1"/>
              <a:t>trọng</a:t>
            </a:r>
            <a:r>
              <a:rPr lang="en-US" sz="1050" dirty="0"/>
              <a:t> </a:t>
            </a:r>
            <a:r>
              <a:rPr lang="en-US" sz="1050" dirty="0" err="1"/>
              <a:t>số</a:t>
            </a:r>
            <a:r>
              <a:rPr lang="en-US" sz="1050" dirty="0"/>
              <a:t> </a:t>
            </a:r>
            <a:r>
              <a:rPr lang="en-US" sz="1050" dirty="0">
                <a:sym typeface="Wingdings" panose="05000000000000000000" pitchFamily="2" charset="2"/>
              </a:rPr>
              <a:t> </a:t>
            </a:r>
            <a:r>
              <a:rPr lang="en-US" sz="1050" dirty="0" err="1">
                <a:sym typeface="Wingdings" panose="05000000000000000000" pitchFamily="2" charset="2"/>
              </a:rPr>
              <a:t>Chỉ</a:t>
            </a:r>
            <a:r>
              <a:rPr lang="en-US" sz="1050" dirty="0">
                <a:sym typeface="Wingdings" panose="05000000000000000000" pitchFamily="2" charset="2"/>
              </a:rPr>
              <a:t> </a:t>
            </a:r>
            <a:r>
              <a:rPr lang="en-US" sz="1050" dirty="0" err="1">
                <a:sym typeface="Wingdings" panose="05000000000000000000" pitchFamily="2" charset="2"/>
              </a:rPr>
              <a:t>số</a:t>
            </a:r>
            <a:r>
              <a:rPr lang="en-US" sz="1050" dirty="0">
                <a:sym typeface="Wingdings" panose="05000000000000000000" pitchFamily="2" charset="2"/>
              </a:rPr>
              <a:t> </a:t>
            </a:r>
          </a:p>
          <a:p>
            <a:r>
              <a:rPr lang="en-US" sz="1050" dirty="0"/>
              <a:t>VSI -Vegetation Severity Index</a:t>
            </a:r>
          </a:p>
          <a:p>
            <a:endParaRPr lang="en-US" sz="1050" dirty="0"/>
          </a:p>
        </p:txBody>
      </p:sp>
      <p:sp>
        <p:nvSpPr>
          <p:cNvPr id="38" name="Text 36">
            <a:extLst>
              <a:ext uri="{FF2B5EF4-FFF2-40B4-BE49-F238E27FC236}">
                <a16:creationId xmlns:a16="http://schemas.microsoft.com/office/drawing/2014/main" id="{E3A3FAE9-3124-71B7-B925-FBE53C45B8D7}"/>
              </a:ext>
            </a:extLst>
          </p:cNvPr>
          <p:cNvSpPr/>
          <p:nvPr/>
        </p:nvSpPr>
        <p:spPr>
          <a:xfrm>
            <a:off x="228600" y="4251960"/>
            <a:ext cx="8686800" cy="525780"/>
          </a:xfrm>
          <a:prstGeom prst="rect">
            <a:avLst/>
          </a:prstGeom>
          <a:noFill/>
          <a:ln/>
        </p:spPr>
        <p:txBody>
          <a:bodyPr wrap="square" rtlCol="0" anchor="ctr"/>
          <a:lstStyle/>
          <a:p>
            <a:r>
              <a:rPr lang="vi-VN" sz="800" b="1" dirty="0"/>
              <a:t>Zero-order Sugeno FIS là lõi suy luận của hệ thống, chuyển xác suất CNN và dữ liệu môi trường thành chỉ số mức độ bệnh (VSI), đồng thời hỗ trợ truy vết luật và giải thích quyết định.</a:t>
            </a:r>
            <a:endParaRPr lang="en-US" sz="700" b="1" i="1" dirty="0"/>
          </a:p>
        </p:txBody>
      </p:sp>
    </p:spTree>
    <p:extLst>
      <p:ext uri="{BB962C8B-B14F-4D97-AF65-F5344CB8AC3E}">
        <p14:creationId xmlns:p14="http://schemas.microsoft.com/office/powerpoint/2010/main" val="4050107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377A95-AABE-6598-9CD9-F2EE6895248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33688C7-CD62-1E7D-7D5B-88020F2CA241}"/>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422BAF62-B2B3-59D4-FE24-A06D929E3D92}"/>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3968D72B-4E9D-0773-DBA5-29094A4AA369}"/>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EF07A680-6CC7-4889-F407-A45FA93EF68E}"/>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00FF990A-8B72-AF80-267B-78FF98640C3B}"/>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965E44B9-ABEF-66A2-805D-18F31CFDDE61}"/>
              </a:ext>
            </a:extLst>
          </p:cNvPr>
          <p:cNvPicPr>
            <a:picLocks noChangeAspect="1"/>
          </p:cNvPicPr>
          <p:nvPr/>
        </p:nvPicPr>
        <p:blipFill>
          <a:blip r:embed="rId3"/>
          <a:srcRect/>
          <a:stretch/>
        </p:blipFill>
        <p:spPr>
          <a:xfrm>
            <a:off x="381949" y="848002"/>
            <a:ext cx="5953812" cy="3969208"/>
          </a:xfrm>
          <a:prstGeom prst="rect">
            <a:avLst/>
          </a:prstGeom>
        </p:spPr>
      </p:pic>
      <p:sp>
        <p:nvSpPr>
          <p:cNvPr id="7" name="TextBox 6">
            <a:extLst>
              <a:ext uri="{FF2B5EF4-FFF2-40B4-BE49-F238E27FC236}">
                <a16:creationId xmlns:a16="http://schemas.microsoft.com/office/drawing/2014/main" id="{184DA0E1-865C-315E-95E9-62B806DE973A}"/>
              </a:ext>
            </a:extLst>
          </p:cNvPr>
          <p:cNvSpPr txBox="1"/>
          <p:nvPr/>
        </p:nvSpPr>
        <p:spPr>
          <a:xfrm>
            <a:off x="6496048" y="886405"/>
            <a:ext cx="1830707" cy="106182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900" b="1" dirty="0"/>
              <a:t>Hệ thống không chỉ dự đoán bệnh mà còn giải thích được quá trình ra quyết định, giúp tăng tính minh bạch, độ tin cậy và khả năng hỗ trợ ra quyết định trong nông nghiệp thông minh.</a:t>
            </a:r>
          </a:p>
        </p:txBody>
      </p:sp>
      <p:pic>
        <p:nvPicPr>
          <p:cNvPr id="9" name="Picture 8">
            <a:extLst>
              <a:ext uri="{FF2B5EF4-FFF2-40B4-BE49-F238E27FC236}">
                <a16:creationId xmlns:a16="http://schemas.microsoft.com/office/drawing/2014/main" id="{27C26CDB-9096-774F-427C-87DF65E08383}"/>
              </a:ext>
            </a:extLst>
          </p:cNvPr>
          <p:cNvPicPr>
            <a:picLocks noChangeAspect="1"/>
          </p:cNvPicPr>
          <p:nvPr/>
        </p:nvPicPr>
        <p:blipFill>
          <a:blip r:embed="rId4"/>
          <a:srcRect/>
          <a:stretch/>
        </p:blipFill>
        <p:spPr>
          <a:xfrm>
            <a:off x="6496049" y="2037715"/>
            <a:ext cx="1830707" cy="1220472"/>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381227C2-FFC4-EBA7-7CA1-DB85F8744777}"/>
              </a:ext>
            </a:extLst>
          </p:cNvPr>
          <p:cNvPicPr>
            <a:picLocks noChangeAspect="1"/>
          </p:cNvPicPr>
          <p:nvPr/>
        </p:nvPicPr>
        <p:blipFill>
          <a:blip r:embed="rId5"/>
          <a:srcRect/>
          <a:stretch/>
        </p:blipFill>
        <p:spPr>
          <a:xfrm>
            <a:off x="6496049" y="3389630"/>
            <a:ext cx="1830708" cy="12204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0304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2C60E31-5EED-D12B-D08D-49D65D015F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6D269E7-4433-8A1E-96B7-66EAD4A2BD55}"/>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FB75C856-547A-616D-2BA8-6FDAF6A0D107}"/>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FA1DB68C-4E28-2A53-BBF4-3306DDF972A2}"/>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1C1C4B34-6FFD-35F6-902B-FCE432B4E8C3}"/>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935E9601-AAC6-1174-11E3-444C7DD82D3C}"/>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69C005DC-6814-C72B-B464-E17EC9155A20}"/>
              </a:ext>
            </a:extLst>
          </p:cNvPr>
          <p:cNvPicPr>
            <a:picLocks noChangeAspect="1"/>
          </p:cNvPicPr>
          <p:nvPr/>
        </p:nvPicPr>
        <p:blipFill>
          <a:blip r:embed="rId3"/>
          <a:srcRect/>
          <a:stretch/>
        </p:blipFill>
        <p:spPr>
          <a:xfrm>
            <a:off x="140649" y="790852"/>
            <a:ext cx="5953812" cy="3969208"/>
          </a:xfrm>
          <a:prstGeom prst="rect">
            <a:avLst/>
          </a:prstGeom>
        </p:spPr>
      </p:pic>
      <p:pic>
        <p:nvPicPr>
          <p:cNvPr id="8" name="Picture 7">
            <a:extLst>
              <a:ext uri="{FF2B5EF4-FFF2-40B4-BE49-F238E27FC236}">
                <a16:creationId xmlns:a16="http://schemas.microsoft.com/office/drawing/2014/main" id="{A2A7DADE-F90F-6D0A-8AE4-B22E685181D8}"/>
              </a:ext>
            </a:extLst>
          </p:cNvPr>
          <p:cNvPicPr>
            <a:picLocks noChangeAspect="1"/>
          </p:cNvPicPr>
          <p:nvPr/>
        </p:nvPicPr>
        <p:blipFill>
          <a:blip r:embed="rId4"/>
          <a:stretch>
            <a:fillRect/>
          </a:stretch>
        </p:blipFill>
        <p:spPr>
          <a:xfrm>
            <a:off x="6191134" y="1080770"/>
            <a:ext cx="1853046" cy="3576190"/>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5E644E08-E7E3-98FE-2A3C-ACC484DF8522}"/>
              </a:ext>
            </a:extLst>
          </p:cNvPr>
          <p:cNvSpPr txBox="1"/>
          <p:nvPr/>
        </p:nvSpPr>
        <p:spPr>
          <a:xfrm>
            <a:off x="8140853" y="1087785"/>
            <a:ext cx="865987" cy="3046988"/>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800" b="1" dirty="0"/>
              <a:t>Perception Layer:</a:t>
            </a:r>
            <a:r>
              <a:rPr lang="vi-VN" sz="800" dirty="0"/>
              <a:t> CNN (EfficientNet-B0) nhận dạng bệnh.</a:t>
            </a:r>
            <a:endParaRPr lang="en-US" sz="800" dirty="0"/>
          </a:p>
          <a:p>
            <a:endParaRPr lang="vi-VN" sz="800" dirty="0"/>
          </a:p>
          <a:p>
            <a:r>
              <a:rPr lang="vi-VN" sz="800" b="1" dirty="0"/>
              <a:t>Reasoning Layer:</a:t>
            </a:r>
            <a:r>
              <a:rPr lang="vi-VN" sz="800" dirty="0"/>
              <a:t> Fuzzy Inference đánh giá mức độ nghiêm trọng.</a:t>
            </a:r>
          </a:p>
          <a:p>
            <a:endParaRPr lang="en-US" sz="800" dirty="0"/>
          </a:p>
          <a:p>
            <a:r>
              <a:rPr lang="vi-VN" sz="800" b="1" dirty="0"/>
              <a:t>Uncertainty Handling:</a:t>
            </a:r>
            <a:r>
              <a:rPr lang="vi-VN" sz="800" dirty="0"/>
              <a:t> Entropy/Margin + Expert-Guided Mode.</a:t>
            </a:r>
          </a:p>
          <a:p>
            <a:endParaRPr lang="en-US" sz="800" dirty="0"/>
          </a:p>
          <a:p>
            <a:r>
              <a:rPr lang="vi-VN" sz="800" b="1" dirty="0"/>
              <a:t>Explainability Layer:</a:t>
            </a:r>
            <a:r>
              <a:rPr lang="vi-VN" sz="800" dirty="0"/>
              <a:t> Truy xuất luật mờ và sinh báo cáo XAI.</a:t>
            </a:r>
          </a:p>
        </p:txBody>
      </p:sp>
    </p:spTree>
    <p:extLst>
      <p:ext uri="{BB962C8B-B14F-4D97-AF65-F5344CB8AC3E}">
        <p14:creationId xmlns:p14="http://schemas.microsoft.com/office/powerpoint/2010/main" val="1175323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1E101E-B868-8431-8A3A-95CE213C57C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D0375CE-0F64-994D-D71C-0CF425F517A3}"/>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9067BEB-55E2-7195-4EFD-1EBC8B10385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15358E1-A2AE-9810-6F43-F001026ABD8F}"/>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A6E29A89-DCEB-0D3A-9BCB-790A379C9335}"/>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429486FE-48F6-72C2-A56B-F3FC9488F8E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D3B553A2-DBAE-AE80-E2F3-8C4859FDC986}"/>
              </a:ext>
            </a:extLst>
          </p:cNvPr>
          <p:cNvPicPr>
            <a:picLocks noChangeAspect="1"/>
          </p:cNvPicPr>
          <p:nvPr/>
        </p:nvPicPr>
        <p:blipFill>
          <a:blip r:embed="rId3"/>
          <a:srcRect/>
          <a:stretch/>
        </p:blipFill>
        <p:spPr>
          <a:xfrm>
            <a:off x="375599" y="790852"/>
            <a:ext cx="5953812" cy="3969208"/>
          </a:xfrm>
          <a:prstGeom prst="rect">
            <a:avLst/>
          </a:prstGeom>
        </p:spPr>
      </p:pic>
      <p:pic>
        <p:nvPicPr>
          <p:cNvPr id="8" name="Picture 7">
            <a:extLst>
              <a:ext uri="{FF2B5EF4-FFF2-40B4-BE49-F238E27FC236}">
                <a16:creationId xmlns:a16="http://schemas.microsoft.com/office/drawing/2014/main" id="{49EFF2E7-C391-C0BC-CC7D-6CC9169E513C}"/>
              </a:ext>
            </a:extLst>
          </p:cNvPr>
          <p:cNvPicPr>
            <a:picLocks noChangeAspect="1"/>
          </p:cNvPicPr>
          <p:nvPr/>
        </p:nvPicPr>
        <p:blipFill>
          <a:blip r:embed="rId4"/>
          <a:stretch>
            <a:fillRect/>
          </a:stretch>
        </p:blipFill>
        <p:spPr>
          <a:xfrm>
            <a:off x="6459053" y="1226820"/>
            <a:ext cx="2410627" cy="1421130"/>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F66FE141-BECB-31CA-183F-54F9FED9EA5C}"/>
              </a:ext>
            </a:extLst>
          </p:cNvPr>
          <p:cNvSpPr txBox="1"/>
          <p:nvPr/>
        </p:nvSpPr>
        <p:spPr>
          <a:xfrm>
            <a:off x="6459053" y="2973735"/>
            <a:ext cx="2240601" cy="156966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1200" dirty="0"/>
              <a:t>Hệ thống cung cấp khả năng giải thích ở ba mức: minh bạch hóa suy luận (Reasoning Transparency), truy vết luật mờ (Rule Traceability) và giải thích bằng ngôn ngữ tự nhiên (Natural Language Explanation)</a:t>
            </a:r>
          </a:p>
        </p:txBody>
      </p:sp>
    </p:spTree>
    <p:extLst>
      <p:ext uri="{BB962C8B-B14F-4D97-AF65-F5344CB8AC3E}">
        <p14:creationId xmlns:p14="http://schemas.microsoft.com/office/powerpoint/2010/main" val="698016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3F9540-8DB9-4C71-D61D-36C850C378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861C74-D544-007C-1A60-55C69333CA34}"/>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0AD80817-F95F-F5A2-EFDD-75EC738D74B3}"/>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751E7A65-5FF8-CB0F-8D92-0637AFEA7DFC}"/>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err="1">
                <a:solidFill>
                  <a:srgbClr val="FFFFFF"/>
                </a:solidFill>
                <a:latin typeface="Calibri" pitchFamily="34" charset="0"/>
                <a:ea typeface="Calibri" pitchFamily="34" charset="-122"/>
                <a:cs typeface="Calibri" pitchFamily="34" charset="-120"/>
              </a:rPr>
              <a:t>Kiến</a:t>
            </a:r>
            <a:r>
              <a:rPr lang="en-US" sz="2000" b="1" dirty="0">
                <a:solidFill>
                  <a:srgbClr val="FFFFFF"/>
                </a:solidFill>
                <a:latin typeface="Calibri" pitchFamily="34" charset="0"/>
                <a:ea typeface="Calibri" pitchFamily="34" charset="-122"/>
                <a:cs typeface="Calibri" pitchFamily="34" charset="-120"/>
              </a:rPr>
              <a:t> Trúc </a:t>
            </a:r>
            <a:r>
              <a:rPr lang="en-US" sz="2000" b="1" dirty="0" err="1">
                <a:solidFill>
                  <a:srgbClr val="FFFFFF"/>
                </a:solidFill>
                <a:latin typeface="Calibri" pitchFamily="34" charset="0"/>
                <a:ea typeface="Calibri" pitchFamily="34" charset="-122"/>
                <a:cs typeface="Calibri" pitchFamily="34" charset="-120"/>
              </a:rPr>
              <a:t>Tổng</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Thể</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Bài</a:t>
            </a:r>
            <a:r>
              <a:rPr lang="en-US" sz="2000" b="1" dirty="0">
                <a:solidFill>
                  <a:srgbClr val="FFFFFF"/>
                </a:solidFill>
                <a:latin typeface="Calibri" pitchFamily="34" charset="0"/>
                <a:ea typeface="Calibri" pitchFamily="34" charset="-122"/>
                <a:cs typeface="Calibri" pitchFamily="34" charset="-120"/>
              </a:rPr>
              <a:t> </a:t>
            </a:r>
            <a:r>
              <a:rPr lang="en-US" sz="2000" b="1" dirty="0" err="1">
                <a:solidFill>
                  <a:srgbClr val="FFFFFF"/>
                </a:solidFill>
                <a:latin typeface="Calibri" pitchFamily="34" charset="0"/>
                <a:ea typeface="Calibri" pitchFamily="34" charset="-122"/>
                <a:cs typeface="Calibri" pitchFamily="34" charset="-120"/>
              </a:rPr>
              <a:t>Toán</a:t>
            </a:r>
            <a:endParaRPr lang="en-US" sz="2000" dirty="0"/>
          </a:p>
        </p:txBody>
      </p:sp>
      <p:sp>
        <p:nvSpPr>
          <p:cNvPr id="5" name="Shape 3">
            <a:extLst>
              <a:ext uri="{FF2B5EF4-FFF2-40B4-BE49-F238E27FC236}">
                <a16:creationId xmlns:a16="http://schemas.microsoft.com/office/drawing/2014/main" id="{E26313C2-8A14-3C7A-B284-E8BCBD4DDD3B}"/>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8085CE0C-2C36-1005-B165-06448EE41177}"/>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8F34030E-BAB4-D72C-DED9-2A732DD147DB}"/>
              </a:ext>
            </a:extLst>
          </p:cNvPr>
          <p:cNvPicPr>
            <a:picLocks noChangeAspect="1"/>
          </p:cNvPicPr>
          <p:nvPr/>
        </p:nvPicPr>
        <p:blipFill>
          <a:blip r:embed="rId3"/>
          <a:srcRect/>
          <a:stretch/>
        </p:blipFill>
        <p:spPr>
          <a:xfrm>
            <a:off x="6459468" y="851535"/>
            <a:ext cx="2410212" cy="1606808"/>
          </a:xfrm>
          <a:prstGeom prst="rect">
            <a:avLst/>
          </a:prstGeom>
          <a:ln>
            <a:noFill/>
          </a:ln>
          <a:effectLst>
            <a:outerShdw blurRad="292100" dist="139700" dir="2700000" algn="tl" rotWithShape="0">
              <a:srgbClr val="333333">
                <a:alpha val="65000"/>
              </a:srgbClr>
            </a:outerShdw>
          </a:effectLst>
        </p:spPr>
      </p:pic>
      <p:sp>
        <p:nvSpPr>
          <p:cNvPr id="42" name="TextBox 41">
            <a:extLst>
              <a:ext uri="{FF2B5EF4-FFF2-40B4-BE49-F238E27FC236}">
                <a16:creationId xmlns:a16="http://schemas.microsoft.com/office/drawing/2014/main" id="{01B52954-39A9-A698-D54D-DAAD1710F1B3}"/>
              </a:ext>
            </a:extLst>
          </p:cNvPr>
          <p:cNvSpPr txBox="1"/>
          <p:nvPr/>
        </p:nvSpPr>
        <p:spPr>
          <a:xfrm>
            <a:off x="70340" y="768448"/>
            <a:ext cx="6112184" cy="3567387"/>
          </a:xfrm>
          <a:prstGeom prst="rect">
            <a:avLst/>
          </a:prstGeom>
          <a:noFill/>
        </p:spPr>
        <p:txBody>
          <a:bodyPr wrap="square">
            <a:spAutoFit/>
          </a:bodyPr>
          <a:lstStyle/>
          <a:p>
            <a:pPr marL="0" marR="0">
              <a:lnSpc>
                <a:spcPct val="107000"/>
              </a:lnSpc>
              <a:spcAft>
                <a:spcPts val="800"/>
              </a:spcAft>
              <a:buNone/>
            </a:pPr>
            <a:r>
              <a:rPr lang="en-US" sz="1000" b="1" dirty="0">
                <a:effectLst/>
                <a:latin typeface="+mj-lt"/>
                <a:ea typeface="Calibri" panose="020F0502020204030204" pitchFamily="34" charset="0"/>
                <a:cs typeface="Times New Roman" panose="02020603050405020304" pitchFamily="18" charset="0"/>
              </a:rPr>
              <a:t>Quy </a:t>
            </a:r>
            <a:r>
              <a:rPr lang="en-US" sz="1000" b="1" dirty="0" err="1">
                <a:effectLst/>
                <a:latin typeface="+mj-lt"/>
                <a:ea typeface="Calibri" panose="020F0502020204030204" pitchFamily="34" charset="0"/>
                <a:cs typeface="Times New Roman" panose="02020603050405020304" pitchFamily="18" charset="0"/>
              </a:rPr>
              <a:t>trình</a:t>
            </a:r>
            <a:r>
              <a:rPr lang="en-US" sz="1000" b="1" dirty="0">
                <a:effectLst/>
                <a:latin typeface="+mj-lt"/>
                <a:ea typeface="Calibri" panose="020F0502020204030204" pitchFamily="34" charset="0"/>
                <a:cs typeface="Times New Roman" panose="02020603050405020304" pitchFamily="18" charset="0"/>
              </a:rPr>
              <a:t> </a:t>
            </a:r>
            <a:r>
              <a:rPr lang="en-US" sz="1000" b="1" dirty="0" err="1">
                <a:effectLst/>
                <a:latin typeface="+mj-lt"/>
                <a:ea typeface="Calibri" panose="020F0502020204030204" pitchFamily="34" charset="0"/>
                <a:cs typeface="Times New Roman" panose="02020603050405020304" pitchFamily="18" charset="0"/>
              </a:rPr>
              <a:t>luồng</a:t>
            </a:r>
            <a:r>
              <a:rPr lang="en-US" sz="1000" b="1" dirty="0">
                <a:effectLst/>
                <a:latin typeface="+mj-lt"/>
                <a:ea typeface="Calibri" panose="020F0502020204030204" pitchFamily="34" charset="0"/>
                <a:cs typeface="Times New Roman" panose="02020603050405020304" pitchFamily="18" charset="0"/>
              </a:rPr>
              <a:t> 5 </a:t>
            </a:r>
            <a:r>
              <a:rPr lang="en-US" sz="1000" b="1" dirty="0" err="1">
                <a:effectLst/>
                <a:latin typeface="+mj-lt"/>
                <a:ea typeface="Calibri" panose="020F0502020204030204" pitchFamily="34" charset="0"/>
                <a:cs typeface="Times New Roman" panose="02020603050405020304" pitchFamily="18" charset="0"/>
              </a:rPr>
              <a:t>bước</a:t>
            </a:r>
            <a:r>
              <a:rPr lang="en-US" sz="1000" b="1" dirty="0">
                <a:effectLst/>
                <a:latin typeface="+mj-lt"/>
                <a:ea typeface="Calibri" panose="020F0502020204030204" pitchFamily="34" charset="0"/>
                <a:cs typeface="Times New Roman" panose="02020603050405020304" pitchFamily="18" charset="0"/>
              </a:rPr>
              <a:t> :</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1: </a:t>
            </a:r>
            <a:r>
              <a:rPr lang="en-US" sz="1000" b="1" dirty="0" err="1">
                <a:effectLst/>
                <a:latin typeface="+mj-lt"/>
                <a:ea typeface="Times New Roman" panose="02020603050405020304" pitchFamily="18" charset="0"/>
              </a:rPr>
              <a:t>Tiếp</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nhận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dữ</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liệu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đầu</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vào</a:t>
            </a:r>
            <a:r>
              <a:rPr lang="en-US" sz="1000" b="1" dirty="0">
                <a:effectLst/>
                <a:latin typeface="+mj-lt"/>
                <a:ea typeface="Times New Roman" panose="02020603050405020304" pitchFamily="18" charset="0"/>
              </a:rPr>
              <a:t> (Input):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1 ca </a:t>
            </a:r>
            <a:r>
              <a:rPr lang="en-US" sz="1000" dirty="0" err="1">
                <a:effectLst/>
                <a:latin typeface="+mj-lt"/>
                <a:ea typeface="Times New Roman" panose="02020603050405020304" pitchFamily="18" charset="0"/>
              </a:rPr>
              <a:t>kiểm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nghiệm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nguồn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lập</a:t>
            </a:r>
            <a:r>
              <a:rPr lang="en-US" sz="1000" dirty="0">
                <a:effectLst/>
                <a:latin typeface="+mj-lt"/>
                <a:ea typeface="Times New Roman" panose="02020603050405020304" pitchFamily="18" charset="0"/>
              </a:rPr>
              <a:t>:</a:t>
            </a:r>
          </a:p>
          <a:p>
            <a:pPr marL="742950" marR="0" lvl="1" indent="-285750">
              <a:lnSpc>
                <a:spcPct val="150000"/>
              </a:lnSpc>
              <a:buSzPts val="1000"/>
              <a:buFont typeface="Courier New" panose="02070309020205020404" pitchFamily="49" charset="0"/>
              <a:buChar char="o"/>
              <a:tabLst>
                <a:tab pos="914400" algn="l"/>
              </a:tabLst>
            </a:pPr>
            <a:r>
              <a:rPr lang="en-US" sz="1000" i="1" dirty="0" err="1">
                <a:effectLst/>
                <a:latin typeface="+mj-lt"/>
                <a:ea typeface="Times New Roman" panose="02020603050405020304" pitchFamily="18" charset="0"/>
                <a:cs typeface="Times New Roman" panose="02020603050405020304" pitchFamily="18" charset="0"/>
              </a:rPr>
              <a:t>Dữ</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liệu</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hình</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ảnh</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Ảnh</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chụp</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bề</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mặt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lá</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cây</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bệnh</a:t>
            </a:r>
            <a:r>
              <a:rPr lang="en-US" sz="1000" dirty="0">
                <a:effectLst/>
                <a:latin typeface="+mj-lt"/>
                <a:ea typeface="Times New Roman" panose="02020603050405020304" pitchFamily="18" charset="0"/>
                <a:cs typeface="Times New Roman" panose="02020603050405020304" pitchFamily="18" charset="0"/>
              </a:rPr>
              <a:t> </a:t>
            </a:r>
          </a:p>
          <a:p>
            <a:pPr marL="742950" marR="0" lvl="1" indent="-285750">
              <a:lnSpc>
                <a:spcPct val="150000"/>
              </a:lnSpc>
              <a:buSzPts val="1000"/>
              <a:buFont typeface="Courier New" panose="02070309020205020404" pitchFamily="49" charset="0"/>
              <a:buChar char="o"/>
              <a:tabLst>
                <a:tab pos="914400" algn="l"/>
              </a:tabLst>
            </a:pPr>
            <a:r>
              <a:rPr lang="en-US" sz="1000" i="1" dirty="0">
                <a:effectLst/>
                <a:latin typeface="+mj-lt"/>
                <a:ea typeface="Times New Roman" panose="02020603050405020304" pitchFamily="18" charset="0"/>
                <a:cs typeface="Times New Roman" panose="02020603050405020304" pitchFamily="18" charset="0"/>
              </a:rPr>
              <a:t>Thông tin </a:t>
            </a:r>
            <a:r>
              <a:rPr lang="en-US" sz="1000" i="1" dirty="0" err="1">
                <a:effectLst/>
                <a:latin typeface="+mj-lt"/>
                <a:ea typeface="Times New Roman" panose="02020603050405020304" pitchFamily="18" charset="0"/>
                <a:cs typeface="Times New Roman" panose="02020603050405020304" pitchFamily="18" charset="0"/>
              </a:rPr>
              <a:t>môi</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trường</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thực</a:t>
            </a:r>
            <a:r>
              <a:rPr lang="en-US" sz="1000" i="1" dirty="0">
                <a:effectLst/>
                <a:latin typeface="+mj-lt"/>
                <a:ea typeface="Times New Roman" panose="02020603050405020304" pitchFamily="18" charset="0"/>
                <a:cs typeface="Times New Roman" panose="02020603050405020304" pitchFamily="18" charset="0"/>
              </a:rPr>
              <a:t> </a:t>
            </a:r>
            <a:r>
              <a:rPr lang="en-US" sz="1000" i="1" dirty="0" err="1">
                <a:effectLst/>
                <a:latin typeface="+mj-lt"/>
                <a:ea typeface="Times New Roman" panose="02020603050405020304" pitchFamily="18" charset="0"/>
                <a:cs typeface="Times New Roman" panose="02020603050405020304" pitchFamily="18" charset="0"/>
              </a:rPr>
              <a:t>địa</a:t>
            </a:r>
            <a:r>
              <a:rPr lang="en-US" sz="1000" i="1" dirty="0">
                <a:effectLst/>
                <a:latin typeface="+mj-lt"/>
                <a:ea typeface="Times New Roman" panose="02020603050405020304" pitchFamily="18" charset="0"/>
                <a:cs typeface="Times New Roman" panose="02020603050405020304" pitchFamily="18" charset="0"/>
              </a:rPr>
              <a: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ẩm</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Nhiệt</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độ</a:t>
            </a:r>
            <a:r>
              <a:rPr lang="en-US" sz="1000" dirty="0">
                <a:effectLst/>
                <a:latin typeface="+mj-lt"/>
                <a:ea typeface="Times New Roman" panose="02020603050405020304" pitchFamily="18" charset="0"/>
                <a:cs typeface="Times New Roman" panose="02020603050405020304" pitchFamily="18" charset="0"/>
              </a:rPr>
              <a:t> , </a:t>
            </a:r>
            <a:r>
              <a:rPr lang="en-US" sz="1000" dirty="0" err="1">
                <a:effectLst/>
                <a:latin typeface="+mj-lt"/>
                <a:ea typeface="Times New Roman" panose="02020603050405020304" pitchFamily="18" charset="0"/>
                <a:cs typeface="Times New Roman" panose="02020603050405020304" pitchFamily="18" charset="0"/>
              </a:rPr>
              <a:t>Lượng</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mưa</a:t>
            </a:r>
            <a:r>
              <a:rPr lang="en-US" sz="1000" dirty="0">
                <a:effectLst/>
                <a:latin typeface="+mj-lt"/>
                <a:ea typeface="Times New Roman" panose="02020603050405020304" pitchFamily="18" charset="0"/>
                <a:cs typeface="Times New Roman" panose="02020603050405020304" pitchFamily="18" charset="0"/>
              </a:rPr>
              <a:t> 24h, </a:t>
            </a:r>
            <a:r>
              <a:rPr lang="en-US" sz="1000" dirty="0" err="1">
                <a:effectLst/>
                <a:latin typeface="+mj-lt"/>
                <a:ea typeface="Times New Roman" panose="02020603050405020304" pitchFamily="18" charset="0"/>
                <a:cs typeface="Times New Roman" panose="02020603050405020304" pitchFamily="18" charset="0"/>
              </a:rPr>
              <a:t>Mùa</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vụ</a:t>
            </a:r>
            <a:r>
              <a:rPr lang="en-US" sz="1000" dirty="0">
                <a:effectLst/>
                <a:latin typeface="+mj-lt"/>
                <a:ea typeface="Times New Roman" panose="02020603050405020304" pitchFamily="18" charset="0"/>
                <a:cs typeface="Times New Roman" panose="02020603050405020304" pitchFamily="18" charset="0"/>
              </a:rPr>
              <a:t> , </a:t>
            </a:r>
            <a:r>
              <a:rPr lang="en-US" sz="1000" dirty="0" err="1">
                <a:effectLst/>
                <a:latin typeface="+mj-lt"/>
                <a:ea typeface="Times New Roman" panose="02020603050405020304" pitchFamily="18" charset="0"/>
                <a:cs typeface="Times New Roman" panose="02020603050405020304" pitchFamily="18" charset="0"/>
              </a:rPr>
              <a:t>Vị</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trí</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và</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Thời</a:t>
            </a:r>
            <a:r>
              <a:rPr lang="en-US" sz="1000" dirty="0">
                <a:effectLst/>
                <a:latin typeface="+mj-lt"/>
                <a:ea typeface="Times New Roman" panose="02020603050405020304" pitchFamily="18" charset="0"/>
                <a:cs typeface="Times New Roman" panose="02020603050405020304" pitchFamily="18" charset="0"/>
              </a:rPr>
              <a:t> </a:t>
            </a:r>
            <a:r>
              <a:rPr lang="en-US" sz="1000" dirty="0" err="1">
                <a:effectLst/>
                <a:latin typeface="+mj-lt"/>
                <a:ea typeface="Times New Roman" panose="02020603050405020304" pitchFamily="18" charset="0"/>
                <a:cs typeface="Times New Roman" panose="02020603050405020304" pitchFamily="18" charset="0"/>
              </a:rPr>
              <a:t>gian</a:t>
            </a:r>
            <a:r>
              <a:rPr lang="en-US" sz="1000" dirty="0">
                <a:effectLst/>
                <a:latin typeface="+mj-lt"/>
                <a:ea typeface="Times New Roman" panose="02020603050405020304" pitchFamily="18" charset="0"/>
                <a:cs typeface="Times New Roman" panose="02020603050405020304" pitchFamily="18" charset="0"/>
              </a:rPr>
              <a:t>…</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2: </a:t>
            </a:r>
            <a:r>
              <a:rPr lang="en-US" sz="1000" b="1" dirty="0" err="1">
                <a:effectLst/>
                <a:latin typeface="+mj-lt"/>
                <a:ea typeface="Times New Roman" panose="02020603050405020304" pitchFamily="18" charset="0"/>
              </a:rPr>
              <a:t>Dự</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đoán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từ</a:t>
            </a:r>
            <a:r>
              <a:rPr lang="en-US" sz="1000" b="1" dirty="0">
                <a:effectLst/>
                <a:latin typeface="+mj-lt"/>
                <a:ea typeface="Times New Roman" panose="02020603050405020304" pitchFamily="18" charset="0"/>
              </a:rPr>
              <a:t> CNN (CNN Inference):</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ảnh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qua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Mô</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xuất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xác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suất</a:t>
            </a:r>
            <a:r>
              <a:rPr lang="en-US" sz="1000" dirty="0">
                <a:effectLst/>
                <a:latin typeface="+mj-lt"/>
                <a:ea typeface="Times New Roman" panose="02020603050405020304" pitchFamily="18" charset="0"/>
              </a:rPr>
              <a:t> (Output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loại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hoặc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r>
              <a:rPr lang="en-US" sz="1000" dirty="0">
                <a:effectLst/>
                <a:latin typeface="+mj-lt"/>
                <a:ea typeface="Times New Roman" panose="02020603050405020304" pitchFamily="18" charset="0"/>
              </a:rPr>
              <a:t>.</a:t>
            </a:r>
            <a:endParaRPr lang="en-US" sz="1000" dirty="0">
              <a:latin typeface="+mj-lt"/>
              <a:ea typeface="Times New Roman" panose="02020603050405020304" pitchFamily="18" charset="0"/>
            </a:endParaRP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3: </a:t>
            </a:r>
            <a:r>
              <a:rPr lang="en-US" sz="1000" b="1" dirty="0" err="1">
                <a:effectLst/>
                <a:latin typeface="+mj-lt"/>
                <a:ea typeface="Times New Roman" panose="02020603050405020304" pitchFamily="18" charset="0"/>
              </a:rPr>
              <a:t>Tầng</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suy</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diễn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mờ</a:t>
            </a:r>
            <a:r>
              <a:rPr lang="en-US" sz="1000" b="1" dirty="0">
                <a:effectLst/>
                <a:latin typeface="+mj-lt"/>
                <a:ea typeface="Times New Roman" panose="02020603050405020304" pitchFamily="18" charset="0"/>
              </a:rPr>
              <a:t> (Fuzzy Reasoning Layer):</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Đây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lõi</a:t>
            </a:r>
            <a:r>
              <a:rPr lang="en-US" sz="1000" dirty="0">
                <a:effectLst/>
                <a:latin typeface="+mj-lt"/>
                <a:ea typeface="Times New Roman" panose="02020603050405020304" pitchFamily="18" charset="0"/>
              </a:rPr>
              <a:t> tri </a:t>
            </a:r>
            <a:r>
              <a:rPr lang="en-US" sz="1000" dirty="0" err="1">
                <a:effectLst/>
                <a:latin typeface="+mj-lt"/>
                <a:ea typeface="Times New Roman" panose="02020603050405020304" pitchFamily="18" charset="0"/>
              </a:rPr>
              <a:t>thức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chuyên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Tầng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này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tiếp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triệu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chứng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môi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trường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vào</a:t>
            </a:r>
            <a:r>
              <a:rPr lang="en-US" sz="1000"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Nền</a:t>
            </a:r>
            <a:r>
              <a:rPr lang="en-US" sz="1000" b="1" dirty="0">
                <a:effectLst/>
                <a:latin typeface="+mj-lt"/>
                <a:ea typeface="Times New Roman" panose="02020603050405020304" pitchFamily="18" charset="0"/>
              </a:rPr>
              <a:t> tri </a:t>
            </a:r>
            <a:r>
              <a:rPr lang="en-US" sz="1000" b="1" dirty="0" err="1">
                <a:effectLst/>
                <a:latin typeface="+mj-lt"/>
                <a:ea typeface="Times New Roman" panose="02020603050405020304" pitchFamily="18" charset="0"/>
              </a:rPr>
              <a:t>thức</a:t>
            </a:r>
            <a:r>
              <a:rPr lang="en-US" sz="1000" b="1" dirty="0">
                <a:effectLst/>
                <a:latin typeface="+mj-lt"/>
                <a:ea typeface="Times New Roman" panose="02020603050405020304" pitchFamily="18" charset="0"/>
              </a:rPr>
              <a:t> (Fuzzy Knowledge Base)</a:t>
            </a:r>
            <a:r>
              <a:rPr lang="en-US" sz="1000" dirty="0">
                <a:effectLst/>
                <a:latin typeface="+mj-lt"/>
                <a:ea typeface="Times New Roman" panose="02020603050405020304" pitchFamily="18" charset="0"/>
              </a:rPr>
              <a:t> bao </a:t>
            </a:r>
            <a:r>
              <a:rPr lang="en-US" sz="1000" dirty="0" err="1">
                <a:effectLst/>
                <a:latin typeface="+mj-lt"/>
                <a:ea typeface="Times New Roman" panose="02020603050405020304" pitchFamily="18" charset="0"/>
              </a:rPr>
              <a:t>gồm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biến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hàm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thuộc</a:t>
            </a:r>
            <a:r>
              <a:rPr lang="en-US" sz="1000" dirty="0">
                <a:effectLst/>
                <a:latin typeface="+mj-lt"/>
                <a:ea typeface="Times New Roman" panose="02020603050405020304" pitchFamily="18" charset="0"/>
              </a:rPr>
              <a:t> (Membership Functions)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tập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a:effectLst/>
                <a:latin typeface="+mj-lt"/>
                <a:ea typeface="Times New Roman" panose="02020603050405020304" pitchFamily="18" charset="0"/>
                <a:cs typeface="Courier New" panose="02070309020205020404" pitchFamily="49" charset="0"/>
              </a:rPr>
              <a:t>IF - THEN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Quá</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trình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a:latin typeface="+mj-lt"/>
                <a:ea typeface="Times New Roman" panose="02020603050405020304" pitchFamily="18" charset="0"/>
              </a:rPr>
              <a:t>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(Defuzzification).</a:t>
            </a: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4: Ra </a:t>
            </a:r>
            <a:r>
              <a:rPr lang="en-US" sz="1000" b="1" dirty="0" err="1">
                <a:effectLst/>
                <a:latin typeface="+mj-lt"/>
                <a:ea typeface="Times New Roman" panose="02020603050405020304" pitchFamily="18" charset="0"/>
              </a:rPr>
              <a:t>quyết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định</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hợp</a:t>
            </a:r>
            <a:r>
              <a:rPr lang="en-US" sz="1000" b="1" dirty="0">
                <a:effectLst/>
                <a:latin typeface="+mj-lt"/>
                <a:ea typeface="Times New Roman" panose="02020603050405020304" pitchFamily="18" charset="0"/>
              </a:rPr>
              <a:t> (Hybrid Decision):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thực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hợp</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trọng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giữa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của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mạng</a:t>
            </a:r>
            <a:r>
              <a:rPr lang="en-US" sz="1000" dirty="0">
                <a:effectLst/>
                <a:latin typeface="+mj-lt"/>
                <a:ea typeface="Times New Roman" panose="02020603050405020304" pitchFamily="18" charset="0"/>
              </a:rPr>
              <a:t> CNN </a:t>
            </a:r>
            <a:r>
              <a:rPr lang="en-US" sz="1000" dirty="0" err="1">
                <a:effectLst/>
                <a:latin typeface="+mj-lt"/>
                <a:ea typeface="Times New Roman" panose="02020603050405020304" pitchFamily="18" charset="0"/>
              </a:rPr>
              <a:t>và</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quả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bộ</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suy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diễn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latin typeface="+mj-lt"/>
                <a:ea typeface="Calibri" panose="020F0502020204030204" pitchFamily="34" charset="0"/>
                <a:cs typeface="Times New Roman" panose="02020603050405020304" pitchFamily="18" charset="0"/>
              </a:rPr>
              <a:t>t</a:t>
            </a:r>
            <a:r>
              <a:rPr lang="en-US" sz="1000" dirty="0" err="1">
                <a:effectLst/>
                <a:latin typeface="+mj-lt"/>
                <a:ea typeface="Times New Roman" panose="02020603050405020304" pitchFamily="18" charset="0"/>
              </a:rPr>
              <a:t>ừ</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đó</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ra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điểm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số</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hiệu</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chỉnh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cuối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cùng</a:t>
            </a:r>
            <a:r>
              <a:rPr lang="en-US" sz="1000" dirty="0">
                <a:latin typeface="+mj-lt"/>
                <a:ea typeface="Times New Roman" panose="02020603050405020304" pitchFamily="18" charset="0"/>
              </a:rPr>
              <a:t>.</a:t>
            </a:r>
            <a:endParaRPr lang="en-US" sz="1000" dirty="0">
              <a:effectLst/>
              <a:latin typeface="+mj-lt"/>
              <a:ea typeface="Times New Roman" panose="02020603050405020304" pitchFamily="18" charset="0"/>
            </a:endParaRPr>
          </a:p>
          <a:p>
            <a:pPr marL="342900" marR="0" lvl="0" indent="-342900">
              <a:lnSpc>
                <a:spcPct val="150000"/>
              </a:lnSpc>
              <a:buNone/>
              <a:tabLst>
                <a:tab pos="457200" algn="l"/>
              </a:tabLst>
            </a:pPr>
            <a:r>
              <a:rPr lang="en-US" sz="1000" b="1" dirty="0" err="1">
                <a:effectLst/>
                <a:latin typeface="+mj-lt"/>
                <a:ea typeface="Times New Roman" panose="02020603050405020304" pitchFamily="18" charset="0"/>
              </a:rPr>
              <a:t>Bước</a:t>
            </a:r>
            <a:r>
              <a:rPr lang="en-US" sz="1000" b="1" dirty="0">
                <a:effectLst/>
                <a:latin typeface="+mj-lt"/>
                <a:ea typeface="Times New Roman" panose="02020603050405020304" pitchFamily="18" charset="0"/>
              </a:rPr>
              <a:t> 5: </a:t>
            </a:r>
            <a:r>
              <a:rPr lang="en-US" sz="1000" b="1" dirty="0" err="1">
                <a:effectLst/>
                <a:latin typeface="+mj-lt"/>
                <a:ea typeface="Times New Roman" panose="02020603050405020304" pitchFamily="18" charset="0"/>
              </a:rPr>
              <a:t>Kết</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luận</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và</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Giải</a:t>
            </a:r>
            <a:r>
              <a:rPr lang="en-US" sz="1000" b="1" dirty="0">
                <a:effectLst/>
                <a:latin typeface="+mj-lt"/>
                <a:ea typeface="Times New Roman" panose="02020603050405020304" pitchFamily="18" charset="0"/>
              </a:rPr>
              <a:t> </a:t>
            </a:r>
            <a:r>
              <a:rPr lang="en-US" sz="1000" b="1" dirty="0" err="1">
                <a:effectLst/>
                <a:latin typeface="+mj-lt"/>
                <a:ea typeface="Times New Roman" panose="02020603050405020304" pitchFamily="18" charset="0"/>
              </a:rPr>
              <a:t>thích</a:t>
            </a:r>
            <a:r>
              <a:rPr lang="en-US" sz="1000" b="1" dirty="0">
                <a:effectLst/>
                <a:latin typeface="+mj-lt"/>
                <a:ea typeface="Times New Roman" panose="02020603050405020304" pitchFamily="18" charset="0"/>
              </a:rPr>
              <a:t> (Output + XAI):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Hệ</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thống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trả</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về</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kết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bệnh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kèm</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độ</a:t>
            </a:r>
            <a:r>
              <a:rPr lang="en-US" sz="1000" dirty="0">
                <a:effectLst/>
                <a:latin typeface="+mj-lt"/>
                <a:ea typeface="Times New Roman" panose="02020603050405020304" pitchFamily="18" charset="0"/>
              </a:rPr>
              <a:t> tin </a:t>
            </a:r>
            <a:r>
              <a:rPr lang="en-US" sz="1000" dirty="0" err="1">
                <a:effectLst/>
                <a:latin typeface="+mj-lt"/>
                <a:ea typeface="Times New Roman" panose="02020603050405020304" pitchFamily="18" charset="0"/>
              </a:rPr>
              <a:t>cậy</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Đồng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thời</a:t>
            </a:r>
            <a:r>
              <a:rPr lang="en-US" sz="1000" dirty="0">
                <a:effectLst/>
                <a:latin typeface="+mj-lt"/>
                <a:ea typeface="Times New Roman" panose="02020603050405020304" pitchFamily="18" charset="0"/>
              </a:rPr>
              <a:t>, module XAI </a:t>
            </a:r>
            <a:r>
              <a:rPr lang="en-US" sz="1000" dirty="0" err="1">
                <a:effectLst/>
                <a:latin typeface="+mj-lt"/>
                <a:ea typeface="Times New Roman" panose="02020603050405020304" pitchFamily="18" charset="0"/>
              </a:rPr>
              <a:t>hiển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thị</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cáo</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giải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thích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bằng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ngôn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ngữ</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tự</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nhiên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dựa</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trên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các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luật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mờ</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được</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kích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hoạt</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mạnh</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để</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người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nông</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dân</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đối</a:t>
            </a:r>
            <a:r>
              <a:rPr lang="en-US" sz="1000" dirty="0">
                <a:effectLst/>
                <a:latin typeface="+mj-lt"/>
                <a:ea typeface="Times New Roman" panose="02020603050405020304" pitchFamily="18" charset="0"/>
              </a:rPr>
              <a:t> </a:t>
            </a:r>
            <a:r>
              <a:rPr lang="en-US" sz="1000" dirty="0" err="1">
                <a:effectLst/>
                <a:latin typeface="+mj-lt"/>
                <a:ea typeface="Times New Roman" panose="02020603050405020304" pitchFamily="18" charset="0"/>
              </a:rPr>
              <a:t>chiếu</a:t>
            </a:r>
            <a:r>
              <a:rPr lang="en-US" sz="1000" dirty="0">
                <a:effectLst/>
                <a:latin typeface="+mj-lt"/>
                <a:ea typeface="Times New Roman" panose="02020603050405020304" pitchFamily="18" charset="0"/>
              </a:rPr>
              <a:t>.</a:t>
            </a:r>
          </a:p>
        </p:txBody>
      </p:sp>
      <p:pic>
        <p:nvPicPr>
          <p:cNvPr id="7" name="Picture 6">
            <a:extLst>
              <a:ext uri="{FF2B5EF4-FFF2-40B4-BE49-F238E27FC236}">
                <a16:creationId xmlns:a16="http://schemas.microsoft.com/office/drawing/2014/main" id="{C1175B46-5181-97B4-C025-EAA12B7789AC}"/>
              </a:ext>
            </a:extLst>
          </p:cNvPr>
          <p:cNvPicPr>
            <a:picLocks noChangeAspect="1"/>
          </p:cNvPicPr>
          <p:nvPr/>
        </p:nvPicPr>
        <p:blipFill>
          <a:blip r:embed="rId4"/>
          <a:srcRect/>
          <a:stretch/>
        </p:blipFill>
        <p:spPr>
          <a:xfrm>
            <a:off x="6459468" y="2739739"/>
            <a:ext cx="2410212" cy="16068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5324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r>
              <a:rPr lang="en-US" sz="2000" b="1" dirty="0">
                <a:solidFill>
                  <a:srgbClr val="FFFFFF"/>
                </a:solidFill>
                <a:latin typeface="Calibri" pitchFamily="34" charset="0"/>
                <a:ea typeface="Calibri" pitchFamily="34" charset="-122"/>
                <a:cs typeface="Calibri" pitchFamily="34" charset="-120"/>
              </a:rPr>
              <a:t>Nguồn </a:t>
            </a:r>
            <a:r>
              <a:rPr lang="en-US" sz="2000" b="1" dirty="0" err="1">
                <a:solidFill>
                  <a:srgbClr val="FFFFFF"/>
                </a:solidFill>
                <a:latin typeface="Calibri" pitchFamily="34" charset="0"/>
                <a:ea typeface="Calibri" pitchFamily="34" charset="-122"/>
                <a:cs typeface="Calibri" pitchFamily="34" charset="-120"/>
              </a:rPr>
              <a:t>Dữ</a:t>
            </a:r>
            <a:r>
              <a:rPr lang="en-US" sz="2000" b="1" dirty="0">
                <a:solidFill>
                  <a:srgbClr val="FFFFFF"/>
                </a:solidFill>
                <a:latin typeface="Calibri" pitchFamily="34" charset="0"/>
                <a:ea typeface="Calibri" pitchFamily="34" charset="-122"/>
                <a:cs typeface="Calibri" pitchFamily="34" charset="-120"/>
              </a:rPr>
              <a:t> Liệu: Kaggle Severity-Based Rice Disease Classification</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68680"/>
            <a:ext cx="4754880" cy="594360"/>
          </a:xfrm>
          <a:prstGeom prst="rect">
            <a:avLst/>
          </a:prstGeom>
          <a:solidFill>
            <a:srgbClr val="D8F3DC"/>
          </a:solidFill>
          <a:ln w="10160">
            <a:solidFill>
              <a:srgbClr val="74C69D"/>
            </a:solidFill>
            <a:prstDash val="solid"/>
          </a:ln>
        </p:spPr>
      </p:sp>
      <p:sp>
        <p:nvSpPr>
          <p:cNvPr id="8" name="Text 6"/>
          <p:cNvSpPr/>
          <p:nvPr/>
        </p:nvSpPr>
        <p:spPr>
          <a:xfrm>
            <a:off x="320040" y="932688"/>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Tên Dataset:</a:t>
            </a:r>
            <a:endParaRPr lang="en-US" sz="1050" dirty="0"/>
          </a:p>
        </p:txBody>
      </p:sp>
      <p:sp>
        <p:nvSpPr>
          <p:cNvPr id="9" name="Text 7"/>
          <p:cNvSpPr/>
          <p:nvPr/>
        </p:nvSpPr>
        <p:spPr>
          <a:xfrm>
            <a:off x="1783080" y="932688"/>
            <a:ext cx="3108960"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Severity-Based Rice Leaf Diseases</a:t>
            </a:r>
            <a:endParaRPr lang="en-US" sz="1050" dirty="0"/>
          </a:p>
        </p:txBody>
      </p:sp>
      <p:sp>
        <p:nvSpPr>
          <p:cNvPr id="10" name="Shape 8"/>
          <p:cNvSpPr/>
          <p:nvPr/>
        </p:nvSpPr>
        <p:spPr>
          <a:xfrm>
            <a:off x="228600" y="1581912"/>
            <a:ext cx="4754880" cy="594360"/>
          </a:xfrm>
          <a:prstGeom prst="rect">
            <a:avLst/>
          </a:prstGeom>
          <a:solidFill>
            <a:srgbClr val="F8F9FA"/>
          </a:solidFill>
          <a:ln w="10160">
            <a:solidFill>
              <a:srgbClr val="74C69D"/>
            </a:solidFill>
            <a:prstDash val="solid"/>
          </a:ln>
        </p:spPr>
      </p:sp>
      <p:sp>
        <p:nvSpPr>
          <p:cNvPr id="11" name="Text 9"/>
          <p:cNvSpPr/>
          <p:nvPr/>
        </p:nvSpPr>
        <p:spPr>
          <a:xfrm>
            <a:off x="320040" y="1645920"/>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Đối tượng:</a:t>
            </a:r>
            <a:endParaRPr lang="en-US" sz="1050" dirty="0"/>
          </a:p>
        </p:txBody>
      </p:sp>
      <p:sp>
        <p:nvSpPr>
          <p:cNvPr id="12" name="Text 10"/>
          <p:cNvSpPr/>
          <p:nvPr/>
        </p:nvSpPr>
        <p:spPr>
          <a:xfrm>
            <a:off x="2188660" y="1645920"/>
            <a:ext cx="2703379"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Lúa (Rice)</a:t>
            </a:r>
            <a:endParaRPr lang="en-US" sz="1050" dirty="0"/>
          </a:p>
        </p:txBody>
      </p:sp>
      <p:sp>
        <p:nvSpPr>
          <p:cNvPr id="13" name="Shape 11"/>
          <p:cNvSpPr/>
          <p:nvPr/>
        </p:nvSpPr>
        <p:spPr>
          <a:xfrm>
            <a:off x="228600" y="2295144"/>
            <a:ext cx="4754880" cy="594360"/>
          </a:xfrm>
          <a:prstGeom prst="rect">
            <a:avLst/>
          </a:prstGeom>
          <a:solidFill>
            <a:srgbClr val="D8F3DC"/>
          </a:solidFill>
          <a:ln w="10160">
            <a:solidFill>
              <a:srgbClr val="74C69D"/>
            </a:solidFill>
            <a:prstDash val="solid"/>
          </a:ln>
        </p:spPr>
      </p:sp>
      <p:sp>
        <p:nvSpPr>
          <p:cNvPr id="14" name="Text 12"/>
          <p:cNvSpPr/>
          <p:nvPr/>
        </p:nvSpPr>
        <p:spPr>
          <a:xfrm>
            <a:off x="320040" y="2359152"/>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Số lượng lớp:</a:t>
            </a:r>
            <a:endParaRPr lang="en-US" sz="1050" dirty="0"/>
          </a:p>
        </p:txBody>
      </p:sp>
      <p:sp>
        <p:nvSpPr>
          <p:cNvPr id="15" name="Text 13"/>
          <p:cNvSpPr/>
          <p:nvPr/>
        </p:nvSpPr>
        <p:spPr>
          <a:xfrm>
            <a:off x="2247654" y="2359152"/>
            <a:ext cx="2644386"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9 </a:t>
            </a:r>
            <a:r>
              <a:rPr lang="en-US" sz="1050" dirty="0" err="1">
                <a:solidFill>
                  <a:srgbClr val="1A1A2E"/>
                </a:solidFill>
                <a:latin typeface="Calibri" pitchFamily="34" charset="0"/>
                <a:ea typeface="Calibri" pitchFamily="34" charset="-122"/>
                <a:cs typeface="Calibri" pitchFamily="34" charset="-120"/>
              </a:rPr>
              <a:t>lớp</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nhãn</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phân</a:t>
            </a:r>
            <a:r>
              <a:rPr lang="en-US" sz="1050" dirty="0">
                <a:solidFill>
                  <a:srgbClr val="1A1A2E"/>
                </a:solidFill>
                <a:latin typeface="Calibri" pitchFamily="34" charset="0"/>
                <a:ea typeface="Calibri" pitchFamily="34" charset="-122"/>
                <a:cs typeface="Calibri" pitchFamily="34" charset="-120"/>
              </a:rPr>
              <a:t> </a:t>
            </a:r>
            <a:r>
              <a:rPr lang="en-US" sz="1050" dirty="0" err="1">
                <a:solidFill>
                  <a:srgbClr val="1A1A2E"/>
                </a:solidFill>
                <a:latin typeface="Calibri" pitchFamily="34" charset="0"/>
                <a:ea typeface="Calibri" pitchFamily="34" charset="-122"/>
                <a:cs typeface="Calibri" pitchFamily="34" charset="-120"/>
              </a:rPr>
              <a:t>loại</a:t>
            </a:r>
            <a:endParaRPr lang="en-US" sz="1050" dirty="0"/>
          </a:p>
        </p:txBody>
      </p:sp>
      <p:sp>
        <p:nvSpPr>
          <p:cNvPr id="16" name="Shape 14"/>
          <p:cNvSpPr/>
          <p:nvPr/>
        </p:nvSpPr>
        <p:spPr>
          <a:xfrm>
            <a:off x="228600" y="3008376"/>
            <a:ext cx="4754880" cy="594360"/>
          </a:xfrm>
          <a:prstGeom prst="rect">
            <a:avLst/>
          </a:prstGeom>
          <a:solidFill>
            <a:srgbClr val="F8F9FA"/>
          </a:solidFill>
          <a:ln w="10160">
            <a:solidFill>
              <a:srgbClr val="74C69D"/>
            </a:solidFill>
            <a:prstDash val="solid"/>
          </a:ln>
        </p:spPr>
      </p:sp>
      <p:sp>
        <p:nvSpPr>
          <p:cNvPr id="17" name="Text 15"/>
          <p:cNvSpPr/>
          <p:nvPr/>
        </p:nvSpPr>
        <p:spPr>
          <a:xfrm>
            <a:off x="320040" y="3072384"/>
            <a:ext cx="1463040"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Mô hình CNN:</a:t>
            </a:r>
            <a:endParaRPr lang="en-US" sz="1050" dirty="0"/>
          </a:p>
        </p:txBody>
      </p:sp>
      <p:sp>
        <p:nvSpPr>
          <p:cNvPr id="18" name="Text 16"/>
          <p:cNvSpPr/>
          <p:nvPr/>
        </p:nvSpPr>
        <p:spPr>
          <a:xfrm>
            <a:off x="2247654" y="3072384"/>
            <a:ext cx="2644386"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EfficientNet-B0 (Transfer Learning)</a:t>
            </a:r>
            <a:endParaRPr lang="en-US" sz="1050" dirty="0"/>
          </a:p>
        </p:txBody>
      </p:sp>
      <p:sp>
        <p:nvSpPr>
          <p:cNvPr id="19" name="Shape 17"/>
          <p:cNvSpPr/>
          <p:nvPr/>
        </p:nvSpPr>
        <p:spPr>
          <a:xfrm>
            <a:off x="228600" y="3721608"/>
            <a:ext cx="4754880" cy="594360"/>
          </a:xfrm>
          <a:prstGeom prst="rect">
            <a:avLst/>
          </a:prstGeom>
          <a:solidFill>
            <a:srgbClr val="D8F3DC"/>
          </a:solidFill>
          <a:ln w="10160">
            <a:solidFill>
              <a:srgbClr val="74C69D"/>
            </a:solidFill>
            <a:prstDash val="solid"/>
          </a:ln>
        </p:spPr>
      </p:sp>
      <p:sp>
        <p:nvSpPr>
          <p:cNvPr id="20" name="Text 18"/>
          <p:cNvSpPr/>
          <p:nvPr/>
        </p:nvSpPr>
        <p:spPr>
          <a:xfrm>
            <a:off x="320039" y="3785616"/>
            <a:ext cx="1511711" cy="457200"/>
          </a:xfrm>
          <a:prstGeom prst="rect">
            <a:avLst/>
          </a:prstGeom>
          <a:noFill/>
          <a:ln/>
        </p:spPr>
        <p:txBody>
          <a:bodyPr wrap="square" rtlCol="0" anchor="ctr"/>
          <a:lstStyle/>
          <a:p>
            <a:pPr marL="0" indent="0">
              <a:buNone/>
            </a:pPr>
            <a:r>
              <a:rPr lang="en-US" sz="1050" b="1" dirty="0">
                <a:solidFill>
                  <a:srgbClr val="1B4332"/>
                </a:solidFill>
                <a:latin typeface="Calibri" pitchFamily="34" charset="0"/>
                <a:ea typeface="Calibri" pitchFamily="34" charset="-122"/>
                <a:cs typeface="Calibri" pitchFamily="34" charset="-120"/>
              </a:rPr>
              <a:t>📡  Dữ liệu </a:t>
            </a:r>
            <a:r>
              <a:rPr lang="en-US" sz="1050" b="1" dirty="0" err="1">
                <a:solidFill>
                  <a:srgbClr val="1B4332"/>
                </a:solidFill>
                <a:latin typeface="Calibri" pitchFamily="34" charset="0"/>
                <a:ea typeface="Calibri" pitchFamily="34" charset="-122"/>
                <a:cs typeface="Calibri" pitchFamily="34" charset="-120"/>
              </a:rPr>
              <a:t>môi</a:t>
            </a:r>
            <a:r>
              <a:rPr lang="en-US" sz="1050" b="1" dirty="0">
                <a:solidFill>
                  <a:srgbClr val="1B4332"/>
                </a:solidFill>
                <a:latin typeface="Calibri" pitchFamily="34" charset="0"/>
                <a:ea typeface="Calibri" pitchFamily="34" charset="-122"/>
                <a:cs typeface="Calibri" pitchFamily="34" charset="-120"/>
              </a:rPr>
              <a:t> </a:t>
            </a:r>
            <a:r>
              <a:rPr lang="en-US" sz="1050" b="1" dirty="0" err="1">
                <a:solidFill>
                  <a:srgbClr val="1B4332"/>
                </a:solidFill>
                <a:latin typeface="Calibri" pitchFamily="34" charset="0"/>
                <a:ea typeface="Calibri" pitchFamily="34" charset="-122"/>
                <a:cs typeface="Calibri" pitchFamily="34" charset="-120"/>
              </a:rPr>
              <a:t>trường</a:t>
            </a:r>
            <a:r>
              <a:rPr lang="en-US" sz="1050" b="1" dirty="0">
                <a:solidFill>
                  <a:srgbClr val="1B4332"/>
                </a:solidFill>
                <a:latin typeface="Calibri" pitchFamily="34" charset="0"/>
                <a:ea typeface="Calibri" pitchFamily="34" charset="-122"/>
                <a:cs typeface="Calibri" pitchFamily="34" charset="-120"/>
              </a:rPr>
              <a:t> </a:t>
            </a:r>
            <a:r>
              <a:rPr lang="en-US" sz="1050" b="1" dirty="0" err="1">
                <a:solidFill>
                  <a:srgbClr val="1B4332"/>
                </a:solidFill>
                <a:latin typeface="Calibri" pitchFamily="34" charset="0"/>
                <a:ea typeface="Calibri" pitchFamily="34" charset="-122"/>
                <a:cs typeface="Calibri" pitchFamily="34" charset="-120"/>
              </a:rPr>
              <a:t>bổ</a:t>
            </a:r>
            <a:r>
              <a:rPr lang="en-US" sz="1050" b="1" dirty="0">
                <a:solidFill>
                  <a:srgbClr val="1B4332"/>
                </a:solidFill>
                <a:latin typeface="Calibri" pitchFamily="34" charset="0"/>
                <a:ea typeface="Calibri" pitchFamily="34" charset="-122"/>
                <a:cs typeface="Calibri" pitchFamily="34" charset="-120"/>
              </a:rPr>
              <a:t> sung </a:t>
            </a:r>
            <a:r>
              <a:rPr lang="en-US" sz="1050" b="1" dirty="0" err="1">
                <a:solidFill>
                  <a:srgbClr val="1B4332"/>
                </a:solidFill>
                <a:latin typeface="Calibri" pitchFamily="34" charset="0"/>
                <a:ea typeface="Calibri" pitchFamily="34" charset="-122"/>
                <a:cs typeface="Calibri" pitchFamily="34" charset="-120"/>
              </a:rPr>
              <a:t>cho</a:t>
            </a:r>
            <a:r>
              <a:rPr lang="en-US" sz="1050" b="1" dirty="0">
                <a:solidFill>
                  <a:srgbClr val="1B4332"/>
                </a:solidFill>
                <a:latin typeface="Calibri" pitchFamily="34" charset="0"/>
                <a:ea typeface="Calibri" pitchFamily="34" charset="-122"/>
                <a:cs typeface="Calibri" pitchFamily="34" charset="-120"/>
              </a:rPr>
              <a:t> Fuzzy Inference</a:t>
            </a:r>
            <a:endParaRPr lang="en-US" sz="1050" dirty="0"/>
          </a:p>
        </p:txBody>
      </p:sp>
      <p:sp>
        <p:nvSpPr>
          <p:cNvPr id="21" name="Text 19"/>
          <p:cNvSpPr/>
          <p:nvPr/>
        </p:nvSpPr>
        <p:spPr>
          <a:xfrm>
            <a:off x="2336144" y="3785616"/>
            <a:ext cx="2555895" cy="457200"/>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Nhiệt độ (°C), Độ </a:t>
            </a:r>
            <a:r>
              <a:rPr lang="en-US" sz="1050" dirty="0" err="1">
                <a:solidFill>
                  <a:srgbClr val="1A1A2E"/>
                </a:solidFill>
                <a:latin typeface="Calibri" pitchFamily="34" charset="0"/>
                <a:ea typeface="Calibri" pitchFamily="34" charset="-122"/>
                <a:cs typeface="Calibri" pitchFamily="34" charset="-120"/>
              </a:rPr>
              <a:t>ẩm</a:t>
            </a:r>
            <a:r>
              <a:rPr lang="en-US" sz="1050" dirty="0">
                <a:solidFill>
                  <a:srgbClr val="1A1A2E"/>
                </a:solidFill>
                <a:latin typeface="Calibri" pitchFamily="34" charset="0"/>
                <a:ea typeface="Calibri" pitchFamily="34" charset="-122"/>
                <a:cs typeface="Calibri" pitchFamily="34" charset="-120"/>
              </a:rPr>
              <a:t> (%)</a:t>
            </a:r>
            <a:endParaRPr lang="en-US" sz="1050" dirty="0"/>
          </a:p>
        </p:txBody>
      </p:sp>
      <p:sp>
        <p:nvSpPr>
          <p:cNvPr id="22" name="Shape 20"/>
          <p:cNvSpPr/>
          <p:nvPr/>
        </p:nvSpPr>
        <p:spPr>
          <a:xfrm>
            <a:off x="5257800" y="868680"/>
            <a:ext cx="3611880" cy="411480"/>
          </a:xfrm>
          <a:prstGeom prst="rect">
            <a:avLst/>
          </a:prstGeom>
          <a:solidFill>
            <a:srgbClr val="1B4332"/>
          </a:solidFill>
          <a:ln w="12700">
            <a:solidFill>
              <a:srgbClr val="1B4332"/>
            </a:solidFill>
            <a:prstDash val="solid"/>
          </a:ln>
        </p:spPr>
      </p:sp>
      <p:sp>
        <p:nvSpPr>
          <p:cNvPr id="23" name="Text 21"/>
          <p:cNvSpPr/>
          <p:nvPr/>
        </p:nvSpPr>
        <p:spPr>
          <a:xfrm>
            <a:off x="5257800" y="868680"/>
            <a:ext cx="36118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9 </a:t>
            </a:r>
            <a:r>
              <a:rPr lang="en-US" sz="1200" b="1" dirty="0" err="1">
                <a:solidFill>
                  <a:srgbClr val="FFFFFF"/>
                </a:solidFill>
                <a:latin typeface="Calibri" pitchFamily="34" charset="0"/>
                <a:ea typeface="Calibri" pitchFamily="34" charset="-122"/>
                <a:cs typeface="Calibri" pitchFamily="34" charset="-120"/>
              </a:rPr>
              <a:t>nhãn</a:t>
            </a:r>
            <a:r>
              <a:rPr lang="en-US" sz="1200" b="1" dirty="0">
                <a:solidFill>
                  <a:srgbClr val="FFFFFF"/>
                </a:solidFill>
                <a:latin typeface="Calibri" pitchFamily="34" charset="0"/>
                <a:ea typeface="Calibri" pitchFamily="34" charset="-122"/>
                <a:cs typeface="Calibri" pitchFamily="34" charset="-120"/>
              </a:rPr>
              <a:t> </a:t>
            </a:r>
            <a:r>
              <a:rPr lang="en-US" sz="1200" b="1" dirty="0" err="1">
                <a:solidFill>
                  <a:srgbClr val="FFFFFF"/>
                </a:solidFill>
                <a:latin typeface="Calibri" pitchFamily="34" charset="0"/>
                <a:ea typeface="Calibri" pitchFamily="34" charset="-122"/>
                <a:cs typeface="Calibri" pitchFamily="34" charset="-120"/>
              </a:rPr>
              <a:t>phân</a:t>
            </a:r>
            <a:r>
              <a:rPr lang="en-US" sz="1200" b="1" dirty="0">
                <a:solidFill>
                  <a:srgbClr val="FFFFFF"/>
                </a:solidFill>
                <a:latin typeface="Calibri" pitchFamily="34" charset="0"/>
                <a:ea typeface="Calibri" pitchFamily="34" charset="-122"/>
                <a:cs typeface="Calibri" pitchFamily="34" charset="-120"/>
              </a:rPr>
              <a:t> </a:t>
            </a:r>
            <a:r>
              <a:rPr lang="en-US" sz="1200" b="1" dirty="0" err="1">
                <a:solidFill>
                  <a:srgbClr val="FFFFFF"/>
                </a:solidFill>
                <a:latin typeface="Calibri" pitchFamily="34" charset="0"/>
                <a:ea typeface="Calibri" pitchFamily="34" charset="-122"/>
                <a:cs typeface="Calibri" pitchFamily="34" charset="-120"/>
              </a:rPr>
              <a:t>loại</a:t>
            </a:r>
            <a:r>
              <a:rPr lang="en-US" sz="1200" b="1" dirty="0">
                <a:solidFill>
                  <a:srgbClr val="FFFFFF"/>
                </a:solidFill>
                <a:latin typeface="Calibri" pitchFamily="34" charset="0"/>
                <a:ea typeface="Calibri" pitchFamily="34" charset="-122"/>
                <a:cs typeface="Calibri" pitchFamily="34" charset="-120"/>
              </a:rPr>
              <a:t> (4 </a:t>
            </a:r>
            <a:r>
              <a:rPr lang="en-US" sz="1200" b="1" dirty="0" err="1">
                <a:solidFill>
                  <a:srgbClr val="FFFFFF"/>
                </a:solidFill>
                <a:latin typeface="Calibri" pitchFamily="34" charset="0"/>
                <a:ea typeface="Calibri" pitchFamily="34" charset="-122"/>
                <a:cs typeface="Calibri" pitchFamily="34" charset="-120"/>
              </a:rPr>
              <a:t>bệnh</a:t>
            </a:r>
            <a:r>
              <a:rPr lang="en-US" sz="1200" b="1" dirty="0">
                <a:solidFill>
                  <a:srgbClr val="FFFFFF"/>
                </a:solidFill>
                <a:latin typeface="Calibri" pitchFamily="34" charset="0"/>
                <a:ea typeface="Calibri" pitchFamily="34" charset="-122"/>
                <a:cs typeface="Calibri" pitchFamily="34" charset="-120"/>
              </a:rPr>
              <a:t> </a:t>
            </a:r>
            <a:r>
              <a:rPr lang="en-US" sz="1200" b="1" dirty="0" err="1">
                <a:solidFill>
                  <a:srgbClr val="FFFFFF"/>
                </a:solidFill>
                <a:latin typeface="Calibri" pitchFamily="34" charset="0"/>
                <a:ea typeface="Calibri" pitchFamily="34" charset="-122"/>
                <a:cs typeface="Calibri" pitchFamily="34" charset="-120"/>
              </a:rPr>
              <a:t>chính</a:t>
            </a:r>
            <a:r>
              <a:rPr lang="en-US" sz="1200" b="1" dirty="0">
                <a:solidFill>
                  <a:srgbClr val="FFFFFF"/>
                </a:solidFill>
                <a:latin typeface="Calibri" pitchFamily="34" charset="0"/>
                <a:ea typeface="Calibri" pitchFamily="34" charset="-122"/>
                <a:cs typeface="Calibri" pitchFamily="34" charset="-120"/>
              </a:rPr>
              <a:t> </a:t>
            </a:r>
            <a:r>
              <a:rPr lang="en-US" sz="1200" b="1" dirty="0" err="1">
                <a:solidFill>
                  <a:srgbClr val="FFFFFF"/>
                </a:solidFill>
                <a:latin typeface="Calibri" pitchFamily="34" charset="0"/>
                <a:ea typeface="Calibri" pitchFamily="34" charset="-122"/>
                <a:cs typeface="Calibri" pitchFamily="34" charset="-120"/>
              </a:rPr>
              <a:t>nhẹ</a:t>
            </a:r>
            <a:r>
              <a:rPr lang="en-US" sz="1200" b="1" dirty="0">
                <a:solidFill>
                  <a:srgbClr val="FFFFFF"/>
                </a:solidFill>
                <a:latin typeface="Calibri" pitchFamily="34" charset="0"/>
                <a:ea typeface="Calibri" pitchFamily="34" charset="-122"/>
                <a:cs typeface="Calibri" pitchFamily="34" charset="-120"/>
              </a:rPr>
              <a:t>/</a:t>
            </a:r>
            <a:r>
              <a:rPr lang="en-US" sz="1200" b="1" dirty="0" err="1">
                <a:solidFill>
                  <a:srgbClr val="FFFFFF"/>
                </a:solidFill>
                <a:latin typeface="Calibri" pitchFamily="34" charset="0"/>
                <a:ea typeface="Calibri" pitchFamily="34" charset="-122"/>
                <a:cs typeface="Calibri" pitchFamily="34" charset="-120"/>
              </a:rPr>
              <a:t>nặng</a:t>
            </a: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4" name="Shape 22"/>
          <p:cNvSpPr/>
          <p:nvPr/>
        </p:nvSpPr>
        <p:spPr>
          <a:xfrm>
            <a:off x="5257800" y="1280160"/>
            <a:ext cx="3611880" cy="347472"/>
          </a:xfrm>
          <a:prstGeom prst="rect">
            <a:avLst/>
          </a:prstGeom>
          <a:solidFill>
            <a:srgbClr val="F1F8F4"/>
          </a:solidFill>
          <a:ln w="6350">
            <a:solidFill>
              <a:srgbClr val="DDDDDD"/>
            </a:solidFill>
            <a:prstDash val="solid"/>
          </a:ln>
        </p:spPr>
      </p:sp>
      <p:sp>
        <p:nvSpPr>
          <p:cNvPr id="25" name="Text 23"/>
          <p:cNvSpPr/>
          <p:nvPr/>
        </p:nvSpPr>
        <p:spPr>
          <a:xfrm>
            <a:off x="5349240" y="13167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Healthy – </a:t>
            </a:r>
            <a:r>
              <a:rPr lang="en-US" sz="1000" dirty="0" err="1">
                <a:solidFill>
                  <a:srgbClr val="1A1A2E"/>
                </a:solidFill>
                <a:latin typeface="Calibri" pitchFamily="34" charset="0"/>
                <a:ea typeface="Calibri" pitchFamily="34" charset="-122"/>
                <a:cs typeface="Calibri" pitchFamily="34" charset="-120"/>
              </a:rPr>
              <a:t>Khỏe</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mạnh</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bình</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thường</a:t>
            </a:r>
            <a:endParaRPr lang="en-US" sz="1000" dirty="0"/>
          </a:p>
        </p:txBody>
      </p:sp>
      <p:sp>
        <p:nvSpPr>
          <p:cNvPr id="26" name="Shape 24"/>
          <p:cNvSpPr/>
          <p:nvPr/>
        </p:nvSpPr>
        <p:spPr>
          <a:xfrm>
            <a:off x="5257800" y="1645920"/>
            <a:ext cx="3611880" cy="347472"/>
          </a:xfrm>
          <a:prstGeom prst="rect">
            <a:avLst/>
          </a:prstGeom>
          <a:solidFill>
            <a:srgbClr val="FFFFFF"/>
          </a:solidFill>
          <a:ln w="6350">
            <a:solidFill>
              <a:srgbClr val="DDDDDD"/>
            </a:solidFill>
            <a:prstDash val="solid"/>
          </a:ln>
        </p:spPr>
        <p:txBody>
          <a:bodyPr/>
          <a:lstStyle/>
          <a:p>
            <a:endParaRPr lang="en-US" dirty="0"/>
          </a:p>
        </p:txBody>
      </p:sp>
      <p:sp>
        <p:nvSpPr>
          <p:cNvPr id="27" name="Text 25"/>
          <p:cNvSpPr/>
          <p:nvPr/>
        </p:nvSpPr>
        <p:spPr>
          <a:xfrm>
            <a:off x="5349240" y="16824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Blast  - </a:t>
            </a:r>
            <a:r>
              <a:rPr lang="en-US" sz="1000" dirty="0" err="1">
                <a:solidFill>
                  <a:srgbClr val="1A1A2E"/>
                </a:solidFill>
                <a:latin typeface="Calibri" pitchFamily="34" charset="0"/>
                <a:ea typeface="Calibri" pitchFamily="34" charset="-122"/>
                <a:cs typeface="Calibri" pitchFamily="34" charset="-120"/>
              </a:rPr>
              <a:t>Đạo</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ôn</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nhẹ</a:t>
            </a:r>
            <a:endParaRPr lang="en-US" sz="1000" dirty="0"/>
          </a:p>
        </p:txBody>
      </p:sp>
      <p:sp>
        <p:nvSpPr>
          <p:cNvPr id="28" name="Shape 26"/>
          <p:cNvSpPr/>
          <p:nvPr/>
        </p:nvSpPr>
        <p:spPr>
          <a:xfrm>
            <a:off x="5257800" y="2011680"/>
            <a:ext cx="3611880" cy="347472"/>
          </a:xfrm>
          <a:prstGeom prst="rect">
            <a:avLst/>
          </a:prstGeom>
          <a:solidFill>
            <a:srgbClr val="F1F8F4"/>
          </a:solidFill>
          <a:ln w="6350">
            <a:solidFill>
              <a:srgbClr val="DDDDDD"/>
            </a:solidFill>
            <a:prstDash val="solid"/>
          </a:ln>
        </p:spPr>
      </p:sp>
      <p:sp>
        <p:nvSpPr>
          <p:cNvPr id="29" name="Text 27"/>
          <p:cNvSpPr/>
          <p:nvPr/>
        </p:nvSpPr>
        <p:spPr>
          <a:xfrm>
            <a:off x="5349240" y="20482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Blast – </a:t>
            </a:r>
            <a:r>
              <a:rPr lang="en-US" sz="1000" dirty="0" err="1">
                <a:solidFill>
                  <a:srgbClr val="1A1A2E"/>
                </a:solidFill>
                <a:latin typeface="Calibri" pitchFamily="34" charset="0"/>
                <a:ea typeface="Calibri" pitchFamily="34" charset="-122"/>
                <a:cs typeface="Calibri" pitchFamily="34" charset="-120"/>
              </a:rPr>
              <a:t>Đạo</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ôn</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nặng</a:t>
            </a:r>
            <a:endParaRPr lang="en-US" sz="1000" dirty="0"/>
          </a:p>
        </p:txBody>
      </p:sp>
      <p:sp>
        <p:nvSpPr>
          <p:cNvPr id="30" name="Shape 28"/>
          <p:cNvSpPr/>
          <p:nvPr/>
        </p:nvSpPr>
        <p:spPr>
          <a:xfrm>
            <a:off x="5257800" y="2377440"/>
            <a:ext cx="3611880" cy="347472"/>
          </a:xfrm>
          <a:prstGeom prst="rect">
            <a:avLst/>
          </a:prstGeom>
          <a:solidFill>
            <a:srgbClr val="FFFFFF"/>
          </a:solidFill>
          <a:ln w="6350">
            <a:solidFill>
              <a:srgbClr val="DDDDDD"/>
            </a:solidFill>
            <a:prstDash val="solid"/>
          </a:ln>
        </p:spPr>
      </p:sp>
      <p:sp>
        <p:nvSpPr>
          <p:cNvPr id="31" name="Text 29"/>
          <p:cNvSpPr/>
          <p:nvPr/>
        </p:nvSpPr>
        <p:spPr>
          <a:xfrm>
            <a:off x="5349240" y="24140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Bacterial Blight – </a:t>
            </a:r>
            <a:r>
              <a:rPr lang="en-US" sz="1000" dirty="0" err="1">
                <a:solidFill>
                  <a:srgbClr val="1A1A2E"/>
                </a:solidFill>
                <a:latin typeface="Calibri" pitchFamily="34" charset="0"/>
                <a:ea typeface="Calibri" pitchFamily="34" charset="-122"/>
                <a:cs typeface="Calibri" pitchFamily="34" charset="-120"/>
              </a:rPr>
              <a:t>Bạc</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lá</a:t>
            </a:r>
            <a:endParaRPr lang="en-US" sz="1000" dirty="0"/>
          </a:p>
        </p:txBody>
      </p:sp>
      <p:sp>
        <p:nvSpPr>
          <p:cNvPr id="32" name="Shape 30"/>
          <p:cNvSpPr/>
          <p:nvPr/>
        </p:nvSpPr>
        <p:spPr>
          <a:xfrm>
            <a:off x="5257800" y="2743200"/>
            <a:ext cx="3611880" cy="347472"/>
          </a:xfrm>
          <a:prstGeom prst="rect">
            <a:avLst/>
          </a:prstGeom>
          <a:solidFill>
            <a:srgbClr val="F1F8F4"/>
          </a:solidFill>
          <a:ln w="6350">
            <a:solidFill>
              <a:srgbClr val="DDDDDD"/>
            </a:solidFill>
            <a:prstDash val="solid"/>
          </a:ln>
        </p:spPr>
      </p:sp>
      <p:sp>
        <p:nvSpPr>
          <p:cNvPr id="33" name="Text 31"/>
          <p:cNvSpPr/>
          <p:nvPr/>
        </p:nvSpPr>
        <p:spPr>
          <a:xfrm>
            <a:off x="5349240" y="277977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Bacterial Blight</a:t>
            </a:r>
            <a:endParaRPr lang="en-US" sz="1000" dirty="0"/>
          </a:p>
        </p:txBody>
      </p:sp>
      <p:sp>
        <p:nvSpPr>
          <p:cNvPr id="34" name="Shape 32"/>
          <p:cNvSpPr/>
          <p:nvPr/>
        </p:nvSpPr>
        <p:spPr>
          <a:xfrm>
            <a:off x="5257800" y="3108960"/>
            <a:ext cx="3611880" cy="347472"/>
          </a:xfrm>
          <a:prstGeom prst="rect">
            <a:avLst/>
          </a:prstGeom>
          <a:solidFill>
            <a:srgbClr val="FFFFFF"/>
          </a:solidFill>
          <a:ln w="6350">
            <a:solidFill>
              <a:srgbClr val="DDDDDD"/>
            </a:solidFill>
            <a:prstDash val="solid"/>
          </a:ln>
        </p:spPr>
      </p:sp>
      <p:sp>
        <p:nvSpPr>
          <p:cNvPr id="35" name="Text 33"/>
          <p:cNvSpPr/>
          <p:nvPr/>
        </p:nvSpPr>
        <p:spPr>
          <a:xfrm>
            <a:off x="5349240" y="314553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a:t>
            </a:r>
            <a:r>
              <a:rPr lang="en-US" sz="1000" dirty="0" err="1">
                <a:solidFill>
                  <a:srgbClr val="1A1A2E"/>
                </a:solidFill>
                <a:latin typeface="Calibri" pitchFamily="34" charset="0"/>
                <a:ea typeface="Calibri" pitchFamily="34" charset="-122"/>
                <a:cs typeface="Calibri" pitchFamily="34" charset="-120"/>
              </a:rPr>
              <a:t>Brownspot</a:t>
            </a:r>
            <a:r>
              <a:rPr lang="en-US" sz="1000" dirty="0">
                <a:solidFill>
                  <a:srgbClr val="1A1A2E"/>
                </a:solidFill>
                <a:latin typeface="Calibri" pitchFamily="34" charset="0"/>
                <a:ea typeface="Calibri" pitchFamily="34" charset="-122"/>
                <a:cs typeface="Calibri" pitchFamily="34" charset="-120"/>
              </a:rPr>
              <a:t> – </a:t>
            </a:r>
            <a:r>
              <a:rPr lang="en-US" sz="1000" dirty="0" err="1">
                <a:solidFill>
                  <a:srgbClr val="1A1A2E"/>
                </a:solidFill>
                <a:latin typeface="Calibri" pitchFamily="34" charset="0"/>
                <a:ea typeface="Calibri" pitchFamily="34" charset="-122"/>
                <a:cs typeface="Calibri" pitchFamily="34" charset="-120"/>
              </a:rPr>
              <a:t>Đốm</a:t>
            </a:r>
            <a:r>
              <a:rPr lang="en-US" sz="1000" dirty="0">
                <a:solidFill>
                  <a:srgbClr val="1A1A2E"/>
                </a:solidFill>
                <a:latin typeface="Calibri" pitchFamily="34" charset="0"/>
                <a:ea typeface="Calibri" pitchFamily="34" charset="-122"/>
                <a:cs typeface="Calibri" pitchFamily="34" charset="-120"/>
              </a:rPr>
              <a:t> </a:t>
            </a:r>
            <a:r>
              <a:rPr lang="en-US" sz="1000" dirty="0" err="1">
                <a:solidFill>
                  <a:srgbClr val="1A1A2E"/>
                </a:solidFill>
                <a:latin typeface="Calibri" pitchFamily="34" charset="0"/>
                <a:ea typeface="Calibri" pitchFamily="34" charset="-122"/>
                <a:cs typeface="Calibri" pitchFamily="34" charset="-120"/>
              </a:rPr>
              <a:t>nâu</a:t>
            </a:r>
            <a:endParaRPr lang="en-US" sz="1000" dirty="0"/>
          </a:p>
        </p:txBody>
      </p:sp>
      <p:sp>
        <p:nvSpPr>
          <p:cNvPr id="36" name="Shape 34"/>
          <p:cNvSpPr/>
          <p:nvPr/>
        </p:nvSpPr>
        <p:spPr>
          <a:xfrm>
            <a:off x="5257800" y="3474720"/>
            <a:ext cx="3611880" cy="347472"/>
          </a:xfrm>
          <a:prstGeom prst="rect">
            <a:avLst/>
          </a:prstGeom>
          <a:solidFill>
            <a:srgbClr val="F1F8F4"/>
          </a:solidFill>
          <a:ln w="6350">
            <a:solidFill>
              <a:srgbClr val="DDDDDD"/>
            </a:solidFill>
            <a:prstDash val="solid"/>
          </a:ln>
        </p:spPr>
      </p:sp>
      <p:sp>
        <p:nvSpPr>
          <p:cNvPr id="37" name="Text 35"/>
          <p:cNvSpPr/>
          <p:nvPr/>
        </p:nvSpPr>
        <p:spPr>
          <a:xfrm>
            <a:off x="5349240" y="351129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Brownspot</a:t>
            </a:r>
            <a:endParaRPr lang="en-US" sz="1000" dirty="0"/>
          </a:p>
        </p:txBody>
      </p:sp>
      <p:sp>
        <p:nvSpPr>
          <p:cNvPr id="38" name="Shape 36"/>
          <p:cNvSpPr/>
          <p:nvPr/>
        </p:nvSpPr>
        <p:spPr>
          <a:xfrm>
            <a:off x="5257800" y="3840480"/>
            <a:ext cx="3611880" cy="347472"/>
          </a:xfrm>
          <a:prstGeom prst="rect">
            <a:avLst/>
          </a:prstGeom>
          <a:solidFill>
            <a:srgbClr val="FFFFFF"/>
          </a:solidFill>
          <a:ln w="6350">
            <a:solidFill>
              <a:srgbClr val="DDDDDD"/>
            </a:solidFill>
            <a:prstDash val="solid"/>
          </a:ln>
        </p:spPr>
      </p:sp>
      <p:sp>
        <p:nvSpPr>
          <p:cNvPr id="39" name="Text 37"/>
          <p:cNvSpPr/>
          <p:nvPr/>
        </p:nvSpPr>
        <p:spPr>
          <a:xfrm>
            <a:off x="5349240" y="387705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Mild Tungro</a:t>
            </a:r>
            <a:endParaRPr lang="en-US" sz="1000" dirty="0"/>
          </a:p>
        </p:txBody>
      </p:sp>
      <p:sp>
        <p:nvSpPr>
          <p:cNvPr id="40" name="Shape 38"/>
          <p:cNvSpPr/>
          <p:nvPr/>
        </p:nvSpPr>
        <p:spPr>
          <a:xfrm>
            <a:off x="5257800" y="4206240"/>
            <a:ext cx="3611880" cy="347472"/>
          </a:xfrm>
          <a:prstGeom prst="rect">
            <a:avLst/>
          </a:prstGeom>
          <a:solidFill>
            <a:srgbClr val="F1F8F4"/>
          </a:solidFill>
          <a:ln w="6350">
            <a:solidFill>
              <a:srgbClr val="DDDDDD"/>
            </a:solidFill>
            <a:prstDash val="solid"/>
          </a:ln>
        </p:spPr>
      </p:sp>
      <p:sp>
        <p:nvSpPr>
          <p:cNvPr id="41" name="Text 39"/>
          <p:cNvSpPr/>
          <p:nvPr/>
        </p:nvSpPr>
        <p:spPr>
          <a:xfrm>
            <a:off x="5349240" y="4242816"/>
            <a:ext cx="3429000" cy="27432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Severe Tungro</a:t>
            </a:r>
            <a:endParaRPr lang="en-US" sz="1000" dirty="0"/>
          </a:p>
        </p:txBody>
      </p:sp>
      <p:sp>
        <p:nvSpPr>
          <p:cNvPr id="42" name="TextBox 41">
            <a:extLst>
              <a:ext uri="{FF2B5EF4-FFF2-40B4-BE49-F238E27FC236}">
                <a16:creationId xmlns:a16="http://schemas.microsoft.com/office/drawing/2014/main" id="{90116A98-3B1A-6801-0C8E-E623143BC372}"/>
              </a:ext>
            </a:extLst>
          </p:cNvPr>
          <p:cNvSpPr txBox="1"/>
          <p:nvPr/>
        </p:nvSpPr>
        <p:spPr>
          <a:xfrm>
            <a:off x="274320" y="4517136"/>
            <a:ext cx="4892040" cy="230832"/>
          </a:xfrm>
          <a:prstGeom prst="rect">
            <a:avLst/>
          </a:prstGeom>
          <a:noFill/>
        </p:spPr>
        <p:txBody>
          <a:bodyPr wrap="square" rtlCol="0">
            <a:spAutoFit/>
          </a:bodyPr>
          <a:lstStyle/>
          <a:p>
            <a:r>
              <a:rPr lang="en-US" sz="900" dirty="0">
                <a:hlinkClick r:id="rId3"/>
              </a:rPr>
              <a:t>https://www.kaggle.com/datasets/isaacritharson/severity-based-rice-leaf-diseases-dataset</a:t>
            </a:r>
            <a:r>
              <a:rPr lang="en-US" sz="900"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Tiền Xử Lý Dữ Liệu</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4160520" cy="384048"/>
          </a:xfrm>
          <a:prstGeom prst="rect">
            <a:avLst/>
          </a:prstGeom>
          <a:solidFill>
            <a:srgbClr val="1B4332"/>
          </a:solidFill>
          <a:ln w="12700">
            <a:solidFill>
              <a:srgbClr val="1B4332"/>
            </a:solidFill>
            <a:prstDash val="solid"/>
          </a:ln>
        </p:spPr>
      </p:sp>
      <p:sp>
        <p:nvSpPr>
          <p:cNvPr id="8" name="Text 6"/>
          <p:cNvSpPr/>
          <p:nvPr/>
        </p:nvSpPr>
        <p:spPr>
          <a:xfrm>
            <a:off x="228600" y="841248"/>
            <a:ext cx="41605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Ảnh (CNN Input)</a:t>
            </a:r>
            <a:endParaRPr lang="en-US" sz="1300" dirty="0"/>
          </a:p>
        </p:txBody>
      </p:sp>
      <p:sp>
        <p:nvSpPr>
          <p:cNvPr id="9" name="Shape 7"/>
          <p:cNvSpPr/>
          <p:nvPr/>
        </p:nvSpPr>
        <p:spPr>
          <a:xfrm>
            <a:off x="320040" y="1344168"/>
            <a:ext cx="384048" cy="384048"/>
          </a:xfrm>
          <a:prstGeom prst="ellipse">
            <a:avLst/>
          </a:prstGeom>
          <a:solidFill>
            <a:srgbClr val="40916C"/>
          </a:solidFill>
          <a:ln w="12700">
            <a:solidFill>
              <a:srgbClr val="40916C"/>
            </a:solidFill>
            <a:prstDash val="solid"/>
          </a:ln>
        </p:spPr>
      </p:sp>
      <p:sp>
        <p:nvSpPr>
          <p:cNvPr id="10" name="Text 8"/>
          <p:cNvSpPr/>
          <p:nvPr/>
        </p:nvSpPr>
        <p:spPr>
          <a:xfrm>
            <a:off x="320040" y="1344168"/>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04672" y="1335024"/>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Resize</a:t>
            </a:r>
            <a:endParaRPr lang="en-US" sz="1150" dirty="0"/>
          </a:p>
        </p:txBody>
      </p:sp>
      <p:sp>
        <p:nvSpPr>
          <p:cNvPr id="12" name="Text 10"/>
          <p:cNvSpPr/>
          <p:nvPr/>
        </p:nvSpPr>
        <p:spPr>
          <a:xfrm>
            <a:off x="804672" y="1618488"/>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Resize ảnh về 224×224 px (EfficientNet-B0)</a:t>
            </a:r>
            <a:endParaRPr lang="en-US" sz="1000" dirty="0"/>
          </a:p>
        </p:txBody>
      </p:sp>
      <p:sp>
        <p:nvSpPr>
          <p:cNvPr id="13" name="Shape 11"/>
          <p:cNvSpPr/>
          <p:nvPr/>
        </p:nvSpPr>
        <p:spPr>
          <a:xfrm>
            <a:off x="320040" y="2057400"/>
            <a:ext cx="384048" cy="384048"/>
          </a:xfrm>
          <a:prstGeom prst="ellipse">
            <a:avLst/>
          </a:prstGeom>
          <a:solidFill>
            <a:srgbClr val="40916C"/>
          </a:solidFill>
          <a:ln w="12700">
            <a:solidFill>
              <a:srgbClr val="40916C"/>
            </a:solidFill>
            <a:prstDash val="solid"/>
          </a:ln>
        </p:spPr>
      </p:sp>
      <p:sp>
        <p:nvSpPr>
          <p:cNvPr id="14" name="Text 12"/>
          <p:cNvSpPr/>
          <p:nvPr/>
        </p:nvSpPr>
        <p:spPr>
          <a:xfrm>
            <a:off x="320040" y="205740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804672" y="2048256"/>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Normalize</a:t>
            </a:r>
            <a:endParaRPr lang="en-US" sz="1150" dirty="0"/>
          </a:p>
        </p:txBody>
      </p:sp>
      <p:sp>
        <p:nvSpPr>
          <p:cNvPr id="16" name="Text 14"/>
          <p:cNvSpPr/>
          <p:nvPr/>
        </p:nvSpPr>
        <p:spPr>
          <a:xfrm>
            <a:off x="804672" y="2331720"/>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Chuẩn hóa pixel về [0,1] theo ImageNet mean/std</a:t>
            </a:r>
            <a:endParaRPr lang="en-US" sz="1000" dirty="0"/>
          </a:p>
        </p:txBody>
      </p:sp>
      <p:sp>
        <p:nvSpPr>
          <p:cNvPr id="17" name="Shape 15"/>
          <p:cNvSpPr/>
          <p:nvPr/>
        </p:nvSpPr>
        <p:spPr>
          <a:xfrm>
            <a:off x="320040" y="2770632"/>
            <a:ext cx="384048" cy="384048"/>
          </a:xfrm>
          <a:prstGeom prst="ellipse">
            <a:avLst/>
          </a:prstGeom>
          <a:solidFill>
            <a:srgbClr val="40916C"/>
          </a:solidFill>
          <a:ln w="12700">
            <a:solidFill>
              <a:srgbClr val="40916C"/>
            </a:solidFill>
            <a:prstDash val="solid"/>
          </a:ln>
        </p:spPr>
      </p:sp>
      <p:sp>
        <p:nvSpPr>
          <p:cNvPr id="18" name="Text 16"/>
          <p:cNvSpPr/>
          <p:nvPr/>
        </p:nvSpPr>
        <p:spPr>
          <a:xfrm>
            <a:off x="320040" y="2770632"/>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04672" y="2761488"/>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Data Augmentation</a:t>
            </a:r>
            <a:endParaRPr lang="en-US" sz="1150" dirty="0"/>
          </a:p>
        </p:txBody>
      </p:sp>
      <p:sp>
        <p:nvSpPr>
          <p:cNvPr id="20" name="Text 18"/>
          <p:cNvSpPr/>
          <p:nvPr/>
        </p:nvSpPr>
        <p:spPr>
          <a:xfrm>
            <a:off x="804672" y="3044952"/>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Random flip, rotation, color jitter để tăng dữ liệu</a:t>
            </a:r>
            <a:endParaRPr lang="en-US" sz="1000" dirty="0"/>
          </a:p>
        </p:txBody>
      </p:sp>
      <p:sp>
        <p:nvSpPr>
          <p:cNvPr id="21" name="Shape 19"/>
          <p:cNvSpPr/>
          <p:nvPr/>
        </p:nvSpPr>
        <p:spPr>
          <a:xfrm>
            <a:off x="320040" y="3483864"/>
            <a:ext cx="384048" cy="384048"/>
          </a:xfrm>
          <a:prstGeom prst="ellipse">
            <a:avLst/>
          </a:prstGeom>
          <a:solidFill>
            <a:srgbClr val="40916C"/>
          </a:solidFill>
          <a:ln w="12700">
            <a:solidFill>
              <a:srgbClr val="40916C"/>
            </a:solidFill>
            <a:prstDash val="solid"/>
          </a:ln>
        </p:spPr>
      </p:sp>
      <p:sp>
        <p:nvSpPr>
          <p:cNvPr id="22" name="Text 20"/>
          <p:cNvSpPr/>
          <p:nvPr/>
        </p:nvSpPr>
        <p:spPr>
          <a:xfrm>
            <a:off x="320040" y="348386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804672" y="3474720"/>
            <a:ext cx="3474720" cy="274320"/>
          </a:xfrm>
          <a:prstGeom prst="rect">
            <a:avLst/>
          </a:prstGeom>
          <a:noFill/>
          <a:ln/>
        </p:spPr>
        <p:txBody>
          <a:bodyPr wrap="square" rtlCol="0" anchor="ctr"/>
          <a:lstStyle/>
          <a:p>
            <a:pPr marL="0" indent="0">
              <a:buNone/>
            </a:pPr>
            <a:r>
              <a:rPr lang="en-US" sz="1150" b="1" dirty="0">
                <a:solidFill>
                  <a:srgbClr val="1B4332"/>
                </a:solidFill>
                <a:latin typeface="Calibri" pitchFamily="34" charset="0"/>
                <a:ea typeface="Calibri" pitchFamily="34" charset="-122"/>
                <a:cs typeface="Calibri" pitchFamily="34" charset="-120"/>
              </a:rPr>
              <a:t>ToTensor</a:t>
            </a:r>
            <a:endParaRPr lang="en-US" sz="1150" dirty="0"/>
          </a:p>
        </p:txBody>
      </p:sp>
      <p:sp>
        <p:nvSpPr>
          <p:cNvPr id="24" name="Text 22"/>
          <p:cNvSpPr/>
          <p:nvPr/>
        </p:nvSpPr>
        <p:spPr>
          <a:xfrm>
            <a:off x="804672" y="3758184"/>
            <a:ext cx="3474720" cy="320040"/>
          </a:xfrm>
          <a:prstGeom prst="rect">
            <a:avLst/>
          </a:prstGeom>
          <a:noFill/>
          <a:ln/>
        </p:spPr>
        <p:txBody>
          <a:bodyPr wrap="square" rtlCol="0" anchor="ctr"/>
          <a:lstStyle/>
          <a:p>
            <a:pPr marL="0" indent="0">
              <a:buNone/>
            </a:pPr>
            <a:r>
              <a:rPr lang="en-US" sz="1000" dirty="0">
                <a:solidFill>
                  <a:srgbClr val="6C757D"/>
                </a:solidFill>
                <a:latin typeface="Calibri" pitchFamily="34" charset="0"/>
                <a:ea typeface="Calibri" pitchFamily="34" charset="-122"/>
                <a:cs typeface="Calibri" pitchFamily="34" charset="-120"/>
              </a:rPr>
              <a:t>Chuyển ảnh PIL sang PyTorch Tensor</a:t>
            </a:r>
            <a:endParaRPr lang="en-US" sz="1000" dirty="0"/>
          </a:p>
        </p:txBody>
      </p:sp>
      <p:sp>
        <p:nvSpPr>
          <p:cNvPr id="25" name="Shape 23"/>
          <p:cNvSpPr/>
          <p:nvPr/>
        </p:nvSpPr>
        <p:spPr>
          <a:xfrm>
            <a:off x="4663440" y="841248"/>
            <a:ext cx="4206240" cy="384048"/>
          </a:xfrm>
          <a:prstGeom prst="rect">
            <a:avLst/>
          </a:prstGeom>
          <a:solidFill>
            <a:srgbClr val="2D6A4F"/>
          </a:solidFill>
          <a:ln w="12700">
            <a:solidFill>
              <a:srgbClr val="2D6A4F"/>
            </a:solidFill>
            <a:prstDash val="solid"/>
          </a:ln>
        </p:spPr>
      </p:sp>
      <p:sp>
        <p:nvSpPr>
          <p:cNvPr id="26" name="Text 24"/>
          <p:cNvSpPr/>
          <p:nvPr/>
        </p:nvSpPr>
        <p:spPr>
          <a:xfrm>
            <a:off x="4663440" y="841248"/>
            <a:ext cx="420624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Xử Lý Dữ Liệu Mờ (Fuzzy Input)</a:t>
            </a:r>
            <a:endParaRPr lang="en-US" sz="1300" dirty="0"/>
          </a:p>
        </p:txBody>
      </p:sp>
      <p:sp>
        <p:nvSpPr>
          <p:cNvPr id="27" name="Shape 25"/>
          <p:cNvSpPr/>
          <p:nvPr/>
        </p:nvSpPr>
        <p:spPr>
          <a:xfrm>
            <a:off x="4754880" y="1335024"/>
            <a:ext cx="347472" cy="347472"/>
          </a:xfrm>
          <a:prstGeom prst="ellipse">
            <a:avLst/>
          </a:prstGeom>
          <a:solidFill>
            <a:srgbClr val="F4A261"/>
          </a:solidFill>
          <a:ln w="12700">
            <a:solidFill>
              <a:srgbClr val="F4A261"/>
            </a:solidFill>
            <a:prstDash val="solid"/>
          </a:ln>
        </p:spPr>
      </p:sp>
      <p:sp>
        <p:nvSpPr>
          <p:cNvPr id="28" name="Text 26"/>
          <p:cNvSpPr/>
          <p:nvPr/>
        </p:nvSpPr>
        <p:spPr>
          <a:xfrm>
            <a:off x="4754880" y="13350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5193792" y="1325880"/>
            <a:ext cx="3566160" cy="256032"/>
          </a:xfrm>
          <a:prstGeom prst="rect">
            <a:avLst/>
          </a:prstGeom>
          <a:noFill/>
          <a:ln/>
        </p:spPr>
        <p:txBody>
          <a:bodyPr wrap="square" rtlCol="0" anchor="ctr"/>
          <a:lstStyle/>
          <a:p>
            <a:pPr marL="0" indent="0">
              <a:buNone/>
            </a:pPr>
            <a:r>
              <a:rPr lang="en-US" sz="1100" b="1" dirty="0" err="1">
                <a:solidFill>
                  <a:srgbClr val="1B4332"/>
                </a:solidFill>
                <a:latin typeface="Calibri" pitchFamily="34" charset="0"/>
                <a:ea typeface="Calibri" pitchFamily="34" charset="-122"/>
                <a:cs typeface="Calibri" pitchFamily="34" charset="-120"/>
              </a:rPr>
              <a:t>Nhập</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dữ</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liệu</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môi</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trường</a:t>
            </a:r>
            <a:endParaRPr lang="en-US" sz="1100" dirty="0"/>
          </a:p>
        </p:txBody>
      </p:sp>
      <p:sp>
        <p:nvSpPr>
          <p:cNvPr id="30" name="Text 28"/>
          <p:cNvSpPr/>
          <p:nvPr/>
        </p:nvSpPr>
        <p:spPr>
          <a:xfrm>
            <a:off x="5193792" y="1572768"/>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Nhiệt độ, Độ ẩm, Lượng mưa, Mùa vụ</a:t>
            </a:r>
            <a:endParaRPr lang="en-US" sz="950" dirty="0"/>
          </a:p>
        </p:txBody>
      </p:sp>
      <p:sp>
        <p:nvSpPr>
          <p:cNvPr id="31" name="Shape 29"/>
          <p:cNvSpPr/>
          <p:nvPr/>
        </p:nvSpPr>
        <p:spPr>
          <a:xfrm>
            <a:off x="4754880" y="1911096"/>
            <a:ext cx="347472" cy="347472"/>
          </a:xfrm>
          <a:prstGeom prst="ellipse">
            <a:avLst/>
          </a:prstGeom>
          <a:solidFill>
            <a:srgbClr val="F4A261"/>
          </a:solidFill>
          <a:ln w="12700">
            <a:solidFill>
              <a:srgbClr val="F4A261"/>
            </a:solidFill>
            <a:prstDash val="solid"/>
          </a:ln>
        </p:spPr>
      </p:sp>
      <p:sp>
        <p:nvSpPr>
          <p:cNvPr id="32" name="Text 30"/>
          <p:cNvSpPr/>
          <p:nvPr/>
        </p:nvSpPr>
        <p:spPr>
          <a:xfrm>
            <a:off x="4754880" y="19110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5193792" y="1901952"/>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Kiểm </a:t>
            </a:r>
            <a:r>
              <a:rPr lang="en-US" sz="1100" b="1" dirty="0" err="1">
                <a:solidFill>
                  <a:srgbClr val="1B4332"/>
                </a:solidFill>
                <a:latin typeface="Calibri" pitchFamily="34" charset="0"/>
                <a:ea typeface="Calibri" pitchFamily="34" charset="-122"/>
                <a:cs typeface="Calibri" pitchFamily="34" charset="-120"/>
              </a:rPr>
              <a:t>tra</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phạm</a:t>
            </a:r>
            <a:r>
              <a:rPr lang="en-US" sz="1100" b="1" dirty="0">
                <a:solidFill>
                  <a:srgbClr val="1B4332"/>
                </a:solidFill>
                <a:latin typeface="Calibri" pitchFamily="34" charset="0"/>
                <a:ea typeface="Calibri" pitchFamily="34" charset="-122"/>
                <a:cs typeface="Calibri" pitchFamily="34" charset="-120"/>
              </a:rPr>
              <a:t> vi </a:t>
            </a:r>
            <a:r>
              <a:rPr lang="en-US" sz="1100" b="1" dirty="0" err="1">
                <a:solidFill>
                  <a:srgbClr val="1B4332"/>
                </a:solidFill>
                <a:latin typeface="Calibri" pitchFamily="34" charset="0"/>
                <a:ea typeface="Calibri" pitchFamily="34" charset="-122"/>
                <a:cs typeface="Calibri" pitchFamily="34" charset="-120"/>
              </a:rPr>
              <a:t>hợp</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lệ</a:t>
            </a:r>
            <a:endParaRPr lang="en-US" sz="1100" dirty="0"/>
          </a:p>
        </p:txBody>
      </p:sp>
      <p:sp>
        <p:nvSpPr>
          <p:cNvPr id="34" name="Text 32"/>
          <p:cNvSpPr/>
          <p:nvPr/>
        </p:nvSpPr>
        <p:spPr>
          <a:xfrm>
            <a:off x="5193792" y="2148840"/>
            <a:ext cx="3566160" cy="256032"/>
          </a:xfrm>
          <a:prstGeom prst="rect">
            <a:avLst/>
          </a:prstGeom>
          <a:noFill/>
          <a:ln/>
        </p:spPr>
        <p:txBody>
          <a:bodyPr wrap="square" rtlCol="0" anchor="ctr"/>
          <a:lstStyle/>
          <a:p>
            <a:r>
              <a:rPr lang="en-US" sz="950" dirty="0">
                <a:solidFill>
                  <a:srgbClr val="6C757D"/>
                </a:solidFill>
                <a:latin typeface="Calibri" pitchFamily="34" charset="0"/>
                <a:ea typeface="Calibri" pitchFamily="34" charset="-122"/>
                <a:cs typeface="Calibri" pitchFamily="34" charset="-120"/>
              </a:rPr>
              <a:t>Temperature ∈ [0,45]</a:t>
            </a:r>
          </a:p>
          <a:p>
            <a:r>
              <a:rPr lang="en-US" sz="950" dirty="0">
                <a:solidFill>
                  <a:srgbClr val="6C757D"/>
                </a:solidFill>
                <a:latin typeface="Calibri" pitchFamily="34" charset="0"/>
                <a:ea typeface="Calibri" pitchFamily="34" charset="-122"/>
                <a:cs typeface="Calibri" pitchFamily="34" charset="-120"/>
              </a:rPr>
              <a:t>Humidity ∈ [0,100]</a:t>
            </a:r>
            <a:endParaRPr lang="en-US" sz="950" dirty="0"/>
          </a:p>
        </p:txBody>
      </p:sp>
      <p:sp>
        <p:nvSpPr>
          <p:cNvPr id="35" name="Shape 33"/>
          <p:cNvSpPr/>
          <p:nvPr/>
        </p:nvSpPr>
        <p:spPr>
          <a:xfrm>
            <a:off x="4754880" y="2487168"/>
            <a:ext cx="347472" cy="347472"/>
          </a:xfrm>
          <a:prstGeom prst="ellipse">
            <a:avLst/>
          </a:prstGeom>
          <a:solidFill>
            <a:srgbClr val="F4A261"/>
          </a:solidFill>
          <a:ln w="12700">
            <a:solidFill>
              <a:srgbClr val="F4A261"/>
            </a:solidFill>
            <a:prstDash val="solid"/>
          </a:ln>
        </p:spPr>
      </p:sp>
      <p:sp>
        <p:nvSpPr>
          <p:cNvPr id="36" name="Text 34"/>
          <p:cNvSpPr/>
          <p:nvPr/>
        </p:nvSpPr>
        <p:spPr>
          <a:xfrm>
            <a:off x="4754880" y="248716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7" name="Text 35"/>
          <p:cNvSpPr/>
          <p:nvPr/>
        </p:nvSpPr>
        <p:spPr>
          <a:xfrm>
            <a:off x="5193792" y="2478024"/>
            <a:ext cx="3566160" cy="256032"/>
          </a:xfrm>
          <a:prstGeom prst="rect">
            <a:avLst/>
          </a:prstGeom>
          <a:noFill/>
          <a:ln/>
        </p:spPr>
        <p:txBody>
          <a:bodyPr wrap="square" rtlCol="0" anchor="ctr"/>
          <a:lstStyle/>
          <a:p>
            <a:pPr marL="0" indent="0">
              <a:buNone/>
            </a:pPr>
            <a:r>
              <a:rPr lang="en-US" sz="1100" b="1" dirty="0" err="1">
                <a:solidFill>
                  <a:srgbClr val="1B4332"/>
                </a:solidFill>
                <a:latin typeface="Calibri" pitchFamily="34" charset="0"/>
                <a:ea typeface="Calibri" pitchFamily="34" charset="-122"/>
                <a:cs typeface="Calibri" pitchFamily="34" charset="-120"/>
              </a:rPr>
              <a:t>Xác</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định</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miền</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giá</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trị</a:t>
            </a:r>
            <a:endParaRPr lang="en-US" sz="1100" dirty="0"/>
          </a:p>
        </p:txBody>
      </p:sp>
      <p:sp>
        <p:nvSpPr>
          <p:cNvPr id="38" name="Text 36"/>
          <p:cNvSpPr/>
          <p:nvPr/>
        </p:nvSpPr>
        <p:spPr>
          <a:xfrm>
            <a:off x="5193792" y="2724912"/>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Độ ẩm [0–100%], Nhiệt độ [0–45°C]…</a:t>
            </a:r>
            <a:endParaRPr lang="en-US" sz="950" dirty="0"/>
          </a:p>
        </p:txBody>
      </p:sp>
      <p:sp>
        <p:nvSpPr>
          <p:cNvPr id="39" name="Shape 37"/>
          <p:cNvSpPr/>
          <p:nvPr/>
        </p:nvSpPr>
        <p:spPr>
          <a:xfrm>
            <a:off x="4754880" y="3063240"/>
            <a:ext cx="347472" cy="347472"/>
          </a:xfrm>
          <a:prstGeom prst="ellipse">
            <a:avLst/>
          </a:prstGeom>
          <a:solidFill>
            <a:srgbClr val="F4A261"/>
          </a:solidFill>
          <a:ln w="12700">
            <a:solidFill>
              <a:srgbClr val="F4A261"/>
            </a:solidFill>
            <a:prstDash val="solid"/>
          </a:ln>
        </p:spPr>
      </p:sp>
      <p:sp>
        <p:nvSpPr>
          <p:cNvPr id="40" name="Text 38"/>
          <p:cNvSpPr/>
          <p:nvPr/>
        </p:nvSpPr>
        <p:spPr>
          <a:xfrm>
            <a:off x="4754880" y="30632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1" name="Text 39"/>
          <p:cNvSpPr/>
          <p:nvPr/>
        </p:nvSpPr>
        <p:spPr>
          <a:xfrm>
            <a:off x="5193792" y="3054096"/>
            <a:ext cx="3566160" cy="256032"/>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Mờ hóa (Fuzzification)</a:t>
            </a:r>
            <a:endParaRPr lang="en-US" sz="1100" dirty="0"/>
          </a:p>
        </p:txBody>
      </p:sp>
      <p:sp>
        <p:nvSpPr>
          <p:cNvPr id="42" name="Text 40"/>
          <p:cNvSpPr/>
          <p:nvPr/>
        </p:nvSpPr>
        <p:spPr>
          <a:xfrm>
            <a:off x="5193792" y="3300984"/>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Ánh xạ giá trị rõ → mức độ thuộc tập mờ μ ∈ [0,1]</a:t>
            </a:r>
            <a:endParaRPr lang="en-US" sz="950" dirty="0"/>
          </a:p>
        </p:txBody>
      </p:sp>
      <p:sp>
        <p:nvSpPr>
          <p:cNvPr id="43" name="Shape 41"/>
          <p:cNvSpPr/>
          <p:nvPr/>
        </p:nvSpPr>
        <p:spPr>
          <a:xfrm>
            <a:off x="4754880" y="3639312"/>
            <a:ext cx="347472" cy="347472"/>
          </a:xfrm>
          <a:prstGeom prst="ellipse">
            <a:avLst/>
          </a:prstGeom>
          <a:solidFill>
            <a:srgbClr val="F4A261"/>
          </a:solidFill>
          <a:ln w="12700">
            <a:solidFill>
              <a:srgbClr val="F4A261"/>
            </a:solidFill>
            <a:prstDash val="solid"/>
          </a:ln>
        </p:spPr>
      </p:sp>
      <p:sp>
        <p:nvSpPr>
          <p:cNvPr id="44" name="Text 42"/>
          <p:cNvSpPr/>
          <p:nvPr/>
        </p:nvSpPr>
        <p:spPr>
          <a:xfrm>
            <a:off x="4754880" y="363931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Text 43"/>
          <p:cNvSpPr/>
          <p:nvPr/>
        </p:nvSpPr>
        <p:spPr>
          <a:xfrm>
            <a:off x="5193792" y="3630168"/>
            <a:ext cx="3566160" cy="256032"/>
          </a:xfrm>
          <a:prstGeom prst="rect">
            <a:avLst/>
          </a:prstGeom>
          <a:noFill/>
          <a:ln/>
        </p:spPr>
        <p:txBody>
          <a:bodyPr wrap="square" rtlCol="0" anchor="ctr"/>
          <a:lstStyle/>
          <a:p>
            <a:pPr marL="0" indent="0">
              <a:buNone/>
            </a:pPr>
            <a:r>
              <a:rPr lang="en-US" sz="1100" b="1" dirty="0" err="1">
                <a:solidFill>
                  <a:srgbClr val="1B4332"/>
                </a:solidFill>
                <a:latin typeface="Calibri" pitchFamily="34" charset="0"/>
                <a:ea typeface="Calibri" pitchFamily="34" charset="-122"/>
                <a:cs typeface="Calibri" pitchFamily="34" charset="-120"/>
              </a:rPr>
              <a:t>Gán</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nhãn</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ngôn</a:t>
            </a:r>
            <a:r>
              <a:rPr lang="en-US" sz="1100" b="1" dirty="0">
                <a:solidFill>
                  <a:srgbClr val="1B4332"/>
                </a:solidFill>
                <a:latin typeface="Calibri" pitchFamily="34" charset="0"/>
                <a:ea typeface="Calibri" pitchFamily="34" charset="-122"/>
                <a:cs typeface="Calibri" pitchFamily="34" charset="-120"/>
              </a:rPr>
              <a:t> </a:t>
            </a:r>
            <a:r>
              <a:rPr lang="en-US" sz="1100" b="1" dirty="0" err="1">
                <a:solidFill>
                  <a:srgbClr val="1B4332"/>
                </a:solidFill>
                <a:latin typeface="Calibri" pitchFamily="34" charset="0"/>
                <a:ea typeface="Calibri" pitchFamily="34" charset="-122"/>
                <a:cs typeface="Calibri" pitchFamily="34" charset="-120"/>
              </a:rPr>
              <a:t>ngữ</a:t>
            </a:r>
            <a:endParaRPr lang="en-US" sz="1100" dirty="0"/>
          </a:p>
        </p:txBody>
      </p:sp>
      <p:sp>
        <p:nvSpPr>
          <p:cNvPr id="46" name="Text 44"/>
          <p:cNvSpPr/>
          <p:nvPr/>
        </p:nvSpPr>
        <p:spPr>
          <a:xfrm>
            <a:off x="5193792" y="3877056"/>
            <a:ext cx="356616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LOW / MEDIUM / HIGH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Demo – Giao Diện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Shape 5"/>
          <p:cNvSpPr/>
          <p:nvPr/>
        </p:nvSpPr>
        <p:spPr>
          <a:xfrm>
            <a:off x="228600" y="841248"/>
            <a:ext cx="5943600" cy="3749040"/>
          </a:xfrm>
          <a:prstGeom prst="rect">
            <a:avLst/>
          </a:prstGeom>
          <a:solidFill>
            <a:srgbClr val="1A1A2E"/>
          </a:solidFill>
          <a:ln w="25400">
            <a:solidFill>
              <a:srgbClr val="74C69D"/>
            </a:solidFill>
            <a:prstDash val="solid"/>
          </a:ln>
        </p:spPr>
      </p:sp>
      <p:sp>
        <p:nvSpPr>
          <p:cNvPr id="8" name="Text 6"/>
          <p:cNvSpPr/>
          <p:nvPr/>
        </p:nvSpPr>
        <p:spPr>
          <a:xfrm>
            <a:off x="228600" y="841248"/>
            <a:ext cx="594360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 DEMO STREAMLIT WEB APP ]</a:t>
            </a:r>
            <a:endParaRPr lang="en-US" sz="1300" dirty="0"/>
          </a:p>
        </p:txBody>
      </p:sp>
      <p:sp>
        <p:nvSpPr>
          <p:cNvPr id="9" name="Shape 7"/>
          <p:cNvSpPr/>
          <p:nvPr/>
        </p:nvSpPr>
        <p:spPr>
          <a:xfrm>
            <a:off x="365760" y="1325880"/>
            <a:ext cx="5669280" cy="347472"/>
          </a:xfrm>
          <a:prstGeom prst="rect">
            <a:avLst/>
          </a:prstGeom>
          <a:solidFill>
            <a:srgbClr val="2D6A4F">
              <a:alpha val="40000"/>
            </a:srgbClr>
          </a:solidFill>
          <a:ln w="6350">
            <a:solidFill>
              <a:srgbClr val="40916C"/>
            </a:solidFill>
            <a:prstDash val="solid"/>
          </a:ln>
        </p:spPr>
      </p:sp>
      <p:sp>
        <p:nvSpPr>
          <p:cNvPr id="10" name="Text 8"/>
          <p:cNvSpPr/>
          <p:nvPr/>
        </p:nvSpPr>
        <p:spPr>
          <a:xfrm>
            <a:off x="502920" y="1362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Upload Ảnh Lá Cây</a:t>
            </a:r>
            <a:endParaRPr lang="en-US" sz="1050" dirty="0"/>
          </a:p>
        </p:txBody>
      </p:sp>
      <p:sp>
        <p:nvSpPr>
          <p:cNvPr id="11" name="Shape 9"/>
          <p:cNvSpPr/>
          <p:nvPr/>
        </p:nvSpPr>
        <p:spPr>
          <a:xfrm>
            <a:off x="365760" y="1783080"/>
            <a:ext cx="5669280" cy="347472"/>
          </a:xfrm>
          <a:prstGeom prst="rect">
            <a:avLst/>
          </a:prstGeom>
          <a:solidFill>
            <a:srgbClr val="2D6A4F">
              <a:alpha val="40000"/>
            </a:srgbClr>
          </a:solidFill>
          <a:ln w="6350">
            <a:solidFill>
              <a:srgbClr val="40916C"/>
            </a:solidFill>
            <a:prstDash val="solid"/>
          </a:ln>
        </p:spPr>
      </p:sp>
      <p:sp>
        <p:nvSpPr>
          <p:cNvPr id="12" name="Text 10"/>
          <p:cNvSpPr/>
          <p:nvPr/>
        </p:nvSpPr>
        <p:spPr>
          <a:xfrm>
            <a:off x="502920" y="18196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Nhập thông số môi trường (Nhiệt độ, Độ ẩm)</a:t>
            </a:r>
            <a:endParaRPr lang="en-US" sz="1050" dirty="0"/>
          </a:p>
        </p:txBody>
      </p:sp>
      <p:sp>
        <p:nvSpPr>
          <p:cNvPr id="13" name="Shape 11"/>
          <p:cNvSpPr/>
          <p:nvPr/>
        </p:nvSpPr>
        <p:spPr>
          <a:xfrm>
            <a:off x="365760" y="2240280"/>
            <a:ext cx="5669280" cy="347472"/>
          </a:xfrm>
          <a:prstGeom prst="rect">
            <a:avLst/>
          </a:prstGeom>
          <a:solidFill>
            <a:srgbClr val="2D6A4F">
              <a:alpha val="40000"/>
            </a:srgbClr>
          </a:solidFill>
          <a:ln w="6350">
            <a:solidFill>
              <a:srgbClr val="40916C"/>
            </a:solidFill>
            <a:prstDash val="solid"/>
          </a:ln>
        </p:spPr>
      </p:sp>
      <p:sp>
        <p:nvSpPr>
          <p:cNvPr id="14" name="Text 12"/>
          <p:cNvSpPr/>
          <p:nvPr/>
        </p:nvSpPr>
        <p:spPr>
          <a:xfrm>
            <a:off x="502920" y="22768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Chạy phân tích CNN + Fuzzy</a:t>
            </a:r>
            <a:endParaRPr lang="en-US" sz="1050" dirty="0"/>
          </a:p>
        </p:txBody>
      </p:sp>
      <p:sp>
        <p:nvSpPr>
          <p:cNvPr id="15" name="Shape 13"/>
          <p:cNvSpPr/>
          <p:nvPr/>
        </p:nvSpPr>
        <p:spPr>
          <a:xfrm>
            <a:off x="365760" y="2697480"/>
            <a:ext cx="5669280" cy="347472"/>
          </a:xfrm>
          <a:prstGeom prst="rect">
            <a:avLst/>
          </a:prstGeom>
          <a:solidFill>
            <a:srgbClr val="2D6A4F">
              <a:alpha val="40000"/>
            </a:srgbClr>
          </a:solidFill>
          <a:ln w="6350">
            <a:solidFill>
              <a:srgbClr val="40916C"/>
            </a:solidFill>
            <a:prstDash val="solid"/>
          </a:ln>
        </p:spPr>
      </p:sp>
      <p:sp>
        <p:nvSpPr>
          <p:cNvPr id="16" name="Text 14"/>
          <p:cNvSpPr/>
          <p:nvPr/>
        </p:nvSpPr>
        <p:spPr>
          <a:xfrm>
            <a:off x="502920" y="27340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Kết quả phân loại bệnh &amp; Độ tin cậy</a:t>
            </a:r>
            <a:endParaRPr lang="en-US" sz="1050" dirty="0"/>
          </a:p>
        </p:txBody>
      </p:sp>
      <p:sp>
        <p:nvSpPr>
          <p:cNvPr id="17" name="Shape 15"/>
          <p:cNvSpPr/>
          <p:nvPr/>
        </p:nvSpPr>
        <p:spPr>
          <a:xfrm>
            <a:off x="365760" y="3154680"/>
            <a:ext cx="5669280" cy="347472"/>
          </a:xfrm>
          <a:prstGeom prst="rect">
            <a:avLst/>
          </a:prstGeom>
          <a:solidFill>
            <a:srgbClr val="2D6A4F">
              <a:alpha val="40000"/>
            </a:srgbClr>
          </a:solidFill>
          <a:ln w="6350">
            <a:solidFill>
              <a:srgbClr val="40916C"/>
            </a:solidFill>
            <a:prstDash val="solid"/>
          </a:ln>
        </p:spPr>
      </p:sp>
      <p:sp>
        <p:nvSpPr>
          <p:cNvPr id="18" name="Text 16"/>
          <p:cNvSpPr/>
          <p:nvPr/>
        </p:nvSpPr>
        <p:spPr>
          <a:xfrm>
            <a:off x="502920" y="31912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Báo cáo XAI – Luật mờ kích hoạt</a:t>
            </a:r>
            <a:endParaRPr lang="en-US" sz="1050" dirty="0"/>
          </a:p>
        </p:txBody>
      </p:sp>
      <p:sp>
        <p:nvSpPr>
          <p:cNvPr id="19" name="Shape 17"/>
          <p:cNvSpPr/>
          <p:nvPr/>
        </p:nvSpPr>
        <p:spPr>
          <a:xfrm>
            <a:off x="365760" y="3611880"/>
            <a:ext cx="5669280" cy="347472"/>
          </a:xfrm>
          <a:prstGeom prst="rect">
            <a:avLst/>
          </a:prstGeom>
          <a:solidFill>
            <a:srgbClr val="2D6A4F">
              <a:alpha val="40000"/>
            </a:srgbClr>
          </a:solidFill>
          <a:ln w="6350">
            <a:solidFill>
              <a:srgbClr val="40916C"/>
            </a:solidFill>
            <a:prstDash val="solid"/>
          </a:ln>
        </p:spPr>
      </p:sp>
      <p:sp>
        <p:nvSpPr>
          <p:cNvPr id="20" name="Text 18"/>
          <p:cNvSpPr/>
          <p:nvPr/>
        </p:nvSpPr>
        <p:spPr>
          <a:xfrm>
            <a:off x="502920" y="3648456"/>
            <a:ext cx="5394960" cy="274320"/>
          </a:xfrm>
          <a:prstGeom prst="rect">
            <a:avLst/>
          </a:prstGeom>
          <a:noFill/>
          <a:ln/>
        </p:spPr>
        <p:txBody>
          <a:bodyPr wrap="square" rtlCol="0" anchor="ctr"/>
          <a:lstStyle/>
          <a:p>
            <a:pPr marL="0" indent="0">
              <a:buNone/>
            </a:pPr>
            <a:r>
              <a:rPr lang="en-US" sz="1050" dirty="0">
                <a:solidFill>
                  <a:srgbClr val="D8F3DC"/>
                </a:solidFill>
                <a:latin typeface="Calibri" pitchFamily="34" charset="0"/>
                <a:ea typeface="Calibri" pitchFamily="34" charset="-122"/>
                <a:cs typeface="Calibri" pitchFamily="34" charset="-120"/>
              </a:rPr>
              <a:t>📝  Khuyến nghị nông nghiệp tự động</a:t>
            </a:r>
            <a:endParaRPr lang="en-US" sz="1050" dirty="0"/>
          </a:p>
        </p:txBody>
      </p:sp>
      <p:sp>
        <p:nvSpPr>
          <p:cNvPr id="21" name="Text 19"/>
          <p:cNvSpPr/>
          <p:nvPr/>
        </p:nvSpPr>
        <p:spPr>
          <a:xfrm>
            <a:off x="6400800" y="841248"/>
            <a:ext cx="2514600" cy="384048"/>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Công Nghệ Sử Dụng</a:t>
            </a:r>
            <a:endParaRPr lang="en-US" sz="1300" dirty="0"/>
          </a:p>
        </p:txBody>
      </p:sp>
      <p:sp>
        <p:nvSpPr>
          <p:cNvPr id="22" name="Shape 20"/>
          <p:cNvSpPr/>
          <p:nvPr/>
        </p:nvSpPr>
        <p:spPr>
          <a:xfrm>
            <a:off x="6400800" y="1298448"/>
            <a:ext cx="2514600" cy="329184"/>
          </a:xfrm>
          <a:prstGeom prst="rect">
            <a:avLst/>
          </a:prstGeom>
          <a:solidFill>
            <a:srgbClr val="D8F3DC"/>
          </a:solidFill>
          <a:ln w="6350">
            <a:solidFill>
              <a:srgbClr val="74C69D"/>
            </a:solidFill>
            <a:prstDash val="solid"/>
          </a:ln>
        </p:spPr>
      </p:sp>
      <p:sp>
        <p:nvSpPr>
          <p:cNvPr id="23" name="Text 21"/>
          <p:cNvSpPr/>
          <p:nvPr/>
        </p:nvSpPr>
        <p:spPr>
          <a:xfrm>
            <a:off x="6492240" y="13350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Python 3.10+</a:t>
            </a:r>
            <a:endParaRPr lang="en-US" sz="1000" dirty="0"/>
          </a:p>
        </p:txBody>
      </p:sp>
      <p:sp>
        <p:nvSpPr>
          <p:cNvPr id="24" name="Text 22"/>
          <p:cNvSpPr/>
          <p:nvPr/>
        </p:nvSpPr>
        <p:spPr>
          <a:xfrm>
            <a:off x="7589520" y="13350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Ngôn ngữ chính</a:t>
            </a:r>
            <a:endParaRPr lang="en-US" sz="950" dirty="0"/>
          </a:p>
        </p:txBody>
      </p:sp>
      <p:sp>
        <p:nvSpPr>
          <p:cNvPr id="25" name="Shape 23"/>
          <p:cNvSpPr/>
          <p:nvPr/>
        </p:nvSpPr>
        <p:spPr>
          <a:xfrm>
            <a:off x="6400800" y="1664208"/>
            <a:ext cx="2514600" cy="329184"/>
          </a:xfrm>
          <a:prstGeom prst="rect">
            <a:avLst/>
          </a:prstGeom>
          <a:solidFill>
            <a:srgbClr val="F8F9FA"/>
          </a:solidFill>
          <a:ln w="6350">
            <a:solidFill>
              <a:srgbClr val="74C69D"/>
            </a:solidFill>
            <a:prstDash val="solid"/>
          </a:ln>
        </p:spPr>
      </p:sp>
      <p:sp>
        <p:nvSpPr>
          <p:cNvPr id="26" name="Text 24"/>
          <p:cNvSpPr/>
          <p:nvPr/>
        </p:nvSpPr>
        <p:spPr>
          <a:xfrm>
            <a:off x="6492240" y="17007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PyTorch</a:t>
            </a:r>
            <a:endParaRPr lang="en-US" sz="1000" dirty="0"/>
          </a:p>
        </p:txBody>
      </p:sp>
      <p:sp>
        <p:nvSpPr>
          <p:cNvPr id="27" name="Text 25"/>
          <p:cNvSpPr/>
          <p:nvPr/>
        </p:nvSpPr>
        <p:spPr>
          <a:xfrm>
            <a:off x="7589520" y="17007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Xây dựng CNN</a:t>
            </a:r>
            <a:endParaRPr lang="en-US" sz="950" dirty="0"/>
          </a:p>
        </p:txBody>
      </p:sp>
      <p:sp>
        <p:nvSpPr>
          <p:cNvPr id="28" name="Shape 26"/>
          <p:cNvSpPr/>
          <p:nvPr/>
        </p:nvSpPr>
        <p:spPr>
          <a:xfrm>
            <a:off x="6400800" y="2029968"/>
            <a:ext cx="2514600" cy="329184"/>
          </a:xfrm>
          <a:prstGeom prst="rect">
            <a:avLst/>
          </a:prstGeom>
          <a:solidFill>
            <a:srgbClr val="D8F3DC"/>
          </a:solidFill>
          <a:ln w="6350">
            <a:solidFill>
              <a:srgbClr val="74C69D"/>
            </a:solidFill>
            <a:prstDash val="solid"/>
          </a:ln>
        </p:spPr>
      </p:sp>
      <p:sp>
        <p:nvSpPr>
          <p:cNvPr id="29" name="Text 27"/>
          <p:cNvSpPr/>
          <p:nvPr/>
        </p:nvSpPr>
        <p:spPr>
          <a:xfrm>
            <a:off x="6492240" y="20665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TorchVision</a:t>
            </a:r>
            <a:endParaRPr lang="en-US" sz="1000" dirty="0"/>
          </a:p>
        </p:txBody>
      </p:sp>
      <p:sp>
        <p:nvSpPr>
          <p:cNvPr id="30" name="Text 28"/>
          <p:cNvSpPr/>
          <p:nvPr/>
        </p:nvSpPr>
        <p:spPr>
          <a:xfrm>
            <a:off x="7589520" y="20665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EfficientNet-B0</a:t>
            </a:r>
            <a:endParaRPr lang="en-US" sz="950" dirty="0"/>
          </a:p>
        </p:txBody>
      </p:sp>
      <p:sp>
        <p:nvSpPr>
          <p:cNvPr id="31" name="Shape 29"/>
          <p:cNvSpPr/>
          <p:nvPr/>
        </p:nvSpPr>
        <p:spPr>
          <a:xfrm>
            <a:off x="6400800" y="2395728"/>
            <a:ext cx="2514600" cy="329184"/>
          </a:xfrm>
          <a:prstGeom prst="rect">
            <a:avLst/>
          </a:prstGeom>
          <a:solidFill>
            <a:srgbClr val="F8F9FA"/>
          </a:solidFill>
          <a:ln w="6350">
            <a:solidFill>
              <a:srgbClr val="74C69D"/>
            </a:solidFill>
            <a:prstDash val="solid"/>
          </a:ln>
        </p:spPr>
      </p:sp>
      <p:sp>
        <p:nvSpPr>
          <p:cNvPr id="32" name="Text 30"/>
          <p:cNvSpPr/>
          <p:nvPr/>
        </p:nvSpPr>
        <p:spPr>
          <a:xfrm>
            <a:off x="6492240" y="243230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scikit-learn</a:t>
            </a:r>
            <a:endParaRPr lang="en-US" sz="1000" dirty="0"/>
          </a:p>
        </p:txBody>
      </p:sp>
      <p:sp>
        <p:nvSpPr>
          <p:cNvPr id="33" name="Text 31"/>
          <p:cNvSpPr/>
          <p:nvPr/>
        </p:nvSpPr>
        <p:spPr>
          <a:xfrm>
            <a:off x="7589520" y="243230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Đánh giá mô hình</a:t>
            </a:r>
            <a:endParaRPr lang="en-US" sz="950" dirty="0"/>
          </a:p>
        </p:txBody>
      </p:sp>
      <p:sp>
        <p:nvSpPr>
          <p:cNvPr id="34" name="Shape 32"/>
          <p:cNvSpPr/>
          <p:nvPr/>
        </p:nvSpPr>
        <p:spPr>
          <a:xfrm>
            <a:off x="6400800" y="2761488"/>
            <a:ext cx="2514600" cy="329184"/>
          </a:xfrm>
          <a:prstGeom prst="rect">
            <a:avLst/>
          </a:prstGeom>
          <a:solidFill>
            <a:srgbClr val="D8F3DC"/>
          </a:solidFill>
          <a:ln w="6350">
            <a:solidFill>
              <a:srgbClr val="74C69D"/>
            </a:solidFill>
            <a:prstDash val="solid"/>
          </a:ln>
        </p:spPr>
      </p:sp>
      <p:sp>
        <p:nvSpPr>
          <p:cNvPr id="35" name="Text 33"/>
          <p:cNvSpPr/>
          <p:nvPr/>
        </p:nvSpPr>
        <p:spPr>
          <a:xfrm>
            <a:off x="6492240" y="279806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Streamlit</a:t>
            </a:r>
            <a:endParaRPr lang="en-US" sz="1000" dirty="0"/>
          </a:p>
        </p:txBody>
      </p:sp>
      <p:sp>
        <p:nvSpPr>
          <p:cNvPr id="36" name="Text 34"/>
          <p:cNvSpPr/>
          <p:nvPr/>
        </p:nvSpPr>
        <p:spPr>
          <a:xfrm>
            <a:off x="7589520" y="279806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Giao diện Web Demo</a:t>
            </a:r>
            <a:endParaRPr lang="en-US" sz="950" dirty="0"/>
          </a:p>
        </p:txBody>
      </p:sp>
      <p:sp>
        <p:nvSpPr>
          <p:cNvPr id="37" name="Shape 35"/>
          <p:cNvSpPr/>
          <p:nvPr/>
        </p:nvSpPr>
        <p:spPr>
          <a:xfrm>
            <a:off x="6400800" y="3127248"/>
            <a:ext cx="2514600" cy="329184"/>
          </a:xfrm>
          <a:prstGeom prst="rect">
            <a:avLst/>
          </a:prstGeom>
          <a:solidFill>
            <a:srgbClr val="F8F9FA"/>
          </a:solidFill>
          <a:ln w="6350">
            <a:solidFill>
              <a:srgbClr val="74C69D"/>
            </a:solidFill>
            <a:prstDash val="solid"/>
          </a:ln>
        </p:spPr>
      </p:sp>
      <p:sp>
        <p:nvSpPr>
          <p:cNvPr id="38" name="Text 36"/>
          <p:cNvSpPr/>
          <p:nvPr/>
        </p:nvSpPr>
        <p:spPr>
          <a:xfrm>
            <a:off x="6492240" y="316382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NumPy / Pandas</a:t>
            </a:r>
            <a:endParaRPr lang="en-US" sz="1000" dirty="0"/>
          </a:p>
        </p:txBody>
      </p:sp>
      <p:sp>
        <p:nvSpPr>
          <p:cNvPr id="39" name="Text 37"/>
          <p:cNvSpPr/>
          <p:nvPr/>
        </p:nvSpPr>
        <p:spPr>
          <a:xfrm>
            <a:off x="7589520" y="316382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dữ liệu</a:t>
            </a:r>
            <a:endParaRPr lang="en-US" sz="950" dirty="0"/>
          </a:p>
        </p:txBody>
      </p:sp>
      <p:sp>
        <p:nvSpPr>
          <p:cNvPr id="40" name="Shape 38"/>
          <p:cNvSpPr/>
          <p:nvPr/>
        </p:nvSpPr>
        <p:spPr>
          <a:xfrm>
            <a:off x="6400800" y="3493008"/>
            <a:ext cx="2514600" cy="329184"/>
          </a:xfrm>
          <a:prstGeom prst="rect">
            <a:avLst/>
          </a:prstGeom>
          <a:solidFill>
            <a:srgbClr val="D8F3DC"/>
          </a:solidFill>
          <a:ln w="6350">
            <a:solidFill>
              <a:srgbClr val="74C69D"/>
            </a:solidFill>
            <a:prstDash val="solid"/>
          </a:ln>
        </p:spPr>
      </p:sp>
      <p:sp>
        <p:nvSpPr>
          <p:cNvPr id="41" name="Text 39"/>
          <p:cNvSpPr/>
          <p:nvPr/>
        </p:nvSpPr>
        <p:spPr>
          <a:xfrm>
            <a:off x="6492240" y="352958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Pillow (PIL)</a:t>
            </a:r>
            <a:endParaRPr lang="en-US" sz="1000" dirty="0"/>
          </a:p>
        </p:txBody>
      </p:sp>
      <p:sp>
        <p:nvSpPr>
          <p:cNvPr id="42" name="Text 40"/>
          <p:cNvSpPr/>
          <p:nvPr/>
        </p:nvSpPr>
        <p:spPr>
          <a:xfrm>
            <a:off x="7589520" y="352958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Xử lý ảnh đầu vào</a:t>
            </a:r>
            <a:endParaRPr lang="en-US" sz="950" dirty="0"/>
          </a:p>
        </p:txBody>
      </p:sp>
      <p:sp>
        <p:nvSpPr>
          <p:cNvPr id="43" name="Shape 41"/>
          <p:cNvSpPr/>
          <p:nvPr/>
        </p:nvSpPr>
        <p:spPr>
          <a:xfrm>
            <a:off x="6400800" y="3858768"/>
            <a:ext cx="2514600" cy="329184"/>
          </a:xfrm>
          <a:prstGeom prst="rect">
            <a:avLst/>
          </a:prstGeom>
          <a:solidFill>
            <a:srgbClr val="F8F9FA"/>
          </a:solidFill>
          <a:ln w="6350">
            <a:solidFill>
              <a:srgbClr val="74C69D"/>
            </a:solidFill>
            <a:prstDash val="solid"/>
          </a:ln>
        </p:spPr>
      </p:sp>
      <p:sp>
        <p:nvSpPr>
          <p:cNvPr id="44" name="Text 42"/>
          <p:cNvSpPr/>
          <p:nvPr/>
        </p:nvSpPr>
        <p:spPr>
          <a:xfrm>
            <a:off x="6492240" y="3895344"/>
            <a:ext cx="1097280" cy="256032"/>
          </a:xfrm>
          <a:prstGeom prst="rect">
            <a:avLst/>
          </a:prstGeom>
          <a:noFill/>
          <a:ln/>
        </p:spPr>
        <p:txBody>
          <a:bodyPr wrap="square"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JSON</a:t>
            </a:r>
            <a:endParaRPr lang="en-US" sz="1000" dirty="0"/>
          </a:p>
        </p:txBody>
      </p:sp>
      <p:sp>
        <p:nvSpPr>
          <p:cNvPr id="45" name="Text 43"/>
          <p:cNvSpPr/>
          <p:nvPr/>
        </p:nvSpPr>
        <p:spPr>
          <a:xfrm>
            <a:off x="7589520" y="3895344"/>
            <a:ext cx="1234440" cy="256032"/>
          </a:xfrm>
          <a:prstGeom prst="rect">
            <a:avLst/>
          </a:prstGeom>
          <a:noFill/>
          <a:ln/>
        </p:spPr>
        <p:txBody>
          <a:bodyPr wrap="square" rtlCol="0" anchor="ctr"/>
          <a:lstStyle/>
          <a:p>
            <a:pPr marL="0" indent="0">
              <a:buNone/>
            </a:pPr>
            <a:r>
              <a:rPr lang="en-US" sz="950" dirty="0">
                <a:solidFill>
                  <a:srgbClr val="6C757D"/>
                </a:solidFill>
                <a:latin typeface="Calibri" pitchFamily="34" charset="0"/>
                <a:ea typeface="Calibri" pitchFamily="34" charset="-122"/>
                <a:cs typeface="Calibri" pitchFamily="34" charset="-120"/>
              </a:rPr>
              <a:t>Lưu báo cáo XAI</a:t>
            </a:r>
            <a:endParaRPr lang="en-US" sz="950" dirty="0"/>
          </a:p>
        </p:txBody>
      </p:sp>
      <p:sp>
        <p:nvSpPr>
          <p:cNvPr id="46" name="Shape 44"/>
          <p:cNvSpPr/>
          <p:nvPr/>
        </p:nvSpPr>
        <p:spPr>
          <a:xfrm>
            <a:off x="6400800" y="4224528"/>
            <a:ext cx="2514600" cy="365760"/>
          </a:xfrm>
          <a:prstGeom prst="rect">
            <a:avLst/>
          </a:prstGeom>
          <a:solidFill>
            <a:srgbClr val="1B4332"/>
          </a:solidFill>
          <a:ln w="12700">
            <a:solidFill>
              <a:srgbClr val="1B4332"/>
            </a:solidFill>
            <a:prstDash val="solid"/>
          </a:ln>
        </p:spPr>
      </p:sp>
      <p:sp>
        <p:nvSpPr>
          <p:cNvPr id="47" name="Text 45"/>
          <p:cNvSpPr/>
          <p:nvPr/>
        </p:nvSpPr>
        <p:spPr>
          <a:xfrm>
            <a:off x="6400800" y="4224528"/>
            <a:ext cx="2514600" cy="365760"/>
          </a:xfrm>
          <a:prstGeom prst="rect">
            <a:avLst/>
          </a:prstGeom>
          <a:noFill/>
          <a:ln/>
        </p:spPr>
        <p:txBody>
          <a:bodyPr wrap="square" rtlCol="0" anchor="ctr"/>
          <a:lstStyle/>
          <a:p>
            <a:pPr marL="0" indent="0" algn="ctr">
              <a:buNone/>
            </a:pPr>
            <a:r>
              <a:rPr lang="en-US" sz="1050" b="1" dirty="0">
                <a:solidFill>
                  <a:srgbClr val="F4A261"/>
                </a:solidFill>
                <a:latin typeface="Calibri" pitchFamily="34" charset="0"/>
                <a:ea typeface="Calibri" pitchFamily="34" charset="-122"/>
                <a:cs typeface="Calibri" pitchFamily="34" charset="-120"/>
              </a:rPr>
              <a:t>  Explainable AI (XAI) enabled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w="12700">
            <a:solidFill>
              <a:srgbClr val="1B4332"/>
            </a:solidFill>
            <a:prstDash val="solid"/>
          </a:ln>
        </p:spPr>
      </p:sp>
      <p:sp>
        <p:nvSpPr>
          <p:cNvPr id="3" name="Shape 1"/>
          <p:cNvSpPr/>
          <p:nvPr/>
        </p:nvSpPr>
        <p:spPr>
          <a:xfrm>
            <a:off x="0" y="685800"/>
            <a:ext cx="9144000" cy="45720"/>
          </a:xfrm>
          <a:prstGeom prst="rect">
            <a:avLst/>
          </a:prstGeom>
          <a:solidFill>
            <a:srgbClr val="74C69D"/>
          </a:solidFill>
          <a:ln w="12700">
            <a:solidFill>
              <a:srgbClr val="74C69D"/>
            </a:solidFill>
            <a:prstDash val="solid"/>
          </a:ln>
        </p:spPr>
      </p:sp>
      <p:sp>
        <p:nvSpPr>
          <p:cNvPr id="4" name="Text 2"/>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Kết Quả – Đánh Giá Hệ Thống</a:t>
            </a:r>
            <a:endParaRPr lang="en-US" sz="2000" dirty="0"/>
          </a:p>
        </p:txBody>
      </p:sp>
      <p:sp>
        <p:nvSpPr>
          <p:cNvPr id="5" name="Shape 3"/>
          <p:cNvSpPr/>
          <p:nvPr/>
        </p:nvSpPr>
        <p:spPr>
          <a:xfrm>
            <a:off x="0" y="4869180"/>
            <a:ext cx="9144000" cy="274320"/>
          </a:xfrm>
          <a:prstGeom prst="rect">
            <a:avLst/>
          </a:prstGeom>
          <a:solidFill>
            <a:srgbClr val="D8F3DC"/>
          </a:solidFill>
          <a:ln w="12700">
            <a:solidFill>
              <a:srgbClr val="D8F3DC"/>
            </a:solidFill>
            <a:prstDash val="solid"/>
          </a:ln>
        </p:spPr>
      </p:sp>
      <p:sp>
        <p:nvSpPr>
          <p:cNvPr id="6" name="Text 4"/>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sp>
        <p:nvSpPr>
          <p:cNvPr id="7" name="Text 5"/>
          <p:cNvSpPr/>
          <p:nvPr/>
        </p:nvSpPr>
        <p:spPr>
          <a:xfrm>
            <a:off x="228600" y="804672"/>
            <a:ext cx="4572000" cy="36576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Hiệu Năng Mô Hình EfficientNet-B0</a:t>
            </a:r>
            <a:endParaRPr lang="en-US" sz="1300" dirty="0"/>
          </a:p>
        </p:txBody>
      </p:sp>
      <p:sp>
        <p:nvSpPr>
          <p:cNvPr id="8" name="Shape 6"/>
          <p:cNvSpPr/>
          <p:nvPr/>
        </p:nvSpPr>
        <p:spPr>
          <a:xfrm>
            <a:off x="228600"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9" name="Text 7"/>
          <p:cNvSpPr/>
          <p:nvPr/>
        </p:nvSpPr>
        <p:spPr>
          <a:xfrm>
            <a:off x="228600"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92.04%</a:t>
            </a:r>
            <a:endParaRPr lang="en-US" sz="2200" dirty="0"/>
          </a:p>
        </p:txBody>
      </p:sp>
      <p:sp>
        <p:nvSpPr>
          <p:cNvPr id="10" name="Text 8"/>
          <p:cNvSpPr/>
          <p:nvPr/>
        </p:nvSpPr>
        <p:spPr>
          <a:xfrm>
            <a:off x="228600"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Validation</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Accuracy</a:t>
            </a:r>
            <a:endParaRPr lang="en-US" sz="1000" dirty="0"/>
          </a:p>
        </p:txBody>
      </p:sp>
      <p:sp>
        <p:nvSpPr>
          <p:cNvPr id="11" name="Shape 9"/>
          <p:cNvSpPr/>
          <p:nvPr/>
        </p:nvSpPr>
        <p:spPr>
          <a:xfrm>
            <a:off x="1801368"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2" name="Text 10"/>
          <p:cNvSpPr/>
          <p:nvPr/>
        </p:nvSpPr>
        <p:spPr>
          <a:xfrm>
            <a:off x="1801368"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0.9190</a:t>
            </a:r>
            <a:endParaRPr lang="en-US" sz="2200" dirty="0"/>
          </a:p>
        </p:txBody>
      </p:sp>
      <p:sp>
        <p:nvSpPr>
          <p:cNvPr id="13" name="Text 11"/>
          <p:cNvSpPr/>
          <p:nvPr/>
        </p:nvSpPr>
        <p:spPr>
          <a:xfrm>
            <a:off x="1801368"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Macro</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sp>
        <p:nvSpPr>
          <p:cNvPr id="14" name="Shape 12"/>
          <p:cNvSpPr/>
          <p:nvPr/>
        </p:nvSpPr>
        <p:spPr>
          <a:xfrm>
            <a:off x="3374136" y="1207008"/>
            <a:ext cx="1417320" cy="1097280"/>
          </a:xfrm>
          <a:prstGeom prst="rect">
            <a:avLst/>
          </a:prstGeom>
          <a:solidFill>
            <a:srgbClr val="1B4332"/>
          </a:solidFill>
          <a:ln w="12700">
            <a:solidFill>
              <a:srgbClr val="1B4332"/>
            </a:solidFill>
            <a:prstDash val="solid"/>
          </a:ln>
          <a:effectLst>
            <a:outerShdw blurRad="76200" dist="25400" dir="8100000" algn="bl" rotWithShape="0">
              <a:srgbClr val="666666">
                <a:alpha val="30000"/>
              </a:srgbClr>
            </a:outerShdw>
          </a:effectLst>
        </p:spPr>
      </p:sp>
      <p:sp>
        <p:nvSpPr>
          <p:cNvPr id="15" name="Text 13"/>
          <p:cNvSpPr/>
          <p:nvPr/>
        </p:nvSpPr>
        <p:spPr>
          <a:xfrm>
            <a:off x="3374136" y="1234440"/>
            <a:ext cx="1417320" cy="594360"/>
          </a:xfrm>
          <a:prstGeom prst="rect">
            <a:avLst/>
          </a:prstGeom>
          <a:noFill/>
          <a:ln/>
        </p:spPr>
        <p:txBody>
          <a:bodyPr wrap="square" rtlCol="0" anchor="ctr"/>
          <a:lstStyle/>
          <a:p>
            <a:pPr marL="0" indent="0" algn="ctr">
              <a:buNone/>
            </a:pPr>
            <a:r>
              <a:rPr lang="en-US" sz="2200" b="1" dirty="0">
                <a:solidFill>
                  <a:srgbClr val="F4A261"/>
                </a:solidFill>
                <a:latin typeface="Calibri" pitchFamily="34" charset="0"/>
                <a:ea typeface="Calibri" pitchFamily="34" charset="-122"/>
                <a:cs typeface="Calibri" pitchFamily="34" charset="-120"/>
              </a:rPr>
              <a:t>0.9191</a:t>
            </a:r>
            <a:endParaRPr lang="en-US" sz="2200" dirty="0"/>
          </a:p>
        </p:txBody>
      </p:sp>
      <p:sp>
        <p:nvSpPr>
          <p:cNvPr id="16" name="Text 14"/>
          <p:cNvSpPr/>
          <p:nvPr/>
        </p:nvSpPr>
        <p:spPr>
          <a:xfrm>
            <a:off x="3374136" y="1783080"/>
            <a:ext cx="1417320" cy="475488"/>
          </a:xfrm>
          <a:prstGeom prst="rect">
            <a:avLst/>
          </a:prstGeom>
          <a:noFill/>
          <a:ln/>
        </p:spPr>
        <p:txBody>
          <a:bodyPr wrap="square"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Weighted</a:t>
            </a:r>
            <a:endParaRPr lang="en-US" sz="1000" dirty="0"/>
          </a:p>
          <a:p>
            <a:pPr marL="0" indent="0" algn="ctr">
              <a:buNone/>
            </a:pPr>
            <a:r>
              <a:rPr lang="en-US" sz="1000" dirty="0">
                <a:solidFill>
                  <a:srgbClr val="D8F3DC"/>
                </a:solidFill>
                <a:latin typeface="Calibri" pitchFamily="34" charset="0"/>
                <a:ea typeface="Calibri" pitchFamily="34" charset="-122"/>
                <a:cs typeface="Calibri" pitchFamily="34" charset="-120"/>
              </a:rPr>
              <a:t>F1-Score</a:t>
            </a:r>
            <a:endParaRPr lang="en-US" sz="1000" dirty="0"/>
          </a:p>
        </p:txBody>
      </p:sp>
      <p:graphicFrame>
        <p:nvGraphicFramePr>
          <p:cNvPr id="17" name="Chart 0"/>
          <p:cNvGraphicFramePr/>
          <p:nvPr/>
        </p:nvGraphicFramePr>
        <p:xfrm>
          <a:off x="228600" y="2423160"/>
          <a:ext cx="42062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5092504" y="896112"/>
            <a:ext cx="3822895" cy="2743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 Kết Quả Suy Diễn Mờ – Ca Thử Nghiệm</a:t>
            </a:r>
            <a:endParaRPr lang="en-US" sz="1300" dirty="0"/>
          </a:p>
        </p:txBody>
      </p:sp>
      <p:sp>
        <p:nvSpPr>
          <p:cNvPr id="19" name="Text 16"/>
          <p:cNvSpPr/>
          <p:nvPr/>
        </p:nvSpPr>
        <p:spPr>
          <a:xfrm>
            <a:off x="5092504" y="1257300"/>
            <a:ext cx="3822895" cy="205740"/>
          </a:xfrm>
          <a:prstGeom prst="rect">
            <a:avLst/>
          </a:prstGeom>
          <a:noFill/>
          <a:ln/>
        </p:spPr>
        <p:txBody>
          <a:bodyPr wrap="square" rtlCol="0" anchor="ctr"/>
          <a:lstStyle/>
          <a:p>
            <a:pPr marL="0" indent="0">
              <a:buNone/>
            </a:pPr>
            <a:r>
              <a:rPr lang="en-US" sz="950" i="1" dirty="0">
                <a:solidFill>
                  <a:srgbClr val="6C757D"/>
                </a:solidFill>
                <a:latin typeface="Calibri" pitchFamily="34" charset="0"/>
                <a:ea typeface="Calibri" pitchFamily="34" charset="-122"/>
                <a:cs typeface="Calibri" pitchFamily="34" charset="-120"/>
              </a:rPr>
              <a:t>Đầu vào: Ảnh BLAST9_087.jpg | 28°C | 85% Humidity</a:t>
            </a:r>
            <a:endParaRPr lang="en-US" sz="950" dirty="0"/>
          </a:p>
        </p:txBody>
      </p:sp>
      <p:sp>
        <p:nvSpPr>
          <p:cNvPr id="20" name="Shape 17"/>
          <p:cNvSpPr/>
          <p:nvPr/>
        </p:nvSpPr>
        <p:spPr>
          <a:xfrm>
            <a:off x="4958710" y="1600200"/>
            <a:ext cx="2630809" cy="274320"/>
          </a:xfrm>
          <a:prstGeom prst="rect">
            <a:avLst/>
          </a:prstGeom>
          <a:solidFill>
            <a:srgbClr val="D8F3DC"/>
          </a:solidFill>
          <a:ln w="6350">
            <a:solidFill>
              <a:srgbClr val="DDDDDD"/>
            </a:solidFill>
            <a:prstDash val="solid"/>
          </a:ln>
        </p:spPr>
      </p:sp>
      <p:sp>
        <p:nvSpPr>
          <p:cNvPr id="21" name="Shape 18"/>
          <p:cNvSpPr/>
          <p:nvPr/>
        </p:nvSpPr>
        <p:spPr>
          <a:xfrm>
            <a:off x="7723314" y="1600200"/>
            <a:ext cx="1192086" cy="274320"/>
          </a:xfrm>
          <a:prstGeom prst="rect">
            <a:avLst/>
          </a:prstGeom>
          <a:solidFill>
            <a:srgbClr val="1B4332"/>
          </a:solidFill>
          <a:ln w="12700">
            <a:solidFill>
              <a:srgbClr val="1B4332"/>
            </a:solidFill>
            <a:prstDash val="solid"/>
          </a:ln>
        </p:spPr>
      </p:sp>
      <p:sp>
        <p:nvSpPr>
          <p:cNvPr id="22" name="Text 19"/>
          <p:cNvSpPr/>
          <p:nvPr/>
        </p:nvSpPr>
        <p:spPr>
          <a:xfrm>
            <a:off x="5031696" y="162306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CNN: Mild Blast</a:t>
            </a:r>
            <a:endParaRPr lang="en-US" sz="1000" dirty="0"/>
          </a:p>
        </p:txBody>
      </p:sp>
      <p:sp>
        <p:nvSpPr>
          <p:cNvPr id="23" name="Text 20"/>
          <p:cNvSpPr/>
          <p:nvPr/>
        </p:nvSpPr>
        <p:spPr>
          <a:xfrm>
            <a:off x="7723314" y="162306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97.47%</a:t>
            </a:r>
            <a:endParaRPr lang="en-US" sz="1000" dirty="0"/>
          </a:p>
        </p:txBody>
      </p:sp>
      <p:sp>
        <p:nvSpPr>
          <p:cNvPr id="24" name="Shape 21"/>
          <p:cNvSpPr/>
          <p:nvPr/>
        </p:nvSpPr>
        <p:spPr>
          <a:xfrm>
            <a:off x="4958710" y="2011680"/>
            <a:ext cx="2630809" cy="274320"/>
          </a:xfrm>
          <a:prstGeom prst="rect">
            <a:avLst/>
          </a:prstGeom>
          <a:solidFill>
            <a:srgbClr val="E8F5E9"/>
          </a:solidFill>
          <a:ln w="6350">
            <a:solidFill>
              <a:srgbClr val="DDDDDD"/>
            </a:solidFill>
            <a:prstDash val="solid"/>
          </a:ln>
        </p:spPr>
      </p:sp>
      <p:sp>
        <p:nvSpPr>
          <p:cNvPr id="25" name="Shape 22"/>
          <p:cNvSpPr/>
          <p:nvPr/>
        </p:nvSpPr>
        <p:spPr>
          <a:xfrm>
            <a:off x="7723314" y="2011680"/>
            <a:ext cx="1192086" cy="274320"/>
          </a:xfrm>
          <a:prstGeom prst="rect">
            <a:avLst/>
          </a:prstGeom>
          <a:solidFill>
            <a:srgbClr val="1B4332"/>
          </a:solidFill>
          <a:ln w="12700">
            <a:solidFill>
              <a:srgbClr val="1B4332"/>
            </a:solidFill>
            <a:prstDash val="solid"/>
          </a:ln>
        </p:spPr>
      </p:sp>
      <p:sp>
        <p:nvSpPr>
          <p:cNvPr id="26" name="Text 23"/>
          <p:cNvSpPr/>
          <p:nvPr/>
        </p:nvSpPr>
        <p:spPr>
          <a:xfrm>
            <a:off x="5031696" y="2034540"/>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Diagnostic Confidence</a:t>
            </a:r>
            <a:endParaRPr lang="en-US" sz="1000" dirty="0"/>
          </a:p>
        </p:txBody>
      </p:sp>
      <p:sp>
        <p:nvSpPr>
          <p:cNvPr id="27" name="Text 24"/>
          <p:cNvSpPr/>
          <p:nvPr/>
        </p:nvSpPr>
        <p:spPr>
          <a:xfrm>
            <a:off x="7723314" y="2034540"/>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95 / 100</a:t>
            </a:r>
            <a:endParaRPr lang="en-US" sz="1000" dirty="0"/>
          </a:p>
        </p:txBody>
      </p:sp>
      <p:sp>
        <p:nvSpPr>
          <p:cNvPr id="32" name="Shape 29"/>
          <p:cNvSpPr/>
          <p:nvPr/>
        </p:nvSpPr>
        <p:spPr>
          <a:xfrm>
            <a:off x="4958710" y="2415788"/>
            <a:ext cx="2630809" cy="274320"/>
          </a:xfrm>
          <a:prstGeom prst="rect">
            <a:avLst/>
          </a:prstGeom>
          <a:solidFill>
            <a:srgbClr val="FFF9C4"/>
          </a:solidFill>
          <a:ln w="6350">
            <a:solidFill>
              <a:srgbClr val="DDDDDD"/>
            </a:solidFill>
            <a:prstDash val="solid"/>
          </a:ln>
        </p:spPr>
      </p:sp>
      <p:sp>
        <p:nvSpPr>
          <p:cNvPr id="33" name="Shape 30"/>
          <p:cNvSpPr/>
          <p:nvPr/>
        </p:nvSpPr>
        <p:spPr>
          <a:xfrm>
            <a:off x="7723314" y="2415788"/>
            <a:ext cx="1192086" cy="274320"/>
          </a:xfrm>
          <a:prstGeom prst="rect">
            <a:avLst/>
          </a:prstGeom>
          <a:solidFill>
            <a:srgbClr val="1B4332"/>
          </a:solidFill>
          <a:ln w="12700">
            <a:solidFill>
              <a:srgbClr val="1B4332"/>
            </a:solidFill>
            <a:prstDash val="solid"/>
          </a:ln>
        </p:spPr>
      </p:sp>
      <p:sp>
        <p:nvSpPr>
          <p:cNvPr id="34" name="Text 31"/>
          <p:cNvSpPr/>
          <p:nvPr/>
        </p:nvSpPr>
        <p:spPr>
          <a:xfrm>
            <a:off x="5031696" y="2438648"/>
            <a:ext cx="2466384" cy="2057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Visual Severity (VSI)</a:t>
            </a:r>
            <a:endParaRPr lang="en-US" sz="1000" dirty="0"/>
          </a:p>
        </p:txBody>
      </p:sp>
      <p:sp>
        <p:nvSpPr>
          <p:cNvPr id="35" name="Text 32"/>
          <p:cNvSpPr/>
          <p:nvPr/>
        </p:nvSpPr>
        <p:spPr>
          <a:xfrm>
            <a:off x="7723314" y="2438648"/>
            <a:ext cx="1192086" cy="205740"/>
          </a:xfrm>
          <a:prstGeom prst="rect">
            <a:avLst/>
          </a:prstGeom>
          <a:noFill/>
          <a:ln/>
        </p:spPr>
        <p:txBody>
          <a:bodyPr wrap="square" rtlCol="0" anchor="ctr"/>
          <a:lstStyle/>
          <a:p>
            <a:pPr marL="0" indent="0" algn="ctr">
              <a:buNone/>
            </a:pPr>
            <a:r>
              <a:rPr lang="en-US" sz="1000" b="1" dirty="0">
                <a:solidFill>
                  <a:srgbClr val="F4A261"/>
                </a:solidFill>
                <a:latin typeface="Calibri" pitchFamily="34" charset="0"/>
                <a:ea typeface="Calibri" pitchFamily="34" charset="-122"/>
                <a:cs typeface="Calibri" pitchFamily="34" charset="-120"/>
              </a:rPr>
              <a:t>20 / 100</a:t>
            </a:r>
            <a:endParaRPr lang="en-US" sz="1000" dirty="0"/>
          </a:p>
        </p:txBody>
      </p:sp>
      <p:sp>
        <p:nvSpPr>
          <p:cNvPr id="40" name="Shape 37"/>
          <p:cNvSpPr/>
          <p:nvPr/>
        </p:nvSpPr>
        <p:spPr>
          <a:xfrm>
            <a:off x="5025682" y="3317800"/>
            <a:ext cx="3822895" cy="877824"/>
          </a:xfrm>
          <a:prstGeom prst="rect">
            <a:avLst/>
          </a:prstGeom>
          <a:solidFill>
            <a:srgbClr val="FFF3CD"/>
          </a:solidFill>
          <a:ln w="19050">
            <a:solidFill>
              <a:srgbClr val="F4A261"/>
            </a:solidFill>
            <a:prstDash val="solid"/>
          </a:ln>
        </p:spPr>
      </p:sp>
      <p:sp>
        <p:nvSpPr>
          <p:cNvPr id="41" name="Text 38"/>
          <p:cNvSpPr/>
          <p:nvPr/>
        </p:nvSpPr>
        <p:spPr>
          <a:xfrm>
            <a:off x="4991840" y="2945441"/>
            <a:ext cx="3658469" cy="24003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Kết Luận &amp; Khuyến Nghị Tự Động:</a:t>
            </a:r>
            <a:endParaRPr lang="en-US" sz="1100" dirty="0"/>
          </a:p>
        </p:txBody>
      </p:sp>
      <p:sp>
        <p:nvSpPr>
          <p:cNvPr id="42" name="Text 39"/>
          <p:cNvSpPr/>
          <p:nvPr/>
        </p:nvSpPr>
        <p:spPr>
          <a:xfrm>
            <a:off x="5130096" y="3476200"/>
            <a:ext cx="3658469" cy="5486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Bệnh Đạo Ôn Lá (Rice Blast) – Mức nhẹ</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Môi trường ẩm ướt 28°C, 85% → Nguy cơ bùng phát cao</a:t>
            </a:r>
            <a:endParaRPr lang="en-US" sz="1000" dirty="0"/>
          </a:p>
          <a:p>
            <a:pPr marL="0" indent="0">
              <a:buNone/>
            </a:pPr>
            <a:r>
              <a:rPr lang="en-US" sz="1000" dirty="0">
                <a:solidFill>
                  <a:srgbClr val="1A1A2E"/>
                </a:solidFill>
                <a:latin typeface="Calibri" pitchFamily="34" charset="0"/>
                <a:ea typeface="Calibri" pitchFamily="34" charset="-122"/>
                <a:cs typeface="Calibri" pitchFamily="34" charset="-120"/>
              </a:rPr>
              <a:t>Dùng Tricyclazole, Fenoxanil. Tránh bón đạm thêm.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4" name="Text 2"/>
          <p:cNvSpPr/>
          <p:nvPr/>
        </p:nvSpPr>
        <p:spPr>
          <a:xfrm>
            <a:off x="457200" y="274320"/>
            <a:ext cx="8229600" cy="5486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Kết Luận &amp; Hướng Phát Triển</a:t>
            </a:r>
            <a:endParaRPr lang="en-US" sz="2600" dirty="0"/>
          </a:p>
        </p:txBody>
      </p:sp>
      <p:sp>
        <p:nvSpPr>
          <p:cNvPr id="5" name="Shape 3"/>
          <p:cNvSpPr/>
          <p:nvPr/>
        </p:nvSpPr>
        <p:spPr>
          <a:xfrm>
            <a:off x="27432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6" name="Text 4"/>
          <p:cNvSpPr/>
          <p:nvPr/>
        </p:nvSpPr>
        <p:spPr>
          <a:xfrm>
            <a:off x="27432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7" name="Text 5"/>
          <p:cNvSpPr/>
          <p:nvPr/>
        </p:nvSpPr>
        <p:spPr>
          <a:xfrm>
            <a:off x="36576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Đã đạt được</a:t>
            </a:r>
            <a:endParaRPr lang="en-US" sz="1300" dirty="0"/>
          </a:p>
        </p:txBody>
      </p:sp>
      <p:sp>
        <p:nvSpPr>
          <p:cNvPr id="8" name="Shape 6"/>
          <p:cNvSpPr/>
          <p:nvPr/>
        </p:nvSpPr>
        <p:spPr>
          <a:xfrm>
            <a:off x="365760" y="2103120"/>
            <a:ext cx="2560320" cy="36576"/>
          </a:xfrm>
          <a:prstGeom prst="rect">
            <a:avLst/>
          </a:prstGeom>
          <a:solidFill>
            <a:srgbClr val="74C69D"/>
          </a:solidFill>
          <a:ln w="12700">
            <a:solidFill>
              <a:srgbClr val="74C69D"/>
            </a:solidFill>
            <a:prstDash val="solid"/>
          </a:ln>
        </p:spPr>
      </p:sp>
      <p:sp>
        <p:nvSpPr>
          <p:cNvPr id="9" name="Text 7"/>
          <p:cNvSpPr/>
          <p:nvPr/>
        </p:nvSpPr>
        <p:spPr>
          <a:xfrm>
            <a:off x="365760" y="2194560"/>
            <a:ext cx="2560320" cy="1828800"/>
          </a:xfrm>
          <a:prstGeom prst="rect">
            <a:avLst/>
          </a:prstGeom>
          <a:noFill/>
          <a:ln/>
        </p:spPr>
        <p:txBody>
          <a:bodyPr wrap="square" rtlCol="0" anchor="ctr"/>
          <a:lstStyle/>
          <a:p>
            <a:r>
              <a:rPr lang="en-US" sz="1050" dirty="0">
                <a:solidFill>
                  <a:srgbClr val="FFFFFF"/>
                </a:solidFill>
                <a:latin typeface="Calibri" pitchFamily="34" charset="0"/>
                <a:ea typeface="Calibri" pitchFamily="34" charset="-122"/>
                <a:cs typeface="Calibri" pitchFamily="34" charset="-120"/>
              </a:rPr>
              <a:t>Xây dựng thành công hệ thống Hybrid CNN + Fuzzy. Validation Accuracy 92.04%, Macro F1-score 0.919  </a:t>
            </a:r>
            <a:endParaRPr lang="en-US" sz="1050" dirty="0"/>
          </a:p>
        </p:txBody>
      </p:sp>
      <p:sp>
        <p:nvSpPr>
          <p:cNvPr id="10" name="Shape 8"/>
          <p:cNvSpPr/>
          <p:nvPr/>
        </p:nvSpPr>
        <p:spPr>
          <a:xfrm>
            <a:off x="320040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1" name="Text 9"/>
          <p:cNvSpPr/>
          <p:nvPr/>
        </p:nvSpPr>
        <p:spPr>
          <a:xfrm>
            <a:off x="320040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29184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Đóng góp chính</a:t>
            </a:r>
            <a:endParaRPr lang="en-US" sz="1300" dirty="0"/>
          </a:p>
        </p:txBody>
      </p:sp>
      <p:sp>
        <p:nvSpPr>
          <p:cNvPr id="13" name="Shape 11"/>
          <p:cNvSpPr/>
          <p:nvPr/>
        </p:nvSpPr>
        <p:spPr>
          <a:xfrm>
            <a:off x="3291840" y="2103120"/>
            <a:ext cx="2560320" cy="36576"/>
          </a:xfrm>
          <a:prstGeom prst="rect">
            <a:avLst/>
          </a:prstGeom>
          <a:solidFill>
            <a:srgbClr val="74C69D"/>
          </a:solidFill>
          <a:ln w="12700">
            <a:solidFill>
              <a:srgbClr val="74C69D"/>
            </a:solidFill>
            <a:prstDash val="solid"/>
          </a:ln>
        </p:spPr>
      </p:sp>
      <p:sp>
        <p:nvSpPr>
          <p:cNvPr id="14" name="Text 12"/>
          <p:cNvSpPr/>
          <p:nvPr/>
        </p:nvSpPr>
        <p:spPr>
          <a:xfrm>
            <a:off x="3291840" y="2194560"/>
            <a:ext cx="2560320" cy="1828800"/>
          </a:xfrm>
          <a:prstGeom prst="rect">
            <a:avLst/>
          </a:prstGeom>
          <a:noFill/>
          <a:ln/>
        </p:spPr>
        <p:txBody>
          <a:bodyPr wrap="square" rtlCol="0" anchor="ctr"/>
          <a:lstStyle/>
          <a:p>
            <a:r>
              <a:rPr lang="en-US" sz="1050" dirty="0">
                <a:solidFill>
                  <a:srgbClr val="FFFFFF"/>
                </a:solidFill>
                <a:latin typeface="Calibri" pitchFamily="34" charset="0"/>
                <a:ea typeface="Calibri" pitchFamily="34" charset="-122"/>
                <a:cs typeface="Calibri" pitchFamily="34" charset="-120"/>
              </a:rPr>
              <a:t>Tích hợp XAI qua luật mờ IF-THEN ngôn ngữ tự nhiên. </a:t>
            </a:r>
            <a:r>
              <a:rPr lang="vi-VN" sz="1050" dirty="0">
                <a:solidFill>
                  <a:srgbClr val="FFFFFF"/>
                </a:solidFill>
                <a:latin typeface="Calibri" pitchFamily="34" charset="0"/>
                <a:ea typeface="Calibri" pitchFamily="34" charset="-122"/>
                <a:cs typeface="Calibri" pitchFamily="34" charset="-120"/>
              </a:rPr>
              <a:t>Hệ thống kết hợp kết quả CNN với thông tin môi trường để đánh giá mức độ bệnh và hỗ trợ giải thích quyết định. </a:t>
            </a:r>
            <a:r>
              <a:rPr lang="en-US" sz="1050" dirty="0">
                <a:solidFill>
                  <a:srgbClr val="FFFFFF"/>
                </a:solidFill>
                <a:latin typeface="Calibri" pitchFamily="34" charset="0"/>
                <a:ea typeface="Calibri" pitchFamily="34" charset="-122"/>
                <a:cs typeface="Calibri" pitchFamily="34" charset="-120"/>
              </a:rPr>
              <a:t> </a:t>
            </a:r>
            <a:endParaRPr lang="en-US" sz="1050" dirty="0"/>
          </a:p>
        </p:txBody>
      </p:sp>
      <p:sp>
        <p:nvSpPr>
          <p:cNvPr id="15" name="Shape 13"/>
          <p:cNvSpPr/>
          <p:nvPr/>
        </p:nvSpPr>
        <p:spPr>
          <a:xfrm>
            <a:off x="6126480" y="1005840"/>
            <a:ext cx="2743200" cy="3108960"/>
          </a:xfrm>
          <a:prstGeom prst="rect">
            <a:avLst/>
          </a:prstGeom>
          <a:solidFill>
            <a:srgbClr val="2D6A4F">
              <a:alpha val="70000"/>
            </a:srgbClr>
          </a:solidFill>
          <a:ln w="12700">
            <a:solidFill>
              <a:srgbClr val="74C69D"/>
            </a:solidFill>
            <a:prstDash val="solid"/>
          </a:ln>
          <a:effectLst>
            <a:outerShdw blurRad="76200" dist="25400" dir="8100000" algn="bl" rotWithShape="0">
              <a:srgbClr val="000000">
                <a:alpha val="30000"/>
              </a:srgbClr>
            </a:outerShdw>
          </a:effectLst>
        </p:spPr>
      </p:sp>
      <p:sp>
        <p:nvSpPr>
          <p:cNvPr id="16" name="Text 14"/>
          <p:cNvSpPr/>
          <p:nvPr/>
        </p:nvSpPr>
        <p:spPr>
          <a:xfrm>
            <a:off x="6126480" y="1143000"/>
            <a:ext cx="2743200" cy="50292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6217920" y="1691640"/>
            <a:ext cx="2560320" cy="411480"/>
          </a:xfrm>
          <a:prstGeom prst="rect">
            <a:avLst/>
          </a:prstGeom>
          <a:noFill/>
          <a:ln/>
        </p:spPr>
        <p:txBody>
          <a:bodyPr wrap="square" rtlCol="0" anchor="ctr"/>
          <a:lstStyle/>
          <a:p>
            <a:pPr marL="0" indent="0" algn="ctr">
              <a:buNone/>
            </a:pPr>
            <a:r>
              <a:rPr lang="en-US" sz="1300" b="1" dirty="0">
                <a:solidFill>
                  <a:srgbClr val="F4A261"/>
                </a:solidFill>
                <a:latin typeface="Calibri" pitchFamily="34" charset="0"/>
                <a:ea typeface="Calibri" pitchFamily="34" charset="-122"/>
                <a:cs typeface="Calibri" pitchFamily="34" charset="-120"/>
              </a:rPr>
              <a:t>Hướng phát triển</a:t>
            </a:r>
            <a:endParaRPr lang="en-US" sz="1300" dirty="0"/>
          </a:p>
        </p:txBody>
      </p:sp>
      <p:sp>
        <p:nvSpPr>
          <p:cNvPr id="18" name="Shape 16"/>
          <p:cNvSpPr/>
          <p:nvPr/>
        </p:nvSpPr>
        <p:spPr>
          <a:xfrm>
            <a:off x="6217920" y="2103120"/>
            <a:ext cx="2560320" cy="36576"/>
          </a:xfrm>
          <a:prstGeom prst="rect">
            <a:avLst/>
          </a:prstGeom>
          <a:solidFill>
            <a:srgbClr val="74C69D"/>
          </a:solidFill>
          <a:ln w="12700">
            <a:solidFill>
              <a:srgbClr val="74C69D"/>
            </a:solidFill>
            <a:prstDash val="solid"/>
          </a:ln>
        </p:spPr>
      </p:sp>
      <p:sp>
        <p:nvSpPr>
          <p:cNvPr id="19" name="Text 17"/>
          <p:cNvSpPr/>
          <p:nvPr/>
        </p:nvSpPr>
        <p:spPr>
          <a:xfrm>
            <a:off x="6217920" y="2194560"/>
            <a:ext cx="2560320" cy="182880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Mở rộng sang nhiều loại cây trồng. Tích hợp IoT, camera thực địa. Triển khai mobile app cho nông dân.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EB6705A4-932B-4AB5-8408-36673D8A43F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7F0BD3-FBD2-89D7-F9FE-95F40405F971}"/>
              </a:ext>
            </a:extLst>
          </p:cNvPr>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a:extLst>
              <a:ext uri="{FF2B5EF4-FFF2-40B4-BE49-F238E27FC236}">
                <a16:creationId xmlns:a16="http://schemas.microsoft.com/office/drawing/2014/main" id="{DD720CD9-DFE7-F833-F54D-51263F0E61AD}"/>
              </a:ext>
            </a:extLst>
          </p:cNvPr>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24" name="TextBox 23">
            <a:extLst>
              <a:ext uri="{FF2B5EF4-FFF2-40B4-BE49-F238E27FC236}">
                <a16:creationId xmlns:a16="http://schemas.microsoft.com/office/drawing/2014/main" id="{B70EBE7F-DF0E-EC70-C237-B7CDE30DA99C}"/>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26" name="TextBox 25">
            <a:extLst>
              <a:ext uri="{FF2B5EF4-FFF2-40B4-BE49-F238E27FC236}">
                <a16:creationId xmlns:a16="http://schemas.microsoft.com/office/drawing/2014/main" id="{1E12A78D-35A0-3048-D553-C3168E6F5FE7}"/>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4" name="Text 2">
            <a:extLst>
              <a:ext uri="{FF2B5EF4-FFF2-40B4-BE49-F238E27FC236}">
                <a16:creationId xmlns:a16="http://schemas.microsoft.com/office/drawing/2014/main" id="{D7559402-10D6-8280-08FA-B14FEB9CC619}"/>
              </a:ext>
            </a:extLst>
          </p:cNvPr>
          <p:cNvSpPr/>
          <p:nvPr/>
        </p:nvSpPr>
        <p:spPr>
          <a:xfrm>
            <a:off x="457199" y="274320"/>
            <a:ext cx="7984778" cy="548640"/>
          </a:xfrm>
          <a:prstGeom prst="rect">
            <a:avLst/>
          </a:prstGeom>
          <a:noFill/>
          <a:ln/>
        </p:spPr>
        <p:txBody>
          <a:bodyPr wrap="square" rtlCol="0" anchor="ctr"/>
          <a:lstStyle/>
          <a:p>
            <a:pPr marL="0" indent="0" algn="ctr">
              <a:buNone/>
            </a:pPr>
            <a:r>
              <a:rPr lang="en-US" sz="2600" b="1" dirty="0" err="1">
                <a:solidFill>
                  <a:srgbClr val="FFFFFF"/>
                </a:solidFill>
                <a:latin typeface="Calibri" pitchFamily="34" charset="0"/>
                <a:ea typeface="Calibri" pitchFamily="34" charset="-122"/>
                <a:cs typeface="Calibri" pitchFamily="34" charset="-120"/>
              </a:rPr>
              <a:t>Một</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hướng</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phát</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triển</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mở</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rộng</a:t>
            </a:r>
            <a:r>
              <a:rPr lang="en-US" sz="2600" b="1" dirty="0">
                <a:solidFill>
                  <a:srgbClr val="FFFFFF"/>
                </a:solidFill>
                <a:latin typeface="Calibri" pitchFamily="34" charset="0"/>
                <a:ea typeface="Calibri" pitchFamily="34" charset="-122"/>
                <a:cs typeface="Calibri" pitchFamily="34" charset="-120"/>
              </a:rPr>
              <a:t> : </a:t>
            </a:r>
            <a:r>
              <a:rPr lang="en-US" sz="2600" b="1" dirty="0" err="1">
                <a:solidFill>
                  <a:srgbClr val="FFFFFF"/>
                </a:solidFill>
                <a:latin typeface="Calibri" pitchFamily="34" charset="0"/>
                <a:ea typeface="Calibri" pitchFamily="34" charset="-122"/>
                <a:cs typeface="Calibri" pitchFamily="34" charset="-120"/>
              </a:rPr>
              <a:t>phát</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hiện</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ngoại</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lệ</a:t>
            </a:r>
            <a:endParaRPr lang="en-US" sz="2600" dirty="0"/>
          </a:p>
        </p:txBody>
      </p:sp>
      <p:pic>
        <p:nvPicPr>
          <p:cNvPr id="8" name="Picture 7">
            <a:extLst>
              <a:ext uri="{FF2B5EF4-FFF2-40B4-BE49-F238E27FC236}">
                <a16:creationId xmlns:a16="http://schemas.microsoft.com/office/drawing/2014/main" id="{1750344C-D8C4-EFBE-39D9-DCBAD292D882}"/>
              </a:ext>
            </a:extLst>
          </p:cNvPr>
          <p:cNvPicPr>
            <a:picLocks noChangeAspect="1"/>
          </p:cNvPicPr>
          <p:nvPr/>
        </p:nvPicPr>
        <p:blipFill>
          <a:blip r:embed="rId3"/>
          <a:srcRect/>
          <a:stretch/>
        </p:blipFill>
        <p:spPr>
          <a:xfrm>
            <a:off x="1309655" y="1037469"/>
            <a:ext cx="5945997" cy="3653704"/>
          </a:xfrm>
          <a:prstGeom prst="rect">
            <a:avLst/>
          </a:prstGeom>
        </p:spPr>
      </p:pic>
    </p:spTree>
    <p:extLst>
      <p:ext uri="{BB962C8B-B14F-4D97-AF65-F5344CB8AC3E}">
        <p14:creationId xmlns:p14="http://schemas.microsoft.com/office/powerpoint/2010/main" val="901971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75CFDD07-FCF2-7EA4-B68A-D2E9A7411BE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81C650-6273-50A9-5683-02396AA51B0C}"/>
              </a:ext>
            </a:extLst>
          </p:cNvPr>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a:extLst>
              <a:ext uri="{FF2B5EF4-FFF2-40B4-BE49-F238E27FC236}">
                <a16:creationId xmlns:a16="http://schemas.microsoft.com/office/drawing/2014/main" id="{81FE3114-F4D3-1705-E6A8-CCD6A3FC05E6}"/>
              </a:ext>
            </a:extLst>
          </p:cNvPr>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24" name="TextBox 23">
            <a:extLst>
              <a:ext uri="{FF2B5EF4-FFF2-40B4-BE49-F238E27FC236}">
                <a16:creationId xmlns:a16="http://schemas.microsoft.com/office/drawing/2014/main" id="{C2BDF690-E4A6-3BDF-57C8-BBDB9F0C7D61}"/>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26" name="TextBox 25">
            <a:extLst>
              <a:ext uri="{FF2B5EF4-FFF2-40B4-BE49-F238E27FC236}">
                <a16:creationId xmlns:a16="http://schemas.microsoft.com/office/drawing/2014/main" id="{D87FB023-9C15-87BE-E479-3C16669F014A}"/>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4" name="Text 2">
            <a:extLst>
              <a:ext uri="{FF2B5EF4-FFF2-40B4-BE49-F238E27FC236}">
                <a16:creationId xmlns:a16="http://schemas.microsoft.com/office/drawing/2014/main" id="{92FCC45A-A8D6-CB78-DA90-2911A7FDAEAE}"/>
              </a:ext>
            </a:extLst>
          </p:cNvPr>
          <p:cNvSpPr/>
          <p:nvPr/>
        </p:nvSpPr>
        <p:spPr>
          <a:xfrm>
            <a:off x="457199" y="274320"/>
            <a:ext cx="7984778" cy="548640"/>
          </a:xfrm>
          <a:prstGeom prst="rect">
            <a:avLst/>
          </a:prstGeom>
          <a:noFill/>
          <a:ln/>
        </p:spPr>
        <p:txBody>
          <a:bodyPr wrap="square" rtlCol="0" anchor="ctr"/>
          <a:lstStyle/>
          <a:p>
            <a:pPr marL="0" indent="0" algn="ctr">
              <a:buNone/>
            </a:pPr>
            <a:r>
              <a:rPr lang="en-US" sz="2600" b="1" dirty="0" err="1">
                <a:solidFill>
                  <a:srgbClr val="FFFFFF"/>
                </a:solidFill>
                <a:latin typeface="Calibri" pitchFamily="34" charset="0"/>
                <a:ea typeface="Calibri" pitchFamily="34" charset="-122"/>
                <a:cs typeface="Calibri" pitchFamily="34" charset="-120"/>
              </a:rPr>
              <a:t>Một</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hướng</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phát</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triển</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mở</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rộng</a:t>
            </a:r>
            <a:r>
              <a:rPr lang="en-US" sz="2600" b="1" dirty="0">
                <a:solidFill>
                  <a:srgbClr val="FFFFFF"/>
                </a:solidFill>
                <a:latin typeface="Calibri" pitchFamily="34" charset="0"/>
                <a:ea typeface="Calibri" pitchFamily="34" charset="-122"/>
                <a:cs typeface="Calibri" pitchFamily="34" charset="-120"/>
              </a:rPr>
              <a:t> : </a:t>
            </a:r>
            <a:r>
              <a:rPr lang="en-US" sz="2600" b="1" dirty="0" err="1">
                <a:solidFill>
                  <a:srgbClr val="FFFFFF"/>
                </a:solidFill>
                <a:latin typeface="Calibri" pitchFamily="34" charset="0"/>
                <a:ea typeface="Calibri" pitchFamily="34" charset="-122"/>
                <a:cs typeface="Calibri" pitchFamily="34" charset="-120"/>
              </a:rPr>
              <a:t>nhận</a:t>
            </a:r>
            <a:r>
              <a:rPr lang="en-US" sz="2600" b="1" dirty="0">
                <a:solidFill>
                  <a:srgbClr val="FFFFFF"/>
                </a:solidFill>
                <a:latin typeface="Calibri" pitchFamily="34" charset="0"/>
                <a:ea typeface="Calibri" pitchFamily="34" charset="-122"/>
                <a:cs typeface="Calibri" pitchFamily="34" charset="-120"/>
              </a:rPr>
              <a:t> </a:t>
            </a:r>
            <a:r>
              <a:rPr lang="en-US" sz="2600" b="1" dirty="0" err="1">
                <a:solidFill>
                  <a:srgbClr val="FFFFFF"/>
                </a:solidFill>
                <a:latin typeface="Calibri" pitchFamily="34" charset="0"/>
                <a:ea typeface="Calibri" pitchFamily="34" charset="-122"/>
                <a:cs typeface="Calibri" pitchFamily="34" charset="-120"/>
              </a:rPr>
              <a:t>diện</a:t>
            </a:r>
            <a:r>
              <a:rPr lang="en-US" sz="2600" b="1" dirty="0">
                <a:solidFill>
                  <a:srgbClr val="FFFFFF"/>
                </a:solidFill>
                <a:latin typeface="Calibri" pitchFamily="34" charset="0"/>
                <a:ea typeface="Calibri" pitchFamily="34" charset="-122"/>
                <a:cs typeface="Calibri" pitchFamily="34" charset="-120"/>
              </a:rPr>
              <a:t> multi </a:t>
            </a:r>
            <a:r>
              <a:rPr lang="en-US" sz="2600" b="1" dirty="0" err="1">
                <a:solidFill>
                  <a:srgbClr val="FFFFFF"/>
                </a:solidFill>
                <a:latin typeface="Calibri" pitchFamily="34" charset="0"/>
                <a:ea typeface="Calibri" pitchFamily="34" charset="-122"/>
                <a:cs typeface="Calibri" pitchFamily="34" charset="-120"/>
              </a:rPr>
              <a:t>labes</a:t>
            </a:r>
            <a:endParaRPr lang="en-US" sz="2600" dirty="0"/>
          </a:p>
        </p:txBody>
      </p:sp>
      <p:pic>
        <p:nvPicPr>
          <p:cNvPr id="8" name="Picture 7">
            <a:extLst>
              <a:ext uri="{FF2B5EF4-FFF2-40B4-BE49-F238E27FC236}">
                <a16:creationId xmlns:a16="http://schemas.microsoft.com/office/drawing/2014/main" id="{C86411F3-B838-269F-3912-18A8754C7005}"/>
              </a:ext>
            </a:extLst>
          </p:cNvPr>
          <p:cNvPicPr>
            <a:picLocks noChangeAspect="1"/>
          </p:cNvPicPr>
          <p:nvPr/>
        </p:nvPicPr>
        <p:blipFill>
          <a:blip r:embed="rId3"/>
          <a:stretch>
            <a:fillRect/>
          </a:stretch>
        </p:blipFill>
        <p:spPr>
          <a:xfrm>
            <a:off x="849506" y="905182"/>
            <a:ext cx="5179635" cy="3841689"/>
          </a:xfrm>
          <a:prstGeom prst="rect">
            <a:avLst/>
          </a:prstGeom>
        </p:spPr>
      </p:pic>
      <p:pic>
        <p:nvPicPr>
          <p:cNvPr id="7" name="Picture 6">
            <a:extLst>
              <a:ext uri="{FF2B5EF4-FFF2-40B4-BE49-F238E27FC236}">
                <a16:creationId xmlns:a16="http://schemas.microsoft.com/office/drawing/2014/main" id="{BB4F9EC5-548E-0D57-F6E5-EFE7128B3B0D}"/>
              </a:ext>
            </a:extLst>
          </p:cNvPr>
          <p:cNvPicPr>
            <a:picLocks noChangeAspect="1"/>
          </p:cNvPicPr>
          <p:nvPr/>
        </p:nvPicPr>
        <p:blipFill>
          <a:blip r:embed="rId4"/>
          <a:stretch>
            <a:fillRect/>
          </a:stretch>
        </p:blipFill>
        <p:spPr>
          <a:xfrm>
            <a:off x="6182524" y="905182"/>
            <a:ext cx="2696004" cy="3833843"/>
          </a:xfrm>
          <a:prstGeom prst="rect">
            <a:avLst/>
          </a:prstGeom>
        </p:spPr>
      </p:pic>
    </p:spTree>
    <p:extLst>
      <p:ext uri="{BB962C8B-B14F-4D97-AF65-F5344CB8AC3E}">
        <p14:creationId xmlns:p14="http://schemas.microsoft.com/office/powerpoint/2010/main" val="450007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498D55C4-CD73-91E3-C08C-DADEF8762F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7FA9155-418D-ABEA-3FE8-B9513AD52E03}"/>
              </a:ext>
            </a:extLst>
          </p:cNvPr>
          <p:cNvSpPr/>
          <p:nvPr/>
        </p:nvSpPr>
        <p:spPr>
          <a:xfrm>
            <a:off x="-914400" y="-914400"/>
            <a:ext cx="4572000" cy="4572000"/>
          </a:xfrm>
          <a:prstGeom prst="ellipse">
            <a:avLst/>
          </a:prstGeom>
          <a:solidFill>
            <a:srgbClr val="2D6A4F">
              <a:alpha val="40000"/>
            </a:srgbClr>
          </a:solidFill>
          <a:ln w="12700">
            <a:solidFill>
              <a:srgbClr val="2D6A4F">
                <a:alpha val="40000"/>
              </a:srgbClr>
            </a:solidFill>
            <a:prstDash val="solid"/>
          </a:ln>
        </p:spPr>
      </p:sp>
      <p:sp>
        <p:nvSpPr>
          <p:cNvPr id="3" name="Shape 1">
            <a:extLst>
              <a:ext uri="{FF2B5EF4-FFF2-40B4-BE49-F238E27FC236}">
                <a16:creationId xmlns:a16="http://schemas.microsoft.com/office/drawing/2014/main" id="{6BFE256D-891D-6D06-968A-396B0288D813}"/>
              </a:ext>
            </a:extLst>
          </p:cNvPr>
          <p:cNvSpPr/>
          <p:nvPr/>
        </p:nvSpPr>
        <p:spPr>
          <a:xfrm>
            <a:off x="6400800" y="2286000"/>
            <a:ext cx="3657600" cy="3657600"/>
          </a:xfrm>
          <a:prstGeom prst="ellipse">
            <a:avLst/>
          </a:prstGeom>
          <a:solidFill>
            <a:srgbClr val="40916C">
              <a:alpha val="30000"/>
            </a:srgbClr>
          </a:solidFill>
          <a:ln w="12700">
            <a:solidFill>
              <a:srgbClr val="40916C">
                <a:alpha val="30000"/>
              </a:srgbClr>
            </a:solidFill>
            <a:prstDash val="solid"/>
          </a:ln>
        </p:spPr>
      </p:sp>
      <p:sp>
        <p:nvSpPr>
          <p:cNvPr id="24" name="TextBox 23">
            <a:extLst>
              <a:ext uri="{FF2B5EF4-FFF2-40B4-BE49-F238E27FC236}">
                <a16:creationId xmlns:a16="http://schemas.microsoft.com/office/drawing/2014/main" id="{536A0305-79AF-DA6A-EB90-8BD73B57E262}"/>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26" name="TextBox 25">
            <a:extLst>
              <a:ext uri="{FF2B5EF4-FFF2-40B4-BE49-F238E27FC236}">
                <a16:creationId xmlns:a16="http://schemas.microsoft.com/office/drawing/2014/main" id="{D7DADC14-05D2-97F7-6F02-A8849940B07D}"/>
              </a:ext>
            </a:extLst>
          </p:cNvPr>
          <p:cNvSpPr txBox="1"/>
          <p:nvPr/>
        </p:nvSpPr>
        <p:spPr>
          <a:xfrm>
            <a:off x="1825283" y="2329934"/>
            <a:ext cx="5493434" cy="369332"/>
          </a:xfrm>
          <a:prstGeom prst="rect">
            <a:avLst/>
          </a:prstGeom>
          <a:noFill/>
        </p:spPr>
        <p:txBody>
          <a:bodyPr wrap="square">
            <a:spAutoFit/>
          </a:bodyPr>
          <a:lstStyle/>
          <a:p>
            <a:endParaRPr lang="en-US" dirty="0"/>
          </a:p>
        </p:txBody>
      </p:sp>
      <p:sp>
        <p:nvSpPr>
          <p:cNvPr id="32" name="TextBox 31">
            <a:extLst>
              <a:ext uri="{FF2B5EF4-FFF2-40B4-BE49-F238E27FC236}">
                <a16:creationId xmlns:a16="http://schemas.microsoft.com/office/drawing/2014/main" id="{D71BB89F-503A-2E32-FA61-6772404460C5}"/>
              </a:ext>
            </a:extLst>
          </p:cNvPr>
          <p:cNvSpPr txBox="1"/>
          <p:nvPr/>
        </p:nvSpPr>
        <p:spPr>
          <a:xfrm>
            <a:off x="1825283" y="2329934"/>
            <a:ext cx="5493434" cy="369332"/>
          </a:xfrm>
          <a:prstGeom prst="rect">
            <a:avLst/>
          </a:prstGeom>
          <a:noFill/>
        </p:spPr>
        <p:txBody>
          <a:bodyPr wrap="square">
            <a:spAutoFit/>
          </a:bodyPr>
          <a:lstStyle/>
          <a:p>
            <a:endParaRPr lang="en-US" dirty="0"/>
          </a:p>
        </p:txBody>
      </p:sp>
      <p:pic>
        <p:nvPicPr>
          <p:cNvPr id="34" name="Picture 33">
            <a:extLst>
              <a:ext uri="{FF2B5EF4-FFF2-40B4-BE49-F238E27FC236}">
                <a16:creationId xmlns:a16="http://schemas.microsoft.com/office/drawing/2014/main" id="{1627F628-E5A8-1C56-DB5C-B7842A0A393C}"/>
              </a:ext>
            </a:extLst>
          </p:cNvPr>
          <p:cNvPicPr>
            <a:picLocks noChangeAspect="1"/>
          </p:cNvPicPr>
          <p:nvPr/>
        </p:nvPicPr>
        <p:blipFill>
          <a:blip r:embed="rId3"/>
          <a:stretch>
            <a:fillRect/>
          </a:stretch>
        </p:blipFill>
        <p:spPr>
          <a:xfrm>
            <a:off x="1462391" y="913065"/>
            <a:ext cx="6350938" cy="3572402"/>
          </a:xfrm>
          <a:prstGeom prst="rect">
            <a:avLst/>
          </a:prstGeom>
          <a:ln>
            <a:noFill/>
          </a:ln>
          <a:effectLst>
            <a:softEdge rad="112500"/>
          </a:effectLst>
        </p:spPr>
      </p:pic>
      <p:pic>
        <p:nvPicPr>
          <p:cNvPr id="6" name="Picture 5">
            <a:extLst>
              <a:ext uri="{FF2B5EF4-FFF2-40B4-BE49-F238E27FC236}">
                <a16:creationId xmlns:a16="http://schemas.microsoft.com/office/drawing/2014/main" id="{A45120DE-654D-4487-4309-70EFE12E05BD}"/>
              </a:ext>
            </a:extLst>
          </p:cNvPr>
          <p:cNvPicPr>
            <a:picLocks noChangeAspect="1"/>
          </p:cNvPicPr>
          <p:nvPr/>
        </p:nvPicPr>
        <p:blipFill>
          <a:blip r:embed="rId4"/>
          <a:stretch>
            <a:fillRect/>
          </a:stretch>
        </p:blipFill>
        <p:spPr>
          <a:xfrm>
            <a:off x="6180306" y="1141618"/>
            <a:ext cx="661818" cy="549168"/>
          </a:xfrm>
          <a:prstGeom prst="ellipse">
            <a:avLst/>
          </a:prstGeom>
        </p:spPr>
      </p:pic>
    </p:spTree>
    <p:extLst>
      <p:ext uri="{BB962C8B-B14F-4D97-AF65-F5344CB8AC3E}">
        <p14:creationId xmlns:p14="http://schemas.microsoft.com/office/powerpoint/2010/main" val="2769646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a:extLst>
            <a:ext uri="{FF2B5EF4-FFF2-40B4-BE49-F238E27FC236}">
              <a16:creationId xmlns:a16="http://schemas.microsoft.com/office/drawing/2014/main" id="{B4E03EC8-BD2E-FF72-3093-21831BA390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06B4DE-2182-0358-0BC2-6B07374BD402}"/>
              </a:ext>
            </a:extLst>
          </p:cNvPr>
          <p:cNvSpPr/>
          <p:nvPr/>
        </p:nvSpPr>
        <p:spPr>
          <a:xfrm>
            <a:off x="0" y="0"/>
            <a:ext cx="137160" cy="5143500"/>
          </a:xfrm>
          <a:prstGeom prst="rect">
            <a:avLst/>
          </a:prstGeom>
          <a:solidFill>
            <a:srgbClr val="74C69D"/>
          </a:solidFill>
          <a:ln w="12700">
            <a:solidFill>
              <a:srgbClr val="74C69D"/>
            </a:solidFill>
            <a:prstDash val="solid"/>
          </a:ln>
        </p:spPr>
      </p:sp>
      <p:sp>
        <p:nvSpPr>
          <p:cNvPr id="3" name="Shape 1">
            <a:extLst>
              <a:ext uri="{FF2B5EF4-FFF2-40B4-BE49-F238E27FC236}">
                <a16:creationId xmlns:a16="http://schemas.microsoft.com/office/drawing/2014/main" id="{8AB19E1D-3E00-62DE-A0DF-F07DCD66126A}"/>
              </a:ext>
            </a:extLst>
          </p:cNvPr>
          <p:cNvSpPr/>
          <p:nvPr/>
        </p:nvSpPr>
        <p:spPr>
          <a:xfrm>
            <a:off x="137160" y="0"/>
            <a:ext cx="73152" cy="5143500"/>
          </a:xfrm>
          <a:prstGeom prst="rect">
            <a:avLst/>
          </a:prstGeom>
          <a:solidFill>
            <a:srgbClr val="40916C"/>
          </a:solidFill>
          <a:ln w="12700">
            <a:solidFill>
              <a:srgbClr val="40916C"/>
            </a:solidFill>
            <a:prstDash val="solid"/>
          </a:ln>
        </p:spPr>
      </p:sp>
      <p:sp>
        <p:nvSpPr>
          <p:cNvPr id="4" name="Shape 2">
            <a:extLst>
              <a:ext uri="{FF2B5EF4-FFF2-40B4-BE49-F238E27FC236}">
                <a16:creationId xmlns:a16="http://schemas.microsoft.com/office/drawing/2014/main" id="{F956BFBF-D002-2911-F014-B7FBCC29A564}"/>
              </a:ext>
            </a:extLst>
          </p:cNvPr>
          <p:cNvSpPr/>
          <p:nvPr/>
        </p:nvSpPr>
        <p:spPr>
          <a:xfrm>
            <a:off x="6858000" y="-1371600"/>
            <a:ext cx="4114800" cy="4114800"/>
          </a:xfrm>
          <a:prstGeom prst="ellipse">
            <a:avLst/>
          </a:prstGeom>
          <a:solidFill>
            <a:srgbClr val="2D6A4F">
              <a:alpha val="40000"/>
            </a:srgbClr>
          </a:solidFill>
          <a:ln w="12700">
            <a:solidFill>
              <a:srgbClr val="2D6A4F">
                <a:alpha val="40000"/>
              </a:srgbClr>
            </a:solidFill>
            <a:prstDash val="solid"/>
          </a:ln>
        </p:spPr>
      </p:sp>
      <p:sp>
        <p:nvSpPr>
          <p:cNvPr id="5" name="Shape 3">
            <a:extLst>
              <a:ext uri="{FF2B5EF4-FFF2-40B4-BE49-F238E27FC236}">
                <a16:creationId xmlns:a16="http://schemas.microsoft.com/office/drawing/2014/main" id="{D0390F19-ACB4-FB87-E76B-08F0A22D51E2}"/>
              </a:ext>
            </a:extLst>
          </p:cNvPr>
          <p:cNvSpPr/>
          <p:nvPr/>
        </p:nvSpPr>
        <p:spPr>
          <a:xfrm>
            <a:off x="6400800" y="2286000"/>
            <a:ext cx="3200400" cy="3200400"/>
          </a:xfrm>
          <a:prstGeom prst="ellipse">
            <a:avLst/>
          </a:prstGeom>
          <a:solidFill>
            <a:srgbClr val="40916C">
              <a:alpha val="30000"/>
            </a:srgbClr>
          </a:solidFill>
          <a:ln w="12700">
            <a:solidFill>
              <a:srgbClr val="40916C">
                <a:alpha val="30000"/>
              </a:srgbClr>
            </a:solidFill>
            <a:prstDash val="solid"/>
          </a:ln>
        </p:spPr>
      </p:sp>
      <p:sp>
        <p:nvSpPr>
          <p:cNvPr id="6" name="Text 4">
            <a:extLst>
              <a:ext uri="{FF2B5EF4-FFF2-40B4-BE49-F238E27FC236}">
                <a16:creationId xmlns:a16="http://schemas.microsoft.com/office/drawing/2014/main" id="{69EAED09-AB43-2B23-714F-47061775B8D8}"/>
              </a:ext>
            </a:extLst>
          </p:cNvPr>
          <p:cNvSpPr/>
          <p:nvPr/>
        </p:nvSpPr>
        <p:spPr>
          <a:xfrm>
            <a:off x="457200" y="320040"/>
            <a:ext cx="7772400" cy="365760"/>
          </a:xfrm>
          <a:prstGeom prst="rect">
            <a:avLst/>
          </a:prstGeom>
          <a:noFill/>
          <a:ln/>
        </p:spPr>
        <p:txBody>
          <a:bodyPr wrap="square" rtlCol="0" anchor="ctr"/>
          <a:lstStyle/>
          <a:p>
            <a:pPr marL="0" indent="0" algn="l">
              <a:buNone/>
            </a:pPr>
            <a:r>
              <a:rPr lang="en-US" sz="1100" b="1" kern="0" spc="300" dirty="0">
                <a:solidFill>
                  <a:srgbClr val="74C69D"/>
                </a:solidFill>
                <a:latin typeface="Calibri" pitchFamily="34" charset="0"/>
                <a:ea typeface="Calibri" pitchFamily="34" charset="-122"/>
                <a:cs typeface="Calibri" pitchFamily="34" charset="-120"/>
              </a:rPr>
              <a:t>TRƯỜNG ĐẠI HỌC THỦY LỢI</a:t>
            </a:r>
            <a:endParaRPr lang="en-US" sz="1100" dirty="0"/>
          </a:p>
        </p:txBody>
      </p:sp>
      <p:sp>
        <p:nvSpPr>
          <p:cNvPr id="7" name="Text 5">
            <a:extLst>
              <a:ext uri="{FF2B5EF4-FFF2-40B4-BE49-F238E27FC236}">
                <a16:creationId xmlns:a16="http://schemas.microsoft.com/office/drawing/2014/main" id="{B53B3EC1-465D-19A6-87F3-96779B00288D}"/>
              </a:ext>
            </a:extLst>
          </p:cNvPr>
          <p:cNvSpPr/>
          <p:nvPr/>
        </p:nvSpPr>
        <p:spPr>
          <a:xfrm>
            <a:off x="457200" y="685800"/>
            <a:ext cx="7772400" cy="320040"/>
          </a:xfrm>
          <a:prstGeom prst="rect">
            <a:avLst/>
          </a:prstGeom>
          <a:noFill/>
          <a:ln/>
        </p:spPr>
        <p:txBody>
          <a:bodyPr wrap="square" rtlCol="0" anchor="ctr"/>
          <a:lstStyle/>
          <a:p>
            <a:pPr marL="0" indent="0" algn="l">
              <a:buNone/>
            </a:pPr>
            <a:r>
              <a:rPr lang="en-US" sz="1000" b="1" dirty="0">
                <a:solidFill>
                  <a:srgbClr val="74C69D"/>
                </a:solidFill>
                <a:latin typeface="Calibri" pitchFamily="34" charset="0"/>
                <a:ea typeface="Calibri" pitchFamily="34" charset="-122"/>
                <a:cs typeface="Calibri" pitchFamily="34" charset="-120"/>
              </a:rPr>
              <a:t>MÔN HỌC: HỆ THỐNG THÔNG MINH</a:t>
            </a:r>
            <a:endParaRPr lang="en-US" sz="1000" b="1" dirty="0"/>
          </a:p>
        </p:txBody>
      </p:sp>
      <p:sp>
        <p:nvSpPr>
          <p:cNvPr id="17" name="TextBox 16">
            <a:extLst>
              <a:ext uri="{FF2B5EF4-FFF2-40B4-BE49-F238E27FC236}">
                <a16:creationId xmlns:a16="http://schemas.microsoft.com/office/drawing/2014/main" id="{85B72EF5-88F8-4A6C-A564-CCD062734D74}"/>
              </a:ext>
            </a:extLst>
          </p:cNvPr>
          <p:cNvSpPr txBox="1"/>
          <p:nvPr/>
        </p:nvSpPr>
        <p:spPr>
          <a:xfrm>
            <a:off x="470916" y="1109990"/>
            <a:ext cx="2771335" cy="523220"/>
          </a:xfrm>
          <a:prstGeom prst="rect">
            <a:avLst/>
          </a:prstGeom>
          <a:noFill/>
        </p:spPr>
        <p:txBody>
          <a:bodyPr wrap="square">
            <a:spAutoFit/>
          </a:bodyPr>
          <a:lstStyle/>
          <a:p>
            <a:r>
              <a:rPr lang="vi-VN" sz="2800" b="1" dirty="0">
                <a:solidFill>
                  <a:schemeClr val="bg1"/>
                </a:solidFill>
                <a:latin typeface="Calibri" panose="020F0502020204030204" pitchFamily="34" charset="0"/>
                <a:ea typeface="Calibri" panose="020F0502020204030204" pitchFamily="34" charset="0"/>
                <a:cs typeface="Calibri" panose="020F0502020204030204" pitchFamily="34" charset="0"/>
              </a:rPr>
              <a:t>LỜI CẢM ƠN</a:t>
            </a:r>
            <a:endPar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Shape 9">
            <a:extLst>
              <a:ext uri="{FF2B5EF4-FFF2-40B4-BE49-F238E27FC236}">
                <a16:creationId xmlns:a16="http://schemas.microsoft.com/office/drawing/2014/main" id="{5FD48D63-B631-A839-E564-ADE5DCCC22EE}"/>
              </a:ext>
            </a:extLst>
          </p:cNvPr>
          <p:cNvSpPr/>
          <p:nvPr/>
        </p:nvSpPr>
        <p:spPr>
          <a:xfrm>
            <a:off x="470916" y="1655064"/>
            <a:ext cx="5029200" cy="36576"/>
          </a:xfrm>
          <a:prstGeom prst="rect">
            <a:avLst/>
          </a:prstGeom>
          <a:solidFill>
            <a:srgbClr val="74C69D"/>
          </a:solidFill>
          <a:ln w="12700">
            <a:solidFill>
              <a:srgbClr val="74C69D"/>
            </a:solidFill>
            <a:prstDash val="solid"/>
          </a:ln>
        </p:spPr>
      </p:sp>
      <p:sp>
        <p:nvSpPr>
          <p:cNvPr id="19" name="Shape 10">
            <a:extLst>
              <a:ext uri="{FF2B5EF4-FFF2-40B4-BE49-F238E27FC236}">
                <a16:creationId xmlns:a16="http://schemas.microsoft.com/office/drawing/2014/main" id="{951C7286-8C91-6684-ECA9-3BF1CF320E2F}"/>
              </a:ext>
            </a:extLst>
          </p:cNvPr>
          <p:cNvSpPr/>
          <p:nvPr/>
        </p:nvSpPr>
        <p:spPr>
          <a:xfrm>
            <a:off x="470916" y="1865728"/>
            <a:ext cx="5065776" cy="216185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sp>
      <p:sp>
        <p:nvSpPr>
          <p:cNvPr id="20" name="Text 11">
            <a:extLst>
              <a:ext uri="{FF2B5EF4-FFF2-40B4-BE49-F238E27FC236}">
                <a16:creationId xmlns:a16="http://schemas.microsoft.com/office/drawing/2014/main" id="{EFF2AD7B-F706-7176-9953-74053144E14B}"/>
              </a:ext>
            </a:extLst>
          </p:cNvPr>
          <p:cNvSpPr/>
          <p:nvPr/>
        </p:nvSpPr>
        <p:spPr>
          <a:xfrm>
            <a:off x="470915" y="1807298"/>
            <a:ext cx="5029199" cy="2416126"/>
          </a:xfrm>
          <a:prstGeom prst="rect">
            <a:avLst/>
          </a:prstGeom>
          <a:noFill/>
          <a:ln/>
        </p:spPr>
        <p:txBody>
          <a:bodyPr wrap="square" rtlCol="0" anchor="ctr"/>
          <a:lstStyle/>
          <a:p>
            <a:r>
              <a:rPr lang="vi-VN" sz="1050" dirty="0">
                <a:solidFill>
                  <a:schemeClr val="bg1"/>
                </a:solidFill>
              </a:rPr>
              <a:t>Nhóm học viên xin chân thành cảm ơn TS. Trần Mạnh Tuấn đã tận tình giảng dạy, hướng dẫn và truyền đạt những kiến thức quý báu trong quá trình học tập và thực hiện bài tập lớn.</a:t>
            </a:r>
          </a:p>
          <a:p>
            <a:endParaRPr lang="vi-VN" sz="1050" dirty="0">
              <a:solidFill>
                <a:schemeClr val="bg1"/>
              </a:solidFill>
            </a:endParaRPr>
          </a:p>
          <a:p>
            <a:r>
              <a:rPr lang="vi-VN" sz="1050" dirty="0">
                <a:solidFill>
                  <a:schemeClr val="bg1"/>
                </a:solidFill>
              </a:rPr>
              <a:t>Những kiến thức và sự định hướng của Thầy là nền tảng quan trọng giúp nhóm học viên hiểu rõ hơn về các phương pháp xây dựng hệ thống thông minh và hoàn thành đề tài “An Explainable Intelligent System for Plant Disease Severity Assessment using Fuzzy Inference”.</a:t>
            </a:r>
          </a:p>
          <a:p>
            <a:endParaRPr lang="vi-VN" sz="1050" dirty="0">
              <a:solidFill>
                <a:schemeClr val="bg1"/>
              </a:solidFill>
            </a:endParaRPr>
          </a:p>
          <a:p>
            <a:r>
              <a:rPr lang="vi-VN" sz="1050" dirty="0">
                <a:solidFill>
                  <a:schemeClr val="bg1"/>
                </a:solidFill>
              </a:rPr>
              <a:t>Mặc dù đã nỗ lực nghiên cứu và thực hiện, báo cáo khó tránh khỏi hạn chế. Nhóm rất mong nhận được những ý kiến chỉ dẫn và góp ý từ Thầy để tiếp tục hoàn thiện, đồng thời nâng cao kiến thức và năng lực nghiên cứu của mình.</a:t>
            </a:r>
            <a:endParaRPr lang="en-US" sz="1050" dirty="0">
              <a:solidFill>
                <a:schemeClr val="bg1"/>
              </a:solidFill>
            </a:endParaRPr>
          </a:p>
        </p:txBody>
      </p:sp>
      <p:pic>
        <p:nvPicPr>
          <p:cNvPr id="31" name="Picture 30" descr="Bộ sưu tập hình ảnh cánh đồng lúa đẹp nhất với hơn 999+ ảnh chất lượng 4K.">
            <a:extLst>
              <a:ext uri="{FF2B5EF4-FFF2-40B4-BE49-F238E27FC236}">
                <a16:creationId xmlns:a16="http://schemas.microsoft.com/office/drawing/2014/main" id="{E355C2BF-2A9A-B149-CC00-BFEB619E5F45}"/>
              </a:ext>
            </a:extLst>
          </p:cNvPr>
          <p:cNvPicPr>
            <a:picLocks noChangeAspect="1"/>
          </p:cNvPicPr>
          <p:nvPr/>
        </p:nvPicPr>
        <p:blipFill>
          <a:blip r:embed="rId3"/>
          <a:stretch>
            <a:fillRect/>
          </a:stretch>
        </p:blipFill>
        <p:spPr>
          <a:xfrm>
            <a:off x="5641145" y="1321082"/>
            <a:ext cx="3432515" cy="3001216"/>
          </a:xfrm>
          <a:prstGeom prst="ellipse">
            <a:avLst/>
          </a:prstGeom>
          <a:ln>
            <a:noFill/>
          </a:ln>
          <a:effectLst>
            <a:softEdge rad="112500"/>
          </a:effectLst>
        </p:spPr>
      </p:pic>
    </p:spTree>
    <p:extLst>
      <p:ext uri="{BB962C8B-B14F-4D97-AF65-F5344CB8AC3E}">
        <p14:creationId xmlns:p14="http://schemas.microsoft.com/office/powerpoint/2010/main" val="3428602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03D644A-A0D3-EADF-9E06-B3660F0585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EF59A2-17A1-90E3-7512-A88FEBCCBA48}"/>
              </a:ext>
            </a:extLst>
          </p:cNvPr>
          <p:cNvSpPr/>
          <p:nvPr/>
        </p:nvSpPr>
        <p:spPr>
          <a:xfrm>
            <a:off x="0" y="0"/>
            <a:ext cx="9144000" cy="685800"/>
          </a:xfrm>
          <a:prstGeom prst="rect">
            <a:avLst/>
          </a:prstGeom>
          <a:solidFill>
            <a:srgbClr val="1B4332"/>
          </a:solidFill>
          <a:ln w="12700">
            <a:solidFill>
              <a:srgbClr val="1B4332"/>
            </a:solidFill>
            <a:prstDash val="solid"/>
          </a:ln>
        </p:spPr>
      </p:sp>
      <p:sp>
        <p:nvSpPr>
          <p:cNvPr id="3" name="Shape 1">
            <a:extLst>
              <a:ext uri="{FF2B5EF4-FFF2-40B4-BE49-F238E27FC236}">
                <a16:creationId xmlns:a16="http://schemas.microsoft.com/office/drawing/2014/main" id="{85179E4B-2DCA-6129-2D81-09615133A9DB}"/>
              </a:ext>
            </a:extLst>
          </p:cNvPr>
          <p:cNvSpPr/>
          <p:nvPr/>
        </p:nvSpPr>
        <p:spPr>
          <a:xfrm>
            <a:off x="0" y="685800"/>
            <a:ext cx="9144000" cy="45720"/>
          </a:xfrm>
          <a:prstGeom prst="rect">
            <a:avLst/>
          </a:prstGeom>
          <a:solidFill>
            <a:srgbClr val="74C69D"/>
          </a:solidFill>
          <a:ln w="12700">
            <a:solidFill>
              <a:srgbClr val="74C69D"/>
            </a:solidFill>
            <a:prstDash val="solid"/>
          </a:ln>
        </p:spPr>
      </p:sp>
      <p:sp>
        <p:nvSpPr>
          <p:cNvPr id="4" name="Text 2">
            <a:extLst>
              <a:ext uri="{FF2B5EF4-FFF2-40B4-BE49-F238E27FC236}">
                <a16:creationId xmlns:a16="http://schemas.microsoft.com/office/drawing/2014/main" id="{D3C53929-3A23-7DB1-4C7D-274CD158B85A}"/>
              </a:ext>
            </a:extLst>
          </p:cNvPr>
          <p:cNvSpPr/>
          <p:nvPr/>
        </p:nvSpPr>
        <p:spPr>
          <a:xfrm>
            <a:off x="274320" y="0"/>
            <a:ext cx="8595360" cy="68580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AI </a:t>
            </a:r>
            <a:r>
              <a:rPr lang="en-US" sz="2000" b="1" dirty="0" err="1">
                <a:solidFill>
                  <a:srgbClr val="FFFFFF"/>
                </a:solidFill>
                <a:latin typeface="Calibri" pitchFamily="34" charset="0"/>
                <a:ea typeface="Calibri" pitchFamily="34" charset="-122"/>
                <a:cs typeface="Calibri" pitchFamily="34" charset="-120"/>
              </a:rPr>
              <a:t>và</a:t>
            </a:r>
            <a:r>
              <a:rPr lang="en-US" sz="2000" b="1" dirty="0">
                <a:solidFill>
                  <a:srgbClr val="FFFFFF"/>
                </a:solidFill>
                <a:latin typeface="Calibri" pitchFamily="34" charset="0"/>
                <a:ea typeface="Calibri" pitchFamily="34" charset="-122"/>
                <a:cs typeface="Calibri" pitchFamily="34" charset="-120"/>
              </a:rPr>
              <a:t> UNCERTAITY</a:t>
            </a:r>
            <a:endParaRPr lang="en-US" sz="2000" dirty="0"/>
          </a:p>
        </p:txBody>
      </p:sp>
      <p:sp>
        <p:nvSpPr>
          <p:cNvPr id="5" name="Shape 3">
            <a:extLst>
              <a:ext uri="{FF2B5EF4-FFF2-40B4-BE49-F238E27FC236}">
                <a16:creationId xmlns:a16="http://schemas.microsoft.com/office/drawing/2014/main" id="{39A67A20-C0DD-D204-B2D9-07E875C2D3DC}"/>
              </a:ext>
            </a:extLst>
          </p:cNvPr>
          <p:cNvSpPr/>
          <p:nvPr/>
        </p:nvSpPr>
        <p:spPr>
          <a:xfrm>
            <a:off x="0" y="4869180"/>
            <a:ext cx="9144000" cy="274320"/>
          </a:xfrm>
          <a:prstGeom prst="rect">
            <a:avLst/>
          </a:prstGeom>
          <a:solidFill>
            <a:srgbClr val="D8F3DC"/>
          </a:solidFill>
          <a:ln w="12700">
            <a:solidFill>
              <a:srgbClr val="D8F3DC"/>
            </a:solidFill>
            <a:prstDash val="solid"/>
          </a:ln>
        </p:spPr>
      </p:sp>
      <p:sp>
        <p:nvSpPr>
          <p:cNvPr id="6" name="Text 4">
            <a:extLst>
              <a:ext uri="{FF2B5EF4-FFF2-40B4-BE49-F238E27FC236}">
                <a16:creationId xmlns:a16="http://schemas.microsoft.com/office/drawing/2014/main" id="{B4DE1823-A85A-C379-6EF0-E1F99832C7B0}"/>
              </a:ext>
            </a:extLst>
          </p:cNvPr>
          <p:cNvSpPr/>
          <p:nvPr/>
        </p:nvSpPr>
        <p:spPr>
          <a:xfrm>
            <a:off x="274320" y="4869180"/>
            <a:ext cx="8595360" cy="274320"/>
          </a:xfrm>
          <a:prstGeom prst="rect">
            <a:avLst/>
          </a:prstGeom>
          <a:noFill/>
          <a:ln/>
        </p:spPr>
        <p:txBody>
          <a:bodyPr wrap="square" lIns="0" tIns="0" rIns="0" bIns="0" rtlCol="0" anchor="ctr"/>
          <a:lstStyle/>
          <a:p>
            <a:pPr marL="0" indent="0" algn="l">
              <a:buNone/>
            </a:pPr>
            <a:r>
              <a:rPr lang="en-US" sz="800" dirty="0">
                <a:solidFill>
                  <a:srgbClr val="6C757D"/>
                </a:solidFill>
                <a:latin typeface="Calibri" pitchFamily="34" charset="0"/>
                <a:ea typeface="Calibri" pitchFamily="34" charset="-122"/>
                <a:cs typeface="Calibri" pitchFamily="34" charset="-120"/>
              </a:rPr>
              <a:t>Nhóm 14 | Hệ Thống Thông Minh | ĐH Thủy Lợi</a:t>
            </a:r>
            <a:endParaRPr lang="en-US" sz="800" dirty="0"/>
          </a:p>
        </p:txBody>
      </p:sp>
      <p:pic>
        <p:nvPicPr>
          <p:cNvPr id="39" name="Picture 38">
            <a:extLst>
              <a:ext uri="{FF2B5EF4-FFF2-40B4-BE49-F238E27FC236}">
                <a16:creationId xmlns:a16="http://schemas.microsoft.com/office/drawing/2014/main" id="{5D68215F-4029-E286-D5B4-C97FBF1A37E5}"/>
              </a:ext>
            </a:extLst>
          </p:cNvPr>
          <p:cNvPicPr>
            <a:picLocks noChangeAspect="1"/>
          </p:cNvPicPr>
          <p:nvPr/>
        </p:nvPicPr>
        <p:blipFill>
          <a:blip r:embed="rId3"/>
          <a:srcRect/>
          <a:stretch/>
        </p:blipFill>
        <p:spPr>
          <a:xfrm>
            <a:off x="5877534" y="861467"/>
            <a:ext cx="2528766" cy="3639741"/>
          </a:xfrm>
          <a:prstGeom prst="rect">
            <a:avLst/>
          </a:prstGeom>
        </p:spPr>
      </p:pic>
      <p:sp>
        <p:nvSpPr>
          <p:cNvPr id="7" name="TextBox 6">
            <a:extLst>
              <a:ext uri="{FF2B5EF4-FFF2-40B4-BE49-F238E27FC236}">
                <a16:creationId xmlns:a16="http://schemas.microsoft.com/office/drawing/2014/main" id="{384B37ED-8350-774B-37AD-D6E0079F30E3}"/>
              </a:ext>
            </a:extLst>
          </p:cNvPr>
          <p:cNvSpPr txBox="1"/>
          <p:nvPr/>
        </p:nvSpPr>
        <p:spPr>
          <a:xfrm>
            <a:off x="366616" y="869923"/>
            <a:ext cx="5220073" cy="369331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900" b="1" dirty="0"/>
              <a:t>AI vs UNCERTAINTY</a:t>
            </a:r>
            <a:endParaRPr lang="en-US" sz="900" b="1" dirty="0"/>
          </a:p>
          <a:p>
            <a:endParaRPr lang="en-US" sz="900" b="1" dirty="0"/>
          </a:p>
          <a:p>
            <a:r>
              <a:rPr lang="vi-VN" sz="900" dirty="0"/>
              <a:t>Máy tính được xây dựng trên nền tảng nhị phân: 0 và 1, đúng và sai, có và không. Nhưng thế giới thực lại tồn tại trong những vùng mờ.</a:t>
            </a:r>
            <a:r>
              <a:rPr lang="en-US" sz="900" dirty="0"/>
              <a:t> </a:t>
            </a:r>
            <a:r>
              <a:rPr lang="vi-VN" sz="900" dirty="0"/>
              <a:t>Dữ liệu có thể thiếu. Ngữ cảnh có thể chưa đủ. Tình huống có thể chưa từng xuất hiện trước đây. Nhưng AI vẫn thường phải đưa ra một câu trả lời cuối cùng. Và đôi khi, đó chính là khởi đầu của hallucination.</a:t>
            </a:r>
            <a:endParaRPr lang="en-US" sz="900" dirty="0"/>
          </a:p>
          <a:p>
            <a:endParaRPr lang="en-US" sz="900" dirty="0"/>
          </a:p>
          <a:p>
            <a:r>
              <a:rPr lang="vi-VN" sz="900" dirty="0"/>
              <a:t>Điều đáng sợ không nằm ở việc AI nói sai, mà ở việc nó có thể sai với sự tự tin rất thuyết phục.Con người cũng vậy. Nhiều sai lầm không đến từ thiếu tri thức hoàn toàn, mà từ cảm giác chắc chắn tuyệt đối về một điều chưa được kiểm chứng đầy đủ.</a:t>
            </a:r>
            <a:endParaRPr lang="en-US" sz="900" dirty="0"/>
          </a:p>
          <a:p>
            <a:endParaRPr lang="en-US" sz="900" dirty="0"/>
          </a:p>
          <a:p>
            <a:r>
              <a:rPr lang="vi-VN" sz="900" dirty="0"/>
              <a:t>Có lẽ vì thế mà những hướng tiếp cận như Fuzzy Logic hay Symbolic AI trở nên thú vị.Fuzzy Logic chấp nhận rằng thế giới không chỉ có đúng hoặc sai. Một kết luận có thể chỉ đúng 70%, một hiện tượng có thể “gần giống” chứ không hoàn toàn giống.</a:t>
            </a:r>
            <a:endParaRPr lang="en-US" sz="900" dirty="0"/>
          </a:p>
          <a:p>
            <a:endParaRPr lang="en-US" sz="900" dirty="0"/>
          </a:p>
          <a:p>
            <a:r>
              <a:rPr lang="vi-VN" sz="900" dirty="0"/>
              <a:t>Trong khi đó, Symbolic AI đóng vai trò như một tầng lý trí phía sau, liên tục tự kiểm tra lại kết luận: “Dữ liệu đã đủ chưa?”, “Có dấu hiệu bất thường không?”, hay “Hệ thống chỉ đang cố tạo ra một câu trả lời để làm hài lòng người hỏi?”Có lẽ một hệ thống thông minh thực sự không cần trả lời mọi thứ. Nó cần biết khi nào nên dừng lại và đủ tỉnh táo để nói:“Tôi chưa đủ chắc chắn.”</a:t>
            </a:r>
            <a:endParaRPr lang="en-US" sz="900" dirty="0"/>
          </a:p>
          <a:p>
            <a:endParaRPr lang="en-US" sz="900" dirty="0"/>
          </a:p>
          <a:p>
            <a:r>
              <a:rPr lang="vi-VN" sz="900" dirty="0"/>
              <a:t>Nghe đơn giản, nhưng đó cũng là dấu hiệu của sự trưởng thành ở con người.</a:t>
            </a:r>
            <a:r>
              <a:rPr lang="en-US" sz="900" dirty="0"/>
              <a:t> </a:t>
            </a:r>
            <a:r>
              <a:rPr lang="vi-VN" sz="900" dirty="0"/>
              <a:t>Nếu cuộc đời chỉ có đúng và sai thì đơn giản quá. Chính sự bất định mới khiến con người can đảm bước tiếp vào tương lai — một tương lai có thể mơ hồ, nhưng luôn đầy hy vọng.</a:t>
            </a:r>
            <a:r>
              <a:rPr lang="en-US" sz="900"/>
              <a:t> </a:t>
            </a:r>
            <a:r>
              <a:rPr lang="vi-VN" sz="900"/>
              <a:t>Nếu </a:t>
            </a:r>
            <a:r>
              <a:rPr lang="vi-VN" sz="900" dirty="0"/>
              <a:t>mọi thứ đều chắc chắn và đã được định nghĩa hoàn hảo, thì sẽ không còn novelty để khám phá nữa ^^</a:t>
            </a:r>
          </a:p>
          <a:p>
            <a:endParaRPr lang="vi-VN" sz="900" dirty="0"/>
          </a:p>
        </p:txBody>
      </p:sp>
    </p:spTree>
    <p:extLst>
      <p:ext uri="{BB962C8B-B14F-4D97-AF65-F5344CB8AC3E}">
        <p14:creationId xmlns:p14="http://schemas.microsoft.com/office/powerpoint/2010/main" val="204664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327</TotalTime>
  <Words>2449</Words>
  <Application>Microsoft Office PowerPoint</Application>
  <PresentationFormat>On-screen Show (16:9)</PresentationFormat>
  <Paragraphs>238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Explainable Intelligent System for Plant Disease Severity Assessment using Fuzzy Inference</dc:title>
  <dc:subject>PptxGenJS Presentation</dc:subject>
  <dc:creator>PptxGenJS</dc:creator>
  <cp:lastModifiedBy>Tran Khanh Trang</cp:lastModifiedBy>
  <cp:revision>152</cp:revision>
  <dcterms:created xsi:type="dcterms:W3CDTF">2026-05-30T02:04:36Z</dcterms:created>
  <dcterms:modified xsi:type="dcterms:W3CDTF">2026-06-05T19:27:15Z</dcterms:modified>
</cp:coreProperties>
</file>